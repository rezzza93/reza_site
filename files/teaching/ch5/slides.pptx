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258" r:id="rId2"/>
    <p:sldId id="262" r:id="rId3"/>
    <p:sldId id="263" r:id="rId4"/>
    <p:sldId id="302" r:id="rId5"/>
    <p:sldId id="264" r:id="rId6"/>
    <p:sldId id="268" r:id="rId7"/>
    <p:sldId id="265" r:id="rId8"/>
    <p:sldId id="266" r:id="rId9"/>
    <p:sldId id="267" r:id="rId10"/>
    <p:sldId id="272" r:id="rId11"/>
    <p:sldId id="281" r:id="rId12"/>
    <p:sldId id="305" r:id="rId13"/>
    <p:sldId id="306" r:id="rId14"/>
    <p:sldId id="283" r:id="rId15"/>
    <p:sldId id="304" r:id="rId16"/>
    <p:sldId id="301" r:id="rId17"/>
    <p:sldId id="285" r:id="rId18"/>
    <p:sldId id="307" r:id="rId19"/>
    <p:sldId id="308" r:id="rId20"/>
    <p:sldId id="310" r:id="rId21"/>
    <p:sldId id="311" r:id="rId22"/>
    <p:sldId id="319" r:id="rId23"/>
    <p:sldId id="312" r:id="rId24"/>
    <p:sldId id="313" r:id="rId25"/>
    <p:sldId id="314" r:id="rId26"/>
    <p:sldId id="315" r:id="rId27"/>
    <p:sldId id="316" r:id="rId28"/>
    <p:sldId id="318" r:id="rId29"/>
    <p:sldId id="317" r:id="rId30"/>
    <p:sldId id="320" r:id="rId31"/>
    <p:sldId id="321" r:id="rId32"/>
    <p:sldId id="322" r:id="rId33"/>
    <p:sldId id="323" r:id="rId34"/>
    <p:sldId id="324" r:id="rId35"/>
    <p:sldId id="325" r:id="rId36"/>
    <p:sldId id="326" r:id="rId37"/>
    <p:sldId id="327" r:id="rId38"/>
    <p:sldId id="328" r:id="rId39"/>
    <p:sldId id="329" r:id="rId40"/>
    <p:sldId id="330" r:id="rId41"/>
    <p:sldId id="334" r:id="rId42"/>
    <p:sldId id="332" r:id="rId43"/>
    <p:sldId id="333" r:id="rId44"/>
    <p:sldId id="331" r:id="rId45"/>
    <p:sldId id="335" r:id="rId46"/>
    <p:sldId id="336" r:id="rId47"/>
    <p:sldId id="337" r:id="rId48"/>
    <p:sldId id="338" r:id="rId49"/>
    <p:sldId id="339" r:id="rId50"/>
    <p:sldId id="340" r:id="rId51"/>
    <p:sldId id="341" r:id="rId52"/>
    <p:sldId id="342" r:id="rId53"/>
    <p:sldId id="343" r:id="rId54"/>
    <p:sldId id="344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1DB0"/>
    <a:srgbClr val="00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97"/>
    <p:restoredTop sz="96087"/>
  </p:normalViewPr>
  <p:slideViewPr>
    <p:cSldViewPr snapToGrid="0">
      <p:cViewPr>
        <p:scale>
          <a:sx n="106" d="100"/>
          <a:sy n="106" d="100"/>
        </p:scale>
        <p:origin x="832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>
                <a:latin typeface="Helvetica" pitchFamily="2" charset="0"/>
              </a:rPr>
              <a:t>Future Value of $1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Sheet1!$S$11</c:f>
              <c:strCache>
                <c:ptCount val="1"/>
                <c:pt idx="0">
                  <c:v>i=0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Sheet1!$S$12:$S$22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FC9-DB4D-AC25-569E023603F2}"/>
            </c:ext>
          </c:extLst>
        </c:ser>
        <c:ser>
          <c:idx val="2"/>
          <c:order val="1"/>
          <c:tx>
            <c:strRef>
              <c:f>Sheet1!$T$11</c:f>
              <c:strCache>
                <c:ptCount val="1"/>
                <c:pt idx="0">
                  <c:v>i=1%</c:v>
                </c:pt>
              </c:strCache>
            </c:strRef>
          </c:tx>
          <c:spPr>
            <a:ln w="412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Sheet1!$T$12:$T$22</c:f>
              <c:numCache>
                <c:formatCode>General</c:formatCode>
                <c:ptCount val="11"/>
                <c:pt idx="0">
                  <c:v>1</c:v>
                </c:pt>
                <c:pt idx="1">
                  <c:v>1.01</c:v>
                </c:pt>
                <c:pt idx="2">
                  <c:v>1.0303009999999999</c:v>
                </c:pt>
                <c:pt idx="3">
                  <c:v>1.0615201506009999</c:v>
                </c:pt>
                <c:pt idx="4">
                  <c:v>1.1046221254112045</c:v>
                </c:pt>
                <c:pt idx="5">
                  <c:v>1.1609689553699984</c:v>
                </c:pt>
                <c:pt idx="6">
                  <c:v>1.2323919403474466</c:v>
                </c:pt>
                <c:pt idx="7">
                  <c:v>1.3212909668982507</c:v>
                </c:pt>
                <c:pt idx="8">
                  <c:v>1.4307687835915806</c:v>
                </c:pt>
                <c:pt idx="9">
                  <c:v>1.5648107472306294</c:v>
                </c:pt>
                <c:pt idx="10">
                  <c:v>1.7285245734721932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FC9-DB4D-AC25-569E023603F2}"/>
            </c:ext>
          </c:extLst>
        </c:ser>
        <c:ser>
          <c:idx val="3"/>
          <c:order val="2"/>
          <c:tx>
            <c:strRef>
              <c:f>Sheet1!$U$11</c:f>
              <c:strCache>
                <c:ptCount val="1"/>
                <c:pt idx="0">
                  <c:v>i=2%</c:v>
                </c:pt>
              </c:strCache>
            </c:strRef>
          </c:tx>
          <c:spPr>
            <a:ln w="444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Sheet1!$U$12:$U$22</c:f>
              <c:numCache>
                <c:formatCode>General</c:formatCode>
                <c:ptCount val="11"/>
                <c:pt idx="0">
                  <c:v>1</c:v>
                </c:pt>
                <c:pt idx="1">
                  <c:v>1.02</c:v>
                </c:pt>
                <c:pt idx="2">
                  <c:v>1.0612079999999999</c:v>
                </c:pt>
                <c:pt idx="3">
                  <c:v>1.1261624192639998</c:v>
                </c:pt>
                <c:pt idx="4">
                  <c:v>1.2189944199947569</c:v>
                </c:pt>
                <c:pt idx="5">
                  <c:v>1.3458683383241294</c:v>
                </c:pt>
                <c:pt idx="6">
                  <c:v>1.5156663438979214</c:v>
                </c:pt>
                <c:pt idx="7">
                  <c:v>1.7410242061739267</c:v>
                </c:pt>
                <c:pt idx="8">
                  <c:v>2.0398873437157037</c:v>
                </c:pt>
                <c:pt idx="9">
                  <c:v>2.4378542053013428</c:v>
                </c:pt>
                <c:pt idx="10">
                  <c:v>2.9717306730230897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FC9-DB4D-AC25-569E023603F2}"/>
            </c:ext>
          </c:extLst>
        </c:ser>
        <c:ser>
          <c:idx val="4"/>
          <c:order val="3"/>
          <c:tx>
            <c:strRef>
              <c:f>Sheet1!$V$11</c:f>
              <c:strCache>
                <c:ptCount val="1"/>
                <c:pt idx="0">
                  <c:v>i=3%</c:v>
                </c:pt>
              </c:strCache>
            </c:strRef>
          </c:tx>
          <c:spPr>
            <a:ln w="444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Sheet1!$V$12:$V$22</c:f>
              <c:numCache>
                <c:formatCode>General</c:formatCode>
                <c:ptCount val="11"/>
                <c:pt idx="0">
                  <c:v>1</c:v>
                </c:pt>
                <c:pt idx="1">
                  <c:v>1.03</c:v>
                </c:pt>
                <c:pt idx="2">
                  <c:v>1.092727</c:v>
                </c:pt>
                <c:pt idx="3">
                  <c:v>1.1940522965289999</c:v>
                </c:pt>
                <c:pt idx="4">
                  <c:v>1.3439163793441218</c:v>
                </c:pt>
                <c:pt idx="5">
                  <c:v>1.5579674166007642</c:v>
                </c:pt>
                <c:pt idx="6">
                  <c:v>1.8602945717094956</c:v>
                </c:pt>
                <c:pt idx="7">
                  <c:v>2.2879276757372602</c:v>
                </c:pt>
                <c:pt idx="8">
                  <c:v>2.898278328002668</c:v>
                </c:pt>
                <c:pt idx="9">
                  <c:v>3.7815958416513404</c:v>
                </c:pt>
                <c:pt idx="10">
                  <c:v>5.0821485916548559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FC9-DB4D-AC25-569E023603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07625951"/>
        <c:axId val="654193936"/>
      </c:lineChart>
      <c:catAx>
        <c:axId val="60762595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  <a:ea typeface="+mn-ea"/>
                <a:cs typeface="+mn-cs"/>
              </a:defRPr>
            </a:pPr>
            <a:endParaRPr lang="en-US"/>
          </a:p>
        </c:txPr>
        <c:crossAx val="654193936"/>
        <c:crosses val="autoZero"/>
        <c:auto val="1"/>
        <c:lblAlgn val="ctr"/>
        <c:lblOffset val="100"/>
        <c:noMultiLvlLbl val="0"/>
      </c:catAx>
      <c:valAx>
        <c:axId val="654193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  <a:ea typeface="+mn-ea"/>
                <a:cs typeface="+mn-cs"/>
              </a:defRPr>
            </a:pPr>
            <a:endParaRPr lang="en-US"/>
          </a:p>
        </c:txPr>
        <c:crossAx val="607625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1939927626683778"/>
          <c:y val="0.20190418649645944"/>
          <c:w val="0.41106064121857278"/>
          <c:h val="8.129888481359068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>
                <a:latin typeface="Helvetica" pitchFamily="2" charset="0"/>
              </a:rPr>
              <a:t>Present</a:t>
            </a:r>
            <a:r>
              <a:rPr lang="en-US" sz="2400" b="1" baseline="0" dirty="0">
                <a:latin typeface="Helvetica" pitchFamily="2" charset="0"/>
              </a:rPr>
              <a:t> Value of $1</a:t>
            </a:r>
            <a:endParaRPr lang="en-US" sz="2400" b="1" dirty="0">
              <a:latin typeface="Helvetica" pitchFamily="2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Sheet1!$AA$6</c:f>
              <c:strCache>
                <c:ptCount val="1"/>
                <c:pt idx="0">
                  <c:v>i=0</c:v>
                </c:pt>
              </c:strCache>
            </c:strRef>
          </c:tx>
          <c:spPr>
            <a:ln w="412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Sheet1!$AA$7:$AA$17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417-1F44-BEC7-AB9048C717A3}"/>
            </c:ext>
          </c:extLst>
        </c:ser>
        <c:ser>
          <c:idx val="2"/>
          <c:order val="1"/>
          <c:tx>
            <c:strRef>
              <c:f>Sheet1!$AB$6</c:f>
              <c:strCache>
                <c:ptCount val="1"/>
                <c:pt idx="0">
                  <c:v>i=1%</c:v>
                </c:pt>
              </c:strCache>
            </c:strRef>
          </c:tx>
          <c:spPr>
            <a:ln w="444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Sheet1!$AB$7:$AB$17</c:f>
              <c:numCache>
                <c:formatCode>General</c:formatCode>
                <c:ptCount val="11"/>
                <c:pt idx="0">
                  <c:v>1</c:v>
                </c:pt>
                <c:pt idx="1">
                  <c:v>0.99009900990099009</c:v>
                </c:pt>
                <c:pt idx="2">
                  <c:v>0.97059014792764442</c:v>
                </c:pt>
                <c:pt idx="3">
                  <c:v>0.9420452352542068</c:v>
                </c:pt>
                <c:pt idx="4">
                  <c:v>0.90528695469298337</c:v>
                </c:pt>
                <c:pt idx="5">
                  <c:v>0.86134947482837909</c:v>
                </c:pt>
                <c:pt idx="6">
                  <c:v>0.81143016865078765</c:v>
                </c:pt>
                <c:pt idx="7">
                  <c:v>0.75683556843464561</c:v>
                </c:pt>
                <c:pt idx="8">
                  <c:v>0.69892494962725904</c:v>
                </c:pt>
                <c:pt idx="9">
                  <c:v>0.63905491559907801</c:v>
                </c:pt>
                <c:pt idx="10">
                  <c:v>0.57852807842427068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417-1F44-BEC7-AB9048C717A3}"/>
            </c:ext>
          </c:extLst>
        </c:ser>
        <c:ser>
          <c:idx val="3"/>
          <c:order val="2"/>
          <c:tx>
            <c:strRef>
              <c:f>Sheet1!$AC$6</c:f>
              <c:strCache>
                <c:ptCount val="1"/>
                <c:pt idx="0">
                  <c:v>i=2%</c:v>
                </c:pt>
              </c:strCache>
            </c:strRef>
          </c:tx>
          <c:spPr>
            <a:ln w="444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Sheet1!$AC$7:$AC$17</c:f>
              <c:numCache>
                <c:formatCode>General</c:formatCode>
                <c:ptCount val="11"/>
                <c:pt idx="0">
                  <c:v>1</c:v>
                </c:pt>
                <c:pt idx="1">
                  <c:v>0.98039215686274506</c:v>
                </c:pt>
                <c:pt idx="2">
                  <c:v>0.9423223345470445</c:v>
                </c:pt>
                <c:pt idx="3">
                  <c:v>0.88797138218619209</c:v>
                </c:pt>
                <c:pt idx="4">
                  <c:v>0.82034829987515534</c:v>
                </c:pt>
                <c:pt idx="5">
                  <c:v>0.74301472998851914</c:v>
                </c:pt>
                <c:pt idx="6">
                  <c:v>0.65977581677260555</c:v>
                </c:pt>
                <c:pt idx="7">
                  <c:v>0.57437455289470041</c:v>
                </c:pt>
                <c:pt idx="8">
                  <c:v>0.49022315035225222</c:v>
                </c:pt>
                <c:pt idx="9">
                  <c:v>0.41019680250993101</c:v>
                </c:pt>
                <c:pt idx="10">
                  <c:v>0.33650424955324676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417-1F44-BEC7-AB9048C717A3}"/>
            </c:ext>
          </c:extLst>
        </c:ser>
        <c:ser>
          <c:idx val="4"/>
          <c:order val="3"/>
          <c:tx>
            <c:strRef>
              <c:f>Sheet1!$AD$6</c:f>
              <c:strCache>
                <c:ptCount val="1"/>
                <c:pt idx="0">
                  <c:v>i=3%</c:v>
                </c:pt>
              </c:strCache>
            </c:strRef>
          </c:tx>
          <c:spPr>
            <a:ln w="444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Sheet1!$AD$7:$AD$17</c:f>
              <c:numCache>
                <c:formatCode>General</c:formatCode>
                <c:ptCount val="11"/>
                <c:pt idx="0">
                  <c:v>1</c:v>
                </c:pt>
                <c:pt idx="1">
                  <c:v>0.970873786407767</c:v>
                </c:pt>
                <c:pt idx="2">
                  <c:v>0.91514165935315961</c:v>
                </c:pt>
                <c:pt idx="3">
                  <c:v>0.83748425668365434</c:v>
                </c:pt>
                <c:pt idx="4">
                  <c:v>0.74409391489672516</c:v>
                </c:pt>
                <c:pt idx="5">
                  <c:v>0.64186194739671776</c:v>
                </c:pt>
                <c:pt idx="6">
                  <c:v>0.5375492759090631</c:v>
                </c:pt>
                <c:pt idx="7">
                  <c:v>0.43707675317042555</c:v>
                </c:pt>
                <c:pt idx="8">
                  <c:v>0.34503242505668674</c:v>
                </c:pt>
                <c:pt idx="9">
                  <c:v>0.26443862376454319</c:v>
                </c:pt>
                <c:pt idx="10">
                  <c:v>0.19676717080686112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417-1F44-BEC7-AB9048C717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6554064"/>
        <c:axId val="656555776"/>
      </c:lineChart>
      <c:catAx>
        <c:axId val="65655406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  <a:ea typeface="+mn-ea"/>
                <a:cs typeface="+mn-cs"/>
              </a:defRPr>
            </a:pPr>
            <a:endParaRPr lang="en-US"/>
          </a:p>
        </c:txPr>
        <c:crossAx val="656555776"/>
        <c:crosses val="autoZero"/>
        <c:auto val="1"/>
        <c:lblAlgn val="ctr"/>
        <c:lblOffset val="100"/>
        <c:noMultiLvlLbl val="0"/>
      </c:catAx>
      <c:valAx>
        <c:axId val="656555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  <a:ea typeface="+mn-ea"/>
                <a:cs typeface="+mn-cs"/>
              </a:defRPr>
            </a:pPr>
            <a:endParaRPr lang="en-US"/>
          </a:p>
        </c:txPr>
        <c:crossAx val="6565540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6214040006362843"/>
          <c:y val="0.61930831836809874"/>
          <c:w val="0.43259991648771179"/>
          <c:h val="6.571944444785167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46FAFE-9A88-DA41-9B3B-6628D7F867FB}" type="doc">
      <dgm:prSet loTypeId="urn:microsoft.com/office/officeart/2005/8/layout/orgChart1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DB8F77E-250D-9C40-AB74-DDB42BD7BF2E}">
      <dgm:prSet phldrT="[Text]" custT="1"/>
      <dgm:spPr/>
      <dgm:t>
        <a:bodyPr/>
        <a:lstStyle/>
        <a:p>
          <a:pPr algn="ctr"/>
          <a:r>
            <a:rPr lang="en-US" sz="24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Interest Rate</a:t>
          </a:r>
        </a:p>
      </dgm:t>
    </dgm:pt>
    <dgm:pt modelId="{596470FD-4856-2A4E-B872-69EAEED369B4}" type="parTrans" cxnId="{89F34899-6A64-F649-993C-A74591CF07FE}">
      <dgm:prSet/>
      <dgm:spPr/>
      <dgm:t>
        <a:bodyPr/>
        <a:lstStyle/>
        <a:p>
          <a:endParaRPr lang="en-US"/>
        </a:p>
      </dgm:t>
    </dgm:pt>
    <dgm:pt modelId="{37A50307-E108-1D44-88AD-948A5A955B26}" type="sibTrans" cxnId="{89F34899-6A64-F649-993C-A74591CF07FE}">
      <dgm:prSet/>
      <dgm:spPr/>
      <dgm:t>
        <a:bodyPr/>
        <a:lstStyle/>
        <a:p>
          <a:endParaRPr lang="en-US"/>
        </a:p>
      </dgm:t>
    </dgm:pt>
    <dgm:pt modelId="{7FC502A5-F958-1241-8F97-32D405CAFD4A}">
      <dgm:prSet phldrT="[Text]" custT="1"/>
      <dgm:spPr/>
      <dgm:t>
        <a:bodyPr/>
        <a:lstStyle/>
        <a:p>
          <a:pPr rtl="0"/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Opportunity Cost</a:t>
          </a:r>
        </a:p>
      </dgm:t>
    </dgm:pt>
    <dgm:pt modelId="{936CDAD0-C9F1-754E-AB5F-1C0A571327FC}" type="parTrans" cxnId="{43292F23-83A0-7844-8577-AA51E4B06477}">
      <dgm:prSet/>
      <dgm:spPr/>
      <dgm:t>
        <a:bodyPr/>
        <a:lstStyle/>
        <a:p>
          <a:endParaRPr lang="en-US"/>
        </a:p>
      </dgm:t>
    </dgm:pt>
    <dgm:pt modelId="{FA5AB01C-9BB0-564E-8FA9-E9AAC3628415}" type="sibTrans" cxnId="{43292F23-83A0-7844-8577-AA51E4B06477}">
      <dgm:prSet/>
      <dgm:spPr/>
      <dgm:t>
        <a:bodyPr/>
        <a:lstStyle/>
        <a:p>
          <a:endParaRPr lang="en-US"/>
        </a:p>
      </dgm:t>
    </dgm:pt>
    <dgm:pt modelId="{7FF274D5-952F-0444-83AE-AEB2D4CFC7FD}">
      <dgm:prSet phldrT="[Text]" custT="1"/>
      <dgm:spPr/>
      <dgm:t>
        <a:bodyPr/>
        <a:lstStyle/>
        <a:p>
          <a:pPr rtl="0"/>
          <a:r>
            <a:rPr lang="en-US" sz="24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Default Risk</a:t>
          </a:r>
        </a:p>
      </dgm:t>
    </dgm:pt>
    <dgm:pt modelId="{41BD947C-E384-6A4D-BF20-81B49B837029}" type="parTrans" cxnId="{25480494-C236-4C40-9382-DB59A8A24310}">
      <dgm:prSet/>
      <dgm:spPr/>
      <dgm:t>
        <a:bodyPr/>
        <a:lstStyle/>
        <a:p>
          <a:endParaRPr lang="en-US"/>
        </a:p>
      </dgm:t>
    </dgm:pt>
    <dgm:pt modelId="{41B1061F-37D7-4E4C-B3CC-EA4AC8765B8C}" type="sibTrans" cxnId="{25480494-C236-4C40-9382-DB59A8A24310}">
      <dgm:prSet/>
      <dgm:spPr/>
      <dgm:t>
        <a:bodyPr/>
        <a:lstStyle/>
        <a:p>
          <a:endParaRPr lang="en-US"/>
        </a:p>
      </dgm:t>
    </dgm:pt>
    <dgm:pt modelId="{6B1F3821-644E-3743-AAAE-1C30A373CBF2}">
      <dgm:prSet phldrT="[Text]" custT="1"/>
      <dgm:spPr/>
      <dgm:t>
        <a:bodyPr/>
        <a:lstStyle/>
        <a:p>
          <a:pPr rtl="0"/>
          <a:r>
            <a:rPr lang="en-US" sz="2500" kern="120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Purchasing Power</a:t>
          </a:r>
          <a:endParaRPr lang="en-US" sz="2500" kern="1200" dirty="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B48D8F7F-5ECF-9B43-B1A7-DA8C94B135F0}" type="parTrans" cxnId="{9E6D1411-C079-3547-ACE4-EBC2480E3763}">
      <dgm:prSet/>
      <dgm:spPr/>
      <dgm:t>
        <a:bodyPr/>
        <a:lstStyle/>
        <a:p>
          <a:endParaRPr lang="en-US"/>
        </a:p>
      </dgm:t>
    </dgm:pt>
    <dgm:pt modelId="{4424285B-DB98-6943-BA74-4ECE7EFD411F}" type="sibTrans" cxnId="{9E6D1411-C079-3547-ACE4-EBC2480E3763}">
      <dgm:prSet/>
      <dgm:spPr/>
      <dgm:t>
        <a:bodyPr/>
        <a:lstStyle/>
        <a:p>
          <a:endParaRPr lang="en-US"/>
        </a:p>
      </dgm:t>
    </dgm:pt>
    <dgm:pt modelId="{293D6CAA-366E-7A4C-AED4-4FFD718B89EF}" type="pres">
      <dgm:prSet presAssocID="{E846FAFE-9A88-DA41-9B3B-6628D7F867F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9098115-4D64-684B-8645-C2E616D4ECA2}" type="pres">
      <dgm:prSet presAssocID="{CDB8F77E-250D-9C40-AB74-DDB42BD7BF2E}" presName="hierRoot1" presStyleCnt="0">
        <dgm:presLayoutVars>
          <dgm:hierBranch val="init"/>
        </dgm:presLayoutVars>
      </dgm:prSet>
      <dgm:spPr/>
    </dgm:pt>
    <dgm:pt modelId="{25FA5BD3-F632-8F46-92CE-D1F3CB76FDAE}" type="pres">
      <dgm:prSet presAssocID="{CDB8F77E-250D-9C40-AB74-DDB42BD7BF2E}" presName="rootComposite1" presStyleCnt="0"/>
      <dgm:spPr/>
    </dgm:pt>
    <dgm:pt modelId="{B83489E7-71B4-D04A-8332-A21C54668DC1}" type="pres">
      <dgm:prSet presAssocID="{CDB8F77E-250D-9C40-AB74-DDB42BD7BF2E}" presName="rootText1" presStyleLbl="node0" presStyleIdx="0" presStyleCnt="1" custScaleY="47362">
        <dgm:presLayoutVars>
          <dgm:chPref val="3"/>
        </dgm:presLayoutVars>
      </dgm:prSet>
      <dgm:spPr/>
    </dgm:pt>
    <dgm:pt modelId="{58016B8D-3F6F-564E-88BB-EC12D13FC71C}" type="pres">
      <dgm:prSet presAssocID="{CDB8F77E-250D-9C40-AB74-DDB42BD7BF2E}" presName="rootConnector1" presStyleLbl="node1" presStyleIdx="0" presStyleCnt="0"/>
      <dgm:spPr/>
    </dgm:pt>
    <dgm:pt modelId="{3797B438-1B10-9648-A44F-277116586751}" type="pres">
      <dgm:prSet presAssocID="{CDB8F77E-250D-9C40-AB74-DDB42BD7BF2E}" presName="hierChild2" presStyleCnt="0"/>
      <dgm:spPr/>
    </dgm:pt>
    <dgm:pt modelId="{78C95C33-A2D2-8C4B-A8A3-7F0FC868068B}" type="pres">
      <dgm:prSet presAssocID="{936CDAD0-C9F1-754E-AB5F-1C0A571327FC}" presName="Name37" presStyleLbl="parChTrans1D2" presStyleIdx="0" presStyleCnt="3"/>
      <dgm:spPr/>
    </dgm:pt>
    <dgm:pt modelId="{79C2EEFE-65CC-FC48-8F63-7545BF1A0262}" type="pres">
      <dgm:prSet presAssocID="{7FC502A5-F958-1241-8F97-32D405CAFD4A}" presName="hierRoot2" presStyleCnt="0">
        <dgm:presLayoutVars>
          <dgm:hierBranch val="init"/>
        </dgm:presLayoutVars>
      </dgm:prSet>
      <dgm:spPr/>
    </dgm:pt>
    <dgm:pt modelId="{74DBA40C-B6D6-A94B-9FC4-905BF4CA0D8B}" type="pres">
      <dgm:prSet presAssocID="{7FC502A5-F958-1241-8F97-32D405CAFD4A}" presName="rootComposite" presStyleCnt="0"/>
      <dgm:spPr/>
    </dgm:pt>
    <dgm:pt modelId="{DD3FAD33-11AB-C043-820C-689A4B3DCF71}" type="pres">
      <dgm:prSet presAssocID="{7FC502A5-F958-1241-8F97-32D405CAFD4A}" presName="rootText" presStyleLbl="node2" presStyleIdx="0" presStyleCnt="3" custScaleX="98016" custScaleY="49006">
        <dgm:presLayoutVars>
          <dgm:chPref val="3"/>
        </dgm:presLayoutVars>
      </dgm:prSet>
      <dgm:spPr/>
    </dgm:pt>
    <dgm:pt modelId="{4A9A3810-EEA4-314B-BB36-066864E7B9F2}" type="pres">
      <dgm:prSet presAssocID="{7FC502A5-F958-1241-8F97-32D405CAFD4A}" presName="rootConnector" presStyleLbl="node2" presStyleIdx="0" presStyleCnt="3"/>
      <dgm:spPr/>
    </dgm:pt>
    <dgm:pt modelId="{F25AD67E-A7CB-4946-AAD2-377356FA7C2E}" type="pres">
      <dgm:prSet presAssocID="{7FC502A5-F958-1241-8F97-32D405CAFD4A}" presName="hierChild4" presStyleCnt="0"/>
      <dgm:spPr/>
    </dgm:pt>
    <dgm:pt modelId="{F97843CA-62BC-3340-AB07-B8E32B96BEFF}" type="pres">
      <dgm:prSet presAssocID="{7FC502A5-F958-1241-8F97-32D405CAFD4A}" presName="hierChild5" presStyleCnt="0"/>
      <dgm:spPr/>
    </dgm:pt>
    <dgm:pt modelId="{81B0C265-0DFA-E642-B0A5-245A768D2DEF}" type="pres">
      <dgm:prSet presAssocID="{41BD947C-E384-6A4D-BF20-81B49B837029}" presName="Name37" presStyleLbl="parChTrans1D2" presStyleIdx="1" presStyleCnt="3"/>
      <dgm:spPr/>
    </dgm:pt>
    <dgm:pt modelId="{2BAF0B80-CCA9-3143-BF86-12DD7A7C579D}" type="pres">
      <dgm:prSet presAssocID="{7FF274D5-952F-0444-83AE-AEB2D4CFC7FD}" presName="hierRoot2" presStyleCnt="0">
        <dgm:presLayoutVars>
          <dgm:hierBranch val="init"/>
        </dgm:presLayoutVars>
      </dgm:prSet>
      <dgm:spPr/>
    </dgm:pt>
    <dgm:pt modelId="{444AF975-1A28-6442-A286-5ED2716DFC4A}" type="pres">
      <dgm:prSet presAssocID="{7FF274D5-952F-0444-83AE-AEB2D4CFC7FD}" presName="rootComposite" presStyleCnt="0"/>
      <dgm:spPr/>
    </dgm:pt>
    <dgm:pt modelId="{B20CE626-8C7B-E34E-8C65-C03AE42CFA83}" type="pres">
      <dgm:prSet presAssocID="{7FF274D5-952F-0444-83AE-AEB2D4CFC7FD}" presName="rootText" presStyleLbl="node2" presStyleIdx="1" presStyleCnt="3" custScaleX="98523" custScaleY="49210">
        <dgm:presLayoutVars>
          <dgm:chPref val="3"/>
        </dgm:presLayoutVars>
      </dgm:prSet>
      <dgm:spPr/>
    </dgm:pt>
    <dgm:pt modelId="{14352734-2B3C-C74E-9E07-9008217699C2}" type="pres">
      <dgm:prSet presAssocID="{7FF274D5-952F-0444-83AE-AEB2D4CFC7FD}" presName="rootConnector" presStyleLbl="node2" presStyleIdx="1" presStyleCnt="3"/>
      <dgm:spPr/>
    </dgm:pt>
    <dgm:pt modelId="{595FB8C7-8588-9A44-B083-536D068E18FD}" type="pres">
      <dgm:prSet presAssocID="{7FF274D5-952F-0444-83AE-AEB2D4CFC7FD}" presName="hierChild4" presStyleCnt="0"/>
      <dgm:spPr/>
    </dgm:pt>
    <dgm:pt modelId="{0E588A16-B580-144F-A0C9-BBC166DEB62A}" type="pres">
      <dgm:prSet presAssocID="{7FF274D5-952F-0444-83AE-AEB2D4CFC7FD}" presName="hierChild5" presStyleCnt="0"/>
      <dgm:spPr/>
    </dgm:pt>
    <dgm:pt modelId="{748AFCD6-6890-CE42-A0CF-236FD86CA668}" type="pres">
      <dgm:prSet presAssocID="{B48D8F7F-5ECF-9B43-B1A7-DA8C94B135F0}" presName="Name37" presStyleLbl="parChTrans1D2" presStyleIdx="2" presStyleCnt="3"/>
      <dgm:spPr/>
    </dgm:pt>
    <dgm:pt modelId="{1522C9A2-E0EE-AE4B-BC97-7AA4EE48382E}" type="pres">
      <dgm:prSet presAssocID="{6B1F3821-644E-3743-AAAE-1C30A373CBF2}" presName="hierRoot2" presStyleCnt="0">
        <dgm:presLayoutVars>
          <dgm:hierBranch val="init"/>
        </dgm:presLayoutVars>
      </dgm:prSet>
      <dgm:spPr/>
    </dgm:pt>
    <dgm:pt modelId="{1973304F-7C3C-504A-8721-4F25B7AFDD66}" type="pres">
      <dgm:prSet presAssocID="{6B1F3821-644E-3743-AAAE-1C30A373CBF2}" presName="rootComposite" presStyleCnt="0"/>
      <dgm:spPr/>
    </dgm:pt>
    <dgm:pt modelId="{36ADEC99-5B74-C847-A2A8-2882BCF406EE}" type="pres">
      <dgm:prSet presAssocID="{6B1F3821-644E-3743-AAAE-1C30A373CBF2}" presName="rootText" presStyleLbl="node2" presStyleIdx="2" presStyleCnt="3" custScaleX="98729" custScaleY="49364">
        <dgm:presLayoutVars>
          <dgm:chPref val="3"/>
        </dgm:presLayoutVars>
      </dgm:prSet>
      <dgm:spPr/>
    </dgm:pt>
    <dgm:pt modelId="{9279179F-F1FF-004B-8762-823FF921E159}" type="pres">
      <dgm:prSet presAssocID="{6B1F3821-644E-3743-AAAE-1C30A373CBF2}" presName="rootConnector" presStyleLbl="node2" presStyleIdx="2" presStyleCnt="3"/>
      <dgm:spPr/>
    </dgm:pt>
    <dgm:pt modelId="{0C8B90B7-7835-BA40-B04E-26A5D6381912}" type="pres">
      <dgm:prSet presAssocID="{6B1F3821-644E-3743-AAAE-1C30A373CBF2}" presName="hierChild4" presStyleCnt="0"/>
      <dgm:spPr/>
    </dgm:pt>
    <dgm:pt modelId="{E25D414B-B8C1-2E49-A94E-28E43EF8207D}" type="pres">
      <dgm:prSet presAssocID="{6B1F3821-644E-3743-AAAE-1C30A373CBF2}" presName="hierChild5" presStyleCnt="0"/>
      <dgm:spPr/>
    </dgm:pt>
    <dgm:pt modelId="{F68B1C62-373A-3A42-A897-159CAAD59A5A}" type="pres">
      <dgm:prSet presAssocID="{CDB8F77E-250D-9C40-AB74-DDB42BD7BF2E}" presName="hierChild3" presStyleCnt="0"/>
      <dgm:spPr/>
    </dgm:pt>
  </dgm:ptLst>
  <dgm:cxnLst>
    <dgm:cxn modelId="{9E6D1411-C079-3547-ACE4-EBC2480E3763}" srcId="{CDB8F77E-250D-9C40-AB74-DDB42BD7BF2E}" destId="{6B1F3821-644E-3743-AAAE-1C30A373CBF2}" srcOrd="2" destOrd="0" parTransId="{B48D8F7F-5ECF-9B43-B1A7-DA8C94B135F0}" sibTransId="{4424285B-DB98-6943-BA74-4ECE7EFD411F}"/>
    <dgm:cxn modelId="{43292F23-83A0-7844-8577-AA51E4B06477}" srcId="{CDB8F77E-250D-9C40-AB74-DDB42BD7BF2E}" destId="{7FC502A5-F958-1241-8F97-32D405CAFD4A}" srcOrd="0" destOrd="0" parTransId="{936CDAD0-C9F1-754E-AB5F-1C0A571327FC}" sibTransId="{FA5AB01C-9BB0-564E-8FA9-E9AAC3628415}"/>
    <dgm:cxn modelId="{B89C273E-6EF2-974E-AE03-AFB12DD8B589}" type="presOf" srcId="{7FC502A5-F958-1241-8F97-32D405CAFD4A}" destId="{DD3FAD33-11AB-C043-820C-689A4B3DCF71}" srcOrd="0" destOrd="0" presId="urn:microsoft.com/office/officeart/2005/8/layout/orgChart1"/>
    <dgm:cxn modelId="{6E346D40-970F-5E49-B0EA-67CCFA80EEDB}" type="presOf" srcId="{6B1F3821-644E-3743-AAAE-1C30A373CBF2}" destId="{36ADEC99-5B74-C847-A2A8-2882BCF406EE}" srcOrd="0" destOrd="0" presId="urn:microsoft.com/office/officeart/2005/8/layout/orgChart1"/>
    <dgm:cxn modelId="{B9FBEC47-3F2E-B849-9039-8AA985BB7357}" type="presOf" srcId="{7FF274D5-952F-0444-83AE-AEB2D4CFC7FD}" destId="{B20CE626-8C7B-E34E-8C65-C03AE42CFA83}" srcOrd="0" destOrd="0" presId="urn:microsoft.com/office/officeart/2005/8/layout/orgChart1"/>
    <dgm:cxn modelId="{0A568253-CE52-F847-B37B-CD86E6EDBA51}" type="presOf" srcId="{CDB8F77E-250D-9C40-AB74-DDB42BD7BF2E}" destId="{58016B8D-3F6F-564E-88BB-EC12D13FC71C}" srcOrd="1" destOrd="0" presId="urn:microsoft.com/office/officeart/2005/8/layout/orgChart1"/>
    <dgm:cxn modelId="{3C879071-9D35-BD47-9096-B5E0A4ABCFF0}" type="presOf" srcId="{936CDAD0-C9F1-754E-AB5F-1C0A571327FC}" destId="{78C95C33-A2D2-8C4B-A8A3-7F0FC868068B}" srcOrd="0" destOrd="0" presId="urn:microsoft.com/office/officeart/2005/8/layout/orgChart1"/>
    <dgm:cxn modelId="{AFAD8478-95A1-7143-975C-124787750CBD}" type="presOf" srcId="{7FF274D5-952F-0444-83AE-AEB2D4CFC7FD}" destId="{14352734-2B3C-C74E-9E07-9008217699C2}" srcOrd="1" destOrd="0" presId="urn:microsoft.com/office/officeart/2005/8/layout/orgChart1"/>
    <dgm:cxn modelId="{25480494-C236-4C40-9382-DB59A8A24310}" srcId="{CDB8F77E-250D-9C40-AB74-DDB42BD7BF2E}" destId="{7FF274D5-952F-0444-83AE-AEB2D4CFC7FD}" srcOrd="1" destOrd="0" parTransId="{41BD947C-E384-6A4D-BF20-81B49B837029}" sibTransId="{41B1061F-37D7-4E4C-B3CC-EA4AC8765B8C}"/>
    <dgm:cxn modelId="{89F34899-6A64-F649-993C-A74591CF07FE}" srcId="{E846FAFE-9A88-DA41-9B3B-6628D7F867FB}" destId="{CDB8F77E-250D-9C40-AB74-DDB42BD7BF2E}" srcOrd="0" destOrd="0" parTransId="{596470FD-4856-2A4E-B872-69EAEED369B4}" sibTransId="{37A50307-E108-1D44-88AD-948A5A955B26}"/>
    <dgm:cxn modelId="{A14261AD-B122-9645-8C8B-1BC0F0CFD8D0}" type="presOf" srcId="{B48D8F7F-5ECF-9B43-B1A7-DA8C94B135F0}" destId="{748AFCD6-6890-CE42-A0CF-236FD86CA668}" srcOrd="0" destOrd="0" presId="urn:microsoft.com/office/officeart/2005/8/layout/orgChart1"/>
    <dgm:cxn modelId="{6B8EF3B7-A2F4-D24F-80E9-D4CD9D390B4E}" type="presOf" srcId="{6B1F3821-644E-3743-AAAE-1C30A373CBF2}" destId="{9279179F-F1FF-004B-8762-823FF921E159}" srcOrd="1" destOrd="0" presId="urn:microsoft.com/office/officeart/2005/8/layout/orgChart1"/>
    <dgm:cxn modelId="{D59D80C8-1FD3-DE46-B34A-EB97B26AE00E}" type="presOf" srcId="{41BD947C-E384-6A4D-BF20-81B49B837029}" destId="{81B0C265-0DFA-E642-B0A5-245A768D2DEF}" srcOrd="0" destOrd="0" presId="urn:microsoft.com/office/officeart/2005/8/layout/orgChart1"/>
    <dgm:cxn modelId="{5285ACDD-7800-824A-B2F3-5395FD451F76}" type="presOf" srcId="{7FC502A5-F958-1241-8F97-32D405CAFD4A}" destId="{4A9A3810-EEA4-314B-BB36-066864E7B9F2}" srcOrd="1" destOrd="0" presId="urn:microsoft.com/office/officeart/2005/8/layout/orgChart1"/>
    <dgm:cxn modelId="{1AEE6CE1-CE57-9F43-B52A-CE4D9D9C2890}" type="presOf" srcId="{E846FAFE-9A88-DA41-9B3B-6628D7F867FB}" destId="{293D6CAA-366E-7A4C-AED4-4FFD718B89EF}" srcOrd="0" destOrd="0" presId="urn:microsoft.com/office/officeart/2005/8/layout/orgChart1"/>
    <dgm:cxn modelId="{2A8334EA-1515-4548-83E5-E9F8AF4993A7}" type="presOf" srcId="{CDB8F77E-250D-9C40-AB74-DDB42BD7BF2E}" destId="{B83489E7-71B4-D04A-8332-A21C54668DC1}" srcOrd="0" destOrd="0" presId="urn:microsoft.com/office/officeart/2005/8/layout/orgChart1"/>
    <dgm:cxn modelId="{A11FBD02-B21E-D943-9F9C-B3F040D61862}" type="presParOf" srcId="{293D6CAA-366E-7A4C-AED4-4FFD718B89EF}" destId="{49098115-4D64-684B-8645-C2E616D4ECA2}" srcOrd="0" destOrd="0" presId="urn:microsoft.com/office/officeart/2005/8/layout/orgChart1"/>
    <dgm:cxn modelId="{B80DAD02-10FF-D24C-B0B2-B69D04960252}" type="presParOf" srcId="{49098115-4D64-684B-8645-C2E616D4ECA2}" destId="{25FA5BD3-F632-8F46-92CE-D1F3CB76FDAE}" srcOrd="0" destOrd="0" presId="urn:microsoft.com/office/officeart/2005/8/layout/orgChart1"/>
    <dgm:cxn modelId="{ED07A3AD-82CB-934A-9F9B-7329C6C1B8E5}" type="presParOf" srcId="{25FA5BD3-F632-8F46-92CE-D1F3CB76FDAE}" destId="{B83489E7-71B4-D04A-8332-A21C54668DC1}" srcOrd="0" destOrd="0" presId="urn:microsoft.com/office/officeart/2005/8/layout/orgChart1"/>
    <dgm:cxn modelId="{E009D0D1-D65B-934D-ADC9-93155A06BB67}" type="presParOf" srcId="{25FA5BD3-F632-8F46-92CE-D1F3CB76FDAE}" destId="{58016B8D-3F6F-564E-88BB-EC12D13FC71C}" srcOrd="1" destOrd="0" presId="urn:microsoft.com/office/officeart/2005/8/layout/orgChart1"/>
    <dgm:cxn modelId="{9DD4AA6D-4E8A-E246-AF83-CC36F6B5D5B8}" type="presParOf" srcId="{49098115-4D64-684B-8645-C2E616D4ECA2}" destId="{3797B438-1B10-9648-A44F-277116586751}" srcOrd="1" destOrd="0" presId="urn:microsoft.com/office/officeart/2005/8/layout/orgChart1"/>
    <dgm:cxn modelId="{37B2F3FC-3334-2E47-9549-88D5EE74F8EB}" type="presParOf" srcId="{3797B438-1B10-9648-A44F-277116586751}" destId="{78C95C33-A2D2-8C4B-A8A3-7F0FC868068B}" srcOrd="0" destOrd="0" presId="urn:microsoft.com/office/officeart/2005/8/layout/orgChart1"/>
    <dgm:cxn modelId="{C091EF9D-821E-D447-81E1-515EE3EBE9B1}" type="presParOf" srcId="{3797B438-1B10-9648-A44F-277116586751}" destId="{79C2EEFE-65CC-FC48-8F63-7545BF1A0262}" srcOrd="1" destOrd="0" presId="urn:microsoft.com/office/officeart/2005/8/layout/orgChart1"/>
    <dgm:cxn modelId="{C9630643-4580-CF4D-AB47-FEDC4DB8C744}" type="presParOf" srcId="{79C2EEFE-65CC-FC48-8F63-7545BF1A0262}" destId="{74DBA40C-B6D6-A94B-9FC4-905BF4CA0D8B}" srcOrd="0" destOrd="0" presId="urn:microsoft.com/office/officeart/2005/8/layout/orgChart1"/>
    <dgm:cxn modelId="{FFDE5F52-59FE-5C4C-A3D0-7BE54FD215A5}" type="presParOf" srcId="{74DBA40C-B6D6-A94B-9FC4-905BF4CA0D8B}" destId="{DD3FAD33-11AB-C043-820C-689A4B3DCF71}" srcOrd="0" destOrd="0" presId="urn:microsoft.com/office/officeart/2005/8/layout/orgChart1"/>
    <dgm:cxn modelId="{C9BFDF06-CC7B-9A44-8D9F-9F6A2C0E1FCE}" type="presParOf" srcId="{74DBA40C-B6D6-A94B-9FC4-905BF4CA0D8B}" destId="{4A9A3810-EEA4-314B-BB36-066864E7B9F2}" srcOrd="1" destOrd="0" presId="urn:microsoft.com/office/officeart/2005/8/layout/orgChart1"/>
    <dgm:cxn modelId="{2F13CEF5-9CEC-CD4D-B351-D9BDF26521E7}" type="presParOf" srcId="{79C2EEFE-65CC-FC48-8F63-7545BF1A0262}" destId="{F25AD67E-A7CB-4946-AAD2-377356FA7C2E}" srcOrd="1" destOrd="0" presId="urn:microsoft.com/office/officeart/2005/8/layout/orgChart1"/>
    <dgm:cxn modelId="{D7F69FEE-3CF4-184B-925C-4B52B62BFFCD}" type="presParOf" srcId="{79C2EEFE-65CC-FC48-8F63-7545BF1A0262}" destId="{F97843CA-62BC-3340-AB07-B8E32B96BEFF}" srcOrd="2" destOrd="0" presId="urn:microsoft.com/office/officeart/2005/8/layout/orgChart1"/>
    <dgm:cxn modelId="{D7A4AD26-ECF9-DB49-8B74-CC34CA5A49DD}" type="presParOf" srcId="{3797B438-1B10-9648-A44F-277116586751}" destId="{81B0C265-0DFA-E642-B0A5-245A768D2DEF}" srcOrd="2" destOrd="0" presId="urn:microsoft.com/office/officeart/2005/8/layout/orgChart1"/>
    <dgm:cxn modelId="{A978360B-17B4-DC42-A502-94E2F9F3E83E}" type="presParOf" srcId="{3797B438-1B10-9648-A44F-277116586751}" destId="{2BAF0B80-CCA9-3143-BF86-12DD7A7C579D}" srcOrd="3" destOrd="0" presId="urn:microsoft.com/office/officeart/2005/8/layout/orgChart1"/>
    <dgm:cxn modelId="{BC442386-2862-6A4A-8418-925D06398485}" type="presParOf" srcId="{2BAF0B80-CCA9-3143-BF86-12DD7A7C579D}" destId="{444AF975-1A28-6442-A286-5ED2716DFC4A}" srcOrd="0" destOrd="0" presId="urn:microsoft.com/office/officeart/2005/8/layout/orgChart1"/>
    <dgm:cxn modelId="{BBEF4B80-7B8D-7148-A1D7-CD6278395E34}" type="presParOf" srcId="{444AF975-1A28-6442-A286-5ED2716DFC4A}" destId="{B20CE626-8C7B-E34E-8C65-C03AE42CFA83}" srcOrd="0" destOrd="0" presId="urn:microsoft.com/office/officeart/2005/8/layout/orgChart1"/>
    <dgm:cxn modelId="{CF83D2B3-D999-9E4E-9F13-23C3E772F593}" type="presParOf" srcId="{444AF975-1A28-6442-A286-5ED2716DFC4A}" destId="{14352734-2B3C-C74E-9E07-9008217699C2}" srcOrd="1" destOrd="0" presId="urn:microsoft.com/office/officeart/2005/8/layout/orgChart1"/>
    <dgm:cxn modelId="{04F138EB-5323-9A4B-A21D-BB1C53C2BB05}" type="presParOf" srcId="{2BAF0B80-CCA9-3143-BF86-12DD7A7C579D}" destId="{595FB8C7-8588-9A44-B083-536D068E18FD}" srcOrd="1" destOrd="0" presId="urn:microsoft.com/office/officeart/2005/8/layout/orgChart1"/>
    <dgm:cxn modelId="{8AC08F69-3888-2F4F-837B-B09697E33E0C}" type="presParOf" srcId="{2BAF0B80-CCA9-3143-BF86-12DD7A7C579D}" destId="{0E588A16-B580-144F-A0C9-BBC166DEB62A}" srcOrd="2" destOrd="0" presId="urn:microsoft.com/office/officeart/2005/8/layout/orgChart1"/>
    <dgm:cxn modelId="{C4DC9BB6-D822-5A41-8C60-18D59447D191}" type="presParOf" srcId="{3797B438-1B10-9648-A44F-277116586751}" destId="{748AFCD6-6890-CE42-A0CF-236FD86CA668}" srcOrd="4" destOrd="0" presId="urn:microsoft.com/office/officeart/2005/8/layout/orgChart1"/>
    <dgm:cxn modelId="{A4576554-077F-CE42-A331-AD6E34208338}" type="presParOf" srcId="{3797B438-1B10-9648-A44F-277116586751}" destId="{1522C9A2-E0EE-AE4B-BC97-7AA4EE48382E}" srcOrd="5" destOrd="0" presId="urn:microsoft.com/office/officeart/2005/8/layout/orgChart1"/>
    <dgm:cxn modelId="{D13ACF6D-AA1E-D543-9101-FF9FB2CC2FD9}" type="presParOf" srcId="{1522C9A2-E0EE-AE4B-BC97-7AA4EE48382E}" destId="{1973304F-7C3C-504A-8721-4F25B7AFDD66}" srcOrd="0" destOrd="0" presId="urn:microsoft.com/office/officeart/2005/8/layout/orgChart1"/>
    <dgm:cxn modelId="{1435D5DE-E457-C448-B0F9-111A890D375C}" type="presParOf" srcId="{1973304F-7C3C-504A-8721-4F25B7AFDD66}" destId="{36ADEC99-5B74-C847-A2A8-2882BCF406EE}" srcOrd="0" destOrd="0" presId="urn:microsoft.com/office/officeart/2005/8/layout/orgChart1"/>
    <dgm:cxn modelId="{1610A61E-BD5E-774C-943B-D37464E131D4}" type="presParOf" srcId="{1973304F-7C3C-504A-8721-4F25B7AFDD66}" destId="{9279179F-F1FF-004B-8762-823FF921E159}" srcOrd="1" destOrd="0" presId="urn:microsoft.com/office/officeart/2005/8/layout/orgChart1"/>
    <dgm:cxn modelId="{4DD045BF-D3AB-654D-A641-625D70B26E94}" type="presParOf" srcId="{1522C9A2-E0EE-AE4B-BC97-7AA4EE48382E}" destId="{0C8B90B7-7835-BA40-B04E-26A5D6381912}" srcOrd="1" destOrd="0" presId="urn:microsoft.com/office/officeart/2005/8/layout/orgChart1"/>
    <dgm:cxn modelId="{08A6549C-F1AD-8749-9B01-642F9D9264A8}" type="presParOf" srcId="{1522C9A2-E0EE-AE4B-BC97-7AA4EE48382E}" destId="{E25D414B-B8C1-2E49-A94E-28E43EF8207D}" srcOrd="2" destOrd="0" presId="urn:microsoft.com/office/officeart/2005/8/layout/orgChart1"/>
    <dgm:cxn modelId="{FD021A08-1240-FC4E-8404-190ED6AC7B77}" type="presParOf" srcId="{49098115-4D64-684B-8645-C2E616D4ECA2}" destId="{F68B1C62-373A-3A42-A897-159CAAD59A5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8AFCD6-6890-CE42-A0CF-236FD86CA668}">
      <dsp:nvSpPr>
        <dsp:cNvPr id="0" name=""/>
        <dsp:cNvSpPr/>
      </dsp:nvSpPr>
      <dsp:spPr>
        <a:xfrm>
          <a:off x="5068711" y="1101030"/>
          <a:ext cx="3582830" cy="6308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5417"/>
              </a:lnTo>
              <a:lnTo>
                <a:pt x="3582830" y="315417"/>
              </a:lnTo>
              <a:lnTo>
                <a:pt x="3582830" y="630835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B0C265-0DFA-E642-B0A5-245A768D2DEF}">
      <dsp:nvSpPr>
        <dsp:cNvPr id="0" name=""/>
        <dsp:cNvSpPr/>
      </dsp:nvSpPr>
      <dsp:spPr>
        <a:xfrm>
          <a:off x="5012281" y="1101030"/>
          <a:ext cx="91440" cy="630835"/>
        </a:xfrm>
        <a:custGeom>
          <a:avLst/>
          <a:gdLst/>
          <a:ahLst/>
          <a:cxnLst/>
          <a:rect l="0" t="0" r="0" b="0"/>
          <a:pathLst>
            <a:path>
              <a:moveTo>
                <a:pt x="56429" y="0"/>
              </a:moveTo>
              <a:lnTo>
                <a:pt x="56429" y="315417"/>
              </a:lnTo>
              <a:lnTo>
                <a:pt x="45720" y="315417"/>
              </a:lnTo>
              <a:lnTo>
                <a:pt x="45720" y="630835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C95C33-A2D2-8C4B-A8A3-7F0FC868068B}">
      <dsp:nvSpPr>
        <dsp:cNvPr id="0" name=""/>
        <dsp:cNvSpPr/>
      </dsp:nvSpPr>
      <dsp:spPr>
        <a:xfrm>
          <a:off x="1475171" y="1101030"/>
          <a:ext cx="3593539" cy="630835"/>
        </a:xfrm>
        <a:custGeom>
          <a:avLst/>
          <a:gdLst/>
          <a:ahLst/>
          <a:cxnLst/>
          <a:rect l="0" t="0" r="0" b="0"/>
          <a:pathLst>
            <a:path>
              <a:moveTo>
                <a:pt x="3593539" y="0"/>
              </a:moveTo>
              <a:lnTo>
                <a:pt x="3593539" y="315417"/>
              </a:lnTo>
              <a:lnTo>
                <a:pt x="0" y="315417"/>
              </a:lnTo>
              <a:lnTo>
                <a:pt x="0" y="630835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3489E7-71B4-D04A-8332-A21C54668DC1}">
      <dsp:nvSpPr>
        <dsp:cNvPr id="0" name=""/>
        <dsp:cNvSpPr/>
      </dsp:nvSpPr>
      <dsp:spPr>
        <a:xfrm>
          <a:off x="3566721" y="389658"/>
          <a:ext cx="3003978" cy="7113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Interest Rate</a:t>
          </a:r>
        </a:p>
      </dsp:txBody>
      <dsp:txXfrm>
        <a:off x="3566721" y="389658"/>
        <a:ext cx="3003978" cy="711372"/>
      </dsp:txXfrm>
    </dsp:sp>
    <dsp:sp modelId="{DD3FAD33-11AB-C043-820C-689A4B3DCF71}">
      <dsp:nvSpPr>
        <dsp:cNvPr id="0" name=""/>
        <dsp:cNvSpPr/>
      </dsp:nvSpPr>
      <dsp:spPr>
        <a:xfrm>
          <a:off x="2981" y="1731866"/>
          <a:ext cx="2944379" cy="73606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Opportunity Cost</a:t>
          </a:r>
        </a:p>
      </dsp:txBody>
      <dsp:txXfrm>
        <a:off x="2981" y="1731866"/>
        <a:ext cx="2944379" cy="736064"/>
      </dsp:txXfrm>
    </dsp:sp>
    <dsp:sp modelId="{B20CE626-8C7B-E34E-8C65-C03AE42CFA83}">
      <dsp:nvSpPr>
        <dsp:cNvPr id="0" name=""/>
        <dsp:cNvSpPr/>
      </dsp:nvSpPr>
      <dsp:spPr>
        <a:xfrm>
          <a:off x="3578196" y="1731866"/>
          <a:ext cx="2959609" cy="73912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Default Risk</a:t>
          </a:r>
        </a:p>
      </dsp:txBody>
      <dsp:txXfrm>
        <a:off x="3578196" y="1731866"/>
        <a:ext cx="2959609" cy="739128"/>
      </dsp:txXfrm>
    </dsp:sp>
    <dsp:sp modelId="{36ADEC99-5B74-C847-A2A8-2882BCF406EE}">
      <dsp:nvSpPr>
        <dsp:cNvPr id="0" name=""/>
        <dsp:cNvSpPr/>
      </dsp:nvSpPr>
      <dsp:spPr>
        <a:xfrm>
          <a:off x="7168642" y="1731866"/>
          <a:ext cx="2965797" cy="74144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Purchasing Power</a:t>
          </a:r>
          <a:endParaRPr lang="en-US" sz="2500" kern="1200" dirty="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7168642" y="1731866"/>
        <a:ext cx="2965797" cy="7414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0.46425</cdr:x>
      <cdr:y>0.89371</cdr:y>
    </cdr:from>
    <cdr:to>
      <cdr:x>0.53575</cdr:x>
      <cdr:y>1</cdr:y>
    </cdr:to>
    <cdr:sp macro="" textlink="">
      <cdr:nvSpPr>
        <cdr:cNvPr id="2" name="TextBox 2">
          <a:extLst xmlns:a="http://schemas.openxmlformats.org/drawingml/2006/main">
            <a:ext uri="{FF2B5EF4-FFF2-40B4-BE49-F238E27FC236}">
              <a16:creationId xmlns:a16="http://schemas.microsoft.com/office/drawing/2014/main" id="{C6979A84-C335-B143-F373-0E16DD60863F}"/>
            </a:ext>
          </a:extLst>
        </cdr:cNvPr>
        <cdr:cNvSpPr txBox="1"/>
      </cdr:nvSpPr>
      <cdr:spPr>
        <a:xfrm xmlns:a="http://schemas.openxmlformats.org/drawingml/2006/main">
          <a:off x="4669582" y="3105388"/>
          <a:ext cx="719236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b="1" dirty="0">
              <a:latin typeface="Helvetica" pitchFamily="2" charset="0"/>
            </a:rPr>
            <a:t>Time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4B6570-999A-DC42-8E66-F3D58899C2B7}" type="datetimeFigureOut">
              <a:rPr lang="en-US" smtClean="0"/>
              <a:t>2/17/25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249C8-EEFF-0D43-99AE-419F2E819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889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8D209-FD93-A4B0-A810-9A2E0EBF0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ED1B4-A049-4D38-DFBB-4E5BC72C18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D71EFE-26ED-2840-C046-449AF2C45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CC00C-6294-8B0D-8CC2-10ABE7677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249C8-EEFF-0D43-99AE-419F2E819ED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341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19897-A879-4ABF-D58E-960D052B8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E6FAE5-2B32-006F-EDAF-4435E54393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470B76-7B20-E27B-43C7-5D9CE78A2D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46188-5622-82E5-80F3-1AB56B21B0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249C8-EEFF-0D43-99AE-419F2E819ED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56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249C8-EEFF-0D43-99AE-419F2E819ED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271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5DCE7-3227-7606-590E-908CFA9F3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37B676-8E94-2AC4-B396-0906FA65AE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2F850E-3F6A-E9E8-B919-A0E6DF366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FF5A6-322E-BC3C-3FC8-EFF2C07AF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249C8-EEFF-0D43-99AE-419F2E819ED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525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5FB6C-482D-0CA6-0DE7-A1A454DF8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BB1028-71D8-5431-C858-18A13E212E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D1E4A-C709-833E-8BD5-AB357ED3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E4701-E60B-FACF-D008-D6973077D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45F21-F310-25D3-E67C-F367F2C88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499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59575-D8E5-4A66-CADA-E482F1441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C6E56-9AC0-66AD-C7DA-859101091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A363D-B7C6-7735-2FDD-08180DD60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D0FD0-7E51-D047-6E3E-6637F26BD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EC9BB-7E26-F3B6-D943-BC8B533D8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976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69BF2-11A0-FD24-CE3F-086326F82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F59D0-8E25-45D1-541F-EDC02B15B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98559-E522-D16F-4CAC-3D25F8FAE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D839E-DE62-2C49-49CA-9764CD2E6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CB57B-61F5-5150-2D2C-5DD8EB004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172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55D95-82B1-D51C-FC84-DEDAF8F05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C9C2F-C4D3-4114-08A3-C63246E1FC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2FEC3-2E6A-634C-C36E-31960FBB4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948A8-F8A0-43CE-61CB-23D8EEA88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2/17/25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AF85D-0A8C-EF4C-0BBB-781FE0AD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85E45-8598-93A6-A975-39200CEF2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052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28E9C-41D5-756E-2210-73BE51675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B8B5E-F5F4-C12D-6E69-79E7DC6C8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93AF9-BAAB-7C0C-2A9F-EE277C72A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C1E2C7-77F5-0CC3-0DB1-C603AD9D81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5B85B7-C95B-6EB7-30B0-D7970DF9EF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EA31BD-258A-FF61-A40F-2AECE6728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2/17/25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26FAEC-491C-9FBC-DD4F-E38CDBB96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7BF88-4C03-9D43-A69E-20C380CB3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2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34D1B-1BCD-9A2B-3972-2543F411F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1FBEE9-22E7-9DCE-1FD7-6524DA6A7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2/17/25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CA0769-0478-F802-85F4-44852F876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8E0EE1-A079-CFE1-AE9C-918642736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954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2EF334-4B8C-D680-9553-CA10C9D73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2/17/25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F99754-111E-6272-2C89-0F3EDA698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59B71-4C50-D2A2-020D-5DD0FA05E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354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0A0B8-477D-35B0-7412-32F428B91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A6865-2165-7C1C-940B-053992395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33155-0BFB-86F7-059B-EEF97ABF1E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4A07E-E050-ABCF-9243-A6FBB2589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2/17/25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3DD39-1D14-5AB7-1A69-8027B38A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5BDE8-698B-2C4D-D21E-BE3EBD399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71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BFCD6-1E57-B4FB-9408-566E35923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37DE9-1135-AA14-17F4-548BBF1F42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50764-D82B-D75E-993F-B9CCD1F07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3F2CD-FEBD-1ECF-8F44-D4F81977B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2/17/25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C2630-7380-E112-5F8B-043D986B8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8E5B24-DC64-AB0B-30EC-52DD0365F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17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5E52A-1FE4-B6B8-F089-5384E314D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48E456-17A9-C6A9-2755-A45D7F453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DBDF4-6082-1290-3E8E-57A5ABAA4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0894A-2F3C-4B8E-8810-AEE573267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AAF87-8AE7-BC2E-A207-358D87DC8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788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81805F-BB64-2EB1-35DB-4E7F78E8E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FF093D-B18C-38A6-A275-E4007CFDD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4F3AC-A7FB-2BA1-986B-83976C2CB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EEA69-29F0-C94B-C22B-5F9A5A22A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F7028-1573-C1DF-F272-C3A0F373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06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8212E9-93E5-CDD1-498F-A39B259D5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83DC2-F13F-F521-C0E4-4F54796FC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F7B16-78AF-C336-F905-BF1D852AF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425B35-3F3A-CD41-9377-C81DC4A252A0}" type="datetimeFigureOut">
              <a:rPr lang="en-US" smtClean="0"/>
              <a:t>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E59BC-03CD-E536-A6BF-FA28D0ACB2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283CA-4F84-65CA-AA42-4F0F2A5F0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75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jp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 descr="A chalkboard with a sign on the wall&#10;&#10;Description automatically generated">
            <a:extLst>
              <a:ext uri="{FF2B5EF4-FFF2-40B4-BE49-F238E27FC236}">
                <a16:creationId xmlns:a16="http://schemas.microsoft.com/office/drawing/2014/main" id="{1F973844-7FAE-5353-FABF-9F83EB0F6A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586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2A5504-96B6-C6C0-C246-03CDDAD72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92FD42C-9B08-7173-762A-C4E90D085820}"/>
              </a:ext>
            </a:extLst>
          </p:cNvPr>
          <p:cNvGrpSpPr/>
          <p:nvPr/>
        </p:nvGrpSpPr>
        <p:grpSpPr>
          <a:xfrm>
            <a:off x="957543" y="985479"/>
            <a:ext cx="10276914" cy="5872521"/>
            <a:chOff x="957543" y="985479"/>
            <a:chExt cx="10276914" cy="5872521"/>
          </a:xfrm>
        </p:grpSpPr>
        <p:pic>
          <p:nvPicPr>
            <p:cNvPr id="5" name="Picture 4" descr="A hand holding money&#10;&#10;Description automatically generated">
              <a:extLst>
                <a:ext uri="{FF2B5EF4-FFF2-40B4-BE49-F238E27FC236}">
                  <a16:creationId xmlns:a16="http://schemas.microsoft.com/office/drawing/2014/main" id="{4F902DAC-3D25-43E9-34A1-7C3FC7A30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7543" y="985479"/>
              <a:ext cx="10276914" cy="5872521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1E84BCA-0350-9694-D4D4-331809818814}"/>
                </a:ext>
              </a:extLst>
            </p:cNvPr>
            <p:cNvSpPr txBox="1"/>
            <p:nvPr/>
          </p:nvSpPr>
          <p:spPr>
            <a:xfrm>
              <a:off x="3652418" y="4597756"/>
              <a:ext cx="144675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latin typeface="Helvetica" pitchFamily="2" charset="0"/>
                </a:rPr>
                <a:t>$100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C28A385-50EE-2B2D-E912-9B367B203B7B}"/>
                </a:ext>
              </a:extLst>
            </p:cNvPr>
            <p:cNvSpPr txBox="1"/>
            <p:nvPr/>
          </p:nvSpPr>
          <p:spPr>
            <a:xfrm>
              <a:off x="6986804" y="4597756"/>
              <a:ext cx="161448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latin typeface="Helvetica" pitchFamily="2" charset="0"/>
                </a:rPr>
                <a:t>$108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9C9D40D-6C1C-E34D-83E8-1B0D9D8E7E32}"/>
              </a:ext>
            </a:extLst>
          </p:cNvPr>
          <p:cNvSpPr txBox="1"/>
          <p:nvPr/>
        </p:nvSpPr>
        <p:spPr>
          <a:xfrm>
            <a:off x="2263407" y="339148"/>
            <a:ext cx="71447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Helvetica" pitchFamily="2" charset="0"/>
              </a:rPr>
              <a:t>What Would You Rather Have?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3FD82C-E3BD-3FDB-D2A5-A5DAC0FB2317}"/>
              </a:ext>
            </a:extLst>
          </p:cNvPr>
          <p:cNvSpPr txBox="1"/>
          <p:nvPr/>
        </p:nvSpPr>
        <p:spPr>
          <a:xfrm flipH="1">
            <a:off x="6842068" y="5995632"/>
            <a:ext cx="1903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Helvetica" pitchFamily="2" charset="0"/>
              </a:rPr>
              <a:t>When??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1ED244-7FC9-D9D8-8B69-38C3582DDF8F}"/>
              </a:ext>
            </a:extLst>
          </p:cNvPr>
          <p:cNvSpPr txBox="1"/>
          <p:nvPr/>
        </p:nvSpPr>
        <p:spPr>
          <a:xfrm flipH="1">
            <a:off x="2686685" y="5951973"/>
            <a:ext cx="2971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Helvetica" pitchFamily="2" charset="0"/>
              </a:rPr>
              <a:t>Interest rate??</a:t>
            </a:r>
          </a:p>
        </p:txBody>
      </p:sp>
    </p:spTree>
    <p:extLst>
      <p:ext uri="{BB962C8B-B14F-4D97-AF65-F5344CB8AC3E}">
        <p14:creationId xmlns:p14="http://schemas.microsoft.com/office/powerpoint/2010/main" val="3270864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F6F0F-6DA7-76FD-EC05-B5048D474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0BB7291-95BA-C571-70CC-82605DFE1495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1DE40-E457-30D5-0E6F-73DE68689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26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What is an interest rate?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8F44FD-D96D-EE75-9098-F860EF379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731" y="3888845"/>
            <a:ext cx="858180" cy="885823"/>
          </a:xfrm>
          <a:prstGeom prst="rect">
            <a:avLst/>
          </a:prstGeom>
        </p:spPr>
      </p:pic>
      <p:pic>
        <p:nvPicPr>
          <p:cNvPr id="8" name="Picture 7" descr="A person in a suit looking at question marks&#10;&#10;Description automatically generated">
            <a:extLst>
              <a:ext uri="{FF2B5EF4-FFF2-40B4-BE49-F238E27FC236}">
                <a16:creationId xmlns:a16="http://schemas.microsoft.com/office/drawing/2014/main" id="{7100FF0C-0808-D1D4-3F2A-FC72223F2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910" y="3888845"/>
            <a:ext cx="858180" cy="885823"/>
          </a:xfrm>
          <a:prstGeom prst="rect">
            <a:avLst/>
          </a:prstGeom>
        </p:spPr>
      </p:pic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D3C76BC0-3350-FA1B-2B19-701F15D73D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2797360"/>
              </p:ext>
            </p:extLst>
          </p:nvPr>
        </p:nvGraphicFramePr>
        <p:xfrm>
          <a:off x="1027289" y="1347789"/>
          <a:ext cx="10137422" cy="2862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3" name="Picture 12" descr="A cartoon of a person with different options&#10;&#10;Description automatically generated">
            <a:extLst>
              <a:ext uri="{FF2B5EF4-FFF2-40B4-BE49-F238E27FC236}">
                <a16:creationId xmlns:a16="http://schemas.microsoft.com/office/drawing/2014/main" id="{65CAEF9A-AEFD-10BA-75C8-293444ADAA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5400" y="3860268"/>
            <a:ext cx="1629421" cy="91440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18F218C-2F6C-1BF0-C77A-FBEE71415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24467"/>
            <a:ext cx="10886162" cy="1366796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</a:pPr>
            <a:r>
              <a:rPr lang="en-US" sz="2400" i="1" dirty="0">
                <a:latin typeface="Helvetica" pitchFamily="2" charset="0"/>
              </a:rPr>
              <a:t>An interest rate is the cost of borrowing money or the reward for saving it.</a:t>
            </a:r>
          </a:p>
          <a:p>
            <a:pPr lvl="1">
              <a:spcBef>
                <a:spcPts val="600"/>
              </a:spcBef>
            </a:pPr>
            <a:r>
              <a:rPr lang="en-US" sz="2200" dirty="0">
                <a:latin typeface="Helvetica" pitchFamily="2" charset="0"/>
              </a:rPr>
              <a:t>For example,</a:t>
            </a:r>
          </a:p>
          <a:p>
            <a:pPr lvl="2">
              <a:spcBef>
                <a:spcPts val="600"/>
              </a:spcBef>
              <a:buFont typeface="Wingdings" pitchFamily="2" charset="2"/>
              <a:buChar char="ü"/>
            </a:pPr>
            <a:r>
              <a:rPr lang="en-US" dirty="0">
                <a:solidFill>
                  <a:srgbClr val="C00000"/>
                </a:solidFill>
                <a:latin typeface="Helvetica" pitchFamily="2" charset="0"/>
              </a:rPr>
              <a:t>If you borrow $100 at a 5% interest rate, you will pay $5 extra </a:t>
            </a:r>
          </a:p>
          <a:p>
            <a:pPr lvl="2">
              <a:spcBef>
                <a:spcPts val="600"/>
              </a:spcBef>
              <a:buFont typeface="Wingdings" pitchFamily="2" charset="2"/>
              <a:buChar char="ü"/>
            </a:pPr>
            <a:r>
              <a:rPr lang="en-US" dirty="0">
                <a:solidFill>
                  <a:srgbClr val="00B050"/>
                </a:solidFill>
                <a:latin typeface="Helvetica" pitchFamily="2" charset="0"/>
              </a:rPr>
              <a:t>If you save $100 at a 5% interest rate, you will earn $5</a:t>
            </a:r>
          </a:p>
        </p:txBody>
      </p:sp>
    </p:spTree>
    <p:extLst>
      <p:ext uri="{BB962C8B-B14F-4D97-AF65-F5344CB8AC3E}">
        <p14:creationId xmlns:p14="http://schemas.microsoft.com/office/powerpoint/2010/main" val="563111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D572F5-03AA-9772-6A24-99D8CAE07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EE4E4A1A-C625-E65A-B172-77E841E2B6A5}"/>
              </a:ext>
            </a:extLst>
          </p:cNvPr>
          <p:cNvGrpSpPr/>
          <p:nvPr/>
        </p:nvGrpSpPr>
        <p:grpSpPr>
          <a:xfrm>
            <a:off x="957543" y="985479"/>
            <a:ext cx="10276914" cy="5872521"/>
            <a:chOff x="957543" y="985479"/>
            <a:chExt cx="10276914" cy="5872521"/>
          </a:xfrm>
        </p:grpSpPr>
        <p:pic>
          <p:nvPicPr>
            <p:cNvPr id="5" name="Picture 4" descr="A hand holding money&#10;&#10;Description automatically generated">
              <a:extLst>
                <a:ext uri="{FF2B5EF4-FFF2-40B4-BE49-F238E27FC236}">
                  <a16:creationId xmlns:a16="http://schemas.microsoft.com/office/drawing/2014/main" id="{179CA107-0407-D5B5-5E9A-267841EFC6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7543" y="985479"/>
              <a:ext cx="10276914" cy="5872521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314BE8D-6D66-B819-1D9E-640EA67720F2}"/>
                </a:ext>
              </a:extLst>
            </p:cNvPr>
            <p:cNvSpPr txBox="1"/>
            <p:nvPr/>
          </p:nvSpPr>
          <p:spPr>
            <a:xfrm>
              <a:off x="3652418" y="4597756"/>
              <a:ext cx="144675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latin typeface="Helvetica" pitchFamily="2" charset="0"/>
                </a:rPr>
                <a:t>$100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45DA870-651D-0D1A-390B-4195BB136CDD}"/>
                </a:ext>
              </a:extLst>
            </p:cNvPr>
            <p:cNvSpPr txBox="1"/>
            <p:nvPr/>
          </p:nvSpPr>
          <p:spPr>
            <a:xfrm>
              <a:off x="6986804" y="4597756"/>
              <a:ext cx="161448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latin typeface="Helvetica" pitchFamily="2" charset="0"/>
                </a:rPr>
                <a:t>$108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A51BB0B-C998-94E9-7590-2A3F252693D5}"/>
              </a:ext>
            </a:extLst>
          </p:cNvPr>
          <p:cNvSpPr txBox="1"/>
          <p:nvPr/>
        </p:nvSpPr>
        <p:spPr>
          <a:xfrm>
            <a:off x="2263407" y="339148"/>
            <a:ext cx="71447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Helvetica" pitchFamily="2" charset="0"/>
              </a:rPr>
              <a:t>What Would You Rather Have?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1B134A-A14A-E0D9-1219-4F12AFFB7AA3}"/>
              </a:ext>
            </a:extLst>
          </p:cNvPr>
          <p:cNvSpPr txBox="1"/>
          <p:nvPr/>
        </p:nvSpPr>
        <p:spPr>
          <a:xfrm flipH="1">
            <a:off x="6337975" y="5951973"/>
            <a:ext cx="3394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Helvetica" pitchFamily="2" charset="0"/>
              </a:rPr>
              <a:t>When = Next year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584041-84A6-DBA7-36C8-8D599D08AE9A}"/>
              </a:ext>
            </a:extLst>
          </p:cNvPr>
          <p:cNvSpPr txBox="1"/>
          <p:nvPr/>
        </p:nvSpPr>
        <p:spPr>
          <a:xfrm flipH="1">
            <a:off x="2181345" y="5951973"/>
            <a:ext cx="3394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Helvetica" pitchFamily="2" charset="0"/>
              </a:rPr>
              <a:t>Interest rate = 10%</a:t>
            </a:r>
          </a:p>
        </p:txBody>
      </p:sp>
    </p:spTree>
    <p:extLst>
      <p:ext uri="{BB962C8B-B14F-4D97-AF65-F5344CB8AC3E}">
        <p14:creationId xmlns:p14="http://schemas.microsoft.com/office/powerpoint/2010/main" val="616042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3B6AC4C8-50AA-90A1-5A29-8946A2D72BEE}"/>
              </a:ext>
            </a:extLst>
          </p:cNvPr>
          <p:cNvGrpSpPr/>
          <p:nvPr/>
        </p:nvGrpSpPr>
        <p:grpSpPr>
          <a:xfrm>
            <a:off x="634622" y="2922359"/>
            <a:ext cx="10523916" cy="2816673"/>
            <a:chOff x="734634" y="3330346"/>
            <a:chExt cx="10523916" cy="2816673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D729BD6-6F24-673F-E435-32ECC3CF5ADA}"/>
                </a:ext>
              </a:extLst>
            </p:cNvPr>
            <p:cNvGrpSpPr/>
            <p:nvPr/>
          </p:nvGrpSpPr>
          <p:grpSpPr>
            <a:xfrm>
              <a:off x="1015961" y="5024756"/>
              <a:ext cx="10242589" cy="1122263"/>
              <a:chOff x="873086" y="5053331"/>
              <a:chExt cx="10242589" cy="1122263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957BB78D-4848-8638-90AB-1E23F1338DEE}"/>
                  </a:ext>
                </a:extLst>
              </p:cNvPr>
              <p:cNvGrpSpPr/>
              <p:nvPr/>
            </p:nvGrpSpPr>
            <p:grpSpPr>
              <a:xfrm>
                <a:off x="1027135" y="5053331"/>
                <a:ext cx="10088540" cy="475932"/>
                <a:chOff x="1027135" y="5053331"/>
                <a:chExt cx="10088540" cy="475932"/>
              </a:xfrm>
            </p:grpSpPr>
            <p:cxnSp>
              <p:nvCxnSpPr>
                <p:cNvPr id="5" name="Straight Arrow Connector 4">
                  <a:extLst>
                    <a:ext uri="{FF2B5EF4-FFF2-40B4-BE49-F238E27FC236}">
                      <a16:creationId xmlns:a16="http://schemas.microsoft.com/office/drawing/2014/main" id="{03E6D1A0-C113-4B30-0F7F-9CD802D422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5" y="5285984"/>
                  <a:ext cx="10088540" cy="14677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BD3DF345-7DB6-2194-4AC3-93C818FD3D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6" y="5072061"/>
                  <a:ext cx="0" cy="45720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9AC7BEAB-F660-E17C-AB81-CB479FEB02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93890" y="5072062"/>
                  <a:ext cx="0" cy="45720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57B175A3-AEA2-CE1A-DAD2-58D874DB6F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90258" y="5072061"/>
                  <a:ext cx="0" cy="45720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0BC19C44-586B-D0F7-65CD-9610BFF43B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70524" y="5053331"/>
                  <a:ext cx="0" cy="45720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7D405106-E5E3-BE7A-E7B6-D88313BF76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74923" y="5072063"/>
                  <a:ext cx="0" cy="45720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5D9832E-AF6D-0A39-07FD-2A1F7B129B67}"/>
                  </a:ext>
                </a:extLst>
              </p:cNvPr>
              <p:cNvSpPr txBox="1"/>
              <p:nvPr/>
            </p:nvSpPr>
            <p:spPr>
              <a:xfrm>
                <a:off x="873086" y="5713929"/>
                <a:ext cx="3561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latin typeface="Helvetica" pitchFamily="2" charset="0"/>
                  </a:rPr>
                  <a:t>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1AC7A8A-670D-4508-5956-BCA03B58D455}"/>
                  </a:ext>
                </a:extLst>
              </p:cNvPr>
              <p:cNvSpPr txBox="1"/>
              <p:nvPr/>
            </p:nvSpPr>
            <p:spPr>
              <a:xfrm>
                <a:off x="3139841" y="5713929"/>
                <a:ext cx="3561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latin typeface="Helvetica" pitchFamily="2" charset="0"/>
                  </a:rPr>
                  <a:t>1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C2EB8C3-CE55-E261-8E2D-FBE9CBAD5A38}"/>
                  </a:ext>
                </a:extLst>
              </p:cNvPr>
              <p:cNvSpPr txBox="1"/>
              <p:nvPr/>
            </p:nvSpPr>
            <p:spPr>
              <a:xfrm>
                <a:off x="5420874" y="5713929"/>
                <a:ext cx="3561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latin typeface="Helvetica" pitchFamily="2" charset="0"/>
                  </a:rPr>
                  <a:t>2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0B9339B-2CDD-0685-2195-4F8873AC22A7}"/>
                  </a:ext>
                </a:extLst>
              </p:cNvPr>
              <p:cNvSpPr txBox="1"/>
              <p:nvPr/>
            </p:nvSpPr>
            <p:spPr>
              <a:xfrm>
                <a:off x="7716475" y="5710715"/>
                <a:ext cx="3561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latin typeface="Helvetica" pitchFamily="2" charset="0"/>
                  </a:rPr>
                  <a:t>3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19C7B0B-40D6-36C6-29A5-8BBFA6949308}"/>
                  </a:ext>
                </a:extLst>
              </p:cNvPr>
              <p:cNvSpPr txBox="1"/>
              <p:nvPr/>
            </p:nvSpPr>
            <p:spPr>
              <a:xfrm>
                <a:off x="10036209" y="5710715"/>
                <a:ext cx="3561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latin typeface="Helvetica" pitchFamily="2" charset="0"/>
                  </a:rPr>
                  <a:t>4</a:t>
                </a: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582B175-2CE9-7CF4-FABB-1470B59EF9D3}"/>
                </a:ext>
              </a:extLst>
            </p:cNvPr>
            <p:cNvSpPr txBox="1"/>
            <p:nvPr/>
          </p:nvSpPr>
          <p:spPr>
            <a:xfrm>
              <a:off x="734634" y="4168553"/>
              <a:ext cx="8707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Helvetica" pitchFamily="2" charset="0"/>
                </a:rPr>
                <a:t>$100</a:t>
              </a:r>
            </a:p>
          </p:txBody>
        </p:sp>
        <p:sp>
          <p:nvSpPr>
            <p:cNvPr id="35" name="Bent Arrow 34">
              <a:extLst>
                <a:ext uri="{FF2B5EF4-FFF2-40B4-BE49-F238E27FC236}">
                  <a16:creationId xmlns:a16="http://schemas.microsoft.com/office/drawing/2014/main" id="{CA4BADCA-9437-61BB-02F5-F29A0E32086B}"/>
                </a:ext>
              </a:extLst>
            </p:cNvPr>
            <p:cNvSpPr/>
            <p:nvPr/>
          </p:nvSpPr>
          <p:spPr>
            <a:xfrm rot="2251754">
              <a:off x="1694113" y="3657666"/>
              <a:ext cx="1330195" cy="1021773"/>
            </a:xfrm>
            <a:prstGeom prst="bentArrow">
              <a:avLst>
                <a:gd name="adj1" fmla="val 21235"/>
                <a:gd name="adj2" fmla="val 25000"/>
                <a:gd name="adj3" fmla="val 25000"/>
                <a:gd name="adj4" fmla="val 875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73D02D5-F529-4BCE-AF17-F3A365E5D215}"/>
                </a:ext>
              </a:extLst>
            </p:cNvPr>
            <p:cNvSpPr txBox="1"/>
            <p:nvPr/>
          </p:nvSpPr>
          <p:spPr>
            <a:xfrm>
              <a:off x="3071120" y="4168942"/>
              <a:ext cx="7312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  <a:latin typeface="Helvetica" pitchFamily="2" charset="0"/>
                </a:rPr>
                <a:t>$??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BFC476A-BB25-AEC2-C3BA-658A5F83111E}"/>
                </a:ext>
              </a:extLst>
            </p:cNvPr>
            <p:cNvSpPr txBox="1"/>
            <p:nvPr/>
          </p:nvSpPr>
          <p:spPr>
            <a:xfrm>
              <a:off x="1777961" y="3330346"/>
              <a:ext cx="11624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= 10%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D4646A76-E579-5B2E-6BDC-A563C94BD0DA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FD6AB168-3963-FA5D-8071-849988B03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0523916" cy="1143000"/>
          </a:xfrm>
        </p:spPr>
        <p:txBody>
          <a:bodyPr>
            <a:normAutofit/>
          </a:bodyPr>
          <a:lstStyle/>
          <a:p>
            <a:r>
              <a:rPr b="1" dirty="0">
                <a:solidFill>
                  <a:schemeClr val="bg1"/>
                </a:solidFill>
                <a:latin typeface="Helvetica" pitchFamily="2" charset="0"/>
              </a:rPr>
              <a:t>The Power of Time in Finance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2F2DEF-7BF9-0463-3A85-33FC4BBD5E55}"/>
              </a:ext>
            </a:extLst>
          </p:cNvPr>
          <p:cNvSpPr txBox="1"/>
          <p:nvPr/>
        </p:nvSpPr>
        <p:spPr>
          <a:xfrm>
            <a:off x="634616" y="1612277"/>
            <a:ext cx="105239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200" dirty="0">
                <a:latin typeface="Helvetica" pitchFamily="2" charset="0"/>
              </a:rPr>
              <a:t>Money today is worth more because you can invest it and earn interest. 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200" dirty="0">
                <a:latin typeface="Helvetica" pitchFamily="2" charset="0"/>
              </a:rPr>
              <a:t>This is the Time Value of Money—a core principle in finance.</a:t>
            </a:r>
          </a:p>
        </p:txBody>
      </p:sp>
    </p:spTree>
    <p:extLst>
      <p:ext uri="{BB962C8B-B14F-4D97-AF65-F5344CB8AC3E}">
        <p14:creationId xmlns:p14="http://schemas.microsoft.com/office/powerpoint/2010/main" val="3479569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AA3E3-06CE-6337-D1E7-A7635743D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8A9EB8FF-601E-4964-67FC-09FD876D6829}"/>
              </a:ext>
            </a:extLst>
          </p:cNvPr>
          <p:cNvGrpSpPr/>
          <p:nvPr/>
        </p:nvGrpSpPr>
        <p:grpSpPr>
          <a:xfrm>
            <a:off x="634622" y="2544108"/>
            <a:ext cx="10523916" cy="3745800"/>
            <a:chOff x="634622" y="1701132"/>
            <a:chExt cx="10523916" cy="37458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6DECFE8-DC33-841A-7A2E-40F58BC77CD4}"/>
                </a:ext>
              </a:extLst>
            </p:cNvPr>
            <p:cNvGrpSpPr/>
            <p:nvPr/>
          </p:nvGrpSpPr>
          <p:grpSpPr>
            <a:xfrm>
              <a:off x="634622" y="2630259"/>
              <a:ext cx="10523916" cy="2816673"/>
              <a:chOff x="734634" y="3330346"/>
              <a:chExt cx="10523916" cy="2816673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7C255302-00FE-E384-63D8-9D9BD78DF851}"/>
                  </a:ext>
                </a:extLst>
              </p:cNvPr>
              <p:cNvGrpSpPr/>
              <p:nvPr/>
            </p:nvGrpSpPr>
            <p:grpSpPr>
              <a:xfrm>
                <a:off x="1015961" y="5024756"/>
                <a:ext cx="10242589" cy="1122263"/>
                <a:chOff x="873086" y="5053331"/>
                <a:chExt cx="10242589" cy="1122263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4A1F55AC-3A64-C946-C34A-DABA29D19CA3}"/>
                    </a:ext>
                  </a:extLst>
                </p:cNvPr>
                <p:cNvGrpSpPr/>
                <p:nvPr/>
              </p:nvGrpSpPr>
              <p:grpSpPr>
                <a:xfrm>
                  <a:off x="1027135" y="5053331"/>
                  <a:ext cx="10088540" cy="475932"/>
                  <a:chOff x="1027135" y="5053331"/>
                  <a:chExt cx="10088540" cy="475932"/>
                </a:xfrm>
              </p:grpSpPr>
              <p:cxnSp>
                <p:nvCxnSpPr>
                  <p:cNvPr id="5" name="Straight Arrow Connector 4">
                    <a:extLst>
                      <a:ext uri="{FF2B5EF4-FFF2-40B4-BE49-F238E27FC236}">
                        <a16:creationId xmlns:a16="http://schemas.microsoft.com/office/drawing/2014/main" id="{0A6C46AB-A194-8ACA-6B2E-B142776353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5" y="5285984"/>
                    <a:ext cx="10088540" cy="14677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" name="Straight Connector 9">
                    <a:extLst>
                      <a:ext uri="{FF2B5EF4-FFF2-40B4-BE49-F238E27FC236}">
                        <a16:creationId xmlns:a16="http://schemas.microsoft.com/office/drawing/2014/main" id="{8B927791-6766-8D6F-41C6-65E7D3492F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6" y="5072061"/>
                    <a:ext cx="0" cy="457200"/>
                  </a:xfrm>
                  <a:prstGeom prst="line">
                    <a:avLst/>
                  </a:prstGeom>
                  <a:ln w="3810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Straight Connector 12">
                    <a:extLst>
                      <a:ext uri="{FF2B5EF4-FFF2-40B4-BE49-F238E27FC236}">
                        <a16:creationId xmlns:a16="http://schemas.microsoft.com/office/drawing/2014/main" id="{CB71198E-9BB9-1897-79A4-8654939F743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93890" y="5072062"/>
                    <a:ext cx="0" cy="457200"/>
                  </a:xfrm>
                  <a:prstGeom prst="line">
                    <a:avLst/>
                  </a:prstGeom>
                  <a:ln w="3810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Connector 15">
                    <a:extLst>
                      <a:ext uri="{FF2B5EF4-FFF2-40B4-BE49-F238E27FC236}">
                        <a16:creationId xmlns:a16="http://schemas.microsoft.com/office/drawing/2014/main" id="{0A043FED-99B5-02C8-FE1D-BA3C57AB23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90258" y="5072061"/>
                    <a:ext cx="0" cy="457200"/>
                  </a:xfrm>
                  <a:prstGeom prst="line">
                    <a:avLst/>
                  </a:prstGeom>
                  <a:ln w="3810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Connector 16">
                    <a:extLst>
                      <a:ext uri="{FF2B5EF4-FFF2-40B4-BE49-F238E27FC236}">
                        <a16:creationId xmlns:a16="http://schemas.microsoft.com/office/drawing/2014/main" id="{CC9A3F16-BFFF-2AB1-2525-88F2A3029F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870524" y="5053331"/>
                    <a:ext cx="0" cy="457200"/>
                  </a:xfrm>
                  <a:prstGeom prst="line">
                    <a:avLst/>
                  </a:prstGeom>
                  <a:ln w="3810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260305A9-4440-88B7-E01A-BBA137F48A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74923" y="5072063"/>
                    <a:ext cx="0" cy="457200"/>
                  </a:xfrm>
                  <a:prstGeom prst="line">
                    <a:avLst/>
                  </a:prstGeom>
                  <a:ln w="38100"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EC61220-6283-0396-E1E0-19D086A6AD34}"/>
                    </a:ext>
                  </a:extLst>
                </p:cNvPr>
                <p:cNvSpPr txBox="1"/>
                <p:nvPr/>
              </p:nvSpPr>
              <p:spPr>
                <a:xfrm>
                  <a:off x="873086" y="5713929"/>
                  <a:ext cx="35618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latin typeface="Helvetica" pitchFamily="2" charset="0"/>
                    </a:rPr>
                    <a:t>0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676E4BA-E497-09E7-C80E-C0DE64CEAD48}"/>
                    </a:ext>
                  </a:extLst>
                </p:cNvPr>
                <p:cNvSpPr txBox="1"/>
                <p:nvPr/>
              </p:nvSpPr>
              <p:spPr>
                <a:xfrm>
                  <a:off x="3139841" y="5713929"/>
                  <a:ext cx="35618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latin typeface="Helvetica" pitchFamily="2" charset="0"/>
                    </a:rPr>
                    <a:t>1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E8F03B8-7434-C14F-C7D5-F951D29C1AD9}"/>
                    </a:ext>
                  </a:extLst>
                </p:cNvPr>
                <p:cNvSpPr txBox="1"/>
                <p:nvPr/>
              </p:nvSpPr>
              <p:spPr>
                <a:xfrm>
                  <a:off x="5420874" y="5713929"/>
                  <a:ext cx="35618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latin typeface="Helvetica" pitchFamily="2" charset="0"/>
                    </a:rPr>
                    <a:t>2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24C0183-9221-0942-EBFE-3FDA6CD7EE46}"/>
                    </a:ext>
                  </a:extLst>
                </p:cNvPr>
                <p:cNvSpPr txBox="1"/>
                <p:nvPr/>
              </p:nvSpPr>
              <p:spPr>
                <a:xfrm>
                  <a:off x="7716475" y="5710715"/>
                  <a:ext cx="35618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latin typeface="Helvetica" pitchFamily="2" charset="0"/>
                    </a:rPr>
                    <a:t>3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BF83247-C260-AF83-5104-3BEA78F15D52}"/>
                    </a:ext>
                  </a:extLst>
                </p:cNvPr>
                <p:cNvSpPr txBox="1"/>
                <p:nvPr/>
              </p:nvSpPr>
              <p:spPr>
                <a:xfrm>
                  <a:off x="10036209" y="5710715"/>
                  <a:ext cx="35618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latin typeface="Helvetica" pitchFamily="2" charset="0"/>
                    </a:rPr>
                    <a:t>4</a:t>
                  </a:r>
                </a:p>
              </p:txBody>
            </p:sp>
          </p:grp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17E77A3-2785-8374-2EC1-ADD44D2E53FB}"/>
                  </a:ext>
                </a:extLst>
              </p:cNvPr>
              <p:cNvSpPr txBox="1"/>
              <p:nvPr/>
            </p:nvSpPr>
            <p:spPr>
              <a:xfrm>
                <a:off x="734634" y="4168553"/>
                <a:ext cx="87075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latin typeface="Helvetica" pitchFamily="2" charset="0"/>
                  </a:rPr>
                  <a:t>$100</a:t>
                </a:r>
              </a:p>
            </p:txBody>
          </p:sp>
          <p:sp>
            <p:nvSpPr>
              <p:cNvPr id="35" name="Bent Arrow 34">
                <a:extLst>
                  <a:ext uri="{FF2B5EF4-FFF2-40B4-BE49-F238E27FC236}">
                    <a16:creationId xmlns:a16="http://schemas.microsoft.com/office/drawing/2014/main" id="{964BD4C6-91DB-3C7D-B0C6-4A9DEC1EBDBF}"/>
                  </a:ext>
                </a:extLst>
              </p:cNvPr>
              <p:cNvSpPr/>
              <p:nvPr/>
            </p:nvSpPr>
            <p:spPr>
              <a:xfrm rot="2251754">
                <a:off x="1694113" y="3657666"/>
                <a:ext cx="1330195" cy="1021773"/>
              </a:xfrm>
              <a:prstGeom prst="bentArrow">
                <a:avLst>
                  <a:gd name="adj1" fmla="val 6739"/>
                  <a:gd name="adj2" fmla="val 14345"/>
                  <a:gd name="adj3" fmla="val 27909"/>
                  <a:gd name="adj4" fmla="val 85618"/>
                </a:avLst>
              </a:prstGeom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D003140-D966-AFA3-AF78-C0507B14D41F}"/>
                  </a:ext>
                </a:extLst>
              </p:cNvPr>
              <p:cNvSpPr txBox="1"/>
              <p:nvPr/>
            </p:nvSpPr>
            <p:spPr>
              <a:xfrm>
                <a:off x="3071120" y="4168942"/>
                <a:ext cx="8538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latin typeface="Helvetica" pitchFamily="2" charset="0"/>
                  </a:rPr>
                  <a:t>$110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6C49D3B-8088-1936-1959-20312D31C55C}"/>
                  </a:ext>
                </a:extLst>
              </p:cNvPr>
              <p:cNvSpPr txBox="1"/>
              <p:nvPr/>
            </p:nvSpPr>
            <p:spPr>
              <a:xfrm>
                <a:off x="1777961" y="3330346"/>
                <a:ext cx="11624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= 10%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2520ACFB-3859-C7CC-84C9-0D82E0412BAE}"/>
                    </a:ext>
                  </a:extLst>
                </p:cNvPr>
                <p:cNvSpPr txBox="1"/>
                <p:nvPr/>
              </p:nvSpPr>
              <p:spPr>
                <a:xfrm>
                  <a:off x="1925921" y="1701132"/>
                  <a:ext cx="2820003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b="1" dirty="0">
                      <a:latin typeface="Helvetica" pitchFamily="2" charset="0"/>
                    </a:rPr>
                    <a:t>$100 + ( $100</a:t>
                  </a:r>
                  <a14:m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US" sz="2000" b="1" dirty="0">
                      <a:latin typeface="Helvetica" pitchFamily="2" charset="0"/>
                    </a:rPr>
                    <a:t> 10% ) </a:t>
                  </a:r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2520ACFB-3859-C7CC-84C9-0D82E0412B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5921" y="1701132"/>
                  <a:ext cx="2820003" cy="400110"/>
                </a:xfrm>
                <a:prstGeom prst="rect">
                  <a:avLst/>
                </a:prstGeom>
                <a:blipFill>
                  <a:blip r:embed="rId2"/>
                  <a:stretch>
                    <a:fillRect l="-2242" t="-6250" r="-1345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Down Arrow 38">
              <a:extLst>
                <a:ext uri="{FF2B5EF4-FFF2-40B4-BE49-F238E27FC236}">
                  <a16:creationId xmlns:a16="http://schemas.microsoft.com/office/drawing/2014/main" id="{7881EB46-636B-3F20-9CED-4951E8B3B80F}"/>
                </a:ext>
              </a:extLst>
            </p:cNvPr>
            <p:cNvSpPr/>
            <p:nvPr/>
          </p:nvSpPr>
          <p:spPr>
            <a:xfrm>
              <a:off x="3094436" y="2206193"/>
              <a:ext cx="484632" cy="1182951"/>
            </a:xfrm>
            <a:prstGeom prst="downArrow">
              <a:avLst>
                <a:gd name="adj1" fmla="val 20519"/>
                <a:gd name="adj2" fmla="val 7063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3F79D3A2-FE09-A69C-BD4D-8FC21E712916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2AB247B0-9D46-7553-6627-35B81A6B8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052391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Future Value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FE8E21-D0DA-74D9-2A64-C1DF3C3EE322}"/>
              </a:ext>
            </a:extLst>
          </p:cNvPr>
          <p:cNvSpPr txBox="1"/>
          <p:nvPr/>
        </p:nvSpPr>
        <p:spPr>
          <a:xfrm>
            <a:off x="634622" y="1636017"/>
            <a:ext cx="103491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itchFamily="2" charset="2"/>
              <a:buChar char="ü"/>
            </a:pPr>
            <a:r>
              <a:rPr lang="en-US" sz="2200" dirty="0">
                <a:latin typeface="Helvetica" pitchFamily="2" charset="0"/>
              </a:rPr>
              <a:t>Future value is the amount of money you will have in the future if you invest or save a certain amount today, and it grows with interest over time.</a:t>
            </a:r>
          </a:p>
        </p:txBody>
      </p:sp>
    </p:spTree>
    <p:extLst>
      <p:ext uri="{BB962C8B-B14F-4D97-AF65-F5344CB8AC3E}">
        <p14:creationId xmlns:p14="http://schemas.microsoft.com/office/powerpoint/2010/main" val="2841996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33262-C9A4-9825-FDBE-77E557901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8ED90B97-2E51-6250-2359-C73EA782AF40}"/>
              </a:ext>
            </a:extLst>
          </p:cNvPr>
          <p:cNvGrpSpPr/>
          <p:nvPr/>
        </p:nvGrpSpPr>
        <p:grpSpPr>
          <a:xfrm>
            <a:off x="634622" y="1701132"/>
            <a:ext cx="10523916" cy="3745800"/>
            <a:chOff x="634622" y="1701132"/>
            <a:chExt cx="10523916" cy="374580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A7CD363-E6DA-9981-4578-4F9C183E6F28}"/>
                </a:ext>
              </a:extLst>
            </p:cNvPr>
            <p:cNvGrpSpPr/>
            <p:nvPr/>
          </p:nvGrpSpPr>
          <p:grpSpPr>
            <a:xfrm>
              <a:off x="634622" y="1701132"/>
              <a:ext cx="10523916" cy="3745800"/>
              <a:chOff x="634622" y="1701132"/>
              <a:chExt cx="10523916" cy="3745800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A9D64768-8459-B4EA-A750-58D2834E44CE}"/>
                  </a:ext>
                </a:extLst>
              </p:cNvPr>
              <p:cNvGrpSpPr/>
              <p:nvPr/>
            </p:nvGrpSpPr>
            <p:grpSpPr>
              <a:xfrm>
                <a:off x="634622" y="2630259"/>
                <a:ext cx="10523916" cy="2816673"/>
                <a:chOff x="734634" y="3330346"/>
                <a:chExt cx="10523916" cy="2816673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9AEAF123-AE4B-8984-75C2-F26ECB76AB89}"/>
                    </a:ext>
                  </a:extLst>
                </p:cNvPr>
                <p:cNvGrpSpPr/>
                <p:nvPr/>
              </p:nvGrpSpPr>
              <p:grpSpPr>
                <a:xfrm>
                  <a:off x="1015961" y="5024756"/>
                  <a:ext cx="10242589" cy="1122263"/>
                  <a:chOff x="873086" y="5053331"/>
                  <a:chExt cx="10242589" cy="1122263"/>
                </a:xfrm>
              </p:grpSpPr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4E9A71C1-D9D9-8C95-AB6A-D168202EABE5}"/>
                      </a:ext>
                    </a:extLst>
                  </p:cNvPr>
                  <p:cNvGrpSpPr/>
                  <p:nvPr/>
                </p:nvGrpSpPr>
                <p:grpSpPr>
                  <a:xfrm>
                    <a:off x="1027135" y="5053331"/>
                    <a:ext cx="10088540" cy="475932"/>
                    <a:chOff x="1027135" y="5053331"/>
                    <a:chExt cx="10088540" cy="475932"/>
                  </a:xfrm>
                </p:grpSpPr>
                <p:cxnSp>
                  <p:nvCxnSpPr>
                    <p:cNvPr id="5" name="Straight Arrow Connector 4">
                      <a:extLst>
                        <a:ext uri="{FF2B5EF4-FFF2-40B4-BE49-F238E27FC236}">
                          <a16:creationId xmlns:a16="http://schemas.microsoft.com/office/drawing/2014/main" id="{932322EE-741A-088C-4E81-52C00118FD1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7135" y="5285984"/>
                      <a:ext cx="10088540" cy="14677"/>
                    </a:xfrm>
                    <a:prstGeom prst="straightConnector1">
                      <a:avLst/>
                    </a:prstGeom>
                    <a:ln w="38100"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" name="Straight Connector 9">
                      <a:extLst>
                        <a:ext uri="{FF2B5EF4-FFF2-40B4-BE49-F238E27FC236}">
                          <a16:creationId xmlns:a16="http://schemas.microsoft.com/office/drawing/2014/main" id="{2C0A3DDF-F3B2-0F65-90D0-E43FD0E6DF6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7136" y="5072061"/>
                      <a:ext cx="0" cy="457200"/>
                    </a:xfrm>
                    <a:prstGeom prst="line">
                      <a:avLst/>
                    </a:prstGeom>
                    <a:ln w="3810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" name="Straight Connector 12">
                      <a:extLst>
                        <a:ext uri="{FF2B5EF4-FFF2-40B4-BE49-F238E27FC236}">
                          <a16:creationId xmlns:a16="http://schemas.microsoft.com/office/drawing/2014/main" id="{808458D0-BD1D-8C7C-90F6-4A134D26A3D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293890" y="5072062"/>
                      <a:ext cx="0" cy="457200"/>
                    </a:xfrm>
                    <a:prstGeom prst="line">
                      <a:avLst/>
                    </a:prstGeom>
                    <a:ln w="3810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" name="Straight Connector 15">
                      <a:extLst>
                        <a:ext uri="{FF2B5EF4-FFF2-40B4-BE49-F238E27FC236}">
                          <a16:creationId xmlns:a16="http://schemas.microsoft.com/office/drawing/2014/main" id="{7F7E9205-22F8-E111-A6B5-8427B3A48F7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190258" y="5072061"/>
                      <a:ext cx="0" cy="457200"/>
                    </a:xfrm>
                    <a:prstGeom prst="line">
                      <a:avLst/>
                    </a:prstGeom>
                    <a:ln w="3810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" name="Straight Connector 16">
                      <a:extLst>
                        <a:ext uri="{FF2B5EF4-FFF2-40B4-BE49-F238E27FC236}">
                          <a16:creationId xmlns:a16="http://schemas.microsoft.com/office/drawing/2014/main" id="{DB061E87-30DC-E56F-D792-23B3EE17DD9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870524" y="5053331"/>
                      <a:ext cx="0" cy="457200"/>
                    </a:xfrm>
                    <a:prstGeom prst="line">
                      <a:avLst/>
                    </a:prstGeom>
                    <a:ln w="3810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" name="Straight Connector 17">
                      <a:extLst>
                        <a:ext uri="{FF2B5EF4-FFF2-40B4-BE49-F238E27FC236}">
                          <a16:creationId xmlns:a16="http://schemas.microsoft.com/office/drawing/2014/main" id="{80D11369-4D67-6748-B8B3-F6B8E9DE871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574923" y="5072063"/>
                      <a:ext cx="0" cy="457200"/>
                    </a:xfrm>
                    <a:prstGeom prst="line">
                      <a:avLst/>
                    </a:prstGeom>
                    <a:ln w="3810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7C77AF31-21AD-B563-EF4E-CC28F67BF9BF}"/>
                      </a:ext>
                    </a:extLst>
                  </p:cNvPr>
                  <p:cNvSpPr txBox="1"/>
                  <p:nvPr/>
                </p:nvSpPr>
                <p:spPr>
                  <a:xfrm>
                    <a:off x="873086" y="5713929"/>
                    <a:ext cx="3561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>
                        <a:latin typeface="Helvetica" pitchFamily="2" charset="0"/>
                      </a:rPr>
                      <a:t>0</a:t>
                    </a:r>
                  </a:p>
                </p:txBody>
              </p:sp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AD2ADF10-A226-B4A2-6B93-ED6E64734798}"/>
                      </a:ext>
                    </a:extLst>
                  </p:cNvPr>
                  <p:cNvSpPr txBox="1"/>
                  <p:nvPr/>
                </p:nvSpPr>
                <p:spPr>
                  <a:xfrm>
                    <a:off x="3139841" y="5713929"/>
                    <a:ext cx="3561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>
                        <a:latin typeface="Helvetica" pitchFamily="2" charset="0"/>
                      </a:rPr>
                      <a:t>1</a:t>
                    </a:r>
                  </a:p>
                </p:txBody>
              </p: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C85E9A43-4F3E-C631-7098-06A7AA57A14B}"/>
                      </a:ext>
                    </a:extLst>
                  </p:cNvPr>
                  <p:cNvSpPr txBox="1"/>
                  <p:nvPr/>
                </p:nvSpPr>
                <p:spPr>
                  <a:xfrm>
                    <a:off x="5420874" y="5713929"/>
                    <a:ext cx="3561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>
                        <a:latin typeface="Helvetica" pitchFamily="2" charset="0"/>
                      </a:rPr>
                      <a:t>2</a:t>
                    </a:r>
                  </a:p>
                </p:txBody>
              </p:sp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5AB6333C-6D5E-E4B9-8BE0-19A2E96F8B9F}"/>
                      </a:ext>
                    </a:extLst>
                  </p:cNvPr>
                  <p:cNvSpPr txBox="1"/>
                  <p:nvPr/>
                </p:nvSpPr>
                <p:spPr>
                  <a:xfrm>
                    <a:off x="7716475" y="5710715"/>
                    <a:ext cx="3561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>
                        <a:latin typeface="Helvetica" pitchFamily="2" charset="0"/>
                      </a:rPr>
                      <a:t>3</a:t>
                    </a:r>
                  </a:p>
                </p:txBody>
              </p:sp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BF6241A0-5958-4B7C-6E10-44CE14EB1CE6}"/>
                      </a:ext>
                    </a:extLst>
                  </p:cNvPr>
                  <p:cNvSpPr txBox="1"/>
                  <p:nvPr/>
                </p:nvSpPr>
                <p:spPr>
                  <a:xfrm>
                    <a:off x="10036209" y="5710715"/>
                    <a:ext cx="3561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>
                        <a:latin typeface="Helvetica" pitchFamily="2" charset="0"/>
                      </a:rPr>
                      <a:t>4</a:t>
                    </a:r>
                  </a:p>
                </p:txBody>
              </p:sp>
            </p:grp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DB4B5907-09D2-533C-7A8B-595475D57903}"/>
                    </a:ext>
                  </a:extLst>
                </p:cNvPr>
                <p:cNvSpPr txBox="1"/>
                <p:nvPr/>
              </p:nvSpPr>
              <p:spPr>
                <a:xfrm>
                  <a:off x="734634" y="4168553"/>
                  <a:ext cx="87075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latin typeface="Helvetica" pitchFamily="2" charset="0"/>
                    </a:rPr>
                    <a:t>$100</a:t>
                  </a:r>
                </a:p>
              </p:txBody>
            </p:sp>
            <p:sp>
              <p:nvSpPr>
                <p:cNvPr id="35" name="Bent Arrow 34">
                  <a:extLst>
                    <a:ext uri="{FF2B5EF4-FFF2-40B4-BE49-F238E27FC236}">
                      <a16:creationId xmlns:a16="http://schemas.microsoft.com/office/drawing/2014/main" id="{D6CAC8E4-0AF9-2879-53C5-040784EF7A11}"/>
                    </a:ext>
                  </a:extLst>
                </p:cNvPr>
                <p:cNvSpPr/>
                <p:nvPr/>
              </p:nvSpPr>
              <p:spPr>
                <a:xfrm rot="2251754">
                  <a:off x="1694113" y="3657666"/>
                  <a:ext cx="1330195" cy="1021773"/>
                </a:xfrm>
                <a:prstGeom prst="bentArrow">
                  <a:avLst>
                    <a:gd name="adj1" fmla="val 6739"/>
                    <a:gd name="adj2" fmla="val 14345"/>
                    <a:gd name="adj3" fmla="val 27909"/>
                    <a:gd name="adj4" fmla="val 85618"/>
                  </a:avLst>
                </a:prstGeom>
                <a:ln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E245A08-F70C-BEF2-306E-F2F9EB45F4A7}"/>
                    </a:ext>
                  </a:extLst>
                </p:cNvPr>
                <p:cNvSpPr txBox="1"/>
                <p:nvPr/>
              </p:nvSpPr>
              <p:spPr>
                <a:xfrm>
                  <a:off x="3071120" y="4168942"/>
                  <a:ext cx="85388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latin typeface="Helvetica" pitchFamily="2" charset="0"/>
                    </a:rPr>
                    <a:t>$110</a:t>
                  </a: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67837E04-3B52-3D1F-8AC0-7B3A53B2E0B1}"/>
                    </a:ext>
                  </a:extLst>
                </p:cNvPr>
                <p:cNvSpPr txBox="1"/>
                <p:nvPr/>
              </p:nvSpPr>
              <p:spPr>
                <a:xfrm>
                  <a:off x="1777961" y="3330346"/>
                  <a:ext cx="116249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 = 10%</a:t>
                  </a: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TextBox 1">
                    <a:extLst>
                      <a:ext uri="{FF2B5EF4-FFF2-40B4-BE49-F238E27FC236}">
                        <a16:creationId xmlns:a16="http://schemas.microsoft.com/office/drawing/2014/main" id="{8C7BC213-CA18-95D5-3370-881FE91C5A1B}"/>
                      </a:ext>
                    </a:extLst>
                  </p:cNvPr>
                  <p:cNvSpPr txBox="1"/>
                  <p:nvPr/>
                </p:nvSpPr>
                <p:spPr>
                  <a:xfrm>
                    <a:off x="1925921" y="1701132"/>
                    <a:ext cx="2820003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b="1" dirty="0">
                        <a:latin typeface="Helvetica" pitchFamily="2" charset="0"/>
                      </a:rPr>
                      <a:t>$100 + ( $100</a:t>
                    </a:r>
                    <a14:m>
                      <m:oMath xmlns:m="http://schemas.openxmlformats.org/officeDocument/2006/math">
                        <m:r>
                          <a:rPr lang="en-US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a14:m>
                    <a:r>
                      <a:rPr lang="en-US" sz="2000" b="1" dirty="0">
                        <a:latin typeface="Helvetica" pitchFamily="2" charset="0"/>
                      </a:rPr>
                      <a:t> 10% )</a:t>
                    </a:r>
                  </a:p>
                </p:txBody>
              </p:sp>
            </mc:Choice>
            <mc:Fallback xmlns="">
              <p:sp>
                <p:nvSpPr>
                  <p:cNvPr id="2" name="TextBox 1">
                    <a:extLst>
                      <a:ext uri="{FF2B5EF4-FFF2-40B4-BE49-F238E27FC236}">
                        <a16:creationId xmlns:a16="http://schemas.microsoft.com/office/drawing/2014/main" id="{8C7BC213-CA18-95D5-3370-881FE91C5A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25921" y="1701132"/>
                    <a:ext cx="2820003" cy="40011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2242" t="-3030" b="-2727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9" name="Down Arrow 38">
                <a:extLst>
                  <a:ext uri="{FF2B5EF4-FFF2-40B4-BE49-F238E27FC236}">
                    <a16:creationId xmlns:a16="http://schemas.microsoft.com/office/drawing/2014/main" id="{A745F428-1E71-A3E2-29C9-AE1F1EC9E173}"/>
                  </a:ext>
                </a:extLst>
              </p:cNvPr>
              <p:cNvSpPr/>
              <p:nvPr/>
            </p:nvSpPr>
            <p:spPr>
              <a:xfrm>
                <a:off x="3094436" y="2206193"/>
                <a:ext cx="484632" cy="1182951"/>
              </a:xfrm>
              <a:prstGeom prst="downArrow">
                <a:avLst>
                  <a:gd name="adj1" fmla="val 20519"/>
                  <a:gd name="adj2" fmla="val 7063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3" name="Line Callout 2 42">
              <a:extLst>
                <a:ext uri="{FF2B5EF4-FFF2-40B4-BE49-F238E27FC236}">
                  <a16:creationId xmlns:a16="http://schemas.microsoft.com/office/drawing/2014/main" id="{012EC467-F51A-6A98-C312-DACB37AD9DAA}"/>
                </a:ext>
              </a:extLst>
            </p:cNvPr>
            <p:cNvSpPr/>
            <p:nvPr/>
          </p:nvSpPr>
          <p:spPr>
            <a:xfrm>
              <a:off x="5819924" y="1911989"/>
              <a:ext cx="3274203" cy="1576587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105827"/>
                <a:gd name="adj6" fmla="val -60112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                </a:t>
              </a:r>
              <a:r>
                <a:rPr lang="en-US" sz="2400" dirty="0">
                  <a:solidFill>
                    <a:schemeClr val="tx1"/>
                  </a:solidFill>
                  <a:latin typeface="Helvetica" pitchFamily="2" charset="0"/>
                </a:rPr>
                <a:t>$100 Today    </a:t>
              </a:r>
            </a:p>
            <a:p>
              <a:endParaRPr lang="en-US" sz="2400" dirty="0">
                <a:solidFill>
                  <a:schemeClr val="tx1"/>
                </a:solidFill>
                <a:latin typeface="Helvetica" pitchFamily="2" charset="0"/>
              </a:endParaRPr>
            </a:p>
            <a:p>
              <a:r>
                <a:rPr lang="en-US" sz="2400" dirty="0">
                  <a:solidFill>
                    <a:schemeClr val="tx1"/>
                  </a:solidFill>
                  <a:latin typeface="Helvetica" pitchFamily="2" charset="0"/>
                </a:rPr>
                <a:t>         $108 Next year </a:t>
              </a:r>
            </a:p>
          </p:txBody>
        </p:sp>
        <p:sp>
          <p:nvSpPr>
            <p:cNvPr id="44" name="L-Shape 43">
              <a:extLst>
                <a:ext uri="{FF2B5EF4-FFF2-40B4-BE49-F238E27FC236}">
                  <a16:creationId xmlns:a16="http://schemas.microsoft.com/office/drawing/2014/main" id="{798FBB54-ED23-73EE-A1A5-31899343092D}"/>
                </a:ext>
              </a:extLst>
            </p:cNvPr>
            <p:cNvSpPr/>
            <p:nvPr/>
          </p:nvSpPr>
          <p:spPr>
            <a:xfrm rot="18337026">
              <a:off x="5904837" y="2096455"/>
              <a:ext cx="538300" cy="296865"/>
            </a:xfrm>
            <a:prstGeom prst="corner">
              <a:avLst>
                <a:gd name="adj1" fmla="val 20312"/>
                <a:gd name="adj2" fmla="val 26563"/>
              </a:avLst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Multiply 44">
              <a:extLst>
                <a:ext uri="{FF2B5EF4-FFF2-40B4-BE49-F238E27FC236}">
                  <a16:creationId xmlns:a16="http://schemas.microsoft.com/office/drawing/2014/main" id="{699EFC29-5778-FB1A-1BEF-7E452C00A612}"/>
                </a:ext>
              </a:extLst>
            </p:cNvPr>
            <p:cNvSpPr/>
            <p:nvPr/>
          </p:nvSpPr>
          <p:spPr>
            <a:xfrm>
              <a:off x="5896579" y="2577787"/>
              <a:ext cx="538346" cy="914400"/>
            </a:xfrm>
            <a:prstGeom prst="mathMultiply">
              <a:avLst>
                <a:gd name="adj1" fmla="val 9458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A325F59-FD69-CF05-611C-691008445A6C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itle 1">
            <a:extLst>
              <a:ext uri="{FF2B5EF4-FFF2-40B4-BE49-F238E27FC236}">
                <a16:creationId xmlns:a16="http://schemas.microsoft.com/office/drawing/2014/main" id="{29A25051-03A8-19B2-1F9C-11B0908A0E56}"/>
              </a:ext>
            </a:extLst>
          </p:cNvPr>
          <p:cNvSpPr txBox="1">
            <a:spLocks/>
          </p:cNvSpPr>
          <p:nvPr/>
        </p:nvSpPr>
        <p:spPr>
          <a:xfrm>
            <a:off x="634622" y="268068"/>
            <a:ext cx="1052391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Future Value</a:t>
            </a:r>
          </a:p>
        </p:txBody>
      </p:sp>
    </p:spTree>
    <p:extLst>
      <p:ext uri="{BB962C8B-B14F-4D97-AF65-F5344CB8AC3E}">
        <p14:creationId xmlns:p14="http://schemas.microsoft.com/office/powerpoint/2010/main" val="1395996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A1639-CFD5-FDC3-5CC3-9052351DF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FE727B69-C553-950C-A4DC-D9E0174E314D}"/>
              </a:ext>
            </a:extLst>
          </p:cNvPr>
          <p:cNvGrpSpPr/>
          <p:nvPr/>
        </p:nvGrpSpPr>
        <p:grpSpPr>
          <a:xfrm>
            <a:off x="691772" y="1822576"/>
            <a:ext cx="10523916" cy="4424456"/>
            <a:chOff x="634622" y="1022476"/>
            <a:chExt cx="10523916" cy="4424456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2E7E2D6-C707-2B85-83DD-ACCD51CAAE7C}"/>
                </a:ext>
              </a:extLst>
            </p:cNvPr>
            <p:cNvGrpSpPr/>
            <p:nvPr/>
          </p:nvGrpSpPr>
          <p:grpSpPr>
            <a:xfrm>
              <a:off x="634622" y="1701132"/>
              <a:ext cx="10523916" cy="3745800"/>
              <a:chOff x="634622" y="1701132"/>
              <a:chExt cx="10523916" cy="3745800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5527350C-30A4-AE6F-256B-5FB0FE6EB5E5}"/>
                  </a:ext>
                </a:extLst>
              </p:cNvPr>
              <p:cNvGrpSpPr/>
              <p:nvPr/>
            </p:nvGrpSpPr>
            <p:grpSpPr>
              <a:xfrm>
                <a:off x="634622" y="2630259"/>
                <a:ext cx="10523916" cy="2816673"/>
                <a:chOff x="734634" y="3330346"/>
                <a:chExt cx="10523916" cy="2816673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A7DDF518-3BE8-6F06-757C-67712B77B17D}"/>
                    </a:ext>
                  </a:extLst>
                </p:cNvPr>
                <p:cNvGrpSpPr/>
                <p:nvPr/>
              </p:nvGrpSpPr>
              <p:grpSpPr>
                <a:xfrm>
                  <a:off x="1015961" y="5024756"/>
                  <a:ext cx="10242589" cy="1122263"/>
                  <a:chOff x="873086" y="5053331"/>
                  <a:chExt cx="10242589" cy="1122263"/>
                </a:xfrm>
              </p:grpSpPr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9E16F1F6-15F3-2C96-32A5-01622872DCFE}"/>
                      </a:ext>
                    </a:extLst>
                  </p:cNvPr>
                  <p:cNvGrpSpPr/>
                  <p:nvPr/>
                </p:nvGrpSpPr>
                <p:grpSpPr>
                  <a:xfrm>
                    <a:off x="1027135" y="5053331"/>
                    <a:ext cx="10088540" cy="475932"/>
                    <a:chOff x="1027135" y="5053331"/>
                    <a:chExt cx="10088540" cy="475932"/>
                  </a:xfrm>
                </p:grpSpPr>
                <p:cxnSp>
                  <p:nvCxnSpPr>
                    <p:cNvPr id="5" name="Straight Arrow Connector 4">
                      <a:extLst>
                        <a:ext uri="{FF2B5EF4-FFF2-40B4-BE49-F238E27FC236}">
                          <a16:creationId xmlns:a16="http://schemas.microsoft.com/office/drawing/2014/main" id="{EA7872CC-3E82-746B-98A7-7BE8B0160D0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7135" y="5285984"/>
                      <a:ext cx="10088540" cy="14677"/>
                    </a:xfrm>
                    <a:prstGeom prst="straightConnector1">
                      <a:avLst/>
                    </a:prstGeom>
                    <a:ln w="38100"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" name="Straight Connector 9">
                      <a:extLst>
                        <a:ext uri="{FF2B5EF4-FFF2-40B4-BE49-F238E27FC236}">
                          <a16:creationId xmlns:a16="http://schemas.microsoft.com/office/drawing/2014/main" id="{0EA8E563-A3D6-DD04-A6F9-058933FFD72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7136" y="5072061"/>
                      <a:ext cx="0" cy="457200"/>
                    </a:xfrm>
                    <a:prstGeom prst="line">
                      <a:avLst/>
                    </a:prstGeom>
                    <a:ln w="3810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" name="Straight Connector 12">
                      <a:extLst>
                        <a:ext uri="{FF2B5EF4-FFF2-40B4-BE49-F238E27FC236}">
                          <a16:creationId xmlns:a16="http://schemas.microsoft.com/office/drawing/2014/main" id="{A3E09D3A-2571-A4D9-357B-34DF970C3A2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293890" y="5072062"/>
                      <a:ext cx="0" cy="457200"/>
                    </a:xfrm>
                    <a:prstGeom prst="line">
                      <a:avLst/>
                    </a:prstGeom>
                    <a:ln w="3810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" name="Straight Connector 15">
                      <a:extLst>
                        <a:ext uri="{FF2B5EF4-FFF2-40B4-BE49-F238E27FC236}">
                          <a16:creationId xmlns:a16="http://schemas.microsoft.com/office/drawing/2014/main" id="{E91039A3-9F42-69BA-0087-89E8EC8E60B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190258" y="5072061"/>
                      <a:ext cx="0" cy="457200"/>
                    </a:xfrm>
                    <a:prstGeom prst="line">
                      <a:avLst/>
                    </a:prstGeom>
                    <a:ln w="3810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" name="Straight Connector 16">
                      <a:extLst>
                        <a:ext uri="{FF2B5EF4-FFF2-40B4-BE49-F238E27FC236}">
                          <a16:creationId xmlns:a16="http://schemas.microsoft.com/office/drawing/2014/main" id="{8CBA2E88-ADFA-5DC3-F4B9-BECAD043F5E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870524" y="5053331"/>
                      <a:ext cx="0" cy="457200"/>
                    </a:xfrm>
                    <a:prstGeom prst="line">
                      <a:avLst/>
                    </a:prstGeom>
                    <a:ln w="3810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" name="Straight Connector 17">
                      <a:extLst>
                        <a:ext uri="{FF2B5EF4-FFF2-40B4-BE49-F238E27FC236}">
                          <a16:creationId xmlns:a16="http://schemas.microsoft.com/office/drawing/2014/main" id="{AC743160-EC90-4F94-8342-C8708807AF9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574923" y="5072063"/>
                      <a:ext cx="0" cy="457200"/>
                    </a:xfrm>
                    <a:prstGeom prst="line">
                      <a:avLst/>
                    </a:prstGeom>
                    <a:ln w="3810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AA853835-6E44-0D5A-9870-01B167231924}"/>
                      </a:ext>
                    </a:extLst>
                  </p:cNvPr>
                  <p:cNvSpPr txBox="1"/>
                  <p:nvPr/>
                </p:nvSpPr>
                <p:spPr>
                  <a:xfrm>
                    <a:off x="873086" y="5713929"/>
                    <a:ext cx="3561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>
                        <a:latin typeface="Helvetica" pitchFamily="2" charset="0"/>
                      </a:rPr>
                      <a:t>0</a:t>
                    </a:r>
                  </a:p>
                </p:txBody>
              </p:sp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38B81DB2-F2F7-C1AF-99D5-7EBAD3E50717}"/>
                      </a:ext>
                    </a:extLst>
                  </p:cNvPr>
                  <p:cNvSpPr txBox="1"/>
                  <p:nvPr/>
                </p:nvSpPr>
                <p:spPr>
                  <a:xfrm>
                    <a:off x="3139841" y="5713929"/>
                    <a:ext cx="3561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>
                        <a:latin typeface="Helvetica" pitchFamily="2" charset="0"/>
                      </a:rPr>
                      <a:t>1</a:t>
                    </a:r>
                  </a:p>
                </p:txBody>
              </p: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828EC8B2-4621-AEDE-0277-A55B8B01C13E}"/>
                      </a:ext>
                    </a:extLst>
                  </p:cNvPr>
                  <p:cNvSpPr txBox="1"/>
                  <p:nvPr/>
                </p:nvSpPr>
                <p:spPr>
                  <a:xfrm>
                    <a:off x="5420874" y="5713929"/>
                    <a:ext cx="3561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>
                        <a:latin typeface="Helvetica" pitchFamily="2" charset="0"/>
                      </a:rPr>
                      <a:t>2</a:t>
                    </a:r>
                  </a:p>
                </p:txBody>
              </p:sp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F4EFD177-773E-BF43-056B-E2BD3257F8E2}"/>
                      </a:ext>
                    </a:extLst>
                  </p:cNvPr>
                  <p:cNvSpPr txBox="1"/>
                  <p:nvPr/>
                </p:nvSpPr>
                <p:spPr>
                  <a:xfrm>
                    <a:off x="7716475" y="5710715"/>
                    <a:ext cx="3561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>
                        <a:latin typeface="Helvetica" pitchFamily="2" charset="0"/>
                      </a:rPr>
                      <a:t>3</a:t>
                    </a:r>
                  </a:p>
                </p:txBody>
              </p:sp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88210A8F-3509-C3CB-37D8-B11E80FFC7F5}"/>
                      </a:ext>
                    </a:extLst>
                  </p:cNvPr>
                  <p:cNvSpPr txBox="1"/>
                  <p:nvPr/>
                </p:nvSpPr>
                <p:spPr>
                  <a:xfrm>
                    <a:off x="10036209" y="5710715"/>
                    <a:ext cx="3561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>
                        <a:latin typeface="Helvetica" pitchFamily="2" charset="0"/>
                      </a:rPr>
                      <a:t>4</a:t>
                    </a:r>
                  </a:p>
                </p:txBody>
              </p:sp>
            </p:grp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0AF63FE-468C-7113-1F8B-7CBAE8C2B608}"/>
                    </a:ext>
                  </a:extLst>
                </p:cNvPr>
                <p:cNvSpPr txBox="1"/>
                <p:nvPr/>
              </p:nvSpPr>
              <p:spPr>
                <a:xfrm>
                  <a:off x="734634" y="4168553"/>
                  <a:ext cx="87075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latin typeface="Helvetica" pitchFamily="2" charset="0"/>
                    </a:rPr>
                    <a:t>$100</a:t>
                  </a:r>
                </a:p>
              </p:txBody>
            </p:sp>
            <p:sp>
              <p:nvSpPr>
                <p:cNvPr id="35" name="Bent Arrow 34">
                  <a:extLst>
                    <a:ext uri="{FF2B5EF4-FFF2-40B4-BE49-F238E27FC236}">
                      <a16:creationId xmlns:a16="http://schemas.microsoft.com/office/drawing/2014/main" id="{DB051A80-63E2-3C56-3C9D-82DFD6F65071}"/>
                    </a:ext>
                  </a:extLst>
                </p:cNvPr>
                <p:cNvSpPr/>
                <p:nvPr/>
              </p:nvSpPr>
              <p:spPr>
                <a:xfrm rot="2251754">
                  <a:off x="1694113" y="3657666"/>
                  <a:ext cx="1330195" cy="1021773"/>
                </a:xfrm>
                <a:prstGeom prst="bentArrow">
                  <a:avLst>
                    <a:gd name="adj1" fmla="val 6739"/>
                    <a:gd name="adj2" fmla="val 14345"/>
                    <a:gd name="adj3" fmla="val 27909"/>
                    <a:gd name="adj4" fmla="val 85618"/>
                  </a:avLst>
                </a:prstGeom>
                <a:ln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C28248D6-B544-26A4-F612-BC981643D8F6}"/>
                    </a:ext>
                  </a:extLst>
                </p:cNvPr>
                <p:cNvSpPr txBox="1"/>
                <p:nvPr/>
              </p:nvSpPr>
              <p:spPr>
                <a:xfrm>
                  <a:off x="3071120" y="4168942"/>
                  <a:ext cx="85388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latin typeface="Helvetica" pitchFamily="2" charset="0"/>
                    </a:rPr>
                    <a:t>$110</a:t>
                  </a: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16994A34-B6F3-4B58-6D54-72902282EAB5}"/>
                    </a:ext>
                  </a:extLst>
                </p:cNvPr>
                <p:cNvSpPr txBox="1"/>
                <p:nvPr/>
              </p:nvSpPr>
              <p:spPr>
                <a:xfrm>
                  <a:off x="1777961" y="3330346"/>
                  <a:ext cx="116249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 = 10%</a:t>
                  </a: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TextBox 1">
                    <a:extLst>
                      <a:ext uri="{FF2B5EF4-FFF2-40B4-BE49-F238E27FC236}">
                        <a16:creationId xmlns:a16="http://schemas.microsoft.com/office/drawing/2014/main" id="{8CE5B814-FE5E-C997-910A-BA1B5708391F}"/>
                      </a:ext>
                    </a:extLst>
                  </p:cNvPr>
                  <p:cNvSpPr txBox="1"/>
                  <p:nvPr/>
                </p:nvSpPr>
                <p:spPr>
                  <a:xfrm>
                    <a:off x="1948499" y="1701132"/>
                    <a:ext cx="2749471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b="1" dirty="0">
                        <a:latin typeface="Helvetica" pitchFamily="2" charset="0"/>
                      </a:rPr>
                      <a:t>$100 + ( $100</a:t>
                    </a:r>
                    <a14:m>
                      <m:oMath xmlns:m="http://schemas.openxmlformats.org/officeDocument/2006/math">
                        <m:r>
                          <a:rPr lang="en-US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a14:m>
                    <a:r>
                      <a:rPr lang="en-US" sz="2000" b="1" dirty="0">
                        <a:latin typeface="Helvetica" pitchFamily="2" charset="0"/>
                      </a:rPr>
                      <a:t> 10% )</a:t>
                    </a:r>
                  </a:p>
                </p:txBody>
              </p:sp>
            </mc:Choice>
            <mc:Fallback xmlns="">
              <p:sp>
                <p:nvSpPr>
                  <p:cNvPr id="2" name="TextBox 1">
                    <a:extLst>
                      <a:ext uri="{FF2B5EF4-FFF2-40B4-BE49-F238E27FC236}">
                        <a16:creationId xmlns:a16="http://schemas.microsoft.com/office/drawing/2014/main" id="{8CE5B814-FE5E-C997-910A-BA1B570839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48499" y="1701132"/>
                    <a:ext cx="2749471" cy="40011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1835" t="-3030" r="-1376" b="-2727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9" name="Down Arrow 38">
                <a:extLst>
                  <a:ext uri="{FF2B5EF4-FFF2-40B4-BE49-F238E27FC236}">
                    <a16:creationId xmlns:a16="http://schemas.microsoft.com/office/drawing/2014/main" id="{D4967625-C3DF-995F-6D49-D6813A23AD97}"/>
                  </a:ext>
                </a:extLst>
              </p:cNvPr>
              <p:cNvSpPr/>
              <p:nvPr/>
            </p:nvSpPr>
            <p:spPr>
              <a:xfrm>
                <a:off x="3094436" y="2206193"/>
                <a:ext cx="484632" cy="1182951"/>
              </a:xfrm>
              <a:prstGeom prst="downArrow">
                <a:avLst>
                  <a:gd name="adj1" fmla="val 20519"/>
                  <a:gd name="adj2" fmla="val 7063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" name="Down Arrow 2">
              <a:extLst>
                <a:ext uri="{FF2B5EF4-FFF2-40B4-BE49-F238E27FC236}">
                  <a16:creationId xmlns:a16="http://schemas.microsoft.com/office/drawing/2014/main" id="{0551C670-1B00-04C1-BB0D-E84E9C50F74E}"/>
                </a:ext>
              </a:extLst>
            </p:cNvPr>
            <p:cNvSpPr/>
            <p:nvPr/>
          </p:nvSpPr>
          <p:spPr>
            <a:xfrm>
              <a:off x="5375470" y="1636508"/>
              <a:ext cx="484632" cy="1752636"/>
            </a:xfrm>
            <a:prstGeom prst="downArrow">
              <a:avLst>
                <a:gd name="adj1" fmla="val 20519"/>
                <a:gd name="adj2" fmla="val 7063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340B4C9-0777-D419-0906-88A8C3255619}"/>
                </a:ext>
              </a:extLst>
            </p:cNvPr>
            <p:cNvSpPr txBox="1"/>
            <p:nvPr/>
          </p:nvSpPr>
          <p:spPr>
            <a:xfrm>
              <a:off x="5190842" y="3468465"/>
              <a:ext cx="8707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Helvetica" pitchFamily="2" charset="0"/>
                </a:rPr>
                <a:t>$121</a:t>
              </a:r>
            </a:p>
          </p:txBody>
        </p:sp>
        <p:sp>
          <p:nvSpPr>
            <p:cNvPr id="6" name="Bent Arrow 5">
              <a:extLst>
                <a:ext uri="{FF2B5EF4-FFF2-40B4-BE49-F238E27FC236}">
                  <a16:creationId xmlns:a16="http://schemas.microsoft.com/office/drawing/2014/main" id="{4837AAA7-C826-81A6-3028-BFC40DE5533B}"/>
                </a:ext>
              </a:extLst>
            </p:cNvPr>
            <p:cNvSpPr/>
            <p:nvPr/>
          </p:nvSpPr>
          <p:spPr>
            <a:xfrm rot="2251754">
              <a:off x="3849252" y="2957579"/>
              <a:ext cx="1330195" cy="1021773"/>
            </a:xfrm>
            <a:prstGeom prst="bentArrow">
              <a:avLst>
                <a:gd name="adj1" fmla="val 6739"/>
                <a:gd name="adj2" fmla="val 14345"/>
                <a:gd name="adj3" fmla="val 27909"/>
                <a:gd name="adj4" fmla="val 85618"/>
              </a:avLst>
            </a:prstGeom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D7C7C7C-5017-1C08-CE86-700867E9ACFA}"/>
                </a:ext>
              </a:extLst>
            </p:cNvPr>
            <p:cNvSpPr txBox="1"/>
            <p:nvPr/>
          </p:nvSpPr>
          <p:spPr>
            <a:xfrm>
              <a:off x="3933101" y="2630258"/>
              <a:ext cx="11624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= 10%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5D4592B-35AC-042C-11AE-01467C1A2D93}"/>
                    </a:ext>
                  </a:extLst>
                </p:cNvPr>
                <p:cNvSpPr txBox="1"/>
                <p:nvPr/>
              </p:nvSpPr>
              <p:spPr>
                <a:xfrm>
                  <a:off x="4216519" y="1022476"/>
                  <a:ext cx="272138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b="1" dirty="0">
                      <a:latin typeface="Helvetica" pitchFamily="2" charset="0"/>
                    </a:rPr>
                    <a:t>$110 + ( $110</a:t>
                  </a:r>
                  <a14:m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US" sz="2000" b="1" dirty="0">
                      <a:latin typeface="Helvetica" pitchFamily="2" charset="0"/>
                    </a:rPr>
                    <a:t> 10% )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5D4592B-35AC-042C-11AE-01467C1A2D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6519" y="1022476"/>
                  <a:ext cx="2721386" cy="400110"/>
                </a:xfrm>
                <a:prstGeom prst="rect">
                  <a:avLst/>
                </a:prstGeom>
                <a:blipFill>
                  <a:blip r:embed="rId3"/>
                  <a:stretch>
                    <a:fillRect l="-2326" t="-3030" r="-1395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16CEC106-BEDB-492C-4B3E-57151134991F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1A3CFA28-CB14-3773-1106-4E68E08FC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052391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Future Value</a:t>
            </a:r>
          </a:p>
        </p:txBody>
      </p:sp>
    </p:spTree>
    <p:extLst>
      <p:ext uri="{BB962C8B-B14F-4D97-AF65-F5344CB8AC3E}">
        <p14:creationId xmlns:p14="http://schemas.microsoft.com/office/powerpoint/2010/main" val="4184079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7B29B-9905-9A42-5BBE-E3E2487C4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63E9A677-3190-AAA0-4677-FC86A6ED7737}"/>
              </a:ext>
            </a:extLst>
          </p:cNvPr>
          <p:cNvGrpSpPr/>
          <p:nvPr/>
        </p:nvGrpSpPr>
        <p:grpSpPr>
          <a:xfrm>
            <a:off x="691772" y="1822576"/>
            <a:ext cx="10523916" cy="4424456"/>
            <a:chOff x="634622" y="1022476"/>
            <a:chExt cx="10523916" cy="442445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2B753DA-04FC-272A-824B-898C2D3B16B7}"/>
                </a:ext>
              </a:extLst>
            </p:cNvPr>
            <p:cNvGrpSpPr/>
            <p:nvPr/>
          </p:nvGrpSpPr>
          <p:grpSpPr>
            <a:xfrm>
              <a:off x="634622" y="1022476"/>
              <a:ext cx="10523916" cy="4424456"/>
              <a:chOff x="634622" y="1022476"/>
              <a:chExt cx="10523916" cy="4424456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F1226B5E-770B-F005-D093-0DB187F2683E}"/>
                  </a:ext>
                </a:extLst>
              </p:cNvPr>
              <p:cNvGrpSpPr/>
              <p:nvPr/>
            </p:nvGrpSpPr>
            <p:grpSpPr>
              <a:xfrm>
                <a:off x="634622" y="1701132"/>
                <a:ext cx="10523916" cy="3745800"/>
                <a:chOff x="634622" y="1701132"/>
                <a:chExt cx="10523916" cy="3745800"/>
              </a:xfrm>
            </p:grpSpPr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BB864411-81C7-4F84-D92D-6E0C1CF65FC8}"/>
                    </a:ext>
                  </a:extLst>
                </p:cNvPr>
                <p:cNvGrpSpPr/>
                <p:nvPr/>
              </p:nvGrpSpPr>
              <p:grpSpPr>
                <a:xfrm>
                  <a:off x="634622" y="2630259"/>
                  <a:ext cx="10523916" cy="2816673"/>
                  <a:chOff x="734634" y="3330346"/>
                  <a:chExt cx="10523916" cy="2816673"/>
                </a:xfrm>
              </p:grpSpPr>
              <p:grpSp>
                <p:nvGrpSpPr>
                  <p:cNvPr id="31" name="Group 30">
                    <a:extLst>
                      <a:ext uri="{FF2B5EF4-FFF2-40B4-BE49-F238E27FC236}">
                        <a16:creationId xmlns:a16="http://schemas.microsoft.com/office/drawing/2014/main" id="{074DCFD8-1802-7404-41A4-4EF6FB0F573E}"/>
                      </a:ext>
                    </a:extLst>
                  </p:cNvPr>
                  <p:cNvGrpSpPr/>
                  <p:nvPr/>
                </p:nvGrpSpPr>
                <p:grpSpPr>
                  <a:xfrm>
                    <a:off x="1015961" y="5024756"/>
                    <a:ext cx="10242589" cy="1122263"/>
                    <a:chOff x="873086" y="5053331"/>
                    <a:chExt cx="10242589" cy="1122263"/>
                  </a:xfrm>
                </p:grpSpPr>
                <p:grpSp>
                  <p:nvGrpSpPr>
                    <p:cNvPr id="21" name="Group 20">
                      <a:extLst>
                        <a:ext uri="{FF2B5EF4-FFF2-40B4-BE49-F238E27FC236}">
                          <a16:creationId xmlns:a16="http://schemas.microsoft.com/office/drawing/2014/main" id="{EB8F3CB7-9DBC-947D-CCAB-8F0E350195B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27135" y="5053331"/>
                      <a:ext cx="10088540" cy="475932"/>
                      <a:chOff x="1027135" y="5053331"/>
                      <a:chExt cx="10088540" cy="475932"/>
                    </a:xfrm>
                  </p:grpSpPr>
                  <p:cxnSp>
                    <p:nvCxnSpPr>
                      <p:cNvPr id="5" name="Straight Arrow Connector 4">
                        <a:extLst>
                          <a:ext uri="{FF2B5EF4-FFF2-40B4-BE49-F238E27FC236}">
                            <a16:creationId xmlns:a16="http://schemas.microsoft.com/office/drawing/2014/main" id="{C88E20F7-6B9A-8087-7A1D-6D3C817D642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27135" y="5285984"/>
                        <a:ext cx="10088540" cy="14677"/>
                      </a:xfrm>
                      <a:prstGeom prst="straightConnector1">
                        <a:avLst/>
                      </a:prstGeom>
                      <a:ln w="38100"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" name="Straight Connector 9">
                        <a:extLst>
                          <a:ext uri="{FF2B5EF4-FFF2-40B4-BE49-F238E27FC236}">
                            <a16:creationId xmlns:a16="http://schemas.microsoft.com/office/drawing/2014/main" id="{444C3864-8053-2463-41DF-5DCADA3DAB4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27136" y="5072061"/>
                        <a:ext cx="0" cy="457200"/>
                      </a:xfrm>
                      <a:prstGeom prst="line">
                        <a:avLst/>
                      </a:prstGeom>
                      <a:ln w="3810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" name="Straight Connector 12">
                        <a:extLst>
                          <a:ext uri="{FF2B5EF4-FFF2-40B4-BE49-F238E27FC236}">
                            <a16:creationId xmlns:a16="http://schemas.microsoft.com/office/drawing/2014/main" id="{47B1C30A-8F7F-CBA4-1F11-C2EF41DE322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293890" y="5072062"/>
                        <a:ext cx="0" cy="457200"/>
                      </a:xfrm>
                      <a:prstGeom prst="line">
                        <a:avLst/>
                      </a:prstGeom>
                      <a:ln w="3810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6" name="Straight Connector 15">
                        <a:extLst>
                          <a:ext uri="{FF2B5EF4-FFF2-40B4-BE49-F238E27FC236}">
                            <a16:creationId xmlns:a16="http://schemas.microsoft.com/office/drawing/2014/main" id="{48C5D97A-F443-D21B-7DA0-1F57A84B7A2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190258" y="5072061"/>
                        <a:ext cx="0" cy="457200"/>
                      </a:xfrm>
                      <a:prstGeom prst="line">
                        <a:avLst/>
                      </a:prstGeom>
                      <a:ln w="3810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" name="Straight Connector 16">
                        <a:extLst>
                          <a:ext uri="{FF2B5EF4-FFF2-40B4-BE49-F238E27FC236}">
                            <a16:creationId xmlns:a16="http://schemas.microsoft.com/office/drawing/2014/main" id="{E8B094EF-3826-EE56-7BF7-1B4B6942D76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870524" y="5053331"/>
                        <a:ext cx="0" cy="457200"/>
                      </a:xfrm>
                      <a:prstGeom prst="line">
                        <a:avLst/>
                      </a:prstGeom>
                      <a:ln w="3810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" name="Straight Connector 17">
                        <a:extLst>
                          <a:ext uri="{FF2B5EF4-FFF2-40B4-BE49-F238E27FC236}">
                            <a16:creationId xmlns:a16="http://schemas.microsoft.com/office/drawing/2014/main" id="{64510BDA-0775-4FF0-0656-916C1F974B9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574923" y="5072063"/>
                        <a:ext cx="0" cy="457200"/>
                      </a:xfrm>
                      <a:prstGeom prst="line">
                        <a:avLst/>
                      </a:prstGeom>
                      <a:ln w="3810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796566A3-8FB4-B3DA-838D-7C13F8F80BD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3086" y="5713929"/>
                      <a:ext cx="35618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2400" b="1" dirty="0">
                          <a:latin typeface="Helvetica" pitchFamily="2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0DBFCFED-5725-2430-C740-52A43C502BA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39841" y="5713929"/>
                      <a:ext cx="35618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2400" b="1" dirty="0">
                          <a:latin typeface="Helvetica" pitchFamily="2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6344175B-B695-FD8A-7377-35F6DE4D43A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20874" y="5713929"/>
                      <a:ext cx="35618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2400" b="1" dirty="0">
                          <a:latin typeface="Helvetica" pitchFamily="2" charset="0"/>
                        </a:rPr>
                        <a:t>2</a:t>
                      </a:r>
                    </a:p>
                  </p:txBody>
                </p:sp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C62B264F-E9FA-90A1-7365-78DDB89856E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16475" y="5710715"/>
                      <a:ext cx="35618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2400" b="1" dirty="0">
                          <a:latin typeface="Helvetica" pitchFamily="2" charset="0"/>
                        </a:rPr>
                        <a:t>3</a:t>
                      </a:r>
                    </a:p>
                  </p:txBody>
                </p:sp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41B954D9-4329-0AF0-E2BD-B18E4B9117C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036209" y="5710715"/>
                      <a:ext cx="35618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2400" b="1" dirty="0">
                          <a:latin typeface="Helvetica" pitchFamily="2" charset="0"/>
                        </a:rPr>
                        <a:t>4</a:t>
                      </a:r>
                    </a:p>
                  </p:txBody>
                </p:sp>
              </p:grpSp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63DD4FCE-E9C7-AAC9-3C46-3F3D5845318A}"/>
                      </a:ext>
                    </a:extLst>
                  </p:cNvPr>
                  <p:cNvSpPr txBox="1"/>
                  <p:nvPr/>
                </p:nvSpPr>
                <p:spPr>
                  <a:xfrm>
                    <a:off x="734634" y="4168553"/>
                    <a:ext cx="870751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>
                        <a:latin typeface="Helvetica" pitchFamily="2" charset="0"/>
                      </a:rPr>
                      <a:t>$100</a:t>
                    </a:r>
                  </a:p>
                </p:txBody>
              </p:sp>
              <p:sp>
                <p:nvSpPr>
                  <p:cNvPr id="35" name="Bent Arrow 34">
                    <a:extLst>
                      <a:ext uri="{FF2B5EF4-FFF2-40B4-BE49-F238E27FC236}">
                        <a16:creationId xmlns:a16="http://schemas.microsoft.com/office/drawing/2014/main" id="{FE18A076-CD02-134B-DCDF-1648506D2766}"/>
                      </a:ext>
                    </a:extLst>
                  </p:cNvPr>
                  <p:cNvSpPr/>
                  <p:nvPr/>
                </p:nvSpPr>
                <p:spPr>
                  <a:xfrm rot="2251754">
                    <a:off x="1694113" y="3657666"/>
                    <a:ext cx="1330195" cy="1021773"/>
                  </a:xfrm>
                  <a:prstGeom prst="bentArrow">
                    <a:avLst>
                      <a:gd name="adj1" fmla="val 6739"/>
                      <a:gd name="adj2" fmla="val 14345"/>
                      <a:gd name="adj3" fmla="val 27909"/>
                      <a:gd name="adj4" fmla="val 85618"/>
                    </a:avLst>
                  </a:prstGeom>
                  <a:ln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6E764258-C6EA-9C0B-A01F-7A3B2EB2D474}"/>
                      </a:ext>
                    </a:extLst>
                  </p:cNvPr>
                  <p:cNvSpPr txBox="1"/>
                  <p:nvPr/>
                </p:nvSpPr>
                <p:spPr>
                  <a:xfrm>
                    <a:off x="3071120" y="4168942"/>
                    <a:ext cx="8538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>
                        <a:latin typeface="Helvetica" pitchFamily="2" charset="0"/>
                      </a:rPr>
                      <a:t>$110</a:t>
                    </a:r>
                  </a:p>
                </p:txBody>
              </p:sp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4788FAAE-C0E2-2DBB-8A6C-82F7DF3B56C1}"/>
                      </a:ext>
                    </a:extLst>
                  </p:cNvPr>
                  <p:cNvSpPr txBox="1"/>
                  <p:nvPr/>
                </p:nvSpPr>
                <p:spPr>
                  <a:xfrm>
                    <a:off x="1777961" y="3330346"/>
                    <a:ext cx="116249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i = 10%</a:t>
                    </a:r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" name="TextBox 1">
                      <a:extLst>
                        <a:ext uri="{FF2B5EF4-FFF2-40B4-BE49-F238E27FC236}">
                          <a16:creationId xmlns:a16="http://schemas.microsoft.com/office/drawing/2014/main" id="{E8B5A60A-A261-D682-B39B-A40EBD49F0C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59788" y="1701132"/>
                      <a:ext cx="2749471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2000" b="1" dirty="0">
                          <a:latin typeface="Helvetica" pitchFamily="2" charset="0"/>
                        </a:rPr>
                        <a:t>$100 + ( $100</a:t>
                      </a:r>
                      <a14:m>
                        <m:oMath xmlns:m="http://schemas.openxmlformats.org/officeDocument/2006/math">
                          <m:r>
                            <a:rPr lang="en-U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a14:m>
                      <a:r>
                        <a:rPr lang="en-US" sz="2000" b="1" dirty="0">
                          <a:latin typeface="Helvetica" pitchFamily="2" charset="0"/>
                        </a:rPr>
                        <a:t> 10% )</a:t>
                      </a:r>
                    </a:p>
                  </p:txBody>
                </p:sp>
              </mc:Choice>
              <mc:Fallback xmlns="">
                <p:sp>
                  <p:nvSpPr>
                    <p:cNvPr id="2" name="TextBox 1">
                      <a:extLst>
                        <a:ext uri="{FF2B5EF4-FFF2-40B4-BE49-F238E27FC236}">
                          <a16:creationId xmlns:a16="http://schemas.microsoft.com/office/drawing/2014/main" id="{E8B5A60A-A261-D682-B39B-A40EBD49F0C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59788" y="1701132"/>
                      <a:ext cx="2749471" cy="40011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l="-2294" t="-3030" r="-1376" b="-2727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9" name="Down Arrow 38">
                  <a:extLst>
                    <a:ext uri="{FF2B5EF4-FFF2-40B4-BE49-F238E27FC236}">
                      <a16:creationId xmlns:a16="http://schemas.microsoft.com/office/drawing/2014/main" id="{5D78A57F-8EEC-FEC9-5800-131A48A2F8A7}"/>
                    </a:ext>
                  </a:extLst>
                </p:cNvPr>
                <p:cNvSpPr/>
                <p:nvPr/>
              </p:nvSpPr>
              <p:spPr>
                <a:xfrm>
                  <a:off x="3094436" y="2206193"/>
                  <a:ext cx="484632" cy="1182951"/>
                </a:xfrm>
                <a:prstGeom prst="downArrow">
                  <a:avLst>
                    <a:gd name="adj1" fmla="val 20519"/>
                    <a:gd name="adj2" fmla="val 70637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" name="Down Arrow 2">
                <a:extLst>
                  <a:ext uri="{FF2B5EF4-FFF2-40B4-BE49-F238E27FC236}">
                    <a16:creationId xmlns:a16="http://schemas.microsoft.com/office/drawing/2014/main" id="{D1BA3068-0877-B35B-08D6-F0226AE40148}"/>
                  </a:ext>
                </a:extLst>
              </p:cNvPr>
              <p:cNvSpPr/>
              <p:nvPr/>
            </p:nvSpPr>
            <p:spPr>
              <a:xfrm>
                <a:off x="5375470" y="1636508"/>
                <a:ext cx="484632" cy="1752636"/>
              </a:xfrm>
              <a:prstGeom prst="downArrow">
                <a:avLst>
                  <a:gd name="adj1" fmla="val 20519"/>
                  <a:gd name="adj2" fmla="val 7063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41807AE-2D12-87D6-9973-BC3D5DE4D3BF}"/>
                  </a:ext>
                </a:extLst>
              </p:cNvPr>
              <p:cNvSpPr txBox="1"/>
              <p:nvPr/>
            </p:nvSpPr>
            <p:spPr>
              <a:xfrm>
                <a:off x="5190842" y="3468465"/>
                <a:ext cx="87075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latin typeface="Helvetica" pitchFamily="2" charset="0"/>
                  </a:rPr>
                  <a:t>$121</a:t>
                </a:r>
              </a:p>
            </p:txBody>
          </p:sp>
          <p:sp>
            <p:nvSpPr>
              <p:cNvPr id="6" name="Bent Arrow 5">
                <a:extLst>
                  <a:ext uri="{FF2B5EF4-FFF2-40B4-BE49-F238E27FC236}">
                    <a16:creationId xmlns:a16="http://schemas.microsoft.com/office/drawing/2014/main" id="{A0249775-FFB9-881D-99BC-FBDAD13DF822}"/>
                  </a:ext>
                </a:extLst>
              </p:cNvPr>
              <p:cNvSpPr/>
              <p:nvPr/>
            </p:nvSpPr>
            <p:spPr>
              <a:xfrm rot="2251754">
                <a:off x="3849252" y="2957579"/>
                <a:ext cx="1330195" cy="1021773"/>
              </a:xfrm>
              <a:prstGeom prst="bentArrow">
                <a:avLst>
                  <a:gd name="adj1" fmla="val 6739"/>
                  <a:gd name="adj2" fmla="val 14345"/>
                  <a:gd name="adj3" fmla="val 27909"/>
                  <a:gd name="adj4" fmla="val 85618"/>
                </a:avLst>
              </a:prstGeom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E20963-6CC8-332B-8028-DE36D7435665}"/>
                  </a:ext>
                </a:extLst>
              </p:cNvPr>
              <p:cNvSpPr txBox="1"/>
              <p:nvPr/>
            </p:nvSpPr>
            <p:spPr>
              <a:xfrm>
                <a:off x="3933101" y="2630258"/>
                <a:ext cx="11624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= 10%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17BFFAFB-3363-437A-582D-23E8AEB8383E}"/>
                      </a:ext>
                    </a:extLst>
                  </p:cNvPr>
                  <p:cNvSpPr txBox="1"/>
                  <p:nvPr/>
                </p:nvSpPr>
                <p:spPr>
                  <a:xfrm>
                    <a:off x="4205230" y="1022476"/>
                    <a:ext cx="2791918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b="1" dirty="0">
                        <a:latin typeface="Helvetica" pitchFamily="2" charset="0"/>
                      </a:rPr>
                      <a:t>$110 + ( $110</a:t>
                    </a:r>
                    <a14:m>
                      <m:oMath xmlns:m="http://schemas.openxmlformats.org/officeDocument/2006/math">
                        <m:r>
                          <a:rPr lang="en-US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a14:m>
                    <a:r>
                      <a:rPr lang="en-US" sz="2000" b="1" dirty="0">
                        <a:latin typeface="Helvetica" pitchFamily="2" charset="0"/>
                      </a:rPr>
                      <a:t> 10% ) </a:t>
                    </a:r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17BFFAFB-3363-437A-582D-23E8AEB838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05230" y="1022476"/>
                    <a:ext cx="2791918" cy="40011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262" t="-3030" r="-1357" b="-2727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" name="Bent Arrow 10">
              <a:extLst>
                <a:ext uri="{FF2B5EF4-FFF2-40B4-BE49-F238E27FC236}">
                  <a16:creationId xmlns:a16="http://schemas.microsoft.com/office/drawing/2014/main" id="{07A93607-4E96-4BEE-A6F8-8AE698B9F694}"/>
                </a:ext>
              </a:extLst>
            </p:cNvPr>
            <p:cNvSpPr/>
            <p:nvPr/>
          </p:nvSpPr>
          <p:spPr>
            <a:xfrm rot="2251754">
              <a:off x="6104402" y="2957580"/>
              <a:ext cx="1330195" cy="1021773"/>
            </a:xfrm>
            <a:prstGeom prst="bentArrow">
              <a:avLst>
                <a:gd name="adj1" fmla="val 6739"/>
                <a:gd name="adj2" fmla="val 14345"/>
                <a:gd name="adj3" fmla="val 27909"/>
                <a:gd name="adj4" fmla="val 85618"/>
              </a:avLst>
            </a:prstGeom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A7CC300-1ED6-2D60-AA7D-466678AA806E}"/>
                </a:ext>
              </a:extLst>
            </p:cNvPr>
            <p:cNvSpPr txBox="1"/>
            <p:nvPr/>
          </p:nvSpPr>
          <p:spPr>
            <a:xfrm>
              <a:off x="7478011" y="3468461"/>
              <a:ext cx="11272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Helvetica" pitchFamily="2" charset="0"/>
                </a:rPr>
                <a:t>$133.1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0D932EC-AFC7-3FDC-B406-2EAE97403FC5}"/>
                </a:ext>
              </a:extLst>
            </p:cNvPr>
            <p:cNvSpPr txBox="1"/>
            <p:nvPr/>
          </p:nvSpPr>
          <p:spPr>
            <a:xfrm>
              <a:off x="6262963" y="2626858"/>
              <a:ext cx="11624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= 10%</a:t>
              </a:r>
            </a:p>
          </p:txBody>
        </p:sp>
        <p:sp>
          <p:nvSpPr>
            <p:cNvPr id="27" name="Bent Arrow 26">
              <a:extLst>
                <a:ext uri="{FF2B5EF4-FFF2-40B4-BE49-F238E27FC236}">
                  <a16:creationId xmlns:a16="http://schemas.microsoft.com/office/drawing/2014/main" id="{8B466166-7B73-4E7F-AC48-98C662E37DE7}"/>
                </a:ext>
              </a:extLst>
            </p:cNvPr>
            <p:cNvSpPr/>
            <p:nvPr/>
          </p:nvSpPr>
          <p:spPr>
            <a:xfrm rot="2251754">
              <a:off x="8641250" y="2961289"/>
              <a:ext cx="1330195" cy="1021773"/>
            </a:xfrm>
            <a:prstGeom prst="bentArrow">
              <a:avLst>
                <a:gd name="adj1" fmla="val 6739"/>
                <a:gd name="adj2" fmla="val 14345"/>
                <a:gd name="adj3" fmla="val 27909"/>
                <a:gd name="adj4" fmla="val 85618"/>
              </a:avLst>
            </a:prstGeom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101A420-C3AD-1642-65CE-D5DE21937BB9}"/>
                </a:ext>
              </a:extLst>
            </p:cNvPr>
            <p:cNvSpPr txBox="1"/>
            <p:nvPr/>
          </p:nvSpPr>
          <p:spPr>
            <a:xfrm>
              <a:off x="9693550" y="3551227"/>
              <a:ext cx="12987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Helvetica" pitchFamily="2" charset="0"/>
                </a:rPr>
                <a:t>$146.41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04BADFA-B348-7E95-22B0-7439CA669FCD}"/>
                </a:ext>
              </a:extLst>
            </p:cNvPr>
            <p:cNvSpPr txBox="1"/>
            <p:nvPr/>
          </p:nvSpPr>
          <p:spPr>
            <a:xfrm>
              <a:off x="8662935" y="2626858"/>
              <a:ext cx="11624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= 10%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59B0E002-1D0F-1800-ECCB-9E1C25E80BE3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C8F72E60-100A-9338-32E7-D489AA8EB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052391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Future Value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397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7159E-3FDC-6A62-9173-97C3E3B46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B410A2-EB9B-1CFC-F66B-214BF18EC852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E043A500-7C08-8466-6731-972592B39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052391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Present Value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9C1704E-AE94-7B1F-2819-DE1F6AD6404E}"/>
              </a:ext>
            </a:extLst>
          </p:cNvPr>
          <p:cNvGrpSpPr/>
          <p:nvPr/>
        </p:nvGrpSpPr>
        <p:grpSpPr>
          <a:xfrm>
            <a:off x="1040574" y="2857694"/>
            <a:ext cx="10454185" cy="1977909"/>
            <a:chOff x="714232" y="3665394"/>
            <a:chExt cx="10454185" cy="1977909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A39D2E5-A511-5FDE-A163-D3D6994A035F}"/>
                </a:ext>
              </a:extLst>
            </p:cNvPr>
            <p:cNvGrpSpPr/>
            <p:nvPr/>
          </p:nvGrpSpPr>
          <p:grpSpPr>
            <a:xfrm>
              <a:off x="714232" y="4243386"/>
              <a:ext cx="10454185" cy="1399917"/>
              <a:chOff x="804365" y="5043486"/>
              <a:chExt cx="10454185" cy="1399917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6264B408-389E-2472-008B-38BB1F3CEC5A}"/>
                  </a:ext>
                </a:extLst>
              </p:cNvPr>
              <p:cNvGrpSpPr/>
              <p:nvPr/>
            </p:nvGrpSpPr>
            <p:grpSpPr>
              <a:xfrm>
                <a:off x="1170010" y="5043486"/>
                <a:ext cx="10088540" cy="500064"/>
                <a:chOff x="1027135" y="5072061"/>
                <a:chExt cx="10088540" cy="500064"/>
              </a:xfrm>
            </p:grpSpPr>
            <p:cxnSp>
              <p:nvCxnSpPr>
                <p:cNvPr id="5" name="Straight Arrow Connector 4">
                  <a:extLst>
                    <a:ext uri="{FF2B5EF4-FFF2-40B4-BE49-F238E27FC236}">
                      <a16:creationId xmlns:a16="http://schemas.microsoft.com/office/drawing/2014/main" id="{B0463A2A-A65C-915B-A5FC-BA70A3CFD9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5" y="5285984"/>
                  <a:ext cx="10088540" cy="14677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2DDE23DB-9E55-D31B-34EF-CC641FDE09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6" y="5072061"/>
                  <a:ext cx="0" cy="45720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50027843-41B5-CA27-CDB0-2F8A3E4902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51202" y="5114925"/>
                  <a:ext cx="0" cy="45720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EDA3FD5E-9A3C-B178-BF30-A581BECC3D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89536" y="5072061"/>
                  <a:ext cx="0" cy="45720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1F1FD17-7034-74D5-CEB0-9919899ED9E1}"/>
                  </a:ext>
                </a:extLst>
              </p:cNvPr>
              <p:cNvSpPr txBox="1"/>
              <p:nvPr/>
            </p:nvSpPr>
            <p:spPr>
              <a:xfrm>
                <a:off x="804365" y="5590738"/>
                <a:ext cx="7312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  <a:latin typeface="Helvetica" pitchFamily="2" charset="0"/>
                  </a:rPr>
                  <a:t>$??</a:t>
                </a:r>
              </a:p>
            </p:txBody>
          </p:sp>
          <p:sp>
            <p:nvSpPr>
              <p:cNvPr id="35" name="Bent Arrow 34">
                <a:extLst>
                  <a:ext uri="{FF2B5EF4-FFF2-40B4-BE49-F238E27FC236}">
                    <a16:creationId xmlns:a16="http://schemas.microsoft.com/office/drawing/2014/main" id="{AC3EA73F-7C44-482E-79AE-B7D0644DDE67}"/>
                  </a:ext>
                </a:extLst>
              </p:cNvPr>
              <p:cNvSpPr/>
              <p:nvPr/>
            </p:nvSpPr>
            <p:spPr>
              <a:xfrm rot="12794035">
                <a:off x="1780918" y="5050694"/>
                <a:ext cx="2232544" cy="1392709"/>
              </a:xfrm>
              <a:prstGeom prst="bentArrow">
                <a:avLst>
                  <a:gd name="adj1" fmla="val 6739"/>
                  <a:gd name="adj2" fmla="val 9881"/>
                  <a:gd name="adj3" fmla="val 22332"/>
                  <a:gd name="adj4" fmla="val 89025"/>
                </a:avLst>
              </a:prstGeom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5CB6293-1355-BD3A-7DE8-33B6BFAFC8D4}"/>
                  </a:ext>
                </a:extLst>
              </p:cNvPr>
              <p:cNvSpPr txBox="1"/>
              <p:nvPr/>
            </p:nvSpPr>
            <p:spPr>
              <a:xfrm>
                <a:off x="4358701" y="5688656"/>
                <a:ext cx="87075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latin typeface="Helvetica" pitchFamily="2" charset="0"/>
                  </a:rPr>
                  <a:t>$108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2AC57CD-7256-B6B6-C0D9-DD03F385B8BA}"/>
                  </a:ext>
                </a:extLst>
              </p:cNvPr>
              <p:cNvSpPr txBox="1"/>
              <p:nvPr/>
            </p:nvSpPr>
            <p:spPr>
              <a:xfrm>
                <a:off x="2541868" y="5627386"/>
                <a:ext cx="11624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= 10%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3F9E7A3-B37A-4024-65B1-73FFD9E3435F}"/>
                </a:ext>
              </a:extLst>
            </p:cNvPr>
            <p:cNvSpPr txBox="1"/>
            <p:nvPr/>
          </p:nvSpPr>
          <p:spPr>
            <a:xfrm>
              <a:off x="4525850" y="3665394"/>
              <a:ext cx="3561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Helvetica" pitchFamily="2" charset="0"/>
                </a:rPr>
                <a:t>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3DC8DE4-D155-1349-79BC-75A4BD879914}"/>
                </a:ext>
              </a:extLst>
            </p:cNvPr>
            <p:cNvSpPr txBox="1"/>
            <p:nvPr/>
          </p:nvSpPr>
          <p:spPr>
            <a:xfrm>
              <a:off x="901783" y="3665394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Helvetica" pitchFamily="2" charset="0"/>
                </a:rPr>
                <a:t>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988329C-FB8E-C076-2846-A6C9E768F650}"/>
                </a:ext>
              </a:extLst>
            </p:cNvPr>
            <p:cNvSpPr txBox="1"/>
            <p:nvPr/>
          </p:nvSpPr>
          <p:spPr>
            <a:xfrm>
              <a:off x="8064184" y="3674759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Helvetica" pitchFamily="2" charset="0"/>
                </a:rPr>
                <a:t>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288E0BE-6EBB-7E92-AEC0-2C923214B662}"/>
                  </a:ext>
                </a:extLst>
              </p:cNvPr>
              <p:cNvSpPr txBox="1"/>
              <p:nvPr/>
            </p:nvSpPr>
            <p:spPr>
              <a:xfrm>
                <a:off x="4099394" y="4664163"/>
                <a:ext cx="3594371" cy="588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𝔁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 × 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𝔁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𝟏𝟎𝟖</m:t>
                    </m:r>
                  </m:oMath>
                </a14:m>
                <a:r>
                  <a:rPr 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288E0BE-6EBB-7E92-AEC0-2C923214B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394" y="4664163"/>
                <a:ext cx="3594371" cy="588687"/>
              </a:xfrm>
              <a:prstGeom prst="rect">
                <a:avLst/>
              </a:prstGeom>
              <a:blipFill>
                <a:blip r:embed="rId2"/>
                <a:stretch>
                  <a:fillRect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BB2331F-EAD4-64BD-3F40-31D4A776FBE3}"/>
              </a:ext>
            </a:extLst>
          </p:cNvPr>
          <p:cNvSpPr txBox="1"/>
          <p:nvPr/>
        </p:nvSpPr>
        <p:spPr>
          <a:xfrm>
            <a:off x="1040574" y="1520762"/>
            <a:ext cx="10454185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200" dirty="0">
                <a:latin typeface="Helvetica" pitchFamily="2" charset="0"/>
              </a:rPr>
              <a:t>Present value is the amount of money you would need today to equal a certain amount in the future, after accounting for interest.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200" dirty="0">
                <a:latin typeface="Helvetica" pitchFamily="2" charset="0"/>
              </a:rPr>
              <a:t>The Present Value (PV) helps us decide if waiting is worth it.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E9CBD84-ACF2-E983-783C-07DC64A7F9A9}"/>
                  </a:ext>
                </a:extLst>
              </p:cNvPr>
              <p:cNvSpPr txBox="1"/>
              <p:nvPr/>
            </p:nvSpPr>
            <p:spPr>
              <a:xfrm>
                <a:off x="5001815" y="5278510"/>
                <a:ext cx="1789528" cy="5886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24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1.1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𝓍</m:t>
                    </m:r>
                  </m:oMath>
                </a14:m>
                <a:r>
                  <a:rPr lang="en-US" sz="24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𝟏𝟎𝟖</m:t>
                    </m:r>
                  </m:oMath>
                </a14:m>
                <a:endParaRPr lang="en-US" sz="24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E9CBD84-ACF2-E983-783C-07DC64A7F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1815" y="5278510"/>
                <a:ext cx="1789528" cy="588687"/>
              </a:xfrm>
              <a:prstGeom prst="rect">
                <a:avLst/>
              </a:prstGeom>
              <a:blipFill>
                <a:blip r:embed="rId3"/>
                <a:stretch>
                  <a:fillRect l="-5674" r="-709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C56E01-401E-3CCB-F537-D8068938AED8}"/>
                  </a:ext>
                </a:extLst>
              </p:cNvPr>
              <p:cNvSpPr txBox="1"/>
              <p:nvPr/>
            </p:nvSpPr>
            <p:spPr>
              <a:xfrm>
                <a:off x="4544285" y="5735618"/>
                <a:ext cx="2704587" cy="8235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𝔁</m:t>
                    </m:r>
                  </m:oMath>
                </a14:m>
                <a:r>
                  <a:rPr lang="en-US" sz="24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𝟏𝟎𝟖</m:t>
                        </m:r>
                      </m:num>
                      <m:den>
                        <m:r>
                          <a:rPr lang="en-US" sz="24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den>
                    </m:f>
                  </m:oMath>
                </a14:m>
                <a:r>
                  <a:rPr lang="en-US" sz="24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𝔁</m:t>
                    </m:r>
                  </m:oMath>
                </a14:m>
                <a:r>
                  <a:rPr lang="en-US" sz="24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98.18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C56E01-401E-3CCB-F537-D8068938A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285" y="5735618"/>
                <a:ext cx="2704587" cy="823559"/>
              </a:xfrm>
              <a:prstGeom prst="rect">
                <a:avLst/>
              </a:prstGeom>
              <a:blipFill>
                <a:blip r:embed="rId4"/>
                <a:stretch>
                  <a:fillRect r="-3271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8573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63D76-0B5E-C8E9-297F-7550609CB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E3870FB-4B93-5D21-6ED5-B7D5C8170412}"/>
              </a:ext>
            </a:extLst>
          </p:cNvPr>
          <p:cNvSpPr txBox="1"/>
          <p:nvPr/>
        </p:nvSpPr>
        <p:spPr>
          <a:xfrm>
            <a:off x="8580369" y="1436662"/>
            <a:ext cx="269016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Value</a:t>
            </a:r>
          </a:p>
          <a:p>
            <a:pPr algn="ctr"/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Compounding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3F2EE32-2D36-8DB3-4D75-698958851C20}"/>
              </a:ext>
            </a:extLst>
          </p:cNvPr>
          <p:cNvGrpSpPr/>
          <p:nvPr/>
        </p:nvGrpSpPr>
        <p:grpSpPr>
          <a:xfrm>
            <a:off x="987386" y="2596274"/>
            <a:ext cx="10242589" cy="1972978"/>
            <a:chOff x="987386" y="3096354"/>
            <a:chExt cx="10242589" cy="197297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328A008-942A-7592-54A4-DF412A728634}"/>
                </a:ext>
              </a:extLst>
            </p:cNvPr>
            <p:cNvGrpSpPr/>
            <p:nvPr/>
          </p:nvGrpSpPr>
          <p:grpSpPr>
            <a:xfrm>
              <a:off x="987386" y="3096354"/>
              <a:ext cx="10242589" cy="1742683"/>
              <a:chOff x="915949" y="3704249"/>
              <a:chExt cx="10242589" cy="1742683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68E4A477-FAA9-7BDF-17A3-42334DDE92A5}"/>
                  </a:ext>
                </a:extLst>
              </p:cNvPr>
              <p:cNvGrpSpPr/>
              <p:nvPr/>
            </p:nvGrpSpPr>
            <p:grpSpPr>
              <a:xfrm>
                <a:off x="915949" y="3704249"/>
                <a:ext cx="10242589" cy="1742683"/>
                <a:chOff x="915949" y="3704249"/>
                <a:chExt cx="10242589" cy="1742683"/>
              </a:xfrm>
            </p:grpSpPr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D5BD2C35-CE08-DE1E-72D5-24596CB64167}"/>
                    </a:ext>
                  </a:extLst>
                </p:cNvPr>
                <p:cNvGrpSpPr/>
                <p:nvPr/>
              </p:nvGrpSpPr>
              <p:grpSpPr>
                <a:xfrm>
                  <a:off x="915949" y="3704250"/>
                  <a:ext cx="10242589" cy="1742682"/>
                  <a:chOff x="1015961" y="4404337"/>
                  <a:chExt cx="10242589" cy="1742682"/>
                </a:xfrm>
              </p:grpSpPr>
              <p:grpSp>
                <p:nvGrpSpPr>
                  <p:cNvPr id="31" name="Group 30">
                    <a:extLst>
                      <a:ext uri="{FF2B5EF4-FFF2-40B4-BE49-F238E27FC236}">
                        <a16:creationId xmlns:a16="http://schemas.microsoft.com/office/drawing/2014/main" id="{068A2319-D471-1EDA-D1A1-1F5EC1DF45DD}"/>
                      </a:ext>
                    </a:extLst>
                  </p:cNvPr>
                  <p:cNvGrpSpPr/>
                  <p:nvPr/>
                </p:nvGrpSpPr>
                <p:grpSpPr>
                  <a:xfrm>
                    <a:off x="1015961" y="5024756"/>
                    <a:ext cx="10242589" cy="1122263"/>
                    <a:chOff x="873086" y="5053331"/>
                    <a:chExt cx="10242589" cy="1122263"/>
                  </a:xfrm>
                </p:grpSpPr>
                <p:grpSp>
                  <p:nvGrpSpPr>
                    <p:cNvPr id="21" name="Group 20">
                      <a:extLst>
                        <a:ext uri="{FF2B5EF4-FFF2-40B4-BE49-F238E27FC236}">
                          <a16:creationId xmlns:a16="http://schemas.microsoft.com/office/drawing/2014/main" id="{1C901B3D-35FF-CF19-F9C7-FCE3900619F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27135" y="5053331"/>
                      <a:ext cx="10088540" cy="475932"/>
                      <a:chOff x="1027135" y="5053331"/>
                      <a:chExt cx="10088540" cy="475932"/>
                    </a:xfrm>
                  </p:grpSpPr>
                  <p:cxnSp>
                    <p:nvCxnSpPr>
                      <p:cNvPr id="5" name="Straight Arrow Connector 4">
                        <a:extLst>
                          <a:ext uri="{FF2B5EF4-FFF2-40B4-BE49-F238E27FC236}">
                            <a16:creationId xmlns:a16="http://schemas.microsoft.com/office/drawing/2014/main" id="{AA6CCCE9-61F1-7FD7-7D8E-25BA03CB796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27135" y="5285984"/>
                        <a:ext cx="10088540" cy="14677"/>
                      </a:xfrm>
                      <a:prstGeom prst="straightConnector1">
                        <a:avLst/>
                      </a:prstGeom>
                      <a:ln w="38100"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" name="Straight Connector 9">
                        <a:extLst>
                          <a:ext uri="{FF2B5EF4-FFF2-40B4-BE49-F238E27FC236}">
                            <a16:creationId xmlns:a16="http://schemas.microsoft.com/office/drawing/2014/main" id="{BD47203D-2A4F-248B-1BE8-9311AE8D2F3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27136" y="5072061"/>
                        <a:ext cx="0" cy="457200"/>
                      </a:xfrm>
                      <a:prstGeom prst="line">
                        <a:avLst/>
                      </a:prstGeom>
                      <a:ln w="3810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" name="Straight Connector 12">
                        <a:extLst>
                          <a:ext uri="{FF2B5EF4-FFF2-40B4-BE49-F238E27FC236}">
                            <a16:creationId xmlns:a16="http://schemas.microsoft.com/office/drawing/2014/main" id="{17D62E21-7B17-FE08-63D8-C2A38B92936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293890" y="5072062"/>
                        <a:ext cx="0" cy="457200"/>
                      </a:xfrm>
                      <a:prstGeom prst="line">
                        <a:avLst/>
                      </a:prstGeom>
                      <a:ln w="3810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6" name="Straight Connector 15">
                        <a:extLst>
                          <a:ext uri="{FF2B5EF4-FFF2-40B4-BE49-F238E27FC236}">
                            <a16:creationId xmlns:a16="http://schemas.microsoft.com/office/drawing/2014/main" id="{262E7CF2-2963-C015-AC7B-91EB755FB1D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190258" y="5072061"/>
                        <a:ext cx="0" cy="457200"/>
                      </a:xfrm>
                      <a:prstGeom prst="line">
                        <a:avLst/>
                      </a:prstGeom>
                      <a:ln w="3810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" name="Straight Connector 16">
                        <a:extLst>
                          <a:ext uri="{FF2B5EF4-FFF2-40B4-BE49-F238E27FC236}">
                            <a16:creationId xmlns:a16="http://schemas.microsoft.com/office/drawing/2014/main" id="{E1D56EB6-8F15-38CC-A696-DA7EA147605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870524" y="5053331"/>
                        <a:ext cx="0" cy="457200"/>
                      </a:xfrm>
                      <a:prstGeom prst="line">
                        <a:avLst/>
                      </a:prstGeom>
                      <a:ln w="3810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" name="Straight Connector 17">
                        <a:extLst>
                          <a:ext uri="{FF2B5EF4-FFF2-40B4-BE49-F238E27FC236}">
                            <a16:creationId xmlns:a16="http://schemas.microsoft.com/office/drawing/2014/main" id="{53D2023E-3622-2564-AC12-0FBDE12208C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574923" y="5072063"/>
                        <a:ext cx="0" cy="457200"/>
                      </a:xfrm>
                      <a:prstGeom prst="line">
                        <a:avLst/>
                      </a:prstGeom>
                      <a:ln w="3810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32EFB900-C7EA-74A0-2E28-6F697673F62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3086" y="5713929"/>
                      <a:ext cx="35618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2400" b="1" dirty="0">
                          <a:latin typeface="Helvetica" pitchFamily="2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D53153BE-D693-1811-AD83-E6BC7F47916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39841" y="5713929"/>
                      <a:ext cx="35618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2400" b="1" dirty="0">
                          <a:latin typeface="Helvetica" pitchFamily="2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1F9C37E2-BC5A-CDE0-6279-5352302F938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20874" y="5713929"/>
                      <a:ext cx="35618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2400" b="1" dirty="0">
                          <a:latin typeface="Helvetica" pitchFamily="2" charset="0"/>
                        </a:rPr>
                        <a:t>2</a:t>
                      </a:r>
                    </a:p>
                  </p:txBody>
                </p:sp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0AFF9259-830F-DE9C-21CD-F14F32FF5C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16475" y="5710715"/>
                      <a:ext cx="35618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2400" b="1" dirty="0">
                          <a:latin typeface="Helvetica" pitchFamily="2" charset="0"/>
                        </a:rPr>
                        <a:t>3</a:t>
                      </a:r>
                    </a:p>
                  </p:txBody>
                </p:sp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AA9BC4BF-179C-650A-7418-C70A53111D1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036209" y="5710715"/>
                      <a:ext cx="35618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2400" b="1" dirty="0">
                          <a:latin typeface="Helvetica" pitchFamily="2" charset="0"/>
                        </a:rPr>
                        <a:t>4</a:t>
                      </a:r>
                    </a:p>
                  </p:txBody>
                </p:sp>
              </p:grpSp>
              <p:sp>
                <p:nvSpPr>
                  <p:cNvPr id="35" name="Bent Arrow 34">
                    <a:extLst>
                      <a:ext uri="{FF2B5EF4-FFF2-40B4-BE49-F238E27FC236}">
                        <a16:creationId xmlns:a16="http://schemas.microsoft.com/office/drawing/2014/main" id="{4F2093F4-B4A4-7F23-4A05-D662B26CCB94}"/>
                      </a:ext>
                    </a:extLst>
                  </p:cNvPr>
                  <p:cNvSpPr/>
                  <p:nvPr/>
                </p:nvSpPr>
                <p:spPr>
                  <a:xfrm rot="2251754">
                    <a:off x="1778952" y="4404337"/>
                    <a:ext cx="1330195" cy="1021773"/>
                  </a:xfrm>
                  <a:prstGeom prst="bentArrow">
                    <a:avLst>
                      <a:gd name="adj1" fmla="val 6739"/>
                      <a:gd name="adj2" fmla="val 14345"/>
                      <a:gd name="adj3" fmla="val 27909"/>
                      <a:gd name="adj4" fmla="val 85618"/>
                    </a:avLst>
                  </a:prstGeom>
                  <a:solidFill>
                    <a:srgbClr val="00B050"/>
                  </a:solidFill>
                  <a:ln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C00735CC-A8C8-C109-F5D2-763B367B0C43}"/>
                      </a:ext>
                    </a:extLst>
                  </p:cNvPr>
                  <p:cNvSpPr txBox="1"/>
                  <p:nvPr/>
                </p:nvSpPr>
                <p:spPr>
                  <a:xfrm>
                    <a:off x="1805091" y="5210466"/>
                    <a:ext cx="116249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i = 10%</a:t>
                    </a:r>
                  </a:p>
                </p:txBody>
              </p:sp>
            </p:grpSp>
            <p:sp>
              <p:nvSpPr>
                <p:cNvPr id="6" name="Bent Arrow 5">
                  <a:extLst>
                    <a:ext uri="{FF2B5EF4-FFF2-40B4-BE49-F238E27FC236}">
                      <a16:creationId xmlns:a16="http://schemas.microsoft.com/office/drawing/2014/main" id="{6BA1CBCB-5FE8-0875-B816-53D645B8DFB9}"/>
                    </a:ext>
                  </a:extLst>
                </p:cNvPr>
                <p:cNvSpPr/>
                <p:nvPr/>
              </p:nvSpPr>
              <p:spPr>
                <a:xfrm rot="2251754">
                  <a:off x="4033310" y="3704249"/>
                  <a:ext cx="1330195" cy="1021773"/>
                </a:xfrm>
                <a:prstGeom prst="bentArrow">
                  <a:avLst>
                    <a:gd name="adj1" fmla="val 6739"/>
                    <a:gd name="adj2" fmla="val 14345"/>
                    <a:gd name="adj3" fmla="val 27909"/>
                    <a:gd name="adj4" fmla="val 85618"/>
                  </a:avLst>
                </a:prstGeom>
                <a:solidFill>
                  <a:srgbClr val="00B050"/>
                </a:solidFill>
                <a:ln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06E8FB7-7242-18C0-EE26-23046A55AAE3}"/>
                    </a:ext>
                  </a:extLst>
                </p:cNvPr>
                <p:cNvSpPr txBox="1"/>
                <p:nvPr/>
              </p:nvSpPr>
              <p:spPr>
                <a:xfrm>
                  <a:off x="4105552" y="4508984"/>
                  <a:ext cx="116249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 = 10%</a:t>
                  </a:r>
                </a:p>
              </p:txBody>
            </p:sp>
          </p:grpSp>
          <p:sp>
            <p:nvSpPr>
              <p:cNvPr id="11" name="Bent Arrow 10">
                <a:extLst>
                  <a:ext uri="{FF2B5EF4-FFF2-40B4-BE49-F238E27FC236}">
                    <a16:creationId xmlns:a16="http://schemas.microsoft.com/office/drawing/2014/main" id="{B1F13020-0EDC-E4A0-360B-4A61E42F30AB}"/>
                  </a:ext>
                </a:extLst>
              </p:cNvPr>
              <p:cNvSpPr/>
              <p:nvPr/>
            </p:nvSpPr>
            <p:spPr>
              <a:xfrm rot="2251754">
                <a:off x="6234145" y="3704250"/>
                <a:ext cx="1330195" cy="1021773"/>
              </a:xfrm>
              <a:prstGeom prst="bentArrow">
                <a:avLst>
                  <a:gd name="adj1" fmla="val 6739"/>
                  <a:gd name="adj2" fmla="val 14345"/>
                  <a:gd name="adj3" fmla="val 27909"/>
                  <a:gd name="adj4" fmla="val 85618"/>
                </a:avLst>
              </a:prstGeom>
              <a:solidFill>
                <a:srgbClr val="00B050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FA127A4-F7A8-D9B2-0B82-B550DDFBC5AC}"/>
                  </a:ext>
                </a:extLst>
              </p:cNvPr>
              <p:cNvSpPr txBox="1"/>
              <p:nvPr/>
            </p:nvSpPr>
            <p:spPr>
              <a:xfrm>
                <a:off x="6308052" y="4508983"/>
                <a:ext cx="11624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= 10%</a:t>
                </a:r>
              </a:p>
            </p:txBody>
          </p:sp>
          <p:sp>
            <p:nvSpPr>
              <p:cNvPr id="27" name="Bent Arrow 26">
                <a:extLst>
                  <a:ext uri="{FF2B5EF4-FFF2-40B4-BE49-F238E27FC236}">
                    <a16:creationId xmlns:a16="http://schemas.microsoft.com/office/drawing/2014/main" id="{C6E74E22-4D7E-7AF6-13E4-9C4E83AE142A}"/>
                  </a:ext>
                </a:extLst>
              </p:cNvPr>
              <p:cNvSpPr/>
              <p:nvPr/>
            </p:nvSpPr>
            <p:spPr>
              <a:xfrm rot="2251754">
                <a:off x="8641250" y="3704251"/>
                <a:ext cx="1330195" cy="1021773"/>
              </a:xfrm>
              <a:prstGeom prst="bentArrow">
                <a:avLst>
                  <a:gd name="adj1" fmla="val 6739"/>
                  <a:gd name="adj2" fmla="val 14345"/>
                  <a:gd name="adj3" fmla="val 27909"/>
                  <a:gd name="adj4" fmla="val 85618"/>
                </a:avLst>
              </a:prstGeom>
              <a:solidFill>
                <a:srgbClr val="00B050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D32D530-FE1D-A70E-85B0-C9201417F3F5}"/>
                  </a:ext>
                </a:extLst>
              </p:cNvPr>
              <p:cNvSpPr txBox="1"/>
              <p:nvPr/>
            </p:nvSpPr>
            <p:spPr>
              <a:xfrm>
                <a:off x="8691514" y="4508983"/>
                <a:ext cx="11624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= 10%</a:t>
                </a:r>
              </a:p>
            </p:txBody>
          </p:sp>
        </p:grpSp>
        <p:sp>
          <p:nvSpPr>
            <p:cNvPr id="14" name="Bent Arrow 13">
              <a:extLst>
                <a:ext uri="{FF2B5EF4-FFF2-40B4-BE49-F238E27FC236}">
                  <a16:creationId xmlns:a16="http://schemas.microsoft.com/office/drawing/2014/main" id="{1BF554A0-AA9E-F6AD-AAB0-900493F0B7ED}"/>
                </a:ext>
              </a:extLst>
            </p:cNvPr>
            <p:cNvSpPr/>
            <p:nvPr/>
          </p:nvSpPr>
          <p:spPr>
            <a:xfrm rot="12907532">
              <a:off x="8559996" y="3951224"/>
              <a:ext cx="1330195" cy="1021773"/>
            </a:xfrm>
            <a:prstGeom prst="bentArrow">
              <a:avLst>
                <a:gd name="adj1" fmla="val 6739"/>
                <a:gd name="adj2" fmla="val 14345"/>
                <a:gd name="adj3" fmla="val 27909"/>
                <a:gd name="adj4" fmla="val 85618"/>
              </a:avLst>
            </a:prstGeom>
            <a:solidFill>
              <a:schemeClr val="accent5">
                <a:lumMod val="75000"/>
              </a:schemeClr>
            </a:solidFill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" name="Bent Arrow 18">
              <a:extLst>
                <a:ext uri="{FF2B5EF4-FFF2-40B4-BE49-F238E27FC236}">
                  <a16:creationId xmlns:a16="http://schemas.microsoft.com/office/drawing/2014/main" id="{61370708-BB48-65A1-EEE1-DDBDC32C3773}"/>
                </a:ext>
              </a:extLst>
            </p:cNvPr>
            <p:cNvSpPr/>
            <p:nvPr/>
          </p:nvSpPr>
          <p:spPr>
            <a:xfrm rot="12907532">
              <a:off x="6113160" y="4025546"/>
              <a:ext cx="1330195" cy="1021773"/>
            </a:xfrm>
            <a:prstGeom prst="bentArrow">
              <a:avLst>
                <a:gd name="adj1" fmla="val 6739"/>
                <a:gd name="adj2" fmla="val 14345"/>
                <a:gd name="adj3" fmla="val 27909"/>
                <a:gd name="adj4" fmla="val 85618"/>
              </a:avLst>
            </a:prstGeom>
            <a:solidFill>
              <a:schemeClr val="accent5">
                <a:lumMod val="75000"/>
              </a:schemeClr>
            </a:solidFill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Bent Arrow 31">
              <a:extLst>
                <a:ext uri="{FF2B5EF4-FFF2-40B4-BE49-F238E27FC236}">
                  <a16:creationId xmlns:a16="http://schemas.microsoft.com/office/drawing/2014/main" id="{EC51E879-4BB8-EB1C-3FE4-3A2A253A337C}"/>
                </a:ext>
              </a:extLst>
            </p:cNvPr>
            <p:cNvSpPr/>
            <p:nvPr/>
          </p:nvSpPr>
          <p:spPr>
            <a:xfrm rot="12907532">
              <a:off x="3890894" y="3970304"/>
              <a:ext cx="1330195" cy="1021773"/>
            </a:xfrm>
            <a:prstGeom prst="bentArrow">
              <a:avLst>
                <a:gd name="adj1" fmla="val 6739"/>
                <a:gd name="adj2" fmla="val 14345"/>
                <a:gd name="adj3" fmla="val 27909"/>
                <a:gd name="adj4" fmla="val 85618"/>
              </a:avLst>
            </a:prstGeom>
            <a:solidFill>
              <a:schemeClr val="accent5">
                <a:lumMod val="75000"/>
              </a:schemeClr>
            </a:solidFill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3" name="Bent Arrow 32">
              <a:extLst>
                <a:ext uri="{FF2B5EF4-FFF2-40B4-BE49-F238E27FC236}">
                  <a16:creationId xmlns:a16="http://schemas.microsoft.com/office/drawing/2014/main" id="{CB4543BE-651D-57BB-D05C-385BAE9A3D00}"/>
                </a:ext>
              </a:extLst>
            </p:cNvPr>
            <p:cNvSpPr/>
            <p:nvPr/>
          </p:nvSpPr>
          <p:spPr>
            <a:xfrm rot="12907532">
              <a:off x="1635761" y="4047559"/>
              <a:ext cx="1330195" cy="1021773"/>
            </a:xfrm>
            <a:prstGeom prst="bentArrow">
              <a:avLst>
                <a:gd name="adj1" fmla="val 6739"/>
                <a:gd name="adj2" fmla="val 14345"/>
                <a:gd name="adj3" fmla="val 27909"/>
                <a:gd name="adj4" fmla="val 85618"/>
              </a:avLst>
            </a:prstGeom>
            <a:solidFill>
              <a:schemeClr val="accent5">
                <a:lumMod val="75000"/>
              </a:schemeClr>
            </a:solidFill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9D5A17C6-AF2A-04D2-5E8B-9FA95163F61C}"/>
              </a:ext>
            </a:extLst>
          </p:cNvPr>
          <p:cNvSpPr txBox="1"/>
          <p:nvPr/>
        </p:nvSpPr>
        <p:spPr>
          <a:xfrm>
            <a:off x="634622" y="5069968"/>
            <a:ext cx="258307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 Value</a:t>
            </a:r>
          </a:p>
          <a:p>
            <a:pPr algn="ctr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Discounting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46740A-E8DE-C5EC-3DC5-DCD35D32898E}"/>
                  </a:ext>
                </a:extLst>
              </p:cNvPr>
              <p:cNvSpPr txBox="1"/>
              <p:nvPr/>
            </p:nvSpPr>
            <p:spPr>
              <a:xfrm>
                <a:off x="4005171" y="1745320"/>
                <a:ext cx="336810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𝐅𝐕</m:t>
                          </m:r>
                        </m:e>
                        <m:sub>
                          <m:r>
                            <a:rPr lang="en-US" sz="32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sub>
                      </m:sSub>
                      <m:r>
                        <a:rPr lang="en-US" sz="32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𝐏𝐕</m:t>
                      </m:r>
                      <m:sSup>
                        <m:sSupPr>
                          <m:ctrlPr>
                            <a:rPr lang="en-US" sz="32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32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  <m:r>
                            <a:rPr lang="en-US" sz="32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32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sup>
                      </m:sSup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46740A-E8DE-C5EC-3DC5-DCD35D328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5171" y="1745320"/>
                <a:ext cx="3368102" cy="584775"/>
              </a:xfrm>
              <a:prstGeom prst="rect">
                <a:avLst/>
              </a:prstGeom>
              <a:blipFill>
                <a:blip r:embed="rId2"/>
                <a:stretch>
                  <a:fillRect l="-376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65ED55-A59D-E0C9-D557-92D815544456}"/>
                  </a:ext>
                </a:extLst>
              </p:cNvPr>
              <p:cNvSpPr txBox="1"/>
              <p:nvPr/>
            </p:nvSpPr>
            <p:spPr>
              <a:xfrm>
                <a:off x="4686480" y="5101729"/>
                <a:ext cx="2005485" cy="8651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PV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1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b="1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𝐅𝐕</m:t>
                            </m:r>
                          </m:e>
                          <m:sub>
                            <m:r>
                              <a:rPr lang="en-US" sz="3200" b="1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𝐧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sz="3200" b="1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1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3200" b="1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3200" b="1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200" b="1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𝐢</m:t>
                            </m:r>
                            <m:r>
                              <a:rPr lang="en-US" sz="3200" b="1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3200" b="1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𝐧</m:t>
                            </m:r>
                          </m:sup>
                        </m:sSup>
                      </m:den>
                    </m:f>
                  </m:oMath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65ED55-A59D-E0C9-D557-92D815544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480" y="5101729"/>
                <a:ext cx="2005485" cy="865173"/>
              </a:xfrm>
              <a:prstGeom prst="rect">
                <a:avLst/>
              </a:prstGeom>
              <a:blipFill>
                <a:blip r:embed="rId3"/>
                <a:stretch>
                  <a:fillRect l="-7547" b="-10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B821DAD2-DABA-67BA-8DAD-BBF1AA34920A}"/>
              </a:ext>
            </a:extLst>
          </p:cNvPr>
          <p:cNvSpPr txBox="1"/>
          <p:nvPr/>
        </p:nvSpPr>
        <p:spPr>
          <a:xfrm>
            <a:off x="9218524" y="4859469"/>
            <a:ext cx="2653290" cy="18004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latin typeface="Helvetica" pitchFamily="2" charset="0"/>
                <a:cs typeface="Times New Roman" panose="02020603050405020304" pitchFamily="18" charset="0"/>
              </a:rPr>
              <a:t>n:</a:t>
            </a:r>
            <a:r>
              <a:rPr lang="en-US" sz="2000" dirty="0">
                <a:latin typeface="Helvetica" pitchFamily="2" charset="0"/>
                <a:cs typeface="Times New Roman" panose="02020603050405020304" pitchFamily="18" charset="0"/>
              </a:rPr>
              <a:t> Number of periods</a:t>
            </a:r>
          </a:p>
          <a:p>
            <a:pPr>
              <a:spcBef>
                <a:spcPts val="600"/>
              </a:spcBef>
            </a:pPr>
            <a:r>
              <a:rPr lang="en-US" sz="2400" b="1" dirty="0">
                <a:latin typeface="Helvetica" pitchFamily="2" charset="0"/>
                <a:cs typeface="Times New Roman" panose="02020603050405020304" pitchFamily="18" charset="0"/>
              </a:rPr>
              <a:t>i:</a:t>
            </a:r>
            <a:r>
              <a:rPr lang="en-US" sz="2000" dirty="0">
                <a:latin typeface="Helvetica" pitchFamily="2" charset="0"/>
                <a:cs typeface="Times New Roman" panose="02020603050405020304" pitchFamily="18" charset="0"/>
              </a:rPr>
              <a:t> Interest rate</a:t>
            </a:r>
          </a:p>
          <a:p>
            <a:pPr>
              <a:spcBef>
                <a:spcPts val="600"/>
              </a:spcBef>
            </a:pPr>
            <a:r>
              <a:rPr lang="en-US" sz="2400" b="1" dirty="0">
                <a:latin typeface="Helvetica" pitchFamily="2" charset="0"/>
                <a:cs typeface="Times New Roman" panose="02020603050405020304" pitchFamily="18" charset="0"/>
              </a:rPr>
              <a:t>FV:</a:t>
            </a:r>
            <a:r>
              <a:rPr lang="en-US" sz="2000" dirty="0">
                <a:latin typeface="Helvetica" pitchFamily="2" charset="0"/>
                <a:cs typeface="Times New Roman" panose="02020603050405020304" pitchFamily="18" charset="0"/>
              </a:rPr>
              <a:t> Future Value</a:t>
            </a:r>
          </a:p>
          <a:p>
            <a:pPr>
              <a:spcBef>
                <a:spcPts val="600"/>
              </a:spcBef>
            </a:pPr>
            <a:r>
              <a:rPr lang="en-US" sz="2400" b="1" dirty="0">
                <a:latin typeface="Helvetica" pitchFamily="2" charset="0"/>
                <a:cs typeface="Times New Roman" panose="02020603050405020304" pitchFamily="18" charset="0"/>
              </a:rPr>
              <a:t>PV:</a:t>
            </a:r>
            <a:r>
              <a:rPr lang="en-US" sz="2000" dirty="0">
                <a:latin typeface="Helvetica" pitchFamily="2" charset="0"/>
                <a:cs typeface="Times New Roman" panose="02020603050405020304" pitchFamily="18" charset="0"/>
              </a:rPr>
              <a:t> Present Value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DFE0F8-0E04-79C6-F17B-B97CC47099A7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000" b="1" dirty="0">
              <a:latin typeface="Helvetica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AA50D2-801D-3CA2-A607-9A6054919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052391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Basic Formula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624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1" grpId="0"/>
      <p:bldP spid="3" grpId="0"/>
      <p:bldP spid="8" grpId="0"/>
      <p:bldP spid="3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DCCF2-075C-3791-2C21-D48BE7A08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3A87F3B-D10F-9377-E7AE-0634842A2567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000" b="1" dirty="0">
              <a:latin typeface="Helvetica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C97AC56-B6F3-A5BE-214F-39446BA94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052391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Impact of Time and Interest on FV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F7D925-AA28-FB50-9992-ED10AE45D389}"/>
              </a:ext>
            </a:extLst>
          </p:cNvPr>
          <p:cNvSpPr txBox="1"/>
          <p:nvPr/>
        </p:nvSpPr>
        <p:spPr>
          <a:xfrm>
            <a:off x="735980" y="1516565"/>
            <a:ext cx="902266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b="1" dirty="0">
                <a:latin typeface="Helvetica" pitchFamily="2" charset="0"/>
              </a:rPr>
              <a:t>Future Value         </a:t>
            </a:r>
            <a:endParaRPr lang="en-US" sz="2400" dirty="0">
              <a:latin typeface="Helvetica" pitchFamily="2" charset="0"/>
            </a:endParaRPr>
          </a:p>
          <a:p>
            <a:pPr marL="91440" indent="27432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Increases when time (n) or interest rate (</a:t>
            </a:r>
            <a:r>
              <a:rPr lang="en-US" sz="2000" dirty="0" err="1">
                <a:latin typeface="Helvetica" pitchFamily="2" charset="0"/>
              </a:rPr>
              <a:t>i</a:t>
            </a:r>
            <a:r>
              <a:rPr lang="en-US" sz="2000" dirty="0">
                <a:latin typeface="Helvetica" pitchFamily="2" charset="0"/>
              </a:rPr>
              <a:t>) increases – more compounding!</a:t>
            </a:r>
          </a:p>
          <a:p>
            <a:pPr marL="91440" indent="27432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Decreases when time or interest rate is lower – less growth.</a:t>
            </a:r>
          </a:p>
          <a:p>
            <a:endParaRPr lang="en-US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4150154-D173-8187-4172-0C2FF91EF024}"/>
              </a:ext>
            </a:extLst>
          </p:cNvPr>
          <p:cNvCxnSpPr/>
          <p:nvPr/>
        </p:nvCxnSpPr>
        <p:spPr>
          <a:xfrm>
            <a:off x="2809147" y="1761892"/>
            <a:ext cx="60216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1455A67-3E10-BA05-56E0-CB0BDEB3975D}"/>
                  </a:ext>
                </a:extLst>
              </p:cNvPr>
              <p:cNvSpPr txBox="1"/>
              <p:nvPr/>
            </p:nvSpPr>
            <p:spPr>
              <a:xfrm>
                <a:off x="3444765" y="1531059"/>
                <a:ext cx="25988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𝐅𝐕</m:t>
                          </m:r>
                        </m:e>
                        <m:sub>
                          <m:r>
                            <a:rPr lang="en-US" sz="24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sub>
                      </m:sSub>
                      <m:r>
                        <a:rPr lang="en-US" sz="24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𝐏𝐕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  <m:r>
                            <a:rPr lang="en-US" sz="24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1455A67-3E10-BA05-56E0-CB0BDEB39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765" y="1531059"/>
                <a:ext cx="2598853" cy="461665"/>
              </a:xfrm>
              <a:prstGeom prst="rect">
                <a:avLst/>
              </a:prstGeom>
              <a:blipFill>
                <a:blip r:embed="rId2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2" name="Chart 41">
            <a:extLst>
              <a:ext uri="{FF2B5EF4-FFF2-40B4-BE49-F238E27FC236}">
                <a16:creationId xmlns:a16="http://schemas.microsoft.com/office/drawing/2014/main" id="{6E5C7F0F-6DFA-F263-7DCF-AF7636BD10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8278938"/>
              </p:ext>
            </p:extLst>
          </p:nvPr>
        </p:nvGraphicFramePr>
        <p:xfrm>
          <a:off x="1066800" y="3155799"/>
          <a:ext cx="10058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06448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2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07A52-FCBD-F7BC-4352-637FED070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C38707A-77AB-F8D1-31C0-175537A922CA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000" b="1" dirty="0">
              <a:latin typeface="Helvetica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FB64E2A-66D1-8CFC-2485-28B2B5DB6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052391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Impact of Time and Interest on PV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358E72-A7A0-35D6-5754-E5BF155573E3}"/>
              </a:ext>
            </a:extLst>
          </p:cNvPr>
          <p:cNvSpPr txBox="1"/>
          <p:nvPr/>
        </p:nvSpPr>
        <p:spPr>
          <a:xfrm>
            <a:off x="735980" y="1516565"/>
            <a:ext cx="8219109" cy="14619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b="1" dirty="0">
                <a:latin typeface="Helvetica" pitchFamily="2" charset="0"/>
              </a:rPr>
              <a:t>Present Value         </a:t>
            </a:r>
            <a:endParaRPr lang="en-US" sz="2400" dirty="0">
              <a:latin typeface="Helvetica" pitchFamily="2" charset="0"/>
            </a:endParaRPr>
          </a:p>
          <a:p>
            <a:pPr marL="91440" indent="27432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Decreases when time or interest rate increases – more discounting!</a:t>
            </a:r>
          </a:p>
          <a:p>
            <a:pPr marL="91440" indent="27432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Increases when time or interest rate is lower – less discounting.</a:t>
            </a:r>
            <a:endParaRPr lang="en-US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BCA7507-90FE-8F4B-B167-34C7F5AF3251}"/>
              </a:ext>
            </a:extLst>
          </p:cNvPr>
          <p:cNvCxnSpPr/>
          <p:nvPr/>
        </p:nvCxnSpPr>
        <p:spPr>
          <a:xfrm>
            <a:off x="2976415" y="1747397"/>
            <a:ext cx="60216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E69C445-A08E-A142-AD9F-755B95F9C2E8}"/>
                  </a:ext>
                </a:extLst>
              </p:cNvPr>
              <p:cNvSpPr txBox="1"/>
              <p:nvPr/>
            </p:nvSpPr>
            <p:spPr>
              <a:xfrm>
                <a:off x="3578580" y="1385823"/>
                <a:ext cx="1919628" cy="786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2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PV</m:t>
                      </m:r>
                      <m:r>
                        <a:rPr lang="en-US" sz="2200" b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𝐅𝐕</m:t>
                              </m:r>
                            </m:e>
                            <m:sub>
                              <m:r>
                                <a:rPr lang="en-US" sz="2200" b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2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b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200" b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b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  <m:r>
                                <a:rPr lang="en-US" sz="2200" b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200" b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E69C445-A08E-A142-AD9F-755B95F9C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8580" y="1385823"/>
                <a:ext cx="1919628" cy="786306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E1B9A61-DB57-8140-8829-7E97BAC5DF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0574245"/>
              </p:ext>
            </p:extLst>
          </p:nvPr>
        </p:nvGraphicFramePr>
        <p:xfrm>
          <a:off x="1066800" y="3170967"/>
          <a:ext cx="10058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6979A84-C335-B143-F373-0E16DD60863F}"/>
              </a:ext>
            </a:extLst>
          </p:cNvPr>
          <p:cNvSpPr txBox="1"/>
          <p:nvPr/>
        </p:nvSpPr>
        <p:spPr>
          <a:xfrm>
            <a:off x="5814439" y="6276355"/>
            <a:ext cx="71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2286185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0831D2-3814-EC3E-B1C3-F6B703D6B744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-up of a calculator&#10;&#10;AI-generated content may be incorrect.">
            <a:extLst>
              <a:ext uri="{FF2B5EF4-FFF2-40B4-BE49-F238E27FC236}">
                <a16:creationId xmlns:a16="http://schemas.microsoft.com/office/drawing/2014/main" id="{4CBD9004-A820-721F-132D-EB6A13004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146" y="1430628"/>
            <a:ext cx="3373454" cy="535766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563F733-A403-A36C-7B99-44650308C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794" y="77713"/>
            <a:ext cx="10502900" cy="1322996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Calculator Tip #1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29613F-7989-59E3-572B-23F507C053AF}"/>
              </a:ext>
            </a:extLst>
          </p:cNvPr>
          <p:cNvSpPr txBox="1"/>
          <p:nvPr/>
        </p:nvSpPr>
        <p:spPr>
          <a:xfrm>
            <a:off x="3877055" y="1658832"/>
            <a:ext cx="819971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000" b="1" dirty="0">
                <a:latin typeface="Helvetica" pitchFamily="2" charset="0"/>
              </a:rPr>
              <a:t>F</a:t>
            </a:r>
            <a:r>
              <a:rPr lang="en-US" sz="3000" b="1" i="0" dirty="0">
                <a:effectLst/>
                <a:latin typeface="Helvetica" pitchFamily="2" charset="0"/>
              </a:rPr>
              <a:t>ive keys in the basic time value equations </a:t>
            </a:r>
            <a:endParaRPr lang="en-US" sz="3000" b="1" dirty="0">
              <a:latin typeface="Helvetica" pitchFamily="2" charset="0"/>
            </a:endParaRPr>
          </a:p>
          <a:p>
            <a:pPr marL="274320" indent="-27432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200" b="1" dirty="0">
                <a:latin typeface="Helvetica" pitchFamily="2" charset="0"/>
              </a:rPr>
              <a:t>N:</a:t>
            </a:r>
            <a:r>
              <a:rPr lang="en-US" sz="2200" dirty="0">
                <a:latin typeface="Helvetica" pitchFamily="2" charset="0"/>
              </a:rPr>
              <a:t> </a:t>
            </a:r>
            <a:r>
              <a:rPr lang="en-US" sz="2200" b="0" i="0" dirty="0">
                <a:effectLst/>
                <a:latin typeface="Helvetica" pitchFamily="2" charset="0"/>
              </a:rPr>
              <a:t>Number of periods. Some calculators use n rather than N.</a:t>
            </a:r>
            <a:r>
              <a:rPr lang="en-US" sz="2200" dirty="0">
                <a:latin typeface="Helvetica" pitchFamily="2" charset="0"/>
              </a:rPr>
              <a:t> </a:t>
            </a:r>
          </a:p>
          <a:p>
            <a:pPr marL="274320" indent="-27432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200" b="1" dirty="0">
                <a:latin typeface="Helvetica" pitchFamily="2" charset="0"/>
              </a:rPr>
              <a:t>1/Y: </a:t>
            </a:r>
            <a:r>
              <a:rPr lang="en-US" sz="2200" b="0" i="0" dirty="0">
                <a:effectLst/>
                <a:latin typeface="Helvetica" pitchFamily="2" charset="0"/>
              </a:rPr>
              <a:t>Interest rate per period. Some calculators use </a:t>
            </a:r>
            <a:r>
              <a:rPr lang="en-US" sz="2200" b="0" i="0" dirty="0" err="1">
                <a:effectLst/>
                <a:latin typeface="Helvetica" pitchFamily="2" charset="0"/>
              </a:rPr>
              <a:t>i</a:t>
            </a:r>
            <a:r>
              <a:rPr lang="en-US" sz="2200" b="0" i="0" dirty="0">
                <a:effectLst/>
                <a:latin typeface="Helvetica" pitchFamily="2" charset="0"/>
              </a:rPr>
              <a:t> or I rather than I/Y.</a:t>
            </a:r>
            <a:endParaRPr lang="en-US" sz="2200" dirty="0">
              <a:latin typeface="Helvetica" pitchFamily="2" charset="0"/>
            </a:endParaRPr>
          </a:p>
          <a:p>
            <a:pPr marL="274320" indent="-27432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200" b="1" dirty="0">
                <a:latin typeface="Helvetica" pitchFamily="2" charset="0"/>
              </a:rPr>
              <a:t>PV: </a:t>
            </a:r>
            <a:r>
              <a:rPr lang="en-US" sz="2200" b="0" i="0" dirty="0">
                <a:effectLst/>
                <a:latin typeface="Helvetica" pitchFamily="2" charset="0"/>
              </a:rPr>
              <a:t>Present value. If we deposit money, it must be negative number. Because it’s cash outflow.</a:t>
            </a:r>
            <a:endParaRPr lang="en-US" sz="2200" dirty="0">
              <a:latin typeface="Helvetica" pitchFamily="2" charset="0"/>
            </a:endParaRPr>
          </a:p>
          <a:p>
            <a:pPr marL="274320" indent="-27432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200" b="1" dirty="0">
                <a:latin typeface="Helvetica" pitchFamily="2" charset="0"/>
              </a:rPr>
              <a:t>PMT: </a:t>
            </a:r>
            <a:r>
              <a:rPr lang="en-US" sz="2200" b="0" i="0" dirty="0">
                <a:effectLst/>
                <a:latin typeface="Helvetica" pitchFamily="2" charset="0"/>
              </a:rPr>
              <a:t>Payment. This key is used when we have a series of equal, or constant, payments.</a:t>
            </a:r>
            <a:endParaRPr lang="en-US" sz="2200" dirty="0">
              <a:latin typeface="Helvetica" pitchFamily="2" charset="0"/>
            </a:endParaRPr>
          </a:p>
          <a:p>
            <a:pPr marL="274320" indent="-27432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200" b="1" dirty="0">
                <a:latin typeface="Helvetica" pitchFamily="2" charset="0"/>
              </a:rPr>
              <a:t>FV:</a:t>
            </a:r>
            <a:r>
              <a:rPr lang="en-US" sz="2200" b="1" i="0" dirty="0">
                <a:effectLst/>
                <a:latin typeface="Helvetica" pitchFamily="2" charset="0"/>
              </a:rPr>
              <a:t> </a:t>
            </a:r>
            <a:r>
              <a:rPr lang="en-US" sz="2200" b="0" i="0" dirty="0">
                <a:effectLst/>
                <a:latin typeface="Helvetica" pitchFamily="2" charset="0"/>
              </a:rPr>
              <a:t>Future value.</a:t>
            </a:r>
            <a:endParaRPr lang="en-US" sz="22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579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2A72E-BFBF-FD31-E3E0-B287F779A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FD1BB9F-565E-4216-6415-34B8138A6E5E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-up of a calculator&#10;&#10;AI-generated content may be incorrect.">
            <a:extLst>
              <a:ext uri="{FF2B5EF4-FFF2-40B4-BE49-F238E27FC236}">
                <a16:creationId xmlns:a16="http://schemas.microsoft.com/office/drawing/2014/main" id="{DAB46373-36B3-EB7A-BC94-74E609978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146" y="1430628"/>
            <a:ext cx="3373454" cy="535766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D27253C-85B6-CFFB-6559-C087712B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794" y="77713"/>
            <a:ext cx="10502900" cy="1322996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Calculator Tip #2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F5BBB3-DA66-DB91-5561-603CA57DD541}"/>
              </a:ext>
            </a:extLst>
          </p:cNvPr>
          <p:cNvSpPr txBox="1"/>
          <p:nvPr/>
        </p:nvSpPr>
        <p:spPr>
          <a:xfrm>
            <a:off x="3877055" y="1658832"/>
            <a:ext cx="8199715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200" b="1" dirty="0">
                <a:latin typeface="Helvetica" pitchFamily="2" charset="0"/>
              </a:rPr>
              <a:t>Steps to Calculate FV Using a Calculator:</a:t>
            </a:r>
            <a:endParaRPr lang="en-US" sz="3200" dirty="0">
              <a:latin typeface="Helvetica" pitchFamily="2" charset="0"/>
            </a:endParaRPr>
          </a:p>
          <a:p>
            <a:pPr marL="274320" indent="-27432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latin typeface="Helvetica" pitchFamily="2" charset="0"/>
              </a:rPr>
              <a:t>Enter the </a:t>
            </a:r>
            <a:r>
              <a:rPr lang="en-US" sz="2400" b="1" dirty="0">
                <a:latin typeface="Helvetica" pitchFamily="2" charset="0"/>
              </a:rPr>
              <a:t>Number of Periods</a:t>
            </a:r>
            <a:r>
              <a:rPr lang="en-US" sz="2400" dirty="0">
                <a:latin typeface="Helvetica" pitchFamily="2" charset="0"/>
              </a:rPr>
              <a:t> → Press </a:t>
            </a:r>
            <a:r>
              <a:rPr lang="en-US" sz="2400" b="1" dirty="0">
                <a:latin typeface="Helvetica" pitchFamily="2" charset="0"/>
              </a:rPr>
              <a:t>N</a:t>
            </a:r>
          </a:p>
          <a:p>
            <a:pPr marL="274320" indent="-27432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latin typeface="Helvetica" pitchFamily="2" charset="0"/>
              </a:rPr>
              <a:t>Enter the </a:t>
            </a:r>
            <a:r>
              <a:rPr lang="en-US" sz="2400" b="1" dirty="0">
                <a:latin typeface="Helvetica" pitchFamily="2" charset="0"/>
              </a:rPr>
              <a:t>Interest Rate Per Period</a:t>
            </a:r>
            <a:r>
              <a:rPr lang="en-US" sz="2400" dirty="0">
                <a:latin typeface="Helvetica" pitchFamily="2" charset="0"/>
              </a:rPr>
              <a:t> → Press </a:t>
            </a:r>
            <a:r>
              <a:rPr lang="en-US" sz="2400" b="1" dirty="0">
                <a:latin typeface="Helvetica" pitchFamily="2" charset="0"/>
              </a:rPr>
              <a:t>I/Y</a:t>
            </a:r>
          </a:p>
          <a:p>
            <a:pPr marL="274320" indent="-27432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latin typeface="Helvetica" pitchFamily="2" charset="0"/>
              </a:rPr>
              <a:t>Enter the </a:t>
            </a:r>
            <a:r>
              <a:rPr lang="en-US" sz="2400" b="1" dirty="0">
                <a:latin typeface="Helvetica" pitchFamily="2" charset="0"/>
              </a:rPr>
              <a:t>Payment Amount</a:t>
            </a:r>
            <a:r>
              <a:rPr lang="en-US" sz="2400" dirty="0">
                <a:latin typeface="Helvetica" pitchFamily="2" charset="0"/>
              </a:rPr>
              <a:t> (if applicable) → Press </a:t>
            </a:r>
            <a:r>
              <a:rPr lang="en-US" sz="2400" b="1" dirty="0">
                <a:latin typeface="Helvetica" pitchFamily="2" charset="0"/>
              </a:rPr>
              <a:t>PMT</a:t>
            </a:r>
          </a:p>
          <a:p>
            <a:pPr marL="274320" indent="-27432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latin typeface="Helvetica" pitchFamily="2" charset="0"/>
              </a:rPr>
              <a:t>Enter the </a:t>
            </a:r>
            <a:r>
              <a:rPr lang="en-US" sz="2400" b="1" dirty="0">
                <a:latin typeface="Helvetica" pitchFamily="2" charset="0"/>
              </a:rPr>
              <a:t>Present Value (PV)</a:t>
            </a:r>
            <a:r>
              <a:rPr lang="en-US" sz="2400" dirty="0">
                <a:latin typeface="Helvetica" pitchFamily="2" charset="0"/>
              </a:rPr>
              <a:t> (use a </a:t>
            </a:r>
            <a:r>
              <a:rPr lang="en-US" sz="2400" b="1" dirty="0">
                <a:latin typeface="Helvetica" pitchFamily="2" charset="0"/>
              </a:rPr>
              <a:t>negative sign</a:t>
            </a:r>
            <a:r>
              <a:rPr lang="en-US" sz="2400" dirty="0">
                <a:latin typeface="Helvetica" pitchFamily="2" charset="0"/>
              </a:rPr>
              <a:t> for cash outflows) → Press </a:t>
            </a:r>
            <a:r>
              <a:rPr lang="en-US" sz="2400" b="1" dirty="0">
                <a:latin typeface="Helvetica" pitchFamily="2" charset="0"/>
              </a:rPr>
              <a:t>PV</a:t>
            </a:r>
          </a:p>
          <a:p>
            <a:pPr marL="274320" indent="-27432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latin typeface="Helvetica" pitchFamily="2" charset="0"/>
              </a:rPr>
              <a:t>Press </a:t>
            </a:r>
            <a:r>
              <a:rPr lang="en-US" sz="2400" b="1" dirty="0">
                <a:latin typeface="Helvetica" pitchFamily="2" charset="0"/>
              </a:rPr>
              <a:t>CPT</a:t>
            </a:r>
            <a:r>
              <a:rPr lang="en-US" sz="2400" dirty="0">
                <a:latin typeface="Helvetica" pitchFamily="2" charset="0"/>
              </a:rPr>
              <a:t> (Compute) → Press </a:t>
            </a:r>
            <a:r>
              <a:rPr lang="en-US" sz="2400" b="1" dirty="0">
                <a:latin typeface="Helvetica" pitchFamily="2" charset="0"/>
              </a:rPr>
              <a:t>FV</a:t>
            </a:r>
            <a:endParaRPr lang="en-US" sz="22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845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092FC-BEF7-A7FF-FD00-F8A5B2A90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jar full of money and a toy car&#10;&#10;Description automatically generated">
            <a:extLst>
              <a:ext uri="{FF2B5EF4-FFF2-40B4-BE49-F238E27FC236}">
                <a16:creationId xmlns:a16="http://schemas.microsoft.com/office/drawing/2014/main" id="{D8433D3D-7412-A4C3-7E1D-BB66D5F30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DD01A2-49AA-D2FA-A54B-A22093F6F8EC}"/>
              </a:ext>
            </a:extLst>
          </p:cNvPr>
          <p:cNvSpPr txBox="1"/>
          <p:nvPr/>
        </p:nvSpPr>
        <p:spPr>
          <a:xfrm>
            <a:off x="3200401" y="385762"/>
            <a:ext cx="1571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Helvetica" pitchFamily="2" charset="0"/>
              </a:rPr>
              <a:t>7 Years</a:t>
            </a:r>
          </a:p>
          <a:p>
            <a:r>
              <a:rPr lang="en-US" sz="2400" dirty="0">
                <a:solidFill>
                  <a:schemeClr val="bg1"/>
                </a:solidFill>
                <a:latin typeface="Helvetica" pitchFamily="2" charset="0"/>
              </a:rPr>
              <a:t>i = 11%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3A8FF7-A798-EC75-00CE-A12B5D30B467}"/>
              </a:ext>
            </a:extLst>
          </p:cNvPr>
          <p:cNvSpPr txBox="1"/>
          <p:nvPr/>
        </p:nvSpPr>
        <p:spPr>
          <a:xfrm rot="20567600">
            <a:off x="4238631" y="3359169"/>
            <a:ext cx="1571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Helvetica" pitchFamily="2" charset="0"/>
              </a:rPr>
              <a:t>$ 20,000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874EE4-46F9-D01C-4B50-011524E77D3C}"/>
              </a:ext>
            </a:extLst>
          </p:cNvPr>
          <p:cNvSpPr txBox="1"/>
          <p:nvPr/>
        </p:nvSpPr>
        <p:spPr>
          <a:xfrm>
            <a:off x="7152362" y="1697919"/>
            <a:ext cx="441542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latin typeface="Helvetica" pitchFamily="2" charset="0"/>
              </a:rPr>
              <a:t>Will your $10,000 investment today be enough to buy the car in 7 years?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1DED9E-DE4F-477A-C345-6C74041357B4}"/>
              </a:ext>
            </a:extLst>
          </p:cNvPr>
          <p:cNvSpPr/>
          <p:nvPr/>
        </p:nvSpPr>
        <p:spPr>
          <a:xfrm>
            <a:off x="6858000" y="-2"/>
            <a:ext cx="5334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08FBE53-50EC-66B0-5233-3536859FC1ED}"/>
                  </a:ext>
                </a:extLst>
              </p:cNvPr>
              <p:cNvSpPr txBox="1"/>
              <p:nvPr/>
            </p:nvSpPr>
            <p:spPr>
              <a:xfrm>
                <a:off x="7379895" y="3137041"/>
                <a:ext cx="418788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𝐅𝐕</m:t>
                          </m:r>
                        </m:e>
                        <m:sub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𝐧</m:t>
                          </m:r>
                        </m:sub>
                      </m:sSub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𝐏𝐕</m:t>
                      </m:r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𝐢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𝐧</m:t>
                          </m:r>
                        </m:sup>
                      </m:sSup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08FBE53-50EC-66B0-5233-3536859FC1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895" y="3137041"/>
                <a:ext cx="4187889" cy="461665"/>
              </a:xfrm>
              <a:prstGeom prst="rect">
                <a:avLst/>
              </a:prstGeom>
              <a:blipFill>
                <a:blip r:embed="rId3"/>
                <a:stretch>
                  <a:fillRect b="-13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4B797A2-7FFF-003A-171D-4AA8D327ECB8}"/>
                  </a:ext>
                </a:extLst>
              </p:cNvPr>
              <p:cNvSpPr txBox="1"/>
              <p:nvPr/>
            </p:nvSpPr>
            <p:spPr>
              <a:xfrm>
                <a:off x="6978563" y="3729602"/>
                <a:ext cx="5092871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𝐅𝐕</m:t>
                        </m:r>
                      </m:e>
                      <m:sub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𝟕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𝟎𝟎𝟎</m:t>
                    </m:r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𝟏𝟏</m:t>
                        </m:r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</m:oMath>
                </a14:m>
                <a:r>
                  <a:rPr lang="en-US" sz="2400" b="1" dirty="0"/>
                  <a:t>= </a:t>
                </a:r>
                <a:r>
                  <a:rPr lang="en-US" sz="24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20,761.6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4B797A2-7FFF-003A-171D-4AA8D327E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8563" y="3729602"/>
                <a:ext cx="5092871" cy="468205"/>
              </a:xfrm>
              <a:prstGeom prst="rect">
                <a:avLst/>
              </a:prstGeom>
              <a:blipFill>
                <a:blip r:embed="rId4"/>
                <a:stretch>
                  <a:fillRect l="-249" t="-7895" r="-1741" b="-3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F35F50D-1991-EB75-07C3-360CB26EACEF}"/>
              </a:ext>
            </a:extLst>
          </p:cNvPr>
          <p:cNvSpPr txBox="1"/>
          <p:nvPr/>
        </p:nvSpPr>
        <p:spPr>
          <a:xfrm>
            <a:off x="6978564" y="391007"/>
            <a:ext cx="50928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Helvetica" pitchFamily="2" charset="0"/>
              </a:rPr>
              <a:t>Saving for a Dream Car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B8D7786-99D1-20E2-006C-EB39D0B09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363698"/>
              </p:ext>
            </p:extLst>
          </p:nvPr>
        </p:nvGraphicFramePr>
        <p:xfrm>
          <a:off x="7151644" y="4650058"/>
          <a:ext cx="4919790" cy="148157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43780">
                  <a:extLst>
                    <a:ext uri="{9D8B030D-6E8A-4147-A177-3AD203B41FA5}">
                      <a16:colId xmlns:a16="http://schemas.microsoft.com/office/drawing/2014/main" val="2986694891"/>
                    </a:ext>
                  </a:extLst>
                </a:gridCol>
                <a:gridCol w="903249">
                  <a:extLst>
                    <a:ext uri="{9D8B030D-6E8A-4147-A177-3AD203B41FA5}">
                      <a16:colId xmlns:a16="http://schemas.microsoft.com/office/drawing/2014/main" val="2867844822"/>
                    </a:ext>
                  </a:extLst>
                </a:gridCol>
                <a:gridCol w="1204845">
                  <a:extLst>
                    <a:ext uri="{9D8B030D-6E8A-4147-A177-3AD203B41FA5}">
                      <a16:colId xmlns:a16="http://schemas.microsoft.com/office/drawing/2014/main" val="3714192118"/>
                    </a:ext>
                  </a:extLst>
                </a:gridCol>
                <a:gridCol w="869282">
                  <a:extLst>
                    <a:ext uri="{9D8B030D-6E8A-4147-A177-3AD203B41FA5}">
                      <a16:colId xmlns:a16="http://schemas.microsoft.com/office/drawing/2014/main" val="937620826"/>
                    </a:ext>
                  </a:extLst>
                </a:gridCol>
                <a:gridCol w="1098634">
                  <a:extLst>
                    <a:ext uri="{9D8B030D-6E8A-4147-A177-3AD203B41FA5}">
                      <a16:colId xmlns:a16="http://schemas.microsoft.com/office/drawing/2014/main" val="2814070118"/>
                    </a:ext>
                  </a:extLst>
                </a:gridCol>
              </a:tblGrid>
              <a:tr h="493858">
                <a:tc gridSpan="5"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Usin</a:t>
                      </a:r>
                      <a:r>
                        <a:rPr lang="en-US" sz="2000" dirty="0"/>
                        <a:t> Calculator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703353"/>
                  </a:ext>
                </a:extLst>
              </a:tr>
              <a:tr h="49385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I/Y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PMT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287289"/>
                  </a:ext>
                </a:extLst>
              </a:tr>
              <a:tr h="49385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-10,000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??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1100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518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850C7-940D-58AF-0522-D509FE9AA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B6CD7-2D6C-42F3-6E6C-394510023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076" y="1470467"/>
            <a:ext cx="11097401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300" dirty="0">
                <a:latin typeface="Helvetica" pitchFamily="2" charset="0"/>
              </a:rPr>
              <a:t>Old Dominion University aims to reward top students with $5,000 for maintaining the highest GPA for two years, plus an additional $2,000 for excelling in a third year. Jack wants to know the present value of these awards if he earns them (</a:t>
            </a:r>
            <a:r>
              <a:rPr lang="en-US" sz="2300" dirty="0" err="1">
                <a:latin typeface="Helvetica" pitchFamily="2" charset="0"/>
              </a:rPr>
              <a:t>i</a:t>
            </a:r>
            <a:r>
              <a:rPr lang="en-US" sz="2300" dirty="0">
                <a:latin typeface="Helvetica" pitchFamily="2" charset="0"/>
              </a:rPr>
              <a:t>= 5%).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63A24E7-E613-FD95-5F96-87181F6605DC}"/>
                  </a:ext>
                </a:extLst>
              </p:cNvPr>
              <p:cNvSpPr txBox="1"/>
              <p:nvPr/>
            </p:nvSpPr>
            <p:spPr>
              <a:xfrm>
                <a:off x="5985122" y="5810148"/>
                <a:ext cx="61001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Total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PV</m:t>
                      </m:r>
                      <m:r>
                        <a:rPr lang="en-US" sz="200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PV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First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Award</m:t>
                          </m:r>
                        </m:sub>
                      </m:sSub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PV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Second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Award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63A24E7-E613-FD95-5F96-87181F660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5122" y="5810148"/>
                <a:ext cx="6100174" cy="400110"/>
              </a:xfrm>
              <a:prstGeom prst="rect">
                <a:avLst/>
              </a:prstGeom>
              <a:blipFill>
                <a:blip r:embed="rId2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EC79BBAA-F357-E699-73FB-73DEFCA504AC}"/>
              </a:ext>
            </a:extLst>
          </p:cNvPr>
          <p:cNvGrpSpPr/>
          <p:nvPr/>
        </p:nvGrpSpPr>
        <p:grpSpPr>
          <a:xfrm>
            <a:off x="1280280" y="4137774"/>
            <a:ext cx="10242589" cy="1122263"/>
            <a:chOff x="915949" y="4324669"/>
            <a:chExt cx="10242589" cy="112226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BB70086-AC0E-4C0D-C02C-95326E213BDF}"/>
                </a:ext>
              </a:extLst>
            </p:cNvPr>
            <p:cNvGrpSpPr/>
            <p:nvPr/>
          </p:nvGrpSpPr>
          <p:grpSpPr>
            <a:xfrm>
              <a:off x="915949" y="4324669"/>
              <a:ext cx="10242589" cy="1122263"/>
              <a:chOff x="915949" y="4324669"/>
              <a:chExt cx="10242589" cy="1122263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A2002E68-12ED-D83C-A5BB-E0AE37EF20B7}"/>
                  </a:ext>
                </a:extLst>
              </p:cNvPr>
              <p:cNvGrpSpPr/>
              <p:nvPr/>
            </p:nvGrpSpPr>
            <p:grpSpPr>
              <a:xfrm>
                <a:off x="915949" y="4324669"/>
                <a:ext cx="10242589" cy="1122263"/>
                <a:chOff x="1015961" y="5024756"/>
                <a:chExt cx="10242589" cy="1122263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D45DE9D1-C784-0A51-22A4-58F4A40B79FC}"/>
                    </a:ext>
                  </a:extLst>
                </p:cNvPr>
                <p:cNvGrpSpPr/>
                <p:nvPr/>
              </p:nvGrpSpPr>
              <p:grpSpPr>
                <a:xfrm>
                  <a:off x="1015961" y="5024756"/>
                  <a:ext cx="10242589" cy="1122263"/>
                  <a:chOff x="873086" y="5053331"/>
                  <a:chExt cx="10242589" cy="1122263"/>
                </a:xfrm>
              </p:grpSpPr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70F951F1-8564-7AF2-38B7-000E9E10901F}"/>
                      </a:ext>
                    </a:extLst>
                  </p:cNvPr>
                  <p:cNvGrpSpPr/>
                  <p:nvPr/>
                </p:nvGrpSpPr>
                <p:grpSpPr>
                  <a:xfrm>
                    <a:off x="1027135" y="5053331"/>
                    <a:ext cx="10088540" cy="475932"/>
                    <a:chOff x="1027135" y="5053331"/>
                    <a:chExt cx="10088540" cy="475932"/>
                  </a:xfrm>
                </p:grpSpPr>
                <p:cxnSp>
                  <p:nvCxnSpPr>
                    <p:cNvPr id="27" name="Straight Arrow Connector 26">
                      <a:extLst>
                        <a:ext uri="{FF2B5EF4-FFF2-40B4-BE49-F238E27FC236}">
                          <a16:creationId xmlns:a16="http://schemas.microsoft.com/office/drawing/2014/main" id="{FA69BE5D-2DE0-F11C-9ED4-5E89B2AEB16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7135" y="5285984"/>
                      <a:ext cx="10088540" cy="14677"/>
                    </a:xfrm>
                    <a:prstGeom prst="straightConnector1">
                      <a:avLst/>
                    </a:prstGeom>
                    <a:ln w="38100"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" name="Straight Connector 27">
                      <a:extLst>
                        <a:ext uri="{FF2B5EF4-FFF2-40B4-BE49-F238E27FC236}">
                          <a16:creationId xmlns:a16="http://schemas.microsoft.com/office/drawing/2014/main" id="{06413994-0A81-82BA-6F6B-8FF8EA47605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7136" y="5072061"/>
                      <a:ext cx="0" cy="457200"/>
                    </a:xfrm>
                    <a:prstGeom prst="line">
                      <a:avLst/>
                    </a:prstGeom>
                    <a:ln w="3810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" name="Straight Connector 28">
                      <a:extLst>
                        <a:ext uri="{FF2B5EF4-FFF2-40B4-BE49-F238E27FC236}">
                          <a16:creationId xmlns:a16="http://schemas.microsoft.com/office/drawing/2014/main" id="{EB403ABF-3AF5-1E21-B04E-47F1ACAE65B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293890" y="5072062"/>
                      <a:ext cx="0" cy="457200"/>
                    </a:xfrm>
                    <a:prstGeom prst="line">
                      <a:avLst/>
                    </a:prstGeom>
                    <a:ln w="3810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" name="Straight Connector 29">
                      <a:extLst>
                        <a:ext uri="{FF2B5EF4-FFF2-40B4-BE49-F238E27FC236}">
                          <a16:creationId xmlns:a16="http://schemas.microsoft.com/office/drawing/2014/main" id="{E6215FE3-6725-6E98-6CF7-47FDA55BFD9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190258" y="5072061"/>
                      <a:ext cx="0" cy="457200"/>
                    </a:xfrm>
                    <a:prstGeom prst="line">
                      <a:avLst/>
                    </a:prstGeom>
                    <a:ln w="3810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" name="Straight Connector 30">
                      <a:extLst>
                        <a:ext uri="{FF2B5EF4-FFF2-40B4-BE49-F238E27FC236}">
                          <a16:creationId xmlns:a16="http://schemas.microsoft.com/office/drawing/2014/main" id="{B1BA793E-7546-6F44-50C6-8AC54CF948C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870524" y="5053331"/>
                      <a:ext cx="0" cy="457200"/>
                    </a:xfrm>
                    <a:prstGeom prst="line">
                      <a:avLst/>
                    </a:prstGeom>
                    <a:ln w="3810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" name="Straight Connector 31">
                      <a:extLst>
                        <a:ext uri="{FF2B5EF4-FFF2-40B4-BE49-F238E27FC236}">
                          <a16:creationId xmlns:a16="http://schemas.microsoft.com/office/drawing/2014/main" id="{B0D4183D-B54A-187F-8053-16966180309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574923" y="5072063"/>
                      <a:ext cx="0" cy="457200"/>
                    </a:xfrm>
                    <a:prstGeom prst="line">
                      <a:avLst/>
                    </a:prstGeom>
                    <a:ln w="3810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B5AC3FE4-01ED-4D0B-3476-162CB56D1684}"/>
                      </a:ext>
                    </a:extLst>
                  </p:cNvPr>
                  <p:cNvSpPr txBox="1"/>
                  <p:nvPr/>
                </p:nvSpPr>
                <p:spPr>
                  <a:xfrm>
                    <a:off x="873086" y="5713929"/>
                    <a:ext cx="3561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>
                        <a:latin typeface="Helvetica" pitchFamily="2" charset="0"/>
                      </a:rPr>
                      <a:t>0</a:t>
                    </a:r>
                  </a:p>
                </p:txBody>
              </p:sp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85CE2377-A8B6-A1BD-DE02-DA3CB2F4F766}"/>
                      </a:ext>
                    </a:extLst>
                  </p:cNvPr>
                  <p:cNvSpPr txBox="1"/>
                  <p:nvPr/>
                </p:nvSpPr>
                <p:spPr>
                  <a:xfrm>
                    <a:off x="3139841" y="5713929"/>
                    <a:ext cx="3561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>
                        <a:latin typeface="Helvetica" pitchFamily="2" charset="0"/>
                      </a:rPr>
                      <a:t>1</a:t>
                    </a:r>
                  </a:p>
                </p:txBody>
              </p: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29334250-A3A4-79B4-0C84-69A905A7E020}"/>
                      </a:ext>
                    </a:extLst>
                  </p:cNvPr>
                  <p:cNvSpPr txBox="1"/>
                  <p:nvPr/>
                </p:nvSpPr>
                <p:spPr>
                  <a:xfrm>
                    <a:off x="5420874" y="5713929"/>
                    <a:ext cx="3561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>
                        <a:latin typeface="Helvetica" pitchFamily="2" charset="0"/>
                      </a:rPr>
                      <a:t>2</a:t>
                    </a:r>
                  </a:p>
                </p:txBody>
              </p:sp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F86E566A-2A06-9413-028F-83DB018D3B25}"/>
                      </a:ext>
                    </a:extLst>
                  </p:cNvPr>
                  <p:cNvSpPr txBox="1"/>
                  <p:nvPr/>
                </p:nvSpPr>
                <p:spPr>
                  <a:xfrm>
                    <a:off x="7716475" y="5710715"/>
                    <a:ext cx="3561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>
                        <a:latin typeface="Helvetica" pitchFamily="2" charset="0"/>
                      </a:rPr>
                      <a:t>3</a:t>
                    </a:r>
                  </a:p>
                </p:txBody>
              </p:sp>
            </p:grp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A359326-A1F6-E531-9EB3-68369B1896C2}"/>
                    </a:ext>
                  </a:extLst>
                </p:cNvPr>
                <p:cNvSpPr txBox="1"/>
                <p:nvPr/>
              </p:nvSpPr>
              <p:spPr>
                <a:xfrm>
                  <a:off x="1805091" y="5210466"/>
                  <a:ext cx="100860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 = 5%</a:t>
                  </a:r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8F69FE-5D45-3074-1E5D-1734BF3FDCA9}"/>
                  </a:ext>
                </a:extLst>
              </p:cNvPr>
              <p:cNvSpPr txBox="1"/>
              <p:nvPr/>
            </p:nvSpPr>
            <p:spPr>
              <a:xfrm>
                <a:off x="4105552" y="4508984"/>
                <a:ext cx="100860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= 5%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ED65424-7366-BA40-E329-F5EAD247296A}"/>
                </a:ext>
              </a:extLst>
            </p:cNvPr>
            <p:cNvSpPr txBox="1"/>
            <p:nvPr/>
          </p:nvSpPr>
          <p:spPr>
            <a:xfrm>
              <a:off x="6308052" y="4508983"/>
              <a:ext cx="10086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= 5%</a:t>
              </a:r>
            </a:p>
          </p:txBody>
        </p:sp>
      </p:grp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AFF14140-7B61-343E-5DB5-F7738BB1906A}"/>
              </a:ext>
            </a:extLst>
          </p:cNvPr>
          <p:cNvSpPr/>
          <p:nvPr/>
        </p:nvSpPr>
        <p:spPr>
          <a:xfrm>
            <a:off x="6465355" y="6283218"/>
            <a:ext cx="5057514" cy="49333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Total PV= 4535.15 + 1727.75 = $ 6262.90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72B781-7ADB-163D-38DF-277FFBA191E0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DD20B7D-3E12-0DE1-5D58-995256D94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794" y="77713"/>
            <a:ext cx="10502900" cy="1322996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Example</a:t>
            </a:r>
          </a:p>
        </p:txBody>
      </p:sp>
      <p:sp>
        <p:nvSpPr>
          <p:cNvPr id="2" name="Curved Up Arrow 1">
            <a:extLst>
              <a:ext uri="{FF2B5EF4-FFF2-40B4-BE49-F238E27FC236}">
                <a16:creationId xmlns:a16="http://schemas.microsoft.com/office/drawing/2014/main" id="{F41CE405-F9A1-43D7-48F7-0DFA44ABF2BD}"/>
              </a:ext>
            </a:extLst>
          </p:cNvPr>
          <p:cNvSpPr/>
          <p:nvPr/>
        </p:nvSpPr>
        <p:spPr>
          <a:xfrm rot="10800000">
            <a:off x="1434329" y="3539020"/>
            <a:ext cx="6843380" cy="731520"/>
          </a:xfrm>
          <a:prstGeom prst="curvedUp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DD11E8-338D-773F-AE1E-4EE630B0FB79}"/>
                  </a:ext>
                </a:extLst>
              </p:cNvPr>
              <p:cNvSpPr txBox="1"/>
              <p:nvPr/>
            </p:nvSpPr>
            <p:spPr>
              <a:xfrm>
                <a:off x="885755" y="2873903"/>
                <a:ext cx="3663940" cy="7140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𝐏𝐕</m:t>
                      </m:r>
                      <m:r>
                        <a:rPr lang="en-US" sz="2000" b="1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0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𝟐𝟎𝟎𝟎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0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sz="2000" b="1" i="0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000" b="1" i="0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  <m:r>
                                    <a:rPr lang="en-US" sz="2000" b="1" i="0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sz="2000" b="1" i="0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𝟎𝟓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b="1" i="0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US" sz="2000" b="1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𝟏𝟕𝟐𝟕</m:t>
                      </m:r>
                      <m:r>
                        <a:rPr lang="en-US" sz="2000" b="1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𝟕𝟓</m:t>
                      </m:r>
                    </m:oMath>
                  </m:oMathPara>
                </a14:m>
                <a:endParaRPr lang="en-US" sz="20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DD11E8-338D-773F-AE1E-4EE630B0F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755" y="2873903"/>
                <a:ext cx="3663940" cy="7140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rved Down Arrow 7">
            <a:extLst>
              <a:ext uri="{FF2B5EF4-FFF2-40B4-BE49-F238E27FC236}">
                <a16:creationId xmlns:a16="http://schemas.microsoft.com/office/drawing/2014/main" id="{D67F7760-2642-09D0-C42F-34C5E655058B}"/>
              </a:ext>
            </a:extLst>
          </p:cNvPr>
          <p:cNvSpPr/>
          <p:nvPr/>
        </p:nvSpPr>
        <p:spPr>
          <a:xfrm rot="10800000">
            <a:off x="1434328" y="4634421"/>
            <a:ext cx="4547788" cy="731520"/>
          </a:xfrm>
          <a:prstGeom prst="curvedDownArrow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F3FE01-8F42-C9D9-4911-D1CF836BFED5}"/>
                  </a:ext>
                </a:extLst>
              </p:cNvPr>
              <p:cNvSpPr txBox="1"/>
              <p:nvPr/>
            </p:nvSpPr>
            <p:spPr>
              <a:xfrm>
                <a:off x="365181" y="5529893"/>
                <a:ext cx="4271774" cy="6519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𝐏𝐕</m:t>
                      </m:r>
                      <m:r>
                        <a:rPr lang="en-US" sz="18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1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𝟓𝟎𝟎𝟎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b="1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b="1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1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sz="1800" b="1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800" b="1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  <m:r>
                                    <a:rPr lang="en-US" sz="1800" b="1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sz="1800" b="1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𝟎𝟓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800" b="1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sz="18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𝟒𝟓𝟑𝟓</m:t>
                      </m:r>
                      <m:r>
                        <a:rPr lang="en-US" sz="18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US" sz="18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F3FE01-8F42-C9D9-4911-D1CF836BF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81" y="5529893"/>
                <a:ext cx="4271774" cy="6519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2751A25-FBB1-4333-0306-2CDB9D21F3B9}"/>
              </a:ext>
            </a:extLst>
          </p:cNvPr>
          <p:cNvSpPr txBox="1"/>
          <p:nvPr/>
        </p:nvSpPr>
        <p:spPr>
          <a:xfrm>
            <a:off x="5511248" y="5232350"/>
            <a:ext cx="954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$5000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E7C14A-2823-AE1C-A3BB-1485330BAA6B}"/>
              </a:ext>
            </a:extLst>
          </p:cNvPr>
          <p:cNvSpPr txBox="1"/>
          <p:nvPr/>
        </p:nvSpPr>
        <p:spPr>
          <a:xfrm>
            <a:off x="7800655" y="5232350"/>
            <a:ext cx="954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$2000</a:t>
            </a:r>
          </a:p>
        </p:txBody>
      </p:sp>
    </p:spTree>
    <p:extLst>
      <p:ext uri="{BB962C8B-B14F-4D97-AF65-F5344CB8AC3E}">
        <p14:creationId xmlns:p14="http://schemas.microsoft.com/office/powerpoint/2010/main" val="1754415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63" grpId="0" animBg="1"/>
      <p:bldP spid="2" grpId="0" animBg="1"/>
      <p:bldP spid="6" grpId="0"/>
      <p:bldP spid="8" grpId="0" animBg="1"/>
      <p:bldP spid="9" grpId="0"/>
      <p:bldP spid="11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6C50C-ABB4-3430-4E27-CAD4C819F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A0E57-8791-E1F2-9F92-FB43DBF61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077" y="1470467"/>
            <a:ext cx="1093379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Helvetica" pitchFamily="2" charset="0"/>
              </a:rPr>
              <a:t>A company's sales were $100 million in 2012 and increased to $215.89 million by 2022. What was the annual growth rate over this period?</a:t>
            </a:r>
            <a:endParaRPr lang="en-US" sz="3600" dirty="0">
              <a:latin typeface="Helvetica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D1CE19-84E4-F632-78B5-1454FC9E0D97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938451A-9624-F5C2-BC89-6004AF07A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794" y="77713"/>
            <a:ext cx="10502900" cy="1322996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Question-1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69BF3DF-C690-9611-D189-2DAC7EA4279E}"/>
              </a:ext>
            </a:extLst>
          </p:cNvPr>
          <p:cNvGrpSpPr/>
          <p:nvPr/>
        </p:nvGrpSpPr>
        <p:grpSpPr>
          <a:xfrm>
            <a:off x="588172" y="3652256"/>
            <a:ext cx="10518244" cy="1055606"/>
            <a:chOff x="588172" y="3373481"/>
            <a:chExt cx="10518244" cy="105560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507F76D-ABD5-0E11-3D5C-BE068A1E96AB}"/>
                </a:ext>
              </a:extLst>
            </p:cNvPr>
            <p:cNvGrpSpPr/>
            <p:nvPr/>
          </p:nvGrpSpPr>
          <p:grpSpPr>
            <a:xfrm>
              <a:off x="588172" y="3373481"/>
              <a:ext cx="10518244" cy="1055606"/>
              <a:chOff x="597431" y="5064722"/>
              <a:chExt cx="10518244" cy="105560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9C17C2EE-9D41-2CF8-5E44-34738876E08C}"/>
                  </a:ext>
                </a:extLst>
              </p:cNvPr>
              <p:cNvGrpSpPr/>
              <p:nvPr/>
            </p:nvGrpSpPr>
            <p:grpSpPr>
              <a:xfrm>
                <a:off x="1019100" y="5064722"/>
                <a:ext cx="10096575" cy="464539"/>
                <a:chOff x="1019100" y="5064722"/>
                <a:chExt cx="10096575" cy="464539"/>
              </a:xfrm>
            </p:grpSpPr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DF12230B-96DE-89A2-88B8-F605D3A51A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5" y="5285984"/>
                  <a:ext cx="10088540" cy="14677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776606E5-93B2-8B57-AEEB-A8E9898398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9100" y="5064722"/>
                  <a:ext cx="0" cy="45720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53A52833-B5D4-AD1C-08CB-7D135FA526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22993" y="5072061"/>
                  <a:ext cx="0" cy="45720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8A0A496-85D9-DFDA-37AC-D06BB4165601}"/>
                  </a:ext>
                </a:extLst>
              </p:cNvPr>
              <p:cNvSpPr txBox="1"/>
              <p:nvPr/>
            </p:nvSpPr>
            <p:spPr>
              <a:xfrm>
                <a:off x="597431" y="5720218"/>
                <a:ext cx="75533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latin typeface="Helvetica" pitchFamily="2" charset="0"/>
                  </a:rPr>
                  <a:t>2012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4853A84-921C-9BCC-2F7E-52C54238C3EE}"/>
                </a:ext>
              </a:extLst>
            </p:cNvPr>
            <p:cNvSpPr txBox="1"/>
            <p:nvPr/>
          </p:nvSpPr>
          <p:spPr>
            <a:xfrm>
              <a:off x="9578358" y="4028977"/>
              <a:ext cx="7553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Helvetica" pitchFamily="2" charset="0"/>
                </a:rPr>
                <a:t>2022</a:t>
              </a:r>
              <a:endParaRPr lang="en-US" sz="2400" b="1" dirty="0">
                <a:latin typeface="Helvetica" pitchFamily="2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A608806-362B-0B90-C6FD-77D916FBD031}"/>
              </a:ext>
            </a:extLst>
          </p:cNvPr>
          <p:cNvSpPr txBox="1"/>
          <p:nvPr/>
        </p:nvSpPr>
        <p:spPr>
          <a:xfrm>
            <a:off x="565870" y="2842058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$100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7CBD72-B6A5-565B-A351-F2B003BE23D0}"/>
              </a:ext>
            </a:extLst>
          </p:cNvPr>
          <p:cNvSpPr txBox="1"/>
          <p:nvPr/>
        </p:nvSpPr>
        <p:spPr>
          <a:xfrm>
            <a:off x="9357772" y="2840969"/>
            <a:ext cx="1298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$215.89</a:t>
            </a:r>
          </a:p>
        </p:txBody>
      </p:sp>
      <p:sp>
        <p:nvSpPr>
          <p:cNvPr id="36" name="Curved Down Arrow 35">
            <a:extLst>
              <a:ext uri="{FF2B5EF4-FFF2-40B4-BE49-F238E27FC236}">
                <a16:creationId xmlns:a16="http://schemas.microsoft.com/office/drawing/2014/main" id="{1345054A-6381-B93E-32EB-9366AEE5C860}"/>
              </a:ext>
            </a:extLst>
          </p:cNvPr>
          <p:cNvSpPr/>
          <p:nvPr/>
        </p:nvSpPr>
        <p:spPr>
          <a:xfrm>
            <a:off x="1180080" y="3035037"/>
            <a:ext cx="8856858" cy="73152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21528D-5A86-80D2-D202-D013315662DD}"/>
              </a:ext>
            </a:extLst>
          </p:cNvPr>
          <p:cNvSpPr txBox="1"/>
          <p:nvPr/>
        </p:nvSpPr>
        <p:spPr>
          <a:xfrm>
            <a:off x="4912485" y="2630826"/>
            <a:ext cx="16866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Helvetica" pitchFamily="2" charset="0"/>
              </a:rPr>
              <a:t>N = 10 years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3F45BD-F818-F171-B07F-54C29BEEFFF9}"/>
              </a:ext>
            </a:extLst>
          </p:cNvPr>
          <p:cNvSpPr txBox="1"/>
          <p:nvPr/>
        </p:nvSpPr>
        <p:spPr>
          <a:xfrm>
            <a:off x="5262901" y="3181173"/>
            <a:ext cx="9941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Helvetica" pitchFamily="2" charset="0"/>
              </a:rPr>
              <a:t>i</a:t>
            </a:r>
            <a:r>
              <a:rPr lang="en-US" sz="2400" b="1" dirty="0">
                <a:latin typeface="Helvetica" pitchFamily="2" charset="0"/>
              </a:rPr>
              <a:t> = ??</a:t>
            </a: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A98F6255-95B7-D77F-C21C-63DCC80F3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135442"/>
              </p:ext>
            </p:extLst>
          </p:nvPr>
        </p:nvGraphicFramePr>
        <p:xfrm>
          <a:off x="3295930" y="4307752"/>
          <a:ext cx="4919790" cy="148157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43780">
                  <a:extLst>
                    <a:ext uri="{9D8B030D-6E8A-4147-A177-3AD203B41FA5}">
                      <a16:colId xmlns:a16="http://schemas.microsoft.com/office/drawing/2014/main" val="2986694891"/>
                    </a:ext>
                  </a:extLst>
                </a:gridCol>
                <a:gridCol w="903249">
                  <a:extLst>
                    <a:ext uri="{9D8B030D-6E8A-4147-A177-3AD203B41FA5}">
                      <a16:colId xmlns:a16="http://schemas.microsoft.com/office/drawing/2014/main" val="2867844822"/>
                    </a:ext>
                  </a:extLst>
                </a:gridCol>
                <a:gridCol w="1022095">
                  <a:extLst>
                    <a:ext uri="{9D8B030D-6E8A-4147-A177-3AD203B41FA5}">
                      <a16:colId xmlns:a16="http://schemas.microsoft.com/office/drawing/2014/main" val="3714192118"/>
                    </a:ext>
                  </a:extLst>
                </a:gridCol>
                <a:gridCol w="1052032">
                  <a:extLst>
                    <a:ext uri="{9D8B030D-6E8A-4147-A177-3AD203B41FA5}">
                      <a16:colId xmlns:a16="http://schemas.microsoft.com/office/drawing/2014/main" val="937620826"/>
                    </a:ext>
                  </a:extLst>
                </a:gridCol>
                <a:gridCol w="1098634">
                  <a:extLst>
                    <a:ext uri="{9D8B030D-6E8A-4147-A177-3AD203B41FA5}">
                      <a16:colId xmlns:a16="http://schemas.microsoft.com/office/drawing/2014/main" val="2814070118"/>
                    </a:ext>
                  </a:extLst>
                </a:gridCol>
              </a:tblGrid>
              <a:tr h="493858">
                <a:tc gridSpan="5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elvetica" pitchFamily="2" charset="0"/>
                        </a:rPr>
                        <a:t>Using Calculator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703353"/>
                  </a:ext>
                </a:extLst>
              </a:tr>
              <a:tr h="49385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Helvetica" pitchFamily="2" charset="0"/>
                        </a:rPr>
                        <a:t>PV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Helvetica" pitchFamily="2" charset="0"/>
                        </a:rPr>
                        <a:t>PMT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FV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I/Y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287289"/>
                  </a:ext>
                </a:extLst>
              </a:tr>
              <a:tr h="49385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-100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215.89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??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1100110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311C0E5B-CD5B-9998-465A-5435CC3DDA4C}"/>
              </a:ext>
            </a:extLst>
          </p:cNvPr>
          <p:cNvSpPr txBox="1"/>
          <p:nvPr/>
        </p:nvSpPr>
        <p:spPr>
          <a:xfrm>
            <a:off x="5103402" y="6169608"/>
            <a:ext cx="1349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I/Y = 8%</a:t>
            </a:r>
          </a:p>
        </p:txBody>
      </p:sp>
    </p:spTree>
    <p:extLst>
      <p:ext uri="{BB962C8B-B14F-4D97-AF65-F5344CB8AC3E}">
        <p14:creationId xmlns:p14="http://schemas.microsoft.com/office/powerpoint/2010/main" val="4249821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3" grpId="0"/>
      <p:bldP spid="36" grpId="0" animBg="1"/>
      <p:bldP spid="37" grpId="0"/>
      <p:bldP spid="38" grpId="0"/>
      <p:bldP spid="4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338A4-E54C-2CBE-D509-462BBD360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5F635-F71C-1A6D-77A0-D2C70D62F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077" y="1470467"/>
            <a:ext cx="1093379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0" i="0" dirty="0">
                <a:effectLst/>
                <a:latin typeface="Helvetica" pitchFamily="2" charset="0"/>
              </a:rPr>
              <a:t>How long would it take $6,000 to double if it was invested in a bank that paid 8% per year? </a:t>
            </a:r>
            <a:endParaRPr lang="en-US" sz="4800" dirty="0">
              <a:latin typeface="Helvetica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3EF4C8-3E13-1F0D-AE79-37FEFDE39356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DDDAFB-0CAF-FB19-F9BC-19A6F526F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794" y="77713"/>
            <a:ext cx="10502900" cy="1322996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Question-2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C84898F-83C9-6E9A-E312-1702C600C2AF}"/>
              </a:ext>
            </a:extLst>
          </p:cNvPr>
          <p:cNvGrpSpPr/>
          <p:nvPr/>
        </p:nvGrpSpPr>
        <p:grpSpPr>
          <a:xfrm>
            <a:off x="846174" y="3652256"/>
            <a:ext cx="10260242" cy="1129407"/>
            <a:chOff x="846174" y="3373481"/>
            <a:chExt cx="10260242" cy="112940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9A70EA8-BD5D-A9A5-95D3-22D78C4D76BE}"/>
                </a:ext>
              </a:extLst>
            </p:cNvPr>
            <p:cNvGrpSpPr/>
            <p:nvPr/>
          </p:nvGrpSpPr>
          <p:grpSpPr>
            <a:xfrm>
              <a:off x="846174" y="3373481"/>
              <a:ext cx="10260242" cy="1020880"/>
              <a:chOff x="855433" y="5064722"/>
              <a:chExt cx="10260242" cy="1020880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8846DDA6-BE42-D62F-6C4D-378287874619}"/>
                  </a:ext>
                </a:extLst>
              </p:cNvPr>
              <p:cNvGrpSpPr/>
              <p:nvPr/>
            </p:nvGrpSpPr>
            <p:grpSpPr>
              <a:xfrm>
                <a:off x="1019100" y="5064722"/>
                <a:ext cx="10096575" cy="464539"/>
                <a:chOff x="1019100" y="5064722"/>
                <a:chExt cx="10096575" cy="464539"/>
              </a:xfrm>
            </p:grpSpPr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302D0163-D9CC-B3E7-8E98-3BFEAF64BF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5" y="5285984"/>
                  <a:ext cx="10088540" cy="14677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6A7DE84A-45C7-5050-D6B0-102ED7B5D5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9100" y="5064722"/>
                  <a:ext cx="0" cy="45720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98FE9A3E-B972-4E9D-9463-A7820A7086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22993" y="5072061"/>
                  <a:ext cx="0" cy="45720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9600D3F-B8B3-485B-FEB3-1E0257EA82A2}"/>
                  </a:ext>
                </a:extLst>
              </p:cNvPr>
              <p:cNvSpPr txBox="1"/>
              <p:nvPr/>
            </p:nvSpPr>
            <p:spPr>
              <a:xfrm>
                <a:off x="855433" y="5685492"/>
                <a:ext cx="3273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latin typeface="Helvetica" pitchFamily="2" charset="0"/>
                  </a:rPr>
                  <a:t>0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955B54C-DE99-A6EC-3C02-A8414D6D0307}"/>
                </a:ext>
              </a:extLst>
            </p:cNvPr>
            <p:cNvSpPr txBox="1"/>
            <p:nvPr/>
          </p:nvSpPr>
          <p:spPr>
            <a:xfrm>
              <a:off x="9803406" y="4041223"/>
              <a:ext cx="4074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Helvetica" pitchFamily="2" charset="0"/>
                </a:rPr>
                <a:t>N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AD38C00-E656-0A47-1F8F-F600467E9D2E}"/>
              </a:ext>
            </a:extLst>
          </p:cNvPr>
          <p:cNvSpPr txBox="1"/>
          <p:nvPr/>
        </p:nvSpPr>
        <p:spPr>
          <a:xfrm>
            <a:off x="454260" y="2840969"/>
            <a:ext cx="1127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$6,000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76EFD2-F0CC-D29A-1433-2D5DB2B088BE}"/>
              </a:ext>
            </a:extLst>
          </p:cNvPr>
          <p:cNvSpPr txBox="1"/>
          <p:nvPr/>
        </p:nvSpPr>
        <p:spPr>
          <a:xfrm>
            <a:off x="9324318" y="2840969"/>
            <a:ext cx="1298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$12,000</a:t>
            </a:r>
          </a:p>
        </p:txBody>
      </p:sp>
      <p:sp>
        <p:nvSpPr>
          <p:cNvPr id="36" name="Curved Down Arrow 35">
            <a:extLst>
              <a:ext uri="{FF2B5EF4-FFF2-40B4-BE49-F238E27FC236}">
                <a16:creationId xmlns:a16="http://schemas.microsoft.com/office/drawing/2014/main" id="{CB152F06-36E2-F196-939B-598A252C1DC6}"/>
              </a:ext>
            </a:extLst>
          </p:cNvPr>
          <p:cNvSpPr/>
          <p:nvPr/>
        </p:nvSpPr>
        <p:spPr>
          <a:xfrm>
            <a:off x="1180080" y="3035037"/>
            <a:ext cx="8856858" cy="73152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49925F-F4CD-294D-D40E-257899167DEE}"/>
              </a:ext>
            </a:extLst>
          </p:cNvPr>
          <p:cNvSpPr txBox="1"/>
          <p:nvPr/>
        </p:nvSpPr>
        <p:spPr>
          <a:xfrm>
            <a:off x="5122196" y="2491496"/>
            <a:ext cx="10647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Helvetica" pitchFamily="2" charset="0"/>
              </a:rPr>
              <a:t>i</a:t>
            </a:r>
            <a:r>
              <a:rPr lang="en-US" sz="2400" b="1" dirty="0">
                <a:latin typeface="Helvetica" pitchFamily="2" charset="0"/>
              </a:rPr>
              <a:t> = 9%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2EF7CC-BB77-E246-AF80-F8470F0D4C0B}"/>
              </a:ext>
            </a:extLst>
          </p:cNvPr>
          <p:cNvSpPr txBox="1"/>
          <p:nvPr/>
        </p:nvSpPr>
        <p:spPr>
          <a:xfrm>
            <a:off x="5088534" y="3107160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 = ??</a:t>
            </a: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69080D36-AED6-B279-4A83-ECFEE2CDFC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455250"/>
              </p:ext>
            </p:extLst>
          </p:nvPr>
        </p:nvGraphicFramePr>
        <p:xfrm>
          <a:off x="3386349" y="4310956"/>
          <a:ext cx="4919790" cy="148157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43780">
                  <a:extLst>
                    <a:ext uri="{9D8B030D-6E8A-4147-A177-3AD203B41FA5}">
                      <a16:colId xmlns:a16="http://schemas.microsoft.com/office/drawing/2014/main" val="2986694891"/>
                    </a:ext>
                  </a:extLst>
                </a:gridCol>
                <a:gridCol w="903249">
                  <a:extLst>
                    <a:ext uri="{9D8B030D-6E8A-4147-A177-3AD203B41FA5}">
                      <a16:colId xmlns:a16="http://schemas.microsoft.com/office/drawing/2014/main" val="2867844822"/>
                    </a:ext>
                  </a:extLst>
                </a:gridCol>
                <a:gridCol w="1022095">
                  <a:extLst>
                    <a:ext uri="{9D8B030D-6E8A-4147-A177-3AD203B41FA5}">
                      <a16:colId xmlns:a16="http://schemas.microsoft.com/office/drawing/2014/main" val="3714192118"/>
                    </a:ext>
                  </a:extLst>
                </a:gridCol>
                <a:gridCol w="1052032">
                  <a:extLst>
                    <a:ext uri="{9D8B030D-6E8A-4147-A177-3AD203B41FA5}">
                      <a16:colId xmlns:a16="http://schemas.microsoft.com/office/drawing/2014/main" val="937620826"/>
                    </a:ext>
                  </a:extLst>
                </a:gridCol>
                <a:gridCol w="1098634">
                  <a:extLst>
                    <a:ext uri="{9D8B030D-6E8A-4147-A177-3AD203B41FA5}">
                      <a16:colId xmlns:a16="http://schemas.microsoft.com/office/drawing/2014/main" val="2814070118"/>
                    </a:ext>
                  </a:extLst>
                </a:gridCol>
              </a:tblGrid>
              <a:tr h="493858">
                <a:tc gridSpan="5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elvetica" pitchFamily="2" charset="0"/>
                        </a:rPr>
                        <a:t>Using Calculator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703353"/>
                  </a:ext>
                </a:extLst>
              </a:tr>
              <a:tr h="49385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I/Y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Helvetica" pitchFamily="2" charset="0"/>
                        </a:rPr>
                        <a:t>PV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Helvetica" pitchFamily="2" charset="0"/>
                        </a:rPr>
                        <a:t>PMT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FV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5287289"/>
                  </a:ext>
                </a:extLst>
              </a:tr>
              <a:tr h="49385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-6,000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12,000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1100110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E32CE4EC-92E0-D3C5-DA63-914BBFAEADEE}"/>
              </a:ext>
            </a:extLst>
          </p:cNvPr>
          <p:cNvSpPr txBox="1"/>
          <p:nvPr/>
        </p:nvSpPr>
        <p:spPr>
          <a:xfrm>
            <a:off x="5140402" y="6161856"/>
            <a:ext cx="1831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 = 9 Years</a:t>
            </a:r>
          </a:p>
        </p:txBody>
      </p:sp>
    </p:spTree>
    <p:extLst>
      <p:ext uri="{BB962C8B-B14F-4D97-AF65-F5344CB8AC3E}">
        <p14:creationId xmlns:p14="http://schemas.microsoft.com/office/powerpoint/2010/main" val="2358691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3" grpId="0"/>
      <p:bldP spid="36" grpId="0" animBg="1"/>
      <p:bldP spid="37" grpId="0"/>
      <p:bldP spid="3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C4E37-FA17-3F70-698C-58D6BF738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226AA6-8843-14F5-E631-9D6BD0FCFCD8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33F01DC8-9853-96E0-FD68-E11214E69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052391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Lump Sum vs. Annuities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FE10931-DD3E-CDC5-02FF-E1613C5B8913}"/>
              </a:ext>
            </a:extLst>
          </p:cNvPr>
          <p:cNvSpPr txBox="1"/>
          <p:nvPr/>
        </p:nvSpPr>
        <p:spPr>
          <a:xfrm>
            <a:off x="512957" y="1634863"/>
            <a:ext cx="10995102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dirty="0">
                <a:latin typeface="Helvetica" pitchFamily="2" charset="0"/>
              </a:rPr>
              <a:t>A </a:t>
            </a:r>
            <a:r>
              <a:rPr lang="en-US" sz="2400" b="1" dirty="0">
                <a:latin typeface="Helvetica" pitchFamily="2" charset="0"/>
              </a:rPr>
              <a:t>lump sum</a:t>
            </a:r>
            <a:r>
              <a:rPr lang="en-US" sz="2400" dirty="0">
                <a:latin typeface="Helvetica" pitchFamily="2" charset="0"/>
              </a:rPr>
              <a:t> is a </a:t>
            </a:r>
            <a:r>
              <a:rPr lang="en-US" sz="2400" b="1" dirty="0">
                <a:latin typeface="Helvetica" pitchFamily="2" charset="0"/>
              </a:rPr>
              <a:t>single payment</a:t>
            </a:r>
            <a:r>
              <a:rPr lang="en-US" sz="2400" dirty="0">
                <a:latin typeface="Helvetica" pitchFamily="2" charset="0"/>
              </a:rPr>
              <a:t> made at one time, rather than in multiple installments.</a:t>
            </a:r>
            <a:endParaRPr lang="en-US" sz="2400" b="1" dirty="0">
              <a:latin typeface="Helvetica" pitchFamily="2" charset="0"/>
            </a:endParaRP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b="1" dirty="0">
                <a:latin typeface="Helvetica" pitchFamily="2" charset="0"/>
              </a:rPr>
              <a:t>Annuities</a:t>
            </a:r>
            <a:r>
              <a:rPr lang="en-US" sz="2400" dirty="0">
                <a:latin typeface="Helvetica" pitchFamily="2" charset="0"/>
              </a:rPr>
              <a:t> are 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Helvetica" pitchFamily="2" charset="0"/>
              </a:rPr>
              <a:t>a series of equal payments </a:t>
            </a:r>
            <a:r>
              <a:rPr lang="en-US" sz="2400" dirty="0">
                <a:latin typeface="Helvetica" pitchFamily="2" charset="0"/>
              </a:rPr>
              <a:t>made 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Helvetica" pitchFamily="2" charset="0"/>
              </a:rPr>
              <a:t>at regular intervals </a:t>
            </a:r>
            <a:r>
              <a:rPr lang="en-US" sz="2400" dirty="0">
                <a:latin typeface="Helvetica" pitchFamily="2" charset="0"/>
              </a:rPr>
              <a:t>over a specified period. 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400" b="1" dirty="0">
                <a:latin typeface="Helvetica" pitchFamily="2" charset="0"/>
              </a:rPr>
              <a:t>Types of Annuities </a:t>
            </a:r>
          </a:p>
          <a:p>
            <a:pPr marL="1257300" lvl="2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000" b="1" dirty="0">
                <a:latin typeface="Helvetica" pitchFamily="2" charset="0"/>
              </a:rPr>
              <a:t>Ordinary Annuity:</a:t>
            </a:r>
            <a:r>
              <a:rPr lang="en-US" sz="2000" dirty="0">
                <a:latin typeface="Helvetica" pitchFamily="2" charset="0"/>
              </a:rPr>
              <a:t> Payments occur </a:t>
            </a:r>
            <a:r>
              <a:rPr lang="en-US" sz="2000" b="1" dirty="0">
                <a:latin typeface="Helvetica" pitchFamily="2" charset="0"/>
              </a:rPr>
              <a:t>at the end</a:t>
            </a:r>
            <a:r>
              <a:rPr lang="en-US" sz="2000" dirty="0">
                <a:latin typeface="Helvetica" pitchFamily="2" charset="0"/>
              </a:rPr>
              <a:t> of each period.</a:t>
            </a:r>
          </a:p>
          <a:p>
            <a:pPr marL="1257300" lvl="2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000" b="1" dirty="0">
                <a:latin typeface="Helvetica" pitchFamily="2" charset="0"/>
              </a:rPr>
              <a:t>Annuity Due:</a:t>
            </a:r>
            <a:r>
              <a:rPr lang="en-US" sz="2000" dirty="0">
                <a:latin typeface="Helvetica" pitchFamily="2" charset="0"/>
              </a:rPr>
              <a:t> Payments are made </a:t>
            </a:r>
            <a:r>
              <a:rPr lang="en-US" sz="2000" b="1" dirty="0">
                <a:latin typeface="Helvetica" pitchFamily="2" charset="0"/>
              </a:rPr>
              <a:t>at the beginning</a:t>
            </a:r>
            <a:r>
              <a:rPr lang="en-US" sz="2000" dirty="0">
                <a:latin typeface="Helvetica" pitchFamily="2" charset="0"/>
              </a:rPr>
              <a:t> of each period.</a:t>
            </a:r>
          </a:p>
          <a:p>
            <a:pPr marL="1257300" lvl="2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000" b="1" dirty="0">
                <a:latin typeface="Helvetica" pitchFamily="2" charset="0"/>
              </a:rPr>
              <a:t>Fixed Annuity:</a:t>
            </a:r>
            <a:r>
              <a:rPr lang="en-US" sz="2000" dirty="0">
                <a:latin typeface="Helvetica" pitchFamily="2" charset="0"/>
              </a:rPr>
              <a:t> Provides guaranteed payments of a specific amount.</a:t>
            </a:r>
          </a:p>
          <a:p>
            <a:pPr marL="1257300" lvl="2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000" b="1" dirty="0">
                <a:latin typeface="Helvetica" pitchFamily="2" charset="0"/>
              </a:rPr>
              <a:t>Perpetuity:</a:t>
            </a:r>
            <a:r>
              <a:rPr lang="en-US" sz="2000" dirty="0">
                <a:latin typeface="Helvetica" pitchFamily="2" charset="0"/>
              </a:rPr>
              <a:t> An annuity that pays indefinitely with no end date.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b="1" dirty="0">
                <a:latin typeface="Helvetica" pitchFamily="2" charset="0"/>
              </a:rPr>
              <a:t>Uneven payments:</a:t>
            </a:r>
            <a:r>
              <a:rPr lang="en-US" sz="2400" dirty="0">
                <a:latin typeface="Helvetica" pitchFamily="2" charset="0"/>
              </a:rPr>
              <a:t> Payments vary based on the performance of underlying investments.</a:t>
            </a:r>
          </a:p>
        </p:txBody>
      </p:sp>
    </p:spTree>
    <p:extLst>
      <p:ext uri="{BB962C8B-B14F-4D97-AF65-F5344CB8AC3E}">
        <p14:creationId xmlns:p14="http://schemas.microsoft.com/office/powerpoint/2010/main" val="15558091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E9AC1-DF28-D04B-9984-1E2E01271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B2D26B-689F-9039-58E0-5A86286F4695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0EF5F8E0-2391-B5C4-C846-2E1514E2D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052391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Annuities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C9E632D-B8F0-B053-037F-0E888DCD2572}"/>
              </a:ext>
            </a:extLst>
          </p:cNvPr>
          <p:cNvSpPr txBox="1"/>
          <p:nvPr/>
        </p:nvSpPr>
        <p:spPr>
          <a:xfrm>
            <a:off x="512957" y="1489897"/>
            <a:ext cx="109951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O</a:t>
            </a:r>
            <a:r>
              <a:rPr lang="en-US" sz="2400" b="1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Helvetica" pitchFamily="2" charset="0"/>
              </a:rPr>
              <a:t>rdinary (or Deferred)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A</a:t>
            </a:r>
            <a:r>
              <a:rPr lang="en-US" sz="2400" b="1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Helvetica" pitchFamily="2" charset="0"/>
              </a:rPr>
              <a:t>nnuity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AE93422-F4A3-13DF-FFF9-08A3260207E7}"/>
              </a:ext>
            </a:extLst>
          </p:cNvPr>
          <p:cNvGrpSpPr/>
          <p:nvPr/>
        </p:nvGrpSpPr>
        <p:grpSpPr>
          <a:xfrm>
            <a:off x="794284" y="1909335"/>
            <a:ext cx="10242589" cy="1427396"/>
            <a:chOff x="794284" y="2422284"/>
            <a:chExt cx="10242589" cy="1427396"/>
          </a:xfrm>
          <a:noFill/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44794C0-11CA-471B-1404-E14B9283DA04}"/>
                </a:ext>
              </a:extLst>
            </p:cNvPr>
            <p:cNvGrpSpPr/>
            <p:nvPr/>
          </p:nvGrpSpPr>
          <p:grpSpPr>
            <a:xfrm>
              <a:off x="794284" y="3051732"/>
              <a:ext cx="10242589" cy="797948"/>
              <a:chOff x="873086" y="5053331"/>
              <a:chExt cx="10242589" cy="1147434"/>
            </a:xfrm>
            <a:grpFill/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CA42F3E-0435-4789-AD19-464E6CFEF999}"/>
                  </a:ext>
                </a:extLst>
              </p:cNvPr>
              <p:cNvGrpSpPr/>
              <p:nvPr/>
            </p:nvGrpSpPr>
            <p:grpSpPr>
              <a:xfrm>
                <a:off x="1027135" y="5053331"/>
                <a:ext cx="10088540" cy="475932"/>
                <a:chOff x="1027135" y="5053331"/>
                <a:chExt cx="10088540" cy="475932"/>
              </a:xfrm>
              <a:grpFill/>
            </p:grpSpPr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7525B13F-F5E2-3482-4EC1-547CAC9FAF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5" y="5285984"/>
                  <a:ext cx="10088540" cy="14677"/>
                </a:xfrm>
                <a:prstGeom prst="straightConnector1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D4FDF9EF-3F6D-7257-E83B-B944394984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6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F33FB935-4DFF-5E17-6FBE-D3C10C162E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93890" y="5072062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B6DE5296-402F-FA7F-EF40-9DB305FBCA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90258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36AF9522-5FB8-99BC-2C83-61DA4BBC9D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70524" y="505333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9F4369C7-5BE9-C722-32DC-1290EB377C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74923" y="5072063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ACD60C-0036-11B4-904A-AC5B6BE5A6EF}"/>
                  </a:ext>
                </a:extLst>
              </p:cNvPr>
              <p:cNvSpPr txBox="1"/>
              <p:nvPr/>
            </p:nvSpPr>
            <p:spPr>
              <a:xfrm>
                <a:off x="873086" y="5713928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0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E96EB86-007B-4BC1-5B64-7EF27FA4E68A}"/>
                  </a:ext>
                </a:extLst>
              </p:cNvPr>
              <p:cNvSpPr txBox="1"/>
              <p:nvPr/>
            </p:nvSpPr>
            <p:spPr>
              <a:xfrm>
                <a:off x="3139841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619055B-521F-8BB4-2F3F-4F388250C890}"/>
                  </a:ext>
                </a:extLst>
              </p:cNvPr>
              <p:cNvSpPr txBox="1"/>
              <p:nvPr/>
            </p:nvSpPr>
            <p:spPr>
              <a:xfrm>
                <a:off x="5420874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1D3BEBD-23A1-1AED-1379-2833C0B51122}"/>
                  </a:ext>
                </a:extLst>
              </p:cNvPr>
              <p:cNvSpPr txBox="1"/>
              <p:nvPr/>
            </p:nvSpPr>
            <p:spPr>
              <a:xfrm>
                <a:off x="7716475" y="5710715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274D005-5C35-E095-E8E6-95BA4716CF18}"/>
                  </a:ext>
                </a:extLst>
              </p:cNvPr>
              <p:cNvSpPr txBox="1"/>
              <p:nvPr/>
            </p:nvSpPr>
            <p:spPr>
              <a:xfrm>
                <a:off x="10036209" y="5710715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4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BBA1091-2AB2-1E92-D2FC-E493025A0E8F}"/>
                </a:ext>
              </a:extLst>
            </p:cNvPr>
            <p:cNvSpPr txBox="1"/>
            <p:nvPr/>
          </p:nvSpPr>
          <p:spPr>
            <a:xfrm>
              <a:off x="2890319" y="2453036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E6F3ECD-672E-61F6-E5D6-10F3B9DD89F4}"/>
                </a:ext>
              </a:extLst>
            </p:cNvPr>
            <p:cNvSpPr txBox="1"/>
            <p:nvPr/>
          </p:nvSpPr>
          <p:spPr>
            <a:xfrm>
              <a:off x="5171352" y="2422284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08F769A-E151-4AF5-B3AF-003D56B0BA3C}"/>
                </a:ext>
              </a:extLst>
            </p:cNvPr>
            <p:cNvSpPr txBox="1"/>
            <p:nvPr/>
          </p:nvSpPr>
          <p:spPr>
            <a:xfrm>
              <a:off x="7466953" y="2458134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18CB718-69E4-BD3B-D361-0150912B9450}"/>
                </a:ext>
              </a:extLst>
            </p:cNvPr>
            <p:cNvSpPr txBox="1"/>
            <p:nvPr/>
          </p:nvSpPr>
          <p:spPr>
            <a:xfrm>
              <a:off x="9786687" y="2453036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2C30F58-BF6B-E16E-633E-2C92135ECC72}"/>
              </a:ext>
            </a:extLst>
          </p:cNvPr>
          <p:cNvGrpSpPr/>
          <p:nvPr/>
        </p:nvGrpSpPr>
        <p:grpSpPr>
          <a:xfrm>
            <a:off x="634622" y="4269674"/>
            <a:ext cx="10402251" cy="1427396"/>
            <a:chOff x="634622" y="2422284"/>
            <a:chExt cx="10402251" cy="142739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C52E43C-39F3-CC41-E395-231F155F8C12}"/>
                </a:ext>
              </a:extLst>
            </p:cNvPr>
            <p:cNvGrpSpPr/>
            <p:nvPr/>
          </p:nvGrpSpPr>
          <p:grpSpPr>
            <a:xfrm>
              <a:off x="794284" y="3051732"/>
              <a:ext cx="10242589" cy="797948"/>
              <a:chOff x="873086" y="5053331"/>
              <a:chExt cx="10242589" cy="1147434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CA2D0FCE-E276-59F6-EA76-5B8B1AC8E417}"/>
                  </a:ext>
                </a:extLst>
              </p:cNvPr>
              <p:cNvGrpSpPr/>
              <p:nvPr/>
            </p:nvGrpSpPr>
            <p:grpSpPr>
              <a:xfrm>
                <a:off x="1027135" y="5053331"/>
                <a:ext cx="10088540" cy="475932"/>
                <a:chOff x="1027135" y="5053331"/>
                <a:chExt cx="10088540" cy="475932"/>
              </a:xfrm>
            </p:grpSpPr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8AE4F6D0-F75A-070E-F1A3-647BA51345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5" y="5285984"/>
                  <a:ext cx="10088540" cy="14677"/>
                </a:xfrm>
                <a:prstGeom prst="straightConnector1">
                  <a:avLst/>
                </a:prstGeom>
                <a:ln w="38100">
                  <a:solidFill>
                    <a:schemeClr val="accent6">
                      <a:lumMod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894B3454-BE90-1D83-F2FA-E49275E4CB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6" y="5072061"/>
                  <a:ext cx="0" cy="457200"/>
                </a:xfrm>
                <a:prstGeom prst="line">
                  <a:avLst/>
                </a:prstGeom>
                <a:ln w="3810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C0290CAD-1545-9C55-B36D-4C011A0DA4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93890" y="5072062"/>
                  <a:ext cx="0" cy="457200"/>
                </a:xfrm>
                <a:prstGeom prst="line">
                  <a:avLst/>
                </a:prstGeom>
                <a:ln w="3810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599597CC-E92A-88AA-5BF4-DA62DD4C78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90258" y="5072061"/>
                  <a:ext cx="0" cy="457200"/>
                </a:xfrm>
                <a:prstGeom prst="line">
                  <a:avLst/>
                </a:prstGeom>
                <a:ln w="3810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64C2AB24-6B8D-8F51-AEEE-F95A625182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70524" y="5053331"/>
                  <a:ext cx="0" cy="457200"/>
                </a:xfrm>
                <a:prstGeom prst="line">
                  <a:avLst/>
                </a:prstGeom>
                <a:ln w="3810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D12BD2AD-7D6D-91E5-B00B-07C7AAFD7A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74923" y="5072063"/>
                  <a:ext cx="0" cy="457200"/>
                </a:xfrm>
                <a:prstGeom prst="line">
                  <a:avLst/>
                </a:prstGeom>
                <a:ln w="3810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6725CF8-666E-F2E1-8DC0-54CE5EE3FFD5}"/>
                  </a:ext>
                </a:extLst>
              </p:cNvPr>
              <p:cNvSpPr txBox="1"/>
              <p:nvPr/>
            </p:nvSpPr>
            <p:spPr>
              <a:xfrm>
                <a:off x="873086" y="5713928"/>
                <a:ext cx="298480" cy="486834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3">
                        <a:lumMod val="75000"/>
                      </a:schemeClr>
                    </a:solidFill>
                    <a:latin typeface="Helvetica" pitchFamily="2" charset="0"/>
                  </a:rPr>
                  <a:t>0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073AAAC-1BC8-AFE1-1192-FCF33367CB42}"/>
                  </a:ext>
                </a:extLst>
              </p:cNvPr>
              <p:cNvSpPr txBox="1"/>
              <p:nvPr/>
            </p:nvSpPr>
            <p:spPr>
              <a:xfrm>
                <a:off x="3139841" y="5713931"/>
                <a:ext cx="298480" cy="486834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3">
                        <a:lumMod val="75000"/>
                      </a:schemeClr>
                    </a:solidFill>
                    <a:latin typeface="Helvetica" pitchFamily="2" charset="0"/>
                  </a:rPr>
                  <a:t>1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92C426F-3B2F-62EE-70F3-5F16115A26A3}"/>
                  </a:ext>
                </a:extLst>
              </p:cNvPr>
              <p:cNvSpPr txBox="1"/>
              <p:nvPr/>
            </p:nvSpPr>
            <p:spPr>
              <a:xfrm>
                <a:off x="5420874" y="5713931"/>
                <a:ext cx="298480" cy="486834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3">
                        <a:lumMod val="75000"/>
                      </a:schemeClr>
                    </a:solidFill>
                    <a:latin typeface="Helvetica" pitchFamily="2" charset="0"/>
                  </a:rPr>
                  <a:t>2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ED65A2B-5683-860E-E562-6D3C4106E724}"/>
                  </a:ext>
                </a:extLst>
              </p:cNvPr>
              <p:cNvSpPr txBox="1"/>
              <p:nvPr/>
            </p:nvSpPr>
            <p:spPr>
              <a:xfrm>
                <a:off x="7716475" y="5710715"/>
                <a:ext cx="298480" cy="486834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3">
                        <a:lumMod val="75000"/>
                      </a:schemeClr>
                    </a:solidFill>
                    <a:latin typeface="Helvetica" pitchFamily="2" charset="0"/>
                  </a:rPr>
                  <a:t>3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22266C2-5A1A-0D87-39AE-1515718DDD9E}"/>
                  </a:ext>
                </a:extLst>
              </p:cNvPr>
              <p:cNvSpPr txBox="1"/>
              <p:nvPr/>
            </p:nvSpPr>
            <p:spPr>
              <a:xfrm>
                <a:off x="10036209" y="5710715"/>
                <a:ext cx="298480" cy="486834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3">
                        <a:lumMod val="75000"/>
                      </a:schemeClr>
                    </a:solidFill>
                    <a:latin typeface="Helvetica" pitchFamily="2" charset="0"/>
                  </a:rPr>
                  <a:t>4</a:t>
                </a: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0FC070D-EAD7-9B4D-AD80-BDFBC915A8B8}"/>
                </a:ext>
              </a:extLst>
            </p:cNvPr>
            <p:cNvSpPr txBox="1"/>
            <p:nvPr/>
          </p:nvSpPr>
          <p:spPr>
            <a:xfrm>
              <a:off x="2890319" y="2453036"/>
              <a:ext cx="7553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3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2534C4A-A7D0-91BD-2395-22B187BC8112}"/>
                </a:ext>
              </a:extLst>
            </p:cNvPr>
            <p:cNvSpPr txBox="1"/>
            <p:nvPr/>
          </p:nvSpPr>
          <p:spPr>
            <a:xfrm>
              <a:off x="5171352" y="2422284"/>
              <a:ext cx="7553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3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4455E45-DE00-8F55-79C5-225F54858C2B}"/>
                </a:ext>
              </a:extLst>
            </p:cNvPr>
            <p:cNvSpPr txBox="1"/>
            <p:nvPr/>
          </p:nvSpPr>
          <p:spPr>
            <a:xfrm>
              <a:off x="7466953" y="2458134"/>
              <a:ext cx="7553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3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9A07CC7-212D-9754-3D59-D2B817EA9255}"/>
                </a:ext>
              </a:extLst>
            </p:cNvPr>
            <p:cNvSpPr txBox="1"/>
            <p:nvPr/>
          </p:nvSpPr>
          <p:spPr>
            <a:xfrm>
              <a:off x="634622" y="2453036"/>
              <a:ext cx="7553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3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DE4032CD-0745-5B34-40CF-D953FA4B3C6E}"/>
              </a:ext>
            </a:extLst>
          </p:cNvPr>
          <p:cNvSpPr txBox="1"/>
          <p:nvPr/>
        </p:nvSpPr>
        <p:spPr>
          <a:xfrm>
            <a:off x="598449" y="3816042"/>
            <a:ext cx="109951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Helvetica" pitchFamily="2" charset="0"/>
              </a:rPr>
              <a:t>A</a:t>
            </a:r>
            <a:r>
              <a:rPr lang="en-US" sz="2400" b="1" i="0" u="none" strike="noStrike" dirty="0">
                <a:solidFill>
                  <a:schemeClr val="accent3">
                    <a:lumMod val="75000"/>
                  </a:schemeClr>
                </a:solidFill>
                <a:effectLst/>
                <a:latin typeface="Helvetica" pitchFamily="2" charset="0"/>
              </a:rPr>
              <a:t>nnuity Due</a:t>
            </a:r>
            <a:endParaRPr lang="en-US" sz="2400" b="1" dirty="0">
              <a:solidFill>
                <a:schemeClr val="accent3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3DFFD5-70FB-7B20-5312-4139DFDEAFB3}"/>
              </a:ext>
            </a:extLst>
          </p:cNvPr>
          <p:cNvSpPr txBox="1"/>
          <p:nvPr/>
        </p:nvSpPr>
        <p:spPr>
          <a:xfrm>
            <a:off x="205120" y="6128267"/>
            <a:ext cx="11574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would you prefer an annuity due of $100 per year for 4 years over an ordinary annuity?</a:t>
            </a:r>
            <a:endParaRPr lang="en-US" sz="24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453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6" grpId="0"/>
      <p:bldP spid="5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20802-1D5E-6AC7-6633-3646615E6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9B80516-BFB8-29AB-EB8F-26A8B3B934D8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DD4D2514-B116-6A64-8D4E-CDF8BEF75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052391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Annuities FV vs. PV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3BFE6B8-5320-E625-EE4E-823136E8B1FF}"/>
              </a:ext>
            </a:extLst>
          </p:cNvPr>
          <p:cNvGrpSpPr/>
          <p:nvPr/>
        </p:nvGrpSpPr>
        <p:grpSpPr>
          <a:xfrm>
            <a:off x="399030" y="1717504"/>
            <a:ext cx="10581193" cy="1991683"/>
            <a:chOff x="399030" y="1717504"/>
            <a:chExt cx="10581193" cy="199168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D0BA607-E3D8-B50C-1818-AF75E8824F6A}"/>
                </a:ext>
              </a:extLst>
            </p:cNvPr>
            <p:cNvSpPr txBox="1"/>
            <p:nvPr/>
          </p:nvSpPr>
          <p:spPr>
            <a:xfrm>
              <a:off x="7384367" y="1947609"/>
              <a:ext cx="3595856" cy="1508105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342900" indent="-342900">
                <a:spcBef>
                  <a:spcPts val="600"/>
                </a:spcBef>
                <a:spcAft>
                  <a:spcPts val="600"/>
                </a:spcAft>
                <a:buFont typeface="Wingdings" pitchFamily="2" charset="2"/>
                <a:buChar char="v"/>
              </a:pPr>
              <a:r>
                <a:rPr lang="en-US" sz="2400" i="0" dirty="0">
                  <a:effectLst/>
                  <a:latin typeface="Helvetica" pitchFamily="2" charset="0"/>
                </a:rPr>
                <a:t>step-by-step approach</a:t>
              </a:r>
            </a:p>
            <a:p>
              <a:pPr marL="342900" indent="-342900">
                <a:spcBef>
                  <a:spcPts val="600"/>
                </a:spcBef>
                <a:spcAft>
                  <a:spcPts val="600"/>
                </a:spcAft>
                <a:buFont typeface="Wingdings" pitchFamily="2" charset="2"/>
                <a:buChar char="v"/>
              </a:pPr>
              <a:r>
                <a:rPr lang="en-US" sz="2400" dirty="0">
                  <a:latin typeface="Helvetica" pitchFamily="2" charset="0"/>
                </a:rPr>
                <a:t>U</a:t>
              </a:r>
              <a:r>
                <a:rPr lang="en-US" sz="2400" i="0" dirty="0">
                  <a:effectLst/>
                  <a:latin typeface="Helvetica" pitchFamily="2" charset="0"/>
                </a:rPr>
                <a:t>sing a Formula</a:t>
              </a:r>
            </a:p>
            <a:p>
              <a:pPr marL="342900" indent="-342900">
                <a:spcBef>
                  <a:spcPts val="600"/>
                </a:spcBef>
                <a:spcAft>
                  <a:spcPts val="600"/>
                </a:spcAft>
                <a:buFont typeface="Wingdings" pitchFamily="2" charset="2"/>
                <a:buChar char="v"/>
              </a:pPr>
              <a:r>
                <a:rPr lang="en-US" sz="2400" dirty="0">
                  <a:latin typeface="Helvetica" pitchFamily="2" charset="0"/>
                </a:rPr>
                <a:t>F</a:t>
              </a:r>
              <a:r>
                <a:rPr lang="en-US" sz="2400" i="0" dirty="0">
                  <a:effectLst/>
                  <a:latin typeface="Helvetica" pitchFamily="2" charset="0"/>
                </a:rPr>
                <a:t>inancial </a:t>
              </a:r>
              <a:r>
                <a:rPr lang="en-US" sz="2400" dirty="0">
                  <a:latin typeface="Helvetica" pitchFamily="2" charset="0"/>
                </a:rPr>
                <a:t>C</a:t>
              </a:r>
              <a:r>
                <a:rPr lang="en-US" sz="2400" i="0" dirty="0">
                  <a:effectLst/>
                  <a:latin typeface="Helvetica" pitchFamily="2" charset="0"/>
                </a:rPr>
                <a:t>alculator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73F0503-A8F0-5A61-1999-FC5F6BDB96AE}"/>
                </a:ext>
              </a:extLst>
            </p:cNvPr>
            <p:cNvGrpSpPr/>
            <p:nvPr/>
          </p:nvGrpSpPr>
          <p:grpSpPr>
            <a:xfrm>
              <a:off x="399030" y="1717504"/>
              <a:ext cx="6716515" cy="1991683"/>
              <a:chOff x="399030" y="1717504"/>
              <a:chExt cx="6716515" cy="1991683"/>
            </a:xfrm>
          </p:grpSpPr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AD78ED1-E9A8-D1C4-5CF8-5BE4F770EBF7}"/>
                  </a:ext>
                </a:extLst>
              </p:cNvPr>
              <p:cNvSpPr txBox="1"/>
              <p:nvPr/>
            </p:nvSpPr>
            <p:spPr>
              <a:xfrm>
                <a:off x="399030" y="2445998"/>
                <a:ext cx="295748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spcBef>
                    <a:spcPts val="600"/>
                  </a:spcBef>
                  <a:spcAft>
                    <a:spcPts val="600"/>
                  </a:spcAft>
                  <a:buFont typeface="Wingdings" pitchFamily="2" charset="2"/>
                  <a:buChar char="ü"/>
                </a:pPr>
                <a:r>
                  <a:rPr lang="en-US" sz="24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O</a:t>
                </a:r>
                <a:r>
                  <a:rPr lang="en-US" sz="2400" b="1" i="0" u="none" strike="noStrike" dirty="0">
                    <a:solidFill>
                      <a:schemeClr val="accent2">
                        <a:lumMod val="75000"/>
                      </a:schemeClr>
                    </a:solidFill>
                    <a:effectLst/>
                    <a:latin typeface="Helvetica" pitchFamily="2" charset="0"/>
                  </a:rPr>
                  <a:t>rdinary </a:t>
                </a:r>
                <a:r>
                  <a:rPr lang="en-US" sz="24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A</a:t>
                </a:r>
                <a:r>
                  <a:rPr lang="en-US" sz="2400" b="1" i="0" u="none" strike="noStrike" dirty="0">
                    <a:solidFill>
                      <a:schemeClr val="accent2">
                        <a:lumMod val="75000"/>
                      </a:schemeClr>
                    </a:solidFill>
                    <a:effectLst/>
                    <a:latin typeface="Helvetica" pitchFamily="2" charset="0"/>
                  </a:rPr>
                  <a:t>nnuity</a:t>
                </a:r>
                <a:endParaRPr lang="en-US" sz="24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EFEBA626-A4A4-B350-14C6-E7F999D4633D}"/>
                  </a:ext>
                </a:extLst>
              </p:cNvPr>
              <p:cNvGrpSpPr/>
              <p:nvPr/>
            </p:nvGrpSpPr>
            <p:grpSpPr>
              <a:xfrm>
                <a:off x="3356518" y="1717504"/>
                <a:ext cx="3759027" cy="1991683"/>
                <a:chOff x="3356518" y="1717504"/>
                <a:chExt cx="3759027" cy="1991683"/>
              </a:xfrm>
            </p:grpSpPr>
            <p:sp>
              <p:nvSpPr>
                <p:cNvPr id="7" name="Left Brace 6">
                  <a:extLst>
                    <a:ext uri="{FF2B5EF4-FFF2-40B4-BE49-F238E27FC236}">
                      <a16:creationId xmlns:a16="http://schemas.microsoft.com/office/drawing/2014/main" id="{48444E36-5975-F762-67F7-3EF96A8DDC1F}"/>
                    </a:ext>
                  </a:extLst>
                </p:cNvPr>
                <p:cNvSpPr/>
                <p:nvPr/>
              </p:nvSpPr>
              <p:spPr>
                <a:xfrm>
                  <a:off x="3356518" y="1717504"/>
                  <a:ext cx="367855" cy="1968317"/>
                </a:xfrm>
                <a:prstGeom prst="leftBrac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22C6D39-7A42-99E2-0FC5-361FE4D5A8BA}"/>
                    </a:ext>
                  </a:extLst>
                </p:cNvPr>
                <p:cNvSpPr txBox="1"/>
                <p:nvPr/>
              </p:nvSpPr>
              <p:spPr>
                <a:xfrm>
                  <a:off x="3724373" y="1723255"/>
                  <a:ext cx="203049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Future Value</a:t>
                  </a: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79885B1-525F-D19E-0364-543171517572}"/>
                    </a:ext>
                  </a:extLst>
                </p:cNvPr>
                <p:cNvSpPr txBox="1"/>
                <p:nvPr/>
              </p:nvSpPr>
              <p:spPr>
                <a:xfrm>
                  <a:off x="3724373" y="3247522"/>
                  <a:ext cx="220361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Present Value</a:t>
                  </a:r>
                </a:p>
              </p:txBody>
            </p:sp>
            <p:sp>
              <p:nvSpPr>
                <p:cNvPr id="48" name="Right Arrow 47">
                  <a:extLst>
                    <a:ext uri="{FF2B5EF4-FFF2-40B4-BE49-F238E27FC236}">
                      <a16:creationId xmlns:a16="http://schemas.microsoft.com/office/drawing/2014/main" id="{1CDA3878-84C1-AF5D-CC69-519785FA1F68}"/>
                    </a:ext>
                  </a:extLst>
                </p:cNvPr>
                <p:cNvSpPr/>
                <p:nvPr/>
              </p:nvSpPr>
              <p:spPr>
                <a:xfrm>
                  <a:off x="6064915" y="2356952"/>
                  <a:ext cx="1050630" cy="704948"/>
                </a:xfrm>
                <a:prstGeom prst="rightArrow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7094C2C-E397-2483-52B0-B2636AA3FD5C}"/>
              </a:ext>
            </a:extLst>
          </p:cNvPr>
          <p:cNvGrpSpPr/>
          <p:nvPr/>
        </p:nvGrpSpPr>
        <p:grpSpPr>
          <a:xfrm>
            <a:off x="399030" y="4163480"/>
            <a:ext cx="10581193" cy="1991683"/>
            <a:chOff x="399030" y="1717504"/>
            <a:chExt cx="10581193" cy="1991683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C05A5A2-D7A1-FBFE-AC0D-BA17E238EB6C}"/>
                </a:ext>
              </a:extLst>
            </p:cNvPr>
            <p:cNvSpPr txBox="1"/>
            <p:nvPr/>
          </p:nvSpPr>
          <p:spPr>
            <a:xfrm>
              <a:off x="7384367" y="1947609"/>
              <a:ext cx="3595856" cy="1508105"/>
            </a:xfrm>
            <a:prstGeom prst="rect">
              <a:avLst/>
            </a:prstGeom>
            <a:noFill/>
            <a:ln>
              <a:solidFill>
                <a:schemeClr val="accent3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marL="342900" indent="-342900">
                <a:spcBef>
                  <a:spcPts val="600"/>
                </a:spcBef>
                <a:spcAft>
                  <a:spcPts val="600"/>
                </a:spcAft>
                <a:buFont typeface="Wingdings" pitchFamily="2" charset="2"/>
                <a:buChar char="v"/>
              </a:pPr>
              <a:r>
                <a:rPr lang="en-US" sz="2400" i="0" dirty="0">
                  <a:effectLst/>
                  <a:latin typeface="Helvetica" pitchFamily="2" charset="0"/>
                </a:rPr>
                <a:t>step-by-step approach</a:t>
              </a:r>
            </a:p>
            <a:p>
              <a:pPr marL="342900" indent="-342900">
                <a:spcBef>
                  <a:spcPts val="600"/>
                </a:spcBef>
                <a:spcAft>
                  <a:spcPts val="600"/>
                </a:spcAft>
                <a:buFont typeface="Wingdings" pitchFamily="2" charset="2"/>
                <a:buChar char="v"/>
              </a:pPr>
              <a:r>
                <a:rPr lang="en-US" sz="2400" dirty="0">
                  <a:latin typeface="Helvetica" pitchFamily="2" charset="0"/>
                </a:rPr>
                <a:t>U</a:t>
              </a:r>
              <a:r>
                <a:rPr lang="en-US" sz="2400" i="0" dirty="0">
                  <a:effectLst/>
                  <a:latin typeface="Helvetica" pitchFamily="2" charset="0"/>
                </a:rPr>
                <a:t>sing a Formula</a:t>
              </a:r>
            </a:p>
            <a:p>
              <a:pPr marL="342900" indent="-342900">
                <a:spcBef>
                  <a:spcPts val="600"/>
                </a:spcBef>
                <a:spcAft>
                  <a:spcPts val="600"/>
                </a:spcAft>
                <a:buFont typeface="Wingdings" pitchFamily="2" charset="2"/>
                <a:buChar char="v"/>
              </a:pPr>
              <a:r>
                <a:rPr lang="en-US" sz="2400" dirty="0">
                  <a:latin typeface="Helvetica" pitchFamily="2" charset="0"/>
                </a:rPr>
                <a:t>F</a:t>
              </a:r>
              <a:r>
                <a:rPr lang="en-US" sz="2400" i="0" dirty="0">
                  <a:effectLst/>
                  <a:latin typeface="Helvetica" pitchFamily="2" charset="0"/>
                </a:rPr>
                <a:t>inancial </a:t>
              </a:r>
              <a:r>
                <a:rPr lang="en-US" sz="2400" dirty="0">
                  <a:latin typeface="Helvetica" pitchFamily="2" charset="0"/>
                </a:rPr>
                <a:t>C</a:t>
              </a:r>
              <a:r>
                <a:rPr lang="en-US" sz="2400" i="0" dirty="0">
                  <a:effectLst/>
                  <a:latin typeface="Helvetica" pitchFamily="2" charset="0"/>
                </a:rPr>
                <a:t>alculator</a:t>
              </a: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1F8D1A73-007E-778C-1C1A-C44F1C9D85DF}"/>
                </a:ext>
              </a:extLst>
            </p:cNvPr>
            <p:cNvGrpSpPr/>
            <p:nvPr/>
          </p:nvGrpSpPr>
          <p:grpSpPr>
            <a:xfrm>
              <a:off x="399030" y="1717504"/>
              <a:ext cx="6716515" cy="1991683"/>
              <a:chOff x="399030" y="1717504"/>
              <a:chExt cx="6716515" cy="1991683"/>
            </a:xfrm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1FB6F50-ACDD-F7A6-D38A-CFC909C47515}"/>
                  </a:ext>
                </a:extLst>
              </p:cNvPr>
              <p:cNvSpPr txBox="1"/>
              <p:nvPr/>
            </p:nvSpPr>
            <p:spPr>
              <a:xfrm>
                <a:off x="399030" y="2445998"/>
                <a:ext cx="295748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spcBef>
                    <a:spcPts val="600"/>
                  </a:spcBef>
                  <a:spcAft>
                    <a:spcPts val="600"/>
                  </a:spcAft>
                  <a:buFont typeface="Wingdings" pitchFamily="2" charset="2"/>
                  <a:buChar char="ü"/>
                </a:pPr>
                <a:r>
                  <a:rPr lang="en-US" sz="2400" b="1" dirty="0">
                    <a:solidFill>
                      <a:schemeClr val="accent3">
                        <a:lumMod val="75000"/>
                      </a:schemeClr>
                    </a:solidFill>
                    <a:latin typeface="Helvetica" pitchFamily="2" charset="0"/>
                  </a:rPr>
                  <a:t>A</a:t>
                </a:r>
                <a:r>
                  <a:rPr lang="en-US" sz="2400" b="1" i="0" u="none" strike="noStrike" dirty="0"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Helvetica" pitchFamily="2" charset="0"/>
                  </a:rPr>
                  <a:t>nnuity Due</a:t>
                </a:r>
                <a:endParaRPr lang="en-US" sz="2400" b="1" dirty="0">
                  <a:solidFill>
                    <a:schemeClr val="accent3">
                      <a:lumMod val="75000"/>
                    </a:schemeClr>
                  </a:solidFill>
                  <a:latin typeface="Helvetica" pitchFamily="2" charset="0"/>
                </a:endParaRPr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DFDBD7D0-7FE1-4A5E-554F-91FF8142B485}"/>
                  </a:ext>
                </a:extLst>
              </p:cNvPr>
              <p:cNvGrpSpPr/>
              <p:nvPr/>
            </p:nvGrpSpPr>
            <p:grpSpPr>
              <a:xfrm>
                <a:off x="3356518" y="1717504"/>
                <a:ext cx="3759027" cy="1991683"/>
                <a:chOff x="3356518" y="1717504"/>
                <a:chExt cx="3759027" cy="1991683"/>
              </a:xfrm>
            </p:grpSpPr>
            <p:sp>
              <p:nvSpPr>
                <p:cNvPr id="58" name="Left Brace 57">
                  <a:extLst>
                    <a:ext uri="{FF2B5EF4-FFF2-40B4-BE49-F238E27FC236}">
                      <a16:creationId xmlns:a16="http://schemas.microsoft.com/office/drawing/2014/main" id="{55C369A7-0E4F-BD57-5B03-0CF182198018}"/>
                    </a:ext>
                  </a:extLst>
                </p:cNvPr>
                <p:cNvSpPr/>
                <p:nvPr/>
              </p:nvSpPr>
              <p:spPr>
                <a:xfrm>
                  <a:off x="3356518" y="1717504"/>
                  <a:ext cx="367855" cy="1968317"/>
                </a:xfrm>
                <a:prstGeom prst="leftBrac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4C3E0179-8D22-B7E9-09BA-480EB04D9FCF}"/>
                    </a:ext>
                  </a:extLst>
                </p:cNvPr>
                <p:cNvSpPr txBox="1"/>
                <p:nvPr/>
              </p:nvSpPr>
              <p:spPr>
                <a:xfrm>
                  <a:off x="3724373" y="1723255"/>
                  <a:ext cx="203049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chemeClr val="accent3">
                          <a:lumMod val="75000"/>
                        </a:schemeClr>
                      </a:solidFill>
                      <a:latin typeface="Helvetica" pitchFamily="2" charset="0"/>
                    </a:rPr>
                    <a:t>Future Value</a:t>
                  </a:r>
                </a:p>
              </p:txBody>
            </p: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F0D63828-3D09-04C6-219A-248D88E393E0}"/>
                    </a:ext>
                  </a:extLst>
                </p:cNvPr>
                <p:cNvSpPr txBox="1"/>
                <p:nvPr/>
              </p:nvSpPr>
              <p:spPr>
                <a:xfrm>
                  <a:off x="3724373" y="3247522"/>
                  <a:ext cx="220361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chemeClr val="accent3">
                          <a:lumMod val="75000"/>
                        </a:schemeClr>
                      </a:solidFill>
                      <a:latin typeface="Helvetica" pitchFamily="2" charset="0"/>
                    </a:rPr>
                    <a:t>Present Value</a:t>
                  </a:r>
                </a:p>
              </p:txBody>
            </p:sp>
            <p:sp>
              <p:nvSpPr>
                <p:cNvPr id="61" name="Right Arrow 60">
                  <a:extLst>
                    <a:ext uri="{FF2B5EF4-FFF2-40B4-BE49-F238E27FC236}">
                      <a16:creationId xmlns:a16="http://schemas.microsoft.com/office/drawing/2014/main" id="{1964D5C1-62C6-F99B-5237-A430D05E0E95}"/>
                    </a:ext>
                  </a:extLst>
                </p:cNvPr>
                <p:cNvSpPr/>
                <p:nvPr/>
              </p:nvSpPr>
              <p:spPr>
                <a:xfrm>
                  <a:off x="6064915" y="2356952"/>
                  <a:ext cx="1050630" cy="704948"/>
                </a:xfrm>
                <a:prstGeom prst="rightArrow">
                  <a:avLst/>
                </a:prstGeom>
                <a:solidFill>
                  <a:schemeClr val="accent3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346971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CA502-AAE1-972C-E483-6BF952309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AB94483-E12A-E4A0-6B86-B0038B1CA3BE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45894D9D-F397-8A99-24FE-2032C4B02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052391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FV of an Ordinary Annuity-1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FDE0E30-EB23-7435-1EC6-95FABAF9A55C}"/>
              </a:ext>
            </a:extLst>
          </p:cNvPr>
          <p:cNvGrpSpPr/>
          <p:nvPr/>
        </p:nvGrpSpPr>
        <p:grpSpPr>
          <a:xfrm>
            <a:off x="794284" y="2333087"/>
            <a:ext cx="10242589" cy="1427396"/>
            <a:chOff x="794284" y="2422284"/>
            <a:chExt cx="10242589" cy="1427396"/>
          </a:xfrm>
          <a:noFill/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2900DC7-B07E-1F26-5B50-D83F36155C09}"/>
                </a:ext>
              </a:extLst>
            </p:cNvPr>
            <p:cNvGrpSpPr/>
            <p:nvPr/>
          </p:nvGrpSpPr>
          <p:grpSpPr>
            <a:xfrm>
              <a:off x="794284" y="3051732"/>
              <a:ext cx="10242589" cy="797948"/>
              <a:chOff x="873086" y="5053331"/>
              <a:chExt cx="10242589" cy="1147434"/>
            </a:xfrm>
            <a:grpFill/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BCD8A4D7-4FD0-FA0C-F078-B2A579E84971}"/>
                  </a:ext>
                </a:extLst>
              </p:cNvPr>
              <p:cNvGrpSpPr/>
              <p:nvPr/>
            </p:nvGrpSpPr>
            <p:grpSpPr>
              <a:xfrm>
                <a:off x="1027135" y="5053331"/>
                <a:ext cx="10088540" cy="475932"/>
                <a:chOff x="1027135" y="5053331"/>
                <a:chExt cx="10088540" cy="475932"/>
              </a:xfrm>
              <a:grpFill/>
            </p:grpSpPr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0E1EDEA2-E7AB-3AF4-E11A-04BF7FDA13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5" y="5285984"/>
                  <a:ext cx="10088540" cy="14677"/>
                </a:xfrm>
                <a:prstGeom prst="straightConnector1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178A723F-0922-DAA7-762B-6F36117B83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6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581C7336-5549-BB80-AF02-A0C4645E3C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93890" y="5072062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8B66A464-7782-6E7E-DF6D-1A345DAB70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90258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CB23BF0E-708B-5F46-C1FB-FF1888490D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70524" y="505333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E8EE3A3F-04D9-B605-6A1E-5C88FFF64A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74923" y="5072063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796F3E3-909E-6A9F-1F0B-6AE8C28F8D84}"/>
                  </a:ext>
                </a:extLst>
              </p:cNvPr>
              <p:cNvSpPr txBox="1"/>
              <p:nvPr/>
            </p:nvSpPr>
            <p:spPr>
              <a:xfrm>
                <a:off x="873086" y="5713928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0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CBC0A05-46A9-5597-2236-2A954D8330B4}"/>
                  </a:ext>
                </a:extLst>
              </p:cNvPr>
              <p:cNvSpPr txBox="1"/>
              <p:nvPr/>
            </p:nvSpPr>
            <p:spPr>
              <a:xfrm>
                <a:off x="3139841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2C62E0-B304-7020-BBFC-AE62E6E55D9F}"/>
                  </a:ext>
                </a:extLst>
              </p:cNvPr>
              <p:cNvSpPr txBox="1"/>
              <p:nvPr/>
            </p:nvSpPr>
            <p:spPr>
              <a:xfrm>
                <a:off x="5420874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2382DCB-A6CA-419F-81F1-A53CA4618090}"/>
                  </a:ext>
                </a:extLst>
              </p:cNvPr>
              <p:cNvSpPr txBox="1"/>
              <p:nvPr/>
            </p:nvSpPr>
            <p:spPr>
              <a:xfrm>
                <a:off x="7716475" y="5710715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0748DE-98F0-4270-1167-DB10F7358950}"/>
                  </a:ext>
                </a:extLst>
              </p:cNvPr>
              <p:cNvSpPr txBox="1"/>
              <p:nvPr/>
            </p:nvSpPr>
            <p:spPr>
              <a:xfrm>
                <a:off x="10036209" y="5710715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4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D4D6AE3-F7CC-05A2-56D2-CCA04535C44D}"/>
                </a:ext>
              </a:extLst>
            </p:cNvPr>
            <p:cNvSpPr txBox="1"/>
            <p:nvPr/>
          </p:nvSpPr>
          <p:spPr>
            <a:xfrm>
              <a:off x="2890319" y="2453036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0D2135B-4426-8AB3-0FF1-1EBB672EC276}"/>
                </a:ext>
              </a:extLst>
            </p:cNvPr>
            <p:cNvSpPr txBox="1"/>
            <p:nvPr/>
          </p:nvSpPr>
          <p:spPr>
            <a:xfrm>
              <a:off x="5171352" y="2422284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4F567D2-C20A-C7F9-058A-BF880A81879E}"/>
                </a:ext>
              </a:extLst>
            </p:cNvPr>
            <p:cNvSpPr txBox="1"/>
            <p:nvPr/>
          </p:nvSpPr>
          <p:spPr>
            <a:xfrm>
              <a:off x="7466953" y="2458134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E82C3CA-920D-1BF1-A57B-EC2019692734}"/>
                </a:ext>
              </a:extLst>
            </p:cNvPr>
            <p:cNvSpPr txBox="1"/>
            <p:nvPr/>
          </p:nvSpPr>
          <p:spPr>
            <a:xfrm>
              <a:off x="9786687" y="2453036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D08B9A1-A1DB-3C7A-AF35-E0F8DAC66F57}"/>
              </a:ext>
            </a:extLst>
          </p:cNvPr>
          <p:cNvSpPr txBox="1"/>
          <p:nvPr/>
        </p:nvSpPr>
        <p:spPr>
          <a:xfrm>
            <a:off x="546334" y="1541595"/>
            <a:ext cx="11184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Helvetica" pitchFamily="2" charset="0"/>
              </a:rPr>
              <a:t>S</a:t>
            </a:r>
            <a:r>
              <a:rPr lang="en-US" sz="2800" b="1" i="0" dirty="0">
                <a:effectLst/>
                <a:latin typeface="Helvetica" pitchFamily="2" charset="0"/>
              </a:rPr>
              <a:t>tep-by-step approach:</a:t>
            </a:r>
            <a:endParaRPr lang="en-US" sz="2800" dirty="0"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DA25CE-9D1D-3512-0EE5-2D73817C9D29}"/>
              </a:ext>
            </a:extLst>
          </p:cNvPr>
          <p:cNvSpPr txBox="1"/>
          <p:nvPr/>
        </p:nvSpPr>
        <p:spPr>
          <a:xfrm>
            <a:off x="582448" y="3894725"/>
            <a:ext cx="1146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i</a:t>
            </a:r>
            <a:r>
              <a:rPr lang="en-US" sz="2400" b="1" dirty="0"/>
              <a:t> = 10%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FFF8B6A-9804-09B9-8E81-F053BC29682C}"/>
              </a:ext>
            </a:extLst>
          </p:cNvPr>
          <p:cNvGrpSpPr/>
          <p:nvPr/>
        </p:nvGrpSpPr>
        <p:grpSpPr>
          <a:xfrm>
            <a:off x="7753460" y="3758247"/>
            <a:ext cx="1814282" cy="829517"/>
            <a:chOff x="7753460" y="3779339"/>
            <a:chExt cx="2002536" cy="686900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25DDEAE-941B-55B0-08F3-F434751D1DD9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 flipH="1">
              <a:off x="7786913" y="3779339"/>
              <a:ext cx="3471" cy="686900"/>
            </a:xfrm>
            <a:prstGeom prst="line">
              <a:avLst/>
            </a:prstGeom>
            <a:ln w="571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2261A8D4-ABB7-907B-6A6F-B9011EE29EFB}"/>
                </a:ext>
              </a:extLst>
            </p:cNvPr>
            <p:cNvCxnSpPr>
              <a:cxnSpLocks/>
            </p:cNvCxnSpPr>
            <p:nvPr/>
          </p:nvCxnSpPr>
          <p:spPr>
            <a:xfrm>
              <a:off x="7753460" y="4463610"/>
              <a:ext cx="2002536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49AF355-6CA8-E994-B6AA-7062B98637E4}"/>
              </a:ext>
            </a:extLst>
          </p:cNvPr>
          <p:cNvGrpSpPr/>
          <p:nvPr/>
        </p:nvGrpSpPr>
        <p:grpSpPr>
          <a:xfrm>
            <a:off x="5464173" y="3760484"/>
            <a:ext cx="4106736" cy="1425495"/>
            <a:chOff x="7787056" y="3866811"/>
            <a:chExt cx="1998772" cy="643807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E862417-0C12-8BCB-8660-1B26F5E0135C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>
              <a:off x="7800264" y="3866811"/>
              <a:ext cx="0" cy="643807"/>
            </a:xfrm>
            <a:prstGeom prst="line">
              <a:avLst/>
            </a:prstGeom>
            <a:ln w="571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E9256D00-410C-BDCC-5F27-1B66A8BAA8C0}"/>
                </a:ext>
              </a:extLst>
            </p:cNvPr>
            <p:cNvCxnSpPr>
              <a:cxnSpLocks/>
            </p:cNvCxnSpPr>
            <p:nvPr/>
          </p:nvCxnSpPr>
          <p:spPr>
            <a:xfrm>
              <a:off x="7787056" y="4509184"/>
              <a:ext cx="1998772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62F2F2B-1750-380B-72CC-38AC4D1DC044}"/>
              </a:ext>
            </a:extLst>
          </p:cNvPr>
          <p:cNvGrpSpPr/>
          <p:nvPr/>
        </p:nvGrpSpPr>
        <p:grpSpPr>
          <a:xfrm>
            <a:off x="3171826" y="3760485"/>
            <a:ext cx="6395913" cy="2038147"/>
            <a:chOff x="7777959" y="3870953"/>
            <a:chExt cx="2008099" cy="650035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E2C0001B-B1C8-DD72-8E57-3027BB635C76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 flipH="1">
              <a:off x="7786913" y="3870953"/>
              <a:ext cx="3119" cy="650035"/>
            </a:xfrm>
            <a:prstGeom prst="line">
              <a:avLst/>
            </a:prstGeom>
            <a:ln w="571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C271FF48-71B9-86C1-2C0C-76ABC9137985}"/>
                </a:ext>
              </a:extLst>
            </p:cNvPr>
            <p:cNvCxnSpPr>
              <a:cxnSpLocks/>
            </p:cNvCxnSpPr>
            <p:nvPr/>
          </p:nvCxnSpPr>
          <p:spPr>
            <a:xfrm>
              <a:off x="7777959" y="4512610"/>
              <a:ext cx="2008099" cy="34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F0124F77-94EA-15C9-F178-4B29779A652B}"/>
              </a:ext>
            </a:extLst>
          </p:cNvPr>
          <p:cNvSpPr txBox="1"/>
          <p:nvPr/>
        </p:nvSpPr>
        <p:spPr>
          <a:xfrm>
            <a:off x="9815792" y="3876380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$100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42E9CAD-797D-944B-C97C-F15BEE346D0C}"/>
              </a:ext>
            </a:extLst>
          </p:cNvPr>
          <p:cNvSpPr txBox="1"/>
          <p:nvPr/>
        </p:nvSpPr>
        <p:spPr>
          <a:xfrm>
            <a:off x="9815791" y="4384061"/>
            <a:ext cx="729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$110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03394B4-CEF4-477B-C3EA-CEE1A9F6903D}"/>
              </a:ext>
            </a:extLst>
          </p:cNvPr>
          <p:cNvSpPr txBox="1"/>
          <p:nvPr/>
        </p:nvSpPr>
        <p:spPr>
          <a:xfrm>
            <a:off x="9826941" y="4986350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$121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F3CF067-9E1A-87D6-D5BC-D938CD46E85C}"/>
              </a:ext>
            </a:extLst>
          </p:cNvPr>
          <p:cNvSpPr txBox="1"/>
          <p:nvPr/>
        </p:nvSpPr>
        <p:spPr>
          <a:xfrm>
            <a:off x="9783987" y="5575486"/>
            <a:ext cx="968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$133.1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2AE0CB0-0BFC-22D9-123A-D0D4997011C7}"/>
              </a:ext>
            </a:extLst>
          </p:cNvPr>
          <p:cNvCxnSpPr>
            <a:cxnSpLocks/>
          </p:cNvCxnSpPr>
          <p:nvPr/>
        </p:nvCxnSpPr>
        <p:spPr>
          <a:xfrm>
            <a:off x="9804251" y="6177775"/>
            <a:ext cx="104676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AFA1ADA7-8040-737C-B68D-F34304B12661}"/>
              </a:ext>
            </a:extLst>
          </p:cNvPr>
          <p:cNvSpPr txBox="1"/>
          <p:nvPr/>
        </p:nvSpPr>
        <p:spPr>
          <a:xfrm>
            <a:off x="9860394" y="6350236"/>
            <a:ext cx="9428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$464.1</a:t>
            </a:r>
          </a:p>
        </p:txBody>
      </p:sp>
    </p:spTree>
    <p:extLst>
      <p:ext uri="{BB962C8B-B14F-4D97-AF65-F5344CB8AC3E}">
        <p14:creationId xmlns:p14="http://schemas.microsoft.com/office/powerpoint/2010/main" val="2280278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1" grpId="0"/>
      <p:bldP spid="72" grpId="0"/>
      <p:bldP spid="73" grpId="0"/>
      <p:bldP spid="75" grpId="0"/>
      <p:bldP spid="8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1BF81-59AF-96A2-75F7-A21D369CF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0CFFDFE-177C-CC89-91BC-E5A98B25DD57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984EDB67-BBA8-7892-D3D4-154BB794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052391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FV of an Ordinary Annuity-2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E2BCE1-50F2-62C4-AABA-4564A849DEBD}"/>
              </a:ext>
            </a:extLst>
          </p:cNvPr>
          <p:cNvGrpSpPr/>
          <p:nvPr/>
        </p:nvGrpSpPr>
        <p:grpSpPr>
          <a:xfrm>
            <a:off x="794284" y="2822952"/>
            <a:ext cx="10242589" cy="1427396"/>
            <a:chOff x="794284" y="2422284"/>
            <a:chExt cx="10242589" cy="1427396"/>
          </a:xfrm>
          <a:noFill/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057CF25-9E93-2DC0-1765-D4C3C57B92E9}"/>
                </a:ext>
              </a:extLst>
            </p:cNvPr>
            <p:cNvGrpSpPr/>
            <p:nvPr/>
          </p:nvGrpSpPr>
          <p:grpSpPr>
            <a:xfrm>
              <a:off x="794284" y="3051732"/>
              <a:ext cx="10242589" cy="797948"/>
              <a:chOff x="873086" y="5053331"/>
              <a:chExt cx="10242589" cy="1147434"/>
            </a:xfrm>
            <a:grpFill/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1A1D6088-0065-4AD3-78F8-5360B7B80081}"/>
                  </a:ext>
                </a:extLst>
              </p:cNvPr>
              <p:cNvGrpSpPr/>
              <p:nvPr/>
            </p:nvGrpSpPr>
            <p:grpSpPr>
              <a:xfrm>
                <a:off x="1027135" y="5053331"/>
                <a:ext cx="10088540" cy="475932"/>
                <a:chOff x="1027135" y="5053331"/>
                <a:chExt cx="10088540" cy="475932"/>
              </a:xfrm>
              <a:grpFill/>
            </p:grpSpPr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37963181-FEE5-ED2A-EA51-04E03DF063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5" y="5285984"/>
                  <a:ext cx="10088540" cy="14677"/>
                </a:xfrm>
                <a:prstGeom prst="straightConnector1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CF5C7E8F-C6F7-1248-6521-8778F27C7E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6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4D15FF05-3E5C-E07B-BB16-45C506460C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93890" y="5072062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2F706B0B-BD52-A94A-5068-928187DEE8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90258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7116DD86-6816-85A5-60EE-872C9FBD82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70524" y="505333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39902EBE-391E-05FB-FF35-3B2EFDC471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74923" y="5072063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97D9D7-A987-1DBA-9F17-309AD9D0FB7D}"/>
                  </a:ext>
                </a:extLst>
              </p:cNvPr>
              <p:cNvSpPr txBox="1"/>
              <p:nvPr/>
            </p:nvSpPr>
            <p:spPr>
              <a:xfrm>
                <a:off x="873086" y="5713928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0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B74CEC-6D29-4F65-89E8-E520BFA88B9B}"/>
                  </a:ext>
                </a:extLst>
              </p:cNvPr>
              <p:cNvSpPr txBox="1"/>
              <p:nvPr/>
            </p:nvSpPr>
            <p:spPr>
              <a:xfrm>
                <a:off x="3139841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2DFC823-D6CD-13B2-6CAA-A2AB7E1883D1}"/>
                  </a:ext>
                </a:extLst>
              </p:cNvPr>
              <p:cNvSpPr txBox="1"/>
              <p:nvPr/>
            </p:nvSpPr>
            <p:spPr>
              <a:xfrm>
                <a:off x="5420874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A6A5EF8-7E16-BC02-E412-67009DC233D3}"/>
                  </a:ext>
                </a:extLst>
              </p:cNvPr>
              <p:cNvSpPr txBox="1"/>
              <p:nvPr/>
            </p:nvSpPr>
            <p:spPr>
              <a:xfrm>
                <a:off x="7716475" y="5710715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99FB2E2-D298-16A5-F868-3B4036CEE52B}"/>
                  </a:ext>
                </a:extLst>
              </p:cNvPr>
              <p:cNvSpPr txBox="1"/>
              <p:nvPr/>
            </p:nvSpPr>
            <p:spPr>
              <a:xfrm>
                <a:off x="10036209" y="5710715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4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48ECD7A-A03F-95AA-64F0-F34B64C81BAD}"/>
                </a:ext>
              </a:extLst>
            </p:cNvPr>
            <p:cNvSpPr txBox="1"/>
            <p:nvPr/>
          </p:nvSpPr>
          <p:spPr>
            <a:xfrm>
              <a:off x="2890319" y="2453036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3D597D9-0A33-9887-56BA-4D8145D6F952}"/>
                </a:ext>
              </a:extLst>
            </p:cNvPr>
            <p:cNvSpPr txBox="1"/>
            <p:nvPr/>
          </p:nvSpPr>
          <p:spPr>
            <a:xfrm>
              <a:off x="5171352" y="2422284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3360A57-7BAF-1CB6-6B35-6309DD7D9AEB}"/>
                </a:ext>
              </a:extLst>
            </p:cNvPr>
            <p:cNvSpPr txBox="1"/>
            <p:nvPr/>
          </p:nvSpPr>
          <p:spPr>
            <a:xfrm>
              <a:off x="7466953" y="2458134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FAFBF01-E006-EE0D-7B33-B63BAF42DC50}"/>
                </a:ext>
              </a:extLst>
            </p:cNvPr>
            <p:cNvSpPr txBox="1"/>
            <p:nvPr/>
          </p:nvSpPr>
          <p:spPr>
            <a:xfrm>
              <a:off x="9786687" y="2453036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97C9426-AD13-253E-B788-B39465C0BB3A}"/>
              </a:ext>
            </a:extLst>
          </p:cNvPr>
          <p:cNvSpPr txBox="1"/>
          <p:nvPr/>
        </p:nvSpPr>
        <p:spPr>
          <a:xfrm>
            <a:off x="519530" y="4363263"/>
            <a:ext cx="1146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i</a:t>
            </a:r>
            <a:r>
              <a:rPr lang="en-US" sz="2400" b="1" dirty="0"/>
              <a:t> = 10%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86A035-C607-D6B1-3B1B-2221A61A73C8}"/>
                  </a:ext>
                </a:extLst>
              </p:cNvPr>
              <p:cNvSpPr txBox="1"/>
              <p:nvPr/>
            </p:nvSpPr>
            <p:spPr>
              <a:xfrm>
                <a:off x="4245053" y="1476121"/>
                <a:ext cx="3883948" cy="840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𝐅𝐕𝐀</m:t>
                          </m:r>
                        </m:e>
                        <m:sub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𝐍</m:t>
                          </m:r>
                        </m:sub>
                      </m:sSub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𝐏𝐌𝐓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0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b="1" i="0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sz="2400" b="1" i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b="1" i="0" smtClean="0"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  <m:r>
                                    <a:rPr lang="en-US" sz="2400" b="1" i="0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400" b="1" i="0" smtClean="0">
                                      <a:latin typeface="Cambria Math" panose="02040503050406030204" pitchFamily="18" charset="0"/>
                                    </a:rPr>
                                    <m:t>𝐍</m:t>
                                  </m:r>
                                </m:sup>
                              </m:sSup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den>
                          </m:f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b="1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86A035-C607-D6B1-3B1B-2221A61A7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053" y="1476121"/>
                <a:ext cx="3883948" cy="840999"/>
              </a:xfrm>
              <a:prstGeom prst="rect">
                <a:avLst/>
              </a:prstGeom>
              <a:blipFill>
                <a:blip r:embed="rId2"/>
                <a:stretch>
                  <a:fillRect l="-1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C941562-985B-B8C8-A7F1-EAD613DE1A09}"/>
                  </a:ext>
                </a:extLst>
              </p:cNvPr>
              <p:cNvSpPr txBox="1"/>
              <p:nvPr/>
            </p:nvSpPr>
            <p:spPr>
              <a:xfrm>
                <a:off x="2939348" y="4374243"/>
                <a:ext cx="6106510" cy="723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FVA</m:t>
                          </m:r>
                        </m:e>
                        <m:sub>
                          <m: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=100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(1+0.1)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den>
                          </m:f>
                          <m: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C941562-985B-B8C8-A7F1-EAD613DE1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348" y="4374243"/>
                <a:ext cx="6106510" cy="723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B740F00-C383-7D26-FA2A-C39BE101733A}"/>
                  </a:ext>
                </a:extLst>
              </p:cNvPr>
              <p:cNvSpPr txBox="1"/>
              <p:nvPr/>
            </p:nvSpPr>
            <p:spPr>
              <a:xfrm>
                <a:off x="2951718" y="5113424"/>
                <a:ext cx="6106510" cy="6202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FVA</m:t>
                          </m:r>
                        </m:e>
                        <m:sub>
                          <m: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=100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1.4641−1</m:t>
                              </m:r>
                            </m:num>
                            <m:den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den>
                          </m:f>
                          <m: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B740F00-C383-7D26-FA2A-C39BE1017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718" y="5113424"/>
                <a:ext cx="6106510" cy="620234"/>
              </a:xfrm>
              <a:prstGeom prst="rect">
                <a:avLst/>
              </a:prstGeom>
              <a:blipFill>
                <a:blip r:embed="rId4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F447E93-F88B-EF0C-45BF-884602797ADB}"/>
                  </a:ext>
                </a:extLst>
              </p:cNvPr>
              <p:cNvSpPr txBox="1"/>
              <p:nvPr/>
            </p:nvSpPr>
            <p:spPr>
              <a:xfrm>
                <a:off x="2951718" y="5834568"/>
                <a:ext cx="61065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FVA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US" b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4.641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F447E93-F88B-EF0C-45BF-884602797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718" y="5834568"/>
                <a:ext cx="6106510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66AA01D-595C-6F28-F389-6142794237F3}"/>
                  </a:ext>
                </a:extLst>
              </p:cNvPr>
              <p:cNvSpPr txBox="1"/>
              <p:nvPr/>
            </p:nvSpPr>
            <p:spPr>
              <a:xfrm>
                <a:off x="3133772" y="6330020"/>
                <a:ext cx="61065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𝐅𝐕𝐀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𝟒𝟔𝟒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66AA01D-595C-6F28-F389-614279423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72" y="6330020"/>
                <a:ext cx="610651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2C9DAB0-D4B3-D56A-BC88-0611176AD469}"/>
              </a:ext>
            </a:extLst>
          </p:cNvPr>
          <p:cNvSpPr txBox="1"/>
          <p:nvPr/>
        </p:nvSpPr>
        <p:spPr>
          <a:xfrm>
            <a:off x="546334" y="1541595"/>
            <a:ext cx="172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Helvetica" pitchFamily="2" charset="0"/>
              </a:rPr>
              <a:t>Formula:</a:t>
            </a:r>
            <a:endParaRPr lang="en-US" sz="28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695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6" grpId="0"/>
      <p:bldP spid="28" grpId="0"/>
      <p:bldP spid="31" grpId="0"/>
      <p:bldP spid="3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9617D-A37E-14E4-F6E1-629C8332A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3C0BBD8-E044-1733-D42D-05653C8BA06A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AAF76A9A-7776-4998-BBEC-A57239BD7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052391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FV of an Ordinary Annuity-3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B633B9E-3888-07B5-033E-7AF1D4C256F0}"/>
              </a:ext>
            </a:extLst>
          </p:cNvPr>
          <p:cNvGrpSpPr/>
          <p:nvPr/>
        </p:nvGrpSpPr>
        <p:grpSpPr>
          <a:xfrm>
            <a:off x="775285" y="2202024"/>
            <a:ext cx="10242589" cy="1427396"/>
            <a:chOff x="794284" y="2422284"/>
            <a:chExt cx="10242589" cy="1427396"/>
          </a:xfrm>
          <a:noFill/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41854B2-ABA7-3E6C-988A-D220409C3C4B}"/>
                </a:ext>
              </a:extLst>
            </p:cNvPr>
            <p:cNvGrpSpPr/>
            <p:nvPr/>
          </p:nvGrpSpPr>
          <p:grpSpPr>
            <a:xfrm>
              <a:off x="794284" y="3051732"/>
              <a:ext cx="10242589" cy="797948"/>
              <a:chOff x="873086" y="5053331"/>
              <a:chExt cx="10242589" cy="1147434"/>
            </a:xfrm>
            <a:grpFill/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8C80D3C9-9CAF-98EE-8C2A-BEECD0594945}"/>
                  </a:ext>
                </a:extLst>
              </p:cNvPr>
              <p:cNvGrpSpPr/>
              <p:nvPr/>
            </p:nvGrpSpPr>
            <p:grpSpPr>
              <a:xfrm>
                <a:off x="1027135" y="5053331"/>
                <a:ext cx="10088540" cy="475932"/>
                <a:chOff x="1027135" y="5053331"/>
                <a:chExt cx="10088540" cy="475932"/>
              </a:xfrm>
              <a:grpFill/>
            </p:grpSpPr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0D2A3976-2A05-3051-B7D5-92793FE2AC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5" y="5285984"/>
                  <a:ext cx="10088540" cy="14677"/>
                </a:xfrm>
                <a:prstGeom prst="straightConnector1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6FBD2E5E-B58C-30DD-92EE-C084588757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6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421843F1-6081-9907-2760-61DF232279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93890" y="5072062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E63AC38F-ED77-F819-CB53-E96C752C47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90258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3521559D-C9C3-92FA-B2DE-6B9084026C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70524" y="505333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3596FC3A-2A8F-A697-60AB-6D05CE649B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74923" y="5072063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D5CAC6A-F42C-6CEE-6388-B2291FB63C97}"/>
                  </a:ext>
                </a:extLst>
              </p:cNvPr>
              <p:cNvSpPr txBox="1"/>
              <p:nvPr/>
            </p:nvSpPr>
            <p:spPr>
              <a:xfrm>
                <a:off x="873086" y="5713928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0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52EC49-8513-7B83-AF3F-D46A1C4A7851}"/>
                  </a:ext>
                </a:extLst>
              </p:cNvPr>
              <p:cNvSpPr txBox="1"/>
              <p:nvPr/>
            </p:nvSpPr>
            <p:spPr>
              <a:xfrm>
                <a:off x="3139841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2B30EA-3DF8-1B97-EB86-E13DD3AB25D7}"/>
                  </a:ext>
                </a:extLst>
              </p:cNvPr>
              <p:cNvSpPr txBox="1"/>
              <p:nvPr/>
            </p:nvSpPr>
            <p:spPr>
              <a:xfrm>
                <a:off x="5420874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2F6B56-C1EF-7806-AF2F-DB0C84C547C5}"/>
                  </a:ext>
                </a:extLst>
              </p:cNvPr>
              <p:cNvSpPr txBox="1"/>
              <p:nvPr/>
            </p:nvSpPr>
            <p:spPr>
              <a:xfrm>
                <a:off x="7716475" y="5710715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E764F77-2795-B57C-89AD-45501B30F79E}"/>
                  </a:ext>
                </a:extLst>
              </p:cNvPr>
              <p:cNvSpPr txBox="1"/>
              <p:nvPr/>
            </p:nvSpPr>
            <p:spPr>
              <a:xfrm>
                <a:off x="10036209" y="5710715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4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ADE2F2D-1377-CD3E-9BFC-DD4A849617EE}"/>
                </a:ext>
              </a:extLst>
            </p:cNvPr>
            <p:cNvSpPr txBox="1"/>
            <p:nvPr/>
          </p:nvSpPr>
          <p:spPr>
            <a:xfrm>
              <a:off x="2890319" y="2453036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1A6AB69-AE1A-2479-3FC4-E56D64B6F933}"/>
                </a:ext>
              </a:extLst>
            </p:cNvPr>
            <p:cNvSpPr txBox="1"/>
            <p:nvPr/>
          </p:nvSpPr>
          <p:spPr>
            <a:xfrm>
              <a:off x="5171352" y="2422284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0635878-3B13-2A37-9CE9-66E00B97E4CF}"/>
                </a:ext>
              </a:extLst>
            </p:cNvPr>
            <p:cNvSpPr txBox="1"/>
            <p:nvPr/>
          </p:nvSpPr>
          <p:spPr>
            <a:xfrm>
              <a:off x="7466953" y="2458134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829F825-C0D6-924C-7CFE-7BCEA9E48824}"/>
                </a:ext>
              </a:extLst>
            </p:cNvPr>
            <p:cNvSpPr txBox="1"/>
            <p:nvPr/>
          </p:nvSpPr>
          <p:spPr>
            <a:xfrm>
              <a:off x="9786687" y="2453036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022D1A0-3E08-D93B-8514-B6D5BD224496}"/>
              </a:ext>
            </a:extLst>
          </p:cNvPr>
          <p:cNvSpPr txBox="1"/>
          <p:nvPr/>
        </p:nvSpPr>
        <p:spPr>
          <a:xfrm>
            <a:off x="500531" y="3692886"/>
            <a:ext cx="1146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i</a:t>
            </a:r>
            <a:r>
              <a:rPr lang="en-US" sz="2400" b="1" dirty="0"/>
              <a:t> = 10%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7AAC1A-FAF5-FE82-6253-C7F516B1FF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890397"/>
              </p:ext>
            </p:extLst>
          </p:nvPr>
        </p:nvGraphicFramePr>
        <p:xfrm>
          <a:off x="2682010" y="4334548"/>
          <a:ext cx="6451355" cy="158565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06455">
                  <a:extLst>
                    <a:ext uri="{9D8B030D-6E8A-4147-A177-3AD203B41FA5}">
                      <a16:colId xmlns:a16="http://schemas.microsoft.com/office/drawing/2014/main" val="2986694891"/>
                    </a:ext>
                  </a:extLst>
                </a:gridCol>
                <a:gridCol w="1184437">
                  <a:extLst>
                    <a:ext uri="{9D8B030D-6E8A-4147-A177-3AD203B41FA5}">
                      <a16:colId xmlns:a16="http://schemas.microsoft.com/office/drawing/2014/main" val="2867844822"/>
                    </a:ext>
                  </a:extLst>
                </a:gridCol>
                <a:gridCol w="1340280">
                  <a:extLst>
                    <a:ext uri="{9D8B030D-6E8A-4147-A177-3AD203B41FA5}">
                      <a16:colId xmlns:a16="http://schemas.microsoft.com/office/drawing/2014/main" val="3714192118"/>
                    </a:ext>
                  </a:extLst>
                </a:gridCol>
                <a:gridCol w="1379537">
                  <a:extLst>
                    <a:ext uri="{9D8B030D-6E8A-4147-A177-3AD203B41FA5}">
                      <a16:colId xmlns:a16="http://schemas.microsoft.com/office/drawing/2014/main" val="937620826"/>
                    </a:ext>
                  </a:extLst>
                </a:gridCol>
                <a:gridCol w="1440646">
                  <a:extLst>
                    <a:ext uri="{9D8B030D-6E8A-4147-A177-3AD203B41FA5}">
                      <a16:colId xmlns:a16="http://schemas.microsoft.com/office/drawing/2014/main" val="2814070118"/>
                    </a:ext>
                  </a:extLst>
                </a:gridCol>
              </a:tblGrid>
              <a:tr h="528551">
                <a:tc gridSpan="5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elvetica" pitchFamily="2" charset="0"/>
                        </a:rPr>
                        <a:t>Using Calculator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703353"/>
                  </a:ext>
                </a:extLst>
              </a:tr>
              <a:tr h="528551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I/Y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Helvetica" pitchFamily="2" charset="0"/>
                        </a:rPr>
                        <a:t>PV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PMT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FV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287289"/>
                  </a:ext>
                </a:extLst>
              </a:tr>
              <a:tr h="528551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-100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??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11001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37B8671-1F7A-BFC6-7807-227306B028CE}"/>
              </a:ext>
            </a:extLst>
          </p:cNvPr>
          <p:cNvSpPr txBox="1"/>
          <p:nvPr/>
        </p:nvSpPr>
        <p:spPr>
          <a:xfrm>
            <a:off x="5100751" y="6288916"/>
            <a:ext cx="1869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FV = $464.1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E9C940-D30F-F64B-64C2-46A65E44193C}"/>
              </a:ext>
            </a:extLst>
          </p:cNvPr>
          <p:cNvSpPr txBox="1"/>
          <p:nvPr/>
        </p:nvSpPr>
        <p:spPr>
          <a:xfrm>
            <a:off x="546335" y="1541595"/>
            <a:ext cx="3713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Helvetica" pitchFamily="2" charset="0"/>
              </a:rPr>
              <a:t>F</a:t>
            </a:r>
            <a:r>
              <a:rPr lang="en-US" sz="2800" b="1" i="0" dirty="0">
                <a:effectLst/>
                <a:latin typeface="Helvetica" pitchFamily="2" charset="0"/>
              </a:rPr>
              <a:t>inancial </a:t>
            </a:r>
            <a:r>
              <a:rPr lang="en-US" sz="2800" b="1" dirty="0">
                <a:latin typeface="Helvetica" pitchFamily="2" charset="0"/>
              </a:rPr>
              <a:t>C</a:t>
            </a:r>
            <a:r>
              <a:rPr lang="en-US" sz="2800" b="1" i="0" dirty="0">
                <a:effectLst/>
                <a:latin typeface="Helvetica" pitchFamily="2" charset="0"/>
              </a:rPr>
              <a:t>alculator</a:t>
            </a:r>
            <a:r>
              <a:rPr lang="en-US" sz="2800" b="1" dirty="0">
                <a:latin typeface="Helvetica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35902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1175C-9405-9599-5D57-CF307F6AC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762C59F-310C-2816-466E-B634D0CA0FFF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85863C49-5F66-3629-F728-3CAF55E29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052391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FV of an Annuity Due-1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BFC933E-0FE0-A7A1-C8F1-E2426E73B2D7}"/>
              </a:ext>
            </a:extLst>
          </p:cNvPr>
          <p:cNvGrpSpPr/>
          <p:nvPr/>
        </p:nvGrpSpPr>
        <p:grpSpPr>
          <a:xfrm>
            <a:off x="634622" y="2416420"/>
            <a:ext cx="10402251" cy="1344063"/>
            <a:chOff x="634622" y="2505617"/>
            <a:chExt cx="10402251" cy="1344063"/>
          </a:xfrm>
          <a:noFill/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0953E30-7340-BFC8-D08B-F8BEF1269C6C}"/>
                </a:ext>
              </a:extLst>
            </p:cNvPr>
            <p:cNvGrpSpPr/>
            <p:nvPr/>
          </p:nvGrpSpPr>
          <p:grpSpPr>
            <a:xfrm>
              <a:off x="794284" y="3051732"/>
              <a:ext cx="10242589" cy="797948"/>
              <a:chOff x="873086" y="5053331"/>
              <a:chExt cx="10242589" cy="1147434"/>
            </a:xfrm>
            <a:grpFill/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CF1D39C6-466C-EFB0-C26B-7A0836279069}"/>
                  </a:ext>
                </a:extLst>
              </p:cNvPr>
              <p:cNvGrpSpPr/>
              <p:nvPr/>
            </p:nvGrpSpPr>
            <p:grpSpPr>
              <a:xfrm>
                <a:off x="1027135" y="5053331"/>
                <a:ext cx="10088540" cy="475932"/>
                <a:chOff x="1027135" y="5053331"/>
                <a:chExt cx="10088540" cy="475932"/>
              </a:xfrm>
              <a:grpFill/>
            </p:grpSpPr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1D685671-413E-B6E4-DA33-4B7CE9A078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5" y="5285984"/>
                  <a:ext cx="10088540" cy="14677"/>
                </a:xfrm>
                <a:prstGeom prst="straightConnector1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6102A51E-B709-262C-29B0-3357101E17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6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104CB93D-7CB2-C087-0EA4-5A2E45C4B0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93890" y="5072062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AF50B20C-8E42-99AB-CC03-EA41DC298B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90258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1AA27F91-3CD9-4EFA-FF4E-B3434F325E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70524" y="505333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3F1F86F8-C490-C994-6B44-8554E67098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74923" y="5072063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C63DC4D-28AC-781B-2EE8-9628CE044AB1}"/>
                  </a:ext>
                </a:extLst>
              </p:cNvPr>
              <p:cNvSpPr txBox="1"/>
              <p:nvPr/>
            </p:nvSpPr>
            <p:spPr>
              <a:xfrm>
                <a:off x="873086" y="5713928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0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98C0FE-5B40-A5E6-3F2C-A8C61320CEB1}"/>
                  </a:ext>
                </a:extLst>
              </p:cNvPr>
              <p:cNvSpPr txBox="1"/>
              <p:nvPr/>
            </p:nvSpPr>
            <p:spPr>
              <a:xfrm>
                <a:off x="3139841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BB523BD-4C1F-74CC-4FB9-2D743CEC3800}"/>
                  </a:ext>
                </a:extLst>
              </p:cNvPr>
              <p:cNvSpPr txBox="1"/>
              <p:nvPr/>
            </p:nvSpPr>
            <p:spPr>
              <a:xfrm>
                <a:off x="5420874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0E8B0DB-00FC-8E79-DB88-6A6D331DBC4D}"/>
                  </a:ext>
                </a:extLst>
              </p:cNvPr>
              <p:cNvSpPr txBox="1"/>
              <p:nvPr/>
            </p:nvSpPr>
            <p:spPr>
              <a:xfrm>
                <a:off x="7716475" y="5710715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0AE96E4-56F1-E887-2152-6A1FA92776D9}"/>
                  </a:ext>
                </a:extLst>
              </p:cNvPr>
              <p:cNvSpPr txBox="1"/>
              <p:nvPr/>
            </p:nvSpPr>
            <p:spPr>
              <a:xfrm>
                <a:off x="10036209" y="5710715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4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9617A17-688D-034C-88FF-D1B059271432}"/>
                </a:ext>
              </a:extLst>
            </p:cNvPr>
            <p:cNvSpPr txBox="1"/>
            <p:nvPr/>
          </p:nvSpPr>
          <p:spPr>
            <a:xfrm>
              <a:off x="634622" y="2505673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4E241D7-2C86-9C36-2B29-7B5C455FF185}"/>
                </a:ext>
              </a:extLst>
            </p:cNvPr>
            <p:cNvSpPr txBox="1"/>
            <p:nvPr/>
          </p:nvSpPr>
          <p:spPr>
            <a:xfrm>
              <a:off x="2794158" y="2505617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D2BC88F-A662-7663-6025-0468F2A51F9C}"/>
                </a:ext>
              </a:extLst>
            </p:cNvPr>
            <p:cNvSpPr txBox="1"/>
            <p:nvPr/>
          </p:nvSpPr>
          <p:spPr>
            <a:xfrm>
              <a:off x="5113643" y="2505617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11600A2-0A5B-E318-52A8-FAA36E44652F}"/>
                </a:ext>
              </a:extLst>
            </p:cNvPr>
            <p:cNvSpPr txBox="1"/>
            <p:nvPr/>
          </p:nvSpPr>
          <p:spPr>
            <a:xfrm>
              <a:off x="7375792" y="2505617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01F8FCD-A012-8AD2-8890-6052E5BDEC1F}"/>
              </a:ext>
            </a:extLst>
          </p:cNvPr>
          <p:cNvSpPr txBox="1"/>
          <p:nvPr/>
        </p:nvSpPr>
        <p:spPr>
          <a:xfrm>
            <a:off x="10410910" y="2313666"/>
            <a:ext cx="1146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i</a:t>
            </a:r>
            <a:r>
              <a:rPr lang="en-US" sz="2400" b="1" dirty="0"/>
              <a:t> = 10%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2F956D8-CC0E-B017-E31D-3DF2FF16D11D}"/>
              </a:ext>
            </a:extLst>
          </p:cNvPr>
          <p:cNvGrpSpPr/>
          <p:nvPr/>
        </p:nvGrpSpPr>
        <p:grpSpPr>
          <a:xfrm>
            <a:off x="5453769" y="3758247"/>
            <a:ext cx="1814282" cy="829517"/>
            <a:chOff x="7753460" y="3779339"/>
            <a:chExt cx="2002536" cy="686900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C320C87-AFC7-9BE7-8867-702EBB8A2276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 flipH="1">
              <a:off x="7786913" y="3779339"/>
              <a:ext cx="3471" cy="686900"/>
            </a:xfrm>
            <a:prstGeom prst="line">
              <a:avLst/>
            </a:prstGeom>
            <a:ln w="571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90D4BB2A-7E8F-F805-76EF-66B6EDA173B8}"/>
                </a:ext>
              </a:extLst>
            </p:cNvPr>
            <p:cNvCxnSpPr>
              <a:cxnSpLocks/>
            </p:cNvCxnSpPr>
            <p:nvPr/>
          </p:nvCxnSpPr>
          <p:spPr>
            <a:xfrm>
              <a:off x="7753460" y="4463610"/>
              <a:ext cx="2002536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7E72FBC-9277-655F-B131-3278E3904948}"/>
              </a:ext>
            </a:extLst>
          </p:cNvPr>
          <p:cNvGrpSpPr/>
          <p:nvPr/>
        </p:nvGrpSpPr>
        <p:grpSpPr>
          <a:xfrm>
            <a:off x="3171825" y="3765048"/>
            <a:ext cx="4106736" cy="1425495"/>
            <a:chOff x="7787056" y="3866811"/>
            <a:chExt cx="1998772" cy="643807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46E187F-ECBE-808B-A0B1-C60E91313282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>
              <a:off x="7800264" y="3866811"/>
              <a:ext cx="0" cy="643807"/>
            </a:xfrm>
            <a:prstGeom prst="line">
              <a:avLst/>
            </a:prstGeom>
            <a:ln w="571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CFF18295-2D2C-0A1C-F6D1-C56A42FC06AE}"/>
                </a:ext>
              </a:extLst>
            </p:cNvPr>
            <p:cNvCxnSpPr>
              <a:cxnSpLocks/>
            </p:cNvCxnSpPr>
            <p:nvPr/>
          </p:nvCxnSpPr>
          <p:spPr>
            <a:xfrm>
              <a:off x="7787056" y="4509184"/>
              <a:ext cx="1998772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7EC1868-6729-92DE-DA43-F7EDF9818E78}"/>
              </a:ext>
            </a:extLst>
          </p:cNvPr>
          <p:cNvGrpSpPr/>
          <p:nvPr/>
        </p:nvGrpSpPr>
        <p:grpSpPr>
          <a:xfrm>
            <a:off x="901484" y="3758247"/>
            <a:ext cx="6395913" cy="2038147"/>
            <a:chOff x="7777959" y="3870953"/>
            <a:chExt cx="2008099" cy="650035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537A97F-67B2-DE56-B146-E9811DAFBA5C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 flipH="1">
              <a:off x="7786913" y="3870953"/>
              <a:ext cx="3119" cy="650035"/>
            </a:xfrm>
            <a:prstGeom prst="line">
              <a:avLst/>
            </a:prstGeom>
            <a:ln w="571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C0DC20F7-5CDF-CE26-CAA6-F9D8C573EDE0}"/>
                </a:ext>
              </a:extLst>
            </p:cNvPr>
            <p:cNvCxnSpPr>
              <a:cxnSpLocks/>
            </p:cNvCxnSpPr>
            <p:nvPr/>
          </p:nvCxnSpPr>
          <p:spPr>
            <a:xfrm>
              <a:off x="7777959" y="4512610"/>
              <a:ext cx="2008099" cy="34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783059F2-97FC-57A5-5C50-C0A5967704CE}"/>
              </a:ext>
            </a:extLst>
          </p:cNvPr>
          <p:cNvSpPr txBox="1"/>
          <p:nvPr/>
        </p:nvSpPr>
        <p:spPr>
          <a:xfrm>
            <a:off x="7409244" y="3906909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$100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30DA964-E938-01D4-1278-0A77194D2735}"/>
              </a:ext>
            </a:extLst>
          </p:cNvPr>
          <p:cNvSpPr txBox="1"/>
          <p:nvPr/>
        </p:nvSpPr>
        <p:spPr>
          <a:xfrm>
            <a:off x="7422069" y="4384534"/>
            <a:ext cx="729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$110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DA98972-EE1D-B9E4-56D7-44565A9261E1}"/>
              </a:ext>
            </a:extLst>
          </p:cNvPr>
          <p:cNvSpPr txBox="1"/>
          <p:nvPr/>
        </p:nvSpPr>
        <p:spPr>
          <a:xfrm>
            <a:off x="7409244" y="4987313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$121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123A9D0-2A59-9B45-75F0-69645D80A226}"/>
              </a:ext>
            </a:extLst>
          </p:cNvPr>
          <p:cNvSpPr txBox="1"/>
          <p:nvPr/>
        </p:nvSpPr>
        <p:spPr>
          <a:xfrm>
            <a:off x="7375792" y="5570070"/>
            <a:ext cx="968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$133.1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3F67BAE-BB34-E31F-BC33-D764FBA679A4}"/>
              </a:ext>
            </a:extLst>
          </p:cNvPr>
          <p:cNvCxnSpPr>
            <a:cxnSpLocks/>
          </p:cNvCxnSpPr>
          <p:nvPr/>
        </p:nvCxnSpPr>
        <p:spPr>
          <a:xfrm>
            <a:off x="7375792" y="6062161"/>
            <a:ext cx="104676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126F7A39-A5E1-965B-76F0-4442E339013F}"/>
              </a:ext>
            </a:extLst>
          </p:cNvPr>
          <p:cNvSpPr txBox="1"/>
          <p:nvPr/>
        </p:nvSpPr>
        <p:spPr>
          <a:xfrm>
            <a:off x="7438852" y="6218834"/>
            <a:ext cx="9428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$464.1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27AF22-5228-3576-3ABC-3B0D425E1AB3}"/>
              </a:ext>
            </a:extLst>
          </p:cNvPr>
          <p:cNvSpPr txBox="1"/>
          <p:nvPr/>
        </p:nvSpPr>
        <p:spPr>
          <a:xfrm>
            <a:off x="9611158" y="6260122"/>
            <a:ext cx="12682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$510.51</a:t>
            </a:r>
          </a:p>
        </p:txBody>
      </p:sp>
      <p:sp>
        <p:nvSpPr>
          <p:cNvPr id="7" name="Curved Down Arrow 6">
            <a:extLst>
              <a:ext uri="{FF2B5EF4-FFF2-40B4-BE49-F238E27FC236}">
                <a16:creationId xmlns:a16="http://schemas.microsoft.com/office/drawing/2014/main" id="{8B676C06-8ACB-60C6-A9DF-EAF70207B070}"/>
              </a:ext>
            </a:extLst>
          </p:cNvPr>
          <p:cNvSpPr/>
          <p:nvPr/>
        </p:nvSpPr>
        <p:spPr>
          <a:xfrm>
            <a:off x="8344326" y="5863060"/>
            <a:ext cx="1767129" cy="40011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0A66B3-53D9-464D-DBDE-FF72359A3763}"/>
              </a:ext>
            </a:extLst>
          </p:cNvPr>
          <p:cNvSpPr txBox="1"/>
          <p:nvPr/>
        </p:nvSpPr>
        <p:spPr>
          <a:xfrm>
            <a:off x="546334" y="1541595"/>
            <a:ext cx="47957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Helvetica" pitchFamily="2" charset="0"/>
              </a:rPr>
              <a:t>S</a:t>
            </a:r>
            <a:r>
              <a:rPr lang="en-US" sz="2800" b="1" i="0" dirty="0">
                <a:effectLst/>
                <a:latin typeface="Helvetica" pitchFamily="2" charset="0"/>
              </a:rPr>
              <a:t>tep-by-step approach:</a:t>
            </a:r>
            <a:endParaRPr lang="en-US" sz="28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970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1" grpId="0"/>
      <p:bldP spid="72" grpId="0"/>
      <p:bldP spid="73" grpId="0"/>
      <p:bldP spid="75" grpId="0"/>
      <p:bldP spid="81" grpId="0"/>
      <p:bldP spid="6" grpId="0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4D89E-3E55-C12C-2CD2-9CDEEB586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75A0EEE-2EC8-AEF2-1CA8-D1EFA851E9A8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98DD3A85-F5FA-8BCF-ADA1-4D6D4DD6C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052391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FV of an Annuity Due-2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536FAD-FD38-565B-AC5F-A44E7CA9300B}"/>
              </a:ext>
            </a:extLst>
          </p:cNvPr>
          <p:cNvSpPr txBox="1"/>
          <p:nvPr/>
        </p:nvSpPr>
        <p:spPr>
          <a:xfrm>
            <a:off x="519530" y="4363263"/>
            <a:ext cx="1146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i</a:t>
            </a:r>
            <a:r>
              <a:rPr lang="en-US" sz="2400" b="1" dirty="0"/>
              <a:t> = 10%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7BC4AD-7CDB-8967-8D12-B6E5EA3C5FEF}"/>
                  </a:ext>
                </a:extLst>
              </p:cNvPr>
              <p:cNvSpPr txBox="1"/>
              <p:nvPr/>
            </p:nvSpPr>
            <p:spPr>
              <a:xfrm>
                <a:off x="3454823" y="1506006"/>
                <a:ext cx="5632376" cy="840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𝐅𝐕𝐀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𝒅𝒖𝒆</m:t>
                          </m:r>
                        </m:e>
                        <m:sub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𝐍</m:t>
                          </m:r>
                        </m:sub>
                      </m:sSub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𝐏𝐌𝐓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0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b="1" i="0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sz="2400" b="1" i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b="1" i="0" smtClean="0"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  <m:r>
                                    <a:rPr lang="en-US" sz="2400" b="1" i="0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400" b="1" i="0" smtClean="0">
                                      <a:latin typeface="Cambria Math" panose="02040503050406030204" pitchFamily="18" charset="0"/>
                                    </a:rPr>
                                    <m:t>𝐍</m:t>
                                  </m:r>
                                </m:sup>
                              </m:sSup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den>
                          </m:f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𝒊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7BC4AD-7CDB-8967-8D12-B6E5EA3C5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823" y="1506006"/>
                <a:ext cx="5632376" cy="840999"/>
              </a:xfrm>
              <a:prstGeom prst="rect">
                <a:avLst/>
              </a:prstGeom>
              <a:blipFill>
                <a:blip r:embed="rId2"/>
                <a:stretch>
                  <a:fillRect l="-676" r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2B784E0-3F6C-7279-D594-169395267209}"/>
                  </a:ext>
                </a:extLst>
              </p:cNvPr>
              <p:cNvSpPr txBox="1"/>
              <p:nvPr/>
            </p:nvSpPr>
            <p:spPr>
              <a:xfrm>
                <a:off x="4161017" y="4182491"/>
                <a:ext cx="4219989" cy="528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FVA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𝑑𝑢𝑒</m:t>
                        </m:r>
                      </m:e>
                      <m:sub>
                        <m:r>
                          <a:rPr lang="en-US" sz="18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=100 </m:t>
                    </m:r>
                    <m:d>
                      <m:dPr>
                        <m:begChr m:val="["/>
                        <m:endChr m:val="]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8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0" smtClean="0">
                                    <a:latin typeface="Cambria Math" panose="02040503050406030204" pitchFamily="18" charset="0"/>
                                  </a:rPr>
                                  <m:t>(1+0.1)</m:t>
                                </m:r>
                              </m:e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0.1</m:t>
                            </m:r>
                          </m:den>
                        </m:f>
                        <m:r>
                          <a:rPr lang="en-US" sz="18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×(1+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0.1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2B784E0-3F6C-7279-D594-169395267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1017" y="4182491"/>
                <a:ext cx="4219989" cy="5289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CD06ADE-5695-9708-B639-22C9340B2D22}"/>
                  </a:ext>
                </a:extLst>
              </p:cNvPr>
              <p:cNvSpPr txBox="1"/>
              <p:nvPr/>
            </p:nvSpPr>
            <p:spPr>
              <a:xfrm>
                <a:off x="4278456" y="4875747"/>
                <a:ext cx="3985110" cy="504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FVA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𝑑𝑢𝑒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=100 </m:t>
                    </m:r>
                    <m:d>
                      <m:dPr>
                        <m:begChr m:val="["/>
                        <m:endChr m:val="]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1.4641−1</m:t>
                            </m:r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0.1</m:t>
                            </m:r>
                          </m:den>
                        </m:f>
                        <m:r>
                          <a:rPr lang="en-US" sz="18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×(1+0.1)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CD06ADE-5695-9708-B639-22C9340B2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456" y="4875747"/>
                <a:ext cx="3985110" cy="5048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1614DBB-E419-97F7-B209-53F5BFCD1782}"/>
                  </a:ext>
                </a:extLst>
              </p:cNvPr>
              <p:cNvSpPr txBox="1"/>
              <p:nvPr/>
            </p:nvSpPr>
            <p:spPr>
              <a:xfrm>
                <a:off x="2951718" y="5550790"/>
                <a:ext cx="61065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FVA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𝑑𝑢𝑒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US" b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4.641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1.1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1614DBB-E419-97F7-B209-53F5BFCD1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718" y="5550790"/>
                <a:ext cx="6106510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13D4A04-259D-BD6C-342B-A2EBCBFA07B4}"/>
                  </a:ext>
                </a:extLst>
              </p:cNvPr>
              <p:cNvSpPr txBox="1"/>
              <p:nvPr/>
            </p:nvSpPr>
            <p:spPr>
              <a:xfrm>
                <a:off x="3133772" y="6130325"/>
                <a:ext cx="610651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𝑭𝑽𝑨𝒅𝒖𝒆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sz="20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b="1" dirty="0"/>
                        <m:t>$510.51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13D4A04-259D-BD6C-342B-A2EBCBFA0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72" y="6130325"/>
                <a:ext cx="6106510" cy="400110"/>
              </a:xfrm>
              <a:prstGeom prst="rect">
                <a:avLst/>
              </a:prstGeom>
              <a:blipFill>
                <a:blip r:embed="rId6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13A1B0DD-5604-4296-0974-65AC76B06469}"/>
              </a:ext>
            </a:extLst>
          </p:cNvPr>
          <p:cNvGrpSpPr/>
          <p:nvPr/>
        </p:nvGrpSpPr>
        <p:grpSpPr>
          <a:xfrm>
            <a:off x="634622" y="2595090"/>
            <a:ext cx="10402251" cy="1344063"/>
            <a:chOff x="634622" y="2505617"/>
            <a:chExt cx="10402251" cy="1344063"/>
          </a:xfrm>
          <a:noFill/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DE73F59-977B-C092-9348-FBC8CE109059}"/>
                </a:ext>
              </a:extLst>
            </p:cNvPr>
            <p:cNvGrpSpPr/>
            <p:nvPr/>
          </p:nvGrpSpPr>
          <p:grpSpPr>
            <a:xfrm>
              <a:off x="794284" y="3051732"/>
              <a:ext cx="10242589" cy="797948"/>
              <a:chOff x="873086" y="5053331"/>
              <a:chExt cx="10242589" cy="1147434"/>
            </a:xfrm>
            <a:grpFill/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2183167B-A3CE-B4DC-F18B-BA6278B08CD0}"/>
                  </a:ext>
                </a:extLst>
              </p:cNvPr>
              <p:cNvGrpSpPr/>
              <p:nvPr/>
            </p:nvGrpSpPr>
            <p:grpSpPr>
              <a:xfrm>
                <a:off x="1027135" y="5053331"/>
                <a:ext cx="10088540" cy="475932"/>
                <a:chOff x="1027135" y="5053331"/>
                <a:chExt cx="10088540" cy="475932"/>
              </a:xfrm>
              <a:grpFill/>
            </p:grpSpPr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CB9BB814-6C01-5A1A-AD58-60899B633A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5" y="5285984"/>
                  <a:ext cx="10088540" cy="14677"/>
                </a:xfrm>
                <a:prstGeom prst="straightConnector1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0444FD7F-9E59-28DA-6CD5-7E633ACA34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6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C7C63AEF-7C49-A4B3-408B-98CC09927E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93890" y="5072062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62E0E7EC-674F-7826-6378-4AC499C5D0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90258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FDCBB97E-5236-C412-6F01-D3E64B8DD8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70524" y="505333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A57ED494-3CE2-4870-DFEE-24B8963FBC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74923" y="5072063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5557C64-1C10-231D-D599-1A6BD456819E}"/>
                  </a:ext>
                </a:extLst>
              </p:cNvPr>
              <p:cNvSpPr txBox="1"/>
              <p:nvPr/>
            </p:nvSpPr>
            <p:spPr>
              <a:xfrm>
                <a:off x="873086" y="5713928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0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961689C-BA80-2E8A-9A73-D2397F61FB72}"/>
                  </a:ext>
                </a:extLst>
              </p:cNvPr>
              <p:cNvSpPr txBox="1"/>
              <p:nvPr/>
            </p:nvSpPr>
            <p:spPr>
              <a:xfrm>
                <a:off x="3139841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1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6A093F4-C400-C38D-C710-BADBD4DF4CAA}"/>
                  </a:ext>
                </a:extLst>
              </p:cNvPr>
              <p:cNvSpPr txBox="1"/>
              <p:nvPr/>
            </p:nvSpPr>
            <p:spPr>
              <a:xfrm>
                <a:off x="5420874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2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D5A018F-6129-226A-E2B9-A098E724A41A}"/>
                  </a:ext>
                </a:extLst>
              </p:cNvPr>
              <p:cNvSpPr txBox="1"/>
              <p:nvPr/>
            </p:nvSpPr>
            <p:spPr>
              <a:xfrm>
                <a:off x="7716475" y="5710715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3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3F7F1F7-8A91-9006-E6B8-135232B30AE4}"/>
                  </a:ext>
                </a:extLst>
              </p:cNvPr>
              <p:cNvSpPr txBox="1"/>
              <p:nvPr/>
            </p:nvSpPr>
            <p:spPr>
              <a:xfrm>
                <a:off x="10036209" y="5710715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4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16DECAA-4AC5-CCC9-EF73-613DDFA6D975}"/>
                </a:ext>
              </a:extLst>
            </p:cNvPr>
            <p:cNvSpPr txBox="1"/>
            <p:nvPr/>
          </p:nvSpPr>
          <p:spPr>
            <a:xfrm>
              <a:off x="634622" y="2505673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F75A76B-D8DB-A0FE-4EE4-1A3EC68E2293}"/>
                </a:ext>
              </a:extLst>
            </p:cNvPr>
            <p:cNvSpPr txBox="1"/>
            <p:nvPr/>
          </p:nvSpPr>
          <p:spPr>
            <a:xfrm>
              <a:off x="2794158" y="2505617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8247857-6ABE-994F-100B-32BDA29ED722}"/>
                </a:ext>
              </a:extLst>
            </p:cNvPr>
            <p:cNvSpPr txBox="1"/>
            <p:nvPr/>
          </p:nvSpPr>
          <p:spPr>
            <a:xfrm>
              <a:off x="5113643" y="2505617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C0CF98C-CFB1-FF94-866C-1A800D4882F3}"/>
                </a:ext>
              </a:extLst>
            </p:cNvPr>
            <p:cNvSpPr txBox="1"/>
            <p:nvPr/>
          </p:nvSpPr>
          <p:spPr>
            <a:xfrm>
              <a:off x="7375792" y="2505617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855066A-D538-BBD1-A1B7-21E5FD5F37B7}"/>
              </a:ext>
            </a:extLst>
          </p:cNvPr>
          <p:cNvSpPr txBox="1"/>
          <p:nvPr/>
        </p:nvSpPr>
        <p:spPr>
          <a:xfrm>
            <a:off x="546334" y="1541595"/>
            <a:ext cx="172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Helvetica" pitchFamily="2" charset="0"/>
              </a:rPr>
              <a:t>Formula:</a:t>
            </a:r>
            <a:endParaRPr lang="en-US" sz="28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6" grpId="0"/>
      <p:bldP spid="28" grpId="0"/>
      <p:bldP spid="31" grpId="0"/>
      <p:bldP spid="3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0E059-B350-5FB6-9DF3-5438B1EFE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F53BE6-6687-DB3C-5C7D-97D3E5B76B99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144310AD-9793-AF1C-5F2C-158189C1E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052391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FV of Annuity Due</a:t>
            </a:r>
            <a:r>
              <a:rPr lang="en-US" sz="3600" b="1" baseline="-250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Using Calculator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38FC00-913B-A44B-C782-96EB5ACBCC0F}"/>
              </a:ext>
            </a:extLst>
          </p:cNvPr>
          <p:cNvSpPr txBox="1"/>
          <p:nvPr/>
        </p:nvSpPr>
        <p:spPr>
          <a:xfrm>
            <a:off x="2196662" y="242789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221460-202A-E9B5-FA27-75BAFBF00BAA}"/>
              </a:ext>
            </a:extLst>
          </p:cNvPr>
          <p:cNvSpPr txBox="1"/>
          <p:nvPr/>
        </p:nvSpPr>
        <p:spPr>
          <a:xfrm>
            <a:off x="746234" y="1574038"/>
            <a:ext cx="10796930" cy="50321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dirty="0">
                <a:latin typeface="Helvetica" pitchFamily="2" charset="0"/>
              </a:rPr>
              <a:t>Two Calculation Methods:</a:t>
            </a:r>
          </a:p>
          <a:p>
            <a:pPr marL="742950" lvl="1" indent="-285750">
              <a:spcBef>
                <a:spcPts val="12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400" dirty="0">
                <a:latin typeface="Helvetica" pitchFamily="2" charset="0"/>
              </a:rPr>
              <a:t>Using </a:t>
            </a:r>
            <a:r>
              <a:rPr lang="en-US" sz="2400" b="1" dirty="0">
                <a:latin typeface="Helvetica" pitchFamily="2" charset="0"/>
              </a:rPr>
              <a:t>End Mode </a:t>
            </a:r>
            <a:r>
              <a:rPr lang="en-US" sz="2400" dirty="0">
                <a:latin typeface="Helvetica" pitchFamily="2" charset="0"/>
              </a:rPr>
              <a:t>(Ordinary Annuity Method)</a:t>
            </a:r>
          </a:p>
          <a:p>
            <a:pPr marL="1200150" lvl="2" indent="-2857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000" dirty="0">
                <a:latin typeface="Helvetica" pitchFamily="2" charset="0"/>
              </a:rPr>
              <a:t>Calculate the Future Value (FV) as if it's an ordinary annuity.</a:t>
            </a:r>
          </a:p>
          <a:p>
            <a:pPr marL="1200150" lvl="2" indent="-2857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000" dirty="0">
                <a:latin typeface="Helvetica" pitchFamily="2" charset="0"/>
              </a:rPr>
              <a:t>Adjust for Annuity Due: Multiply the result by (1 + </a:t>
            </a:r>
            <a:r>
              <a:rPr lang="en-US" sz="2000" dirty="0" err="1">
                <a:latin typeface="Helvetica" pitchFamily="2" charset="0"/>
              </a:rPr>
              <a:t>i</a:t>
            </a:r>
            <a:r>
              <a:rPr lang="en-US" sz="2000" dirty="0">
                <a:latin typeface="Helvetica" pitchFamily="2" charset="0"/>
              </a:rPr>
              <a:t>) to account for earlier payments.</a:t>
            </a:r>
          </a:p>
          <a:p>
            <a:pPr marL="742950" lvl="1" indent="-285750">
              <a:spcBef>
                <a:spcPts val="12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400" dirty="0">
                <a:latin typeface="Helvetica" pitchFamily="2" charset="0"/>
              </a:rPr>
              <a:t>Using </a:t>
            </a:r>
            <a:r>
              <a:rPr lang="en-US" sz="2400" b="1" dirty="0">
                <a:latin typeface="Helvetica" pitchFamily="2" charset="0"/>
              </a:rPr>
              <a:t>Begin Mode </a:t>
            </a:r>
            <a:r>
              <a:rPr lang="en-US" sz="2400" dirty="0">
                <a:latin typeface="Helvetica" pitchFamily="2" charset="0"/>
              </a:rPr>
              <a:t>(Annuity Due Method)</a:t>
            </a:r>
          </a:p>
          <a:p>
            <a:pPr marL="1200150" lvl="2" indent="-2857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000" dirty="0">
                <a:latin typeface="Helvetica" pitchFamily="2" charset="0"/>
              </a:rPr>
              <a:t>Set your calculator to </a:t>
            </a:r>
            <a:r>
              <a:rPr lang="en-US" sz="2000" b="1" dirty="0">
                <a:latin typeface="Helvetica" pitchFamily="2" charset="0"/>
              </a:rPr>
              <a:t>BGN mode </a:t>
            </a:r>
            <a:r>
              <a:rPr lang="en-US" sz="2000" dirty="0">
                <a:latin typeface="Helvetica" pitchFamily="2" charset="0"/>
              </a:rPr>
              <a:t>(payments at the beginning).</a:t>
            </a:r>
          </a:p>
          <a:p>
            <a:pPr marL="1200150" lvl="2" indent="-2857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000" dirty="0">
                <a:latin typeface="Helvetica" pitchFamily="2" charset="0"/>
              </a:rPr>
              <a:t>Directly calculate the Future Value without further adjustment.</a:t>
            </a:r>
          </a:p>
          <a:p>
            <a:pPr marL="1200150" lvl="2" indent="-2857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000" dirty="0">
                <a:latin typeface="Helvetica" pitchFamily="2" charset="0"/>
              </a:rPr>
              <a:t>Press </a:t>
            </a:r>
            <a:r>
              <a:rPr lang="en-US" sz="2000" b="1" dirty="0">
                <a:latin typeface="Helvetica" pitchFamily="2" charset="0"/>
              </a:rPr>
              <a:t>2nd</a:t>
            </a:r>
            <a:r>
              <a:rPr lang="en-US" sz="2000" dirty="0">
                <a:latin typeface="Helvetica" pitchFamily="2" charset="0"/>
              </a:rPr>
              <a:t> → </a:t>
            </a:r>
            <a:r>
              <a:rPr lang="en-US" sz="2000" b="1" dirty="0">
                <a:latin typeface="Helvetica" pitchFamily="2" charset="0"/>
              </a:rPr>
              <a:t>PMT</a:t>
            </a:r>
            <a:r>
              <a:rPr lang="en-US" sz="2000" dirty="0">
                <a:latin typeface="Helvetica" pitchFamily="2" charset="0"/>
              </a:rPr>
              <a:t> →</a:t>
            </a:r>
            <a:r>
              <a:rPr lang="en-US" sz="2000" b="1" dirty="0">
                <a:latin typeface="Helvetica" pitchFamily="2" charset="0"/>
              </a:rPr>
              <a:t> 2nd</a:t>
            </a:r>
            <a:r>
              <a:rPr lang="en-US" sz="2000" dirty="0">
                <a:latin typeface="Helvetica" pitchFamily="2" charset="0"/>
              </a:rPr>
              <a:t> → </a:t>
            </a:r>
            <a:r>
              <a:rPr lang="en-US" sz="2000" b="1" dirty="0">
                <a:latin typeface="Helvetica" pitchFamily="2" charset="0"/>
              </a:rPr>
              <a:t>SET </a:t>
            </a:r>
            <a:r>
              <a:rPr lang="en-US" sz="2000" dirty="0">
                <a:latin typeface="Helvetica" pitchFamily="2" charset="0"/>
              </a:rPr>
              <a:t>→ </a:t>
            </a:r>
            <a:r>
              <a:rPr lang="en-US" sz="2000" b="1" dirty="0">
                <a:latin typeface="Helvetica" pitchFamily="2" charset="0"/>
              </a:rPr>
              <a:t>2nd</a:t>
            </a:r>
            <a:r>
              <a:rPr lang="en-US" sz="2000" dirty="0">
                <a:latin typeface="Helvetica" pitchFamily="2" charset="0"/>
              </a:rPr>
              <a:t> → </a:t>
            </a:r>
            <a:r>
              <a:rPr lang="en-US" sz="2000" b="1" dirty="0">
                <a:latin typeface="Helvetica" pitchFamily="2" charset="0"/>
              </a:rPr>
              <a:t>QUIT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Helvetica" pitchFamily="2" charset="0"/>
              </a:rPr>
              <a:t>👉 </a:t>
            </a:r>
            <a:r>
              <a:rPr lang="en-US" sz="2000" b="1" dirty="0">
                <a:latin typeface="Helvetica" pitchFamily="2" charset="0"/>
              </a:rPr>
              <a:t>To switch back to End Mode:</a:t>
            </a:r>
            <a:r>
              <a:rPr lang="en-US" sz="2000" dirty="0">
                <a:latin typeface="Helvetica" pitchFamily="2" charset="0"/>
              </a:rPr>
              <a:t> Repeat the steps and ensure </a:t>
            </a:r>
            <a:r>
              <a:rPr lang="en-US" sz="2000" b="1" dirty="0">
                <a:latin typeface="Helvetica" pitchFamily="2" charset="0"/>
              </a:rPr>
              <a:t>BGN</a:t>
            </a:r>
            <a:r>
              <a:rPr lang="en-US" sz="2000" dirty="0">
                <a:latin typeface="Helvetica" pitchFamily="2" charset="0"/>
              </a:rPr>
              <a:t> disappears.</a:t>
            </a:r>
            <a:endParaRPr lang="en-US" sz="2000" b="1" dirty="0">
              <a:latin typeface="Helvetica" pitchFamily="2" charset="0"/>
            </a:endParaRPr>
          </a:p>
          <a:p>
            <a:pPr marL="285750" indent="-285750">
              <a:spcBef>
                <a:spcPts val="12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dirty="0">
                <a:latin typeface="Helvetica" pitchFamily="2" charset="0"/>
              </a:rPr>
              <a:t>Both methods give the same result!</a:t>
            </a:r>
          </a:p>
        </p:txBody>
      </p:sp>
    </p:spTree>
    <p:extLst>
      <p:ext uri="{BB962C8B-B14F-4D97-AF65-F5344CB8AC3E}">
        <p14:creationId xmlns:p14="http://schemas.microsoft.com/office/powerpoint/2010/main" val="24484359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2E95D-7507-AD99-53DF-E1CCD825F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1F8DB9-67EC-C6EA-45FB-92C90827084B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B937C338-A03F-AC40-8AE6-1A2379456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052391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FV of an Annuity Due-3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6E20FC-D178-5955-5847-D3BF51528B33}"/>
              </a:ext>
            </a:extLst>
          </p:cNvPr>
          <p:cNvSpPr txBox="1"/>
          <p:nvPr/>
        </p:nvSpPr>
        <p:spPr>
          <a:xfrm>
            <a:off x="500531" y="3610582"/>
            <a:ext cx="1146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i</a:t>
            </a:r>
            <a:r>
              <a:rPr lang="en-US" sz="2400" b="1" dirty="0"/>
              <a:t> = 10%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EFB2DCB-6664-C606-15D6-F986BB005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636961"/>
              </p:ext>
            </p:extLst>
          </p:nvPr>
        </p:nvGraphicFramePr>
        <p:xfrm>
          <a:off x="3061039" y="4873352"/>
          <a:ext cx="5918277" cy="11887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15028">
                  <a:extLst>
                    <a:ext uri="{9D8B030D-6E8A-4147-A177-3AD203B41FA5}">
                      <a16:colId xmlns:a16="http://schemas.microsoft.com/office/drawing/2014/main" val="2986694891"/>
                    </a:ext>
                  </a:extLst>
                </a:gridCol>
                <a:gridCol w="1086567">
                  <a:extLst>
                    <a:ext uri="{9D8B030D-6E8A-4147-A177-3AD203B41FA5}">
                      <a16:colId xmlns:a16="http://schemas.microsoft.com/office/drawing/2014/main" val="2867844822"/>
                    </a:ext>
                  </a:extLst>
                </a:gridCol>
                <a:gridCol w="1229532">
                  <a:extLst>
                    <a:ext uri="{9D8B030D-6E8A-4147-A177-3AD203B41FA5}">
                      <a16:colId xmlns:a16="http://schemas.microsoft.com/office/drawing/2014/main" val="3714192118"/>
                    </a:ext>
                  </a:extLst>
                </a:gridCol>
                <a:gridCol w="1265545">
                  <a:extLst>
                    <a:ext uri="{9D8B030D-6E8A-4147-A177-3AD203B41FA5}">
                      <a16:colId xmlns:a16="http://schemas.microsoft.com/office/drawing/2014/main" val="937620826"/>
                    </a:ext>
                  </a:extLst>
                </a:gridCol>
                <a:gridCol w="1321605">
                  <a:extLst>
                    <a:ext uri="{9D8B030D-6E8A-4147-A177-3AD203B41FA5}">
                      <a16:colId xmlns:a16="http://schemas.microsoft.com/office/drawing/2014/main" val="2814070118"/>
                    </a:ext>
                  </a:extLst>
                </a:gridCol>
              </a:tblGrid>
              <a:tr h="358602">
                <a:tc gridSpan="5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elvetica" pitchFamily="2" charset="0"/>
                        </a:rPr>
                        <a:t>Using Calculator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703353"/>
                  </a:ext>
                </a:extLst>
              </a:tr>
              <a:tr h="32732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I/Y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Helvetica" pitchFamily="2" charset="0"/>
                        </a:rPr>
                        <a:t>PV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PMT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FV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5287289"/>
                  </a:ext>
                </a:extLst>
              </a:tr>
              <a:tr h="32732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-100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11001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507F534-AC8F-1519-8828-B496540A4D66}"/>
              </a:ext>
            </a:extLst>
          </p:cNvPr>
          <p:cNvSpPr txBox="1"/>
          <p:nvPr/>
        </p:nvSpPr>
        <p:spPr>
          <a:xfrm>
            <a:off x="4957225" y="6276172"/>
            <a:ext cx="21259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FV = $ 510.51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BF77C9E-A0F2-1518-183C-EE434905FEE2}"/>
              </a:ext>
            </a:extLst>
          </p:cNvPr>
          <p:cNvGrpSpPr/>
          <p:nvPr/>
        </p:nvGrpSpPr>
        <p:grpSpPr>
          <a:xfrm>
            <a:off x="634622" y="2184144"/>
            <a:ext cx="10402251" cy="1344063"/>
            <a:chOff x="634622" y="2505617"/>
            <a:chExt cx="10402251" cy="1344063"/>
          </a:xfrm>
          <a:noFill/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4B1AEC1-4593-A52F-BA50-EBBA207DE975}"/>
                </a:ext>
              </a:extLst>
            </p:cNvPr>
            <p:cNvGrpSpPr/>
            <p:nvPr/>
          </p:nvGrpSpPr>
          <p:grpSpPr>
            <a:xfrm>
              <a:off x="794284" y="3051732"/>
              <a:ext cx="10242589" cy="797948"/>
              <a:chOff x="873086" y="5053331"/>
              <a:chExt cx="10242589" cy="1147434"/>
            </a:xfrm>
            <a:grpFill/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4A1FDD45-9BCA-586F-B5B2-34B3FEAA9C01}"/>
                  </a:ext>
                </a:extLst>
              </p:cNvPr>
              <p:cNvGrpSpPr/>
              <p:nvPr/>
            </p:nvGrpSpPr>
            <p:grpSpPr>
              <a:xfrm>
                <a:off x="1027135" y="5053331"/>
                <a:ext cx="10088540" cy="475932"/>
                <a:chOff x="1027135" y="5053331"/>
                <a:chExt cx="10088540" cy="475932"/>
              </a:xfrm>
              <a:grpFill/>
            </p:grpSpPr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0ADE6B81-79A3-8C18-439E-5580EA88E1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5" y="5285984"/>
                  <a:ext cx="10088540" cy="14677"/>
                </a:xfrm>
                <a:prstGeom prst="straightConnector1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1E902091-B247-907D-D322-3FADA7113C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6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ADFE0436-3E26-7FDD-456F-F3DF9159E0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93890" y="5072062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A478FB73-085A-1AE0-7C08-A4E0F2D4EB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90258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D723B3C2-18C3-0110-F4F5-5E91DCC840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70524" y="505333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554E9AF3-FC87-6FA3-CEE5-90E950DED5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74923" y="5072063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21F62DB-CB80-98C4-8454-1FCA4E5D02C1}"/>
                  </a:ext>
                </a:extLst>
              </p:cNvPr>
              <p:cNvSpPr txBox="1"/>
              <p:nvPr/>
            </p:nvSpPr>
            <p:spPr>
              <a:xfrm>
                <a:off x="873086" y="5713928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0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5F6E5DC-1324-C4E0-5B9B-429A921C21BB}"/>
                  </a:ext>
                </a:extLst>
              </p:cNvPr>
              <p:cNvSpPr txBox="1"/>
              <p:nvPr/>
            </p:nvSpPr>
            <p:spPr>
              <a:xfrm>
                <a:off x="3139841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1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30D7E1D-772E-8D1B-9996-AD562E6C25F3}"/>
                  </a:ext>
                </a:extLst>
              </p:cNvPr>
              <p:cNvSpPr txBox="1"/>
              <p:nvPr/>
            </p:nvSpPr>
            <p:spPr>
              <a:xfrm>
                <a:off x="5420874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2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12E74E0-EDB0-E6A1-875A-CB9B8B94EC0F}"/>
                  </a:ext>
                </a:extLst>
              </p:cNvPr>
              <p:cNvSpPr txBox="1"/>
              <p:nvPr/>
            </p:nvSpPr>
            <p:spPr>
              <a:xfrm>
                <a:off x="7716475" y="5710715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3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A40481B-BFC5-25C7-144C-2879ECCFC74B}"/>
                  </a:ext>
                </a:extLst>
              </p:cNvPr>
              <p:cNvSpPr txBox="1"/>
              <p:nvPr/>
            </p:nvSpPr>
            <p:spPr>
              <a:xfrm>
                <a:off x="10036209" y="5710715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4</a:t>
                </a: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577B70C-EE02-9758-DA7B-41462F963185}"/>
                </a:ext>
              </a:extLst>
            </p:cNvPr>
            <p:cNvSpPr txBox="1"/>
            <p:nvPr/>
          </p:nvSpPr>
          <p:spPr>
            <a:xfrm>
              <a:off x="634622" y="2505673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56AB1BE-3CBC-B6E1-E563-BA036EBEE68A}"/>
                </a:ext>
              </a:extLst>
            </p:cNvPr>
            <p:cNvSpPr txBox="1"/>
            <p:nvPr/>
          </p:nvSpPr>
          <p:spPr>
            <a:xfrm>
              <a:off x="2794158" y="2505617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32B1712-F855-CF8B-C948-C79DCF25091E}"/>
                </a:ext>
              </a:extLst>
            </p:cNvPr>
            <p:cNvSpPr txBox="1"/>
            <p:nvPr/>
          </p:nvSpPr>
          <p:spPr>
            <a:xfrm>
              <a:off x="5113643" y="2505617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9B63143-A9E4-854F-D2EB-BE00EA043426}"/>
                </a:ext>
              </a:extLst>
            </p:cNvPr>
            <p:cNvSpPr txBox="1"/>
            <p:nvPr/>
          </p:nvSpPr>
          <p:spPr>
            <a:xfrm>
              <a:off x="7375792" y="2505617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3FAF99D-4BF1-609A-524A-52DD0509D081}"/>
              </a:ext>
            </a:extLst>
          </p:cNvPr>
          <p:cNvSpPr txBox="1"/>
          <p:nvPr/>
        </p:nvSpPr>
        <p:spPr>
          <a:xfrm>
            <a:off x="3061039" y="3715602"/>
            <a:ext cx="59939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Helvetica" pitchFamily="2" charset="0"/>
              </a:rPr>
              <a:t>SET Calculator to BGN Mode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Helvetica" pitchFamily="2" charset="0"/>
              </a:rPr>
              <a:t>Press: </a:t>
            </a:r>
            <a:r>
              <a:rPr lang="en-US" sz="2000" b="1" dirty="0">
                <a:latin typeface="Helvetica" pitchFamily="2" charset="0"/>
              </a:rPr>
              <a:t>2nd</a:t>
            </a:r>
            <a:r>
              <a:rPr lang="en-US" sz="2000" dirty="0">
                <a:latin typeface="Helvetica" pitchFamily="2" charset="0"/>
              </a:rPr>
              <a:t> → </a:t>
            </a:r>
            <a:r>
              <a:rPr lang="en-US" sz="2000" b="1" dirty="0">
                <a:latin typeface="Helvetica" pitchFamily="2" charset="0"/>
              </a:rPr>
              <a:t>PMT</a:t>
            </a:r>
            <a:r>
              <a:rPr lang="en-US" sz="2000" dirty="0">
                <a:latin typeface="Helvetica" pitchFamily="2" charset="0"/>
              </a:rPr>
              <a:t> →</a:t>
            </a:r>
            <a:r>
              <a:rPr lang="en-US" sz="2000" b="1" dirty="0">
                <a:latin typeface="Helvetica" pitchFamily="2" charset="0"/>
              </a:rPr>
              <a:t> 2nd</a:t>
            </a:r>
            <a:r>
              <a:rPr lang="en-US" sz="2000" dirty="0">
                <a:latin typeface="Helvetica" pitchFamily="2" charset="0"/>
              </a:rPr>
              <a:t> → </a:t>
            </a:r>
            <a:r>
              <a:rPr lang="en-US" sz="2000" b="1" dirty="0">
                <a:latin typeface="Helvetica" pitchFamily="2" charset="0"/>
              </a:rPr>
              <a:t>SET </a:t>
            </a:r>
            <a:r>
              <a:rPr lang="en-US" sz="2000" dirty="0">
                <a:latin typeface="Helvetica" pitchFamily="2" charset="0"/>
              </a:rPr>
              <a:t>→ </a:t>
            </a:r>
            <a:r>
              <a:rPr lang="en-US" sz="2000" b="1" dirty="0">
                <a:latin typeface="Helvetica" pitchFamily="2" charset="0"/>
              </a:rPr>
              <a:t>2nd</a:t>
            </a:r>
            <a:r>
              <a:rPr lang="en-US" sz="2000" dirty="0">
                <a:latin typeface="Helvetica" pitchFamily="2" charset="0"/>
              </a:rPr>
              <a:t> → </a:t>
            </a:r>
            <a:r>
              <a:rPr lang="en-US" sz="2000" b="1" dirty="0">
                <a:latin typeface="Helvetica" pitchFamily="2" charset="0"/>
              </a:rPr>
              <a:t>QUIT</a:t>
            </a:r>
            <a:endParaRPr lang="en-US" sz="1800" b="1" dirty="0">
              <a:latin typeface="Helvetica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506448-CA7C-48EA-D9FA-A0D353BE32E7}"/>
              </a:ext>
            </a:extLst>
          </p:cNvPr>
          <p:cNvSpPr txBox="1"/>
          <p:nvPr/>
        </p:nvSpPr>
        <p:spPr>
          <a:xfrm>
            <a:off x="546335" y="1541595"/>
            <a:ext cx="3713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Helvetica" pitchFamily="2" charset="0"/>
              </a:rPr>
              <a:t>F</a:t>
            </a:r>
            <a:r>
              <a:rPr lang="en-US" sz="2800" b="1" i="0" dirty="0">
                <a:effectLst/>
                <a:latin typeface="Helvetica" pitchFamily="2" charset="0"/>
              </a:rPr>
              <a:t>inancial </a:t>
            </a:r>
            <a:r>
              <a:rPr lang="en-US" sz="2800" b="1" dirty="0">
                <a:latin typeface="Helvetica" pitchFamily="2" charset="0"/>
              </a:rPr>
              <a:t>C</a:t>
            </a:r>
            <a:r>
              <a:rPr lang="en-US" sz="2800" b="1" i="0" dirty="0">
                <a:effectLst/>
                <a:latin typeface="Helvetica" pitchFamily="2" charset="0"/>
              </a:rPr>
              <a:t>alculator</a:t>
            </a:r>
            <a:r>
              <a:rPr lang="en-US" sz="2800" b="1" dirty="0">
                <a:latin typeface="Helvetica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804262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0C6A4-4DBB-B495-6473-AB4E994CB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9096064-803B-78B1-1E78-BF77A33747BD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3A6FEA3D-2793-9A9B-1661-A03DE563C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052391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PV of an Ordinary Annuity-1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2E1F221-6974-B2A9-4968-3E3800DB664E}"/>
              </a:ext>
            </a:extLst>
          </p:cNvPr>
          <p:cNvGrpSpPr/>
          <p:nvPr/>
        </p:nvGrpSpPr>
        <p:grpSpPr>
          <a:xfrm>
            <a:off x="1078495" y="2333087"/>
            <a:ext cx="10242589" cy="1427396"/>
            <a:chOff x="794284" y="2422284"/>
            <a:chExt cx="10242589" cy="1427396"/>
          </a:xfrm>
          <a:noFill/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99B992C-40A8-EDDD-347F-79424657A785}"/>
                </a:ext>
              </a:extLst>
            </p:cNvPr>
            <p:cNvGrpSpPr/>
            <p:nvPr/>
          </p:nvGrpSpPr>
          <p:grpSpPr>
            <a:xfrm>
              <a:off x="794284" y="3051732"/>
              <a:ext cx="10242589" cy="797948"/>
              <a:chOff x="873086" y="5053331"/>
              <a:chExt cx="10242589" cy="1147434"/>
            </a:xfrm>
            <a:grpFill/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92005B35-6E69-4ACD-4F9A-BDB683B27249}"/>
                  </a:ext>
                </a:extLst>
              </p:cNvPr>
              <p:cNvGrpSpPr/>
              <p:nvPr/>
            </p:nvGrpSpPr>
            <p:grpSpPr>
              <a:xfrm>
                <a:off x="1027135" y="5053331"/>
                <a:ext cx="10088540" cy="475932"/>
                <a:chOff x="1027135" y="5053331"/>
                <a:chExt cx="10088540" cy="475932"/>
              </a:xfrm>
              <a:grpFill/>
            </p:grpSpPr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742B5043-C554-003E-1827-2A5CB09C76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5" y="5285984"/>
                  <a:ext cx="10088540" cy="14677"/>
                </a:xfrm>
                <a:prstGeom prst="straightConnector1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F7AE2EF5-0E04-C5EB-C637-01346FA328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6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31C0D9C7-5FBD-B351-12D3-82C2FB2C37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93890" y="5072062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5A28C149-34A4-D9D7-7F9A-F555EA0E12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90258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F3A6CF43-D235-21D1-0476-A03B73C6F7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70524" y="505333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6C52C940-646A-E79E-1D2C-1B083E9BB1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74923" y="5072063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0765C50-4AAC-0E29-C51E-34963C20BDB0}"/>
                  </a:ext>
                </a:extLst>
              </p:cNvPr>
              <p:cNvSpPr txBox="1"/>
              <p:nvPr/>
            </p:nvSpPr>
            <p:spPr>
              <a:xfrm>
                <a:off x="873086" y="5713928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0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0A82933-054B-06F9-EF28-A5ADE9743E47}"/>
                  </a:ext>
                </a:extLst>
              </p:cNvPr>
              <p:cNvSpPr txBox="1"/>
              <p:nvPr/>
            </p:nvSpPr>
            <p:spPr>
              <a:xfrm>
                <a:off x="3139841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2594406-7191-12A0-0794-D61CC65F92E5}"/>
                  </a:ext>
                </a:extLst>
              </p:cNvPr>
              <p:cNvSpPr txBox="1"/>
              <p:nvPr/>
            </p:nvSpPr>
            <p:spPr>
              <a:xfrm>
                <a:off x="5420874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F82F6C6-3AC1-4512-F5C5-40125B445983}"/>
                  </a:ext>
                </a:extLst>
              </p:cNvPr>
              <p:cNvSpPr txBox="1"/>
              <p:nvPr/>
            </p:nvSpPr>
            <p:spPr>
              <a:xfrm>
                <a:off x="7716475" y="5710715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1CA7C7-A6EC-EE33-C223-B9B0EAA4C3E6}"/>
                  </a:ext>
                </a:extLst>
              </p:cNvPr>
              <p:cNvSpPr txBox="1"/>
              <p:nvPr/>
            </p:nvSpPr>
            <p:spPr>
              <a:xfrm>
                <a:off x="10036209" y="5710715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4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C627E8B-70A3-3A13-5222-F8A89D7DA1E4}"/>
                </a:ext>
              </a:extLst>
            </p:cNvPr>
            <p:cNvSpPr txBox="1"/>
            <p:nvPr/>
          </p:nvSpPr>
          <p:spPr>
            <a:xfrm>
              <a:off x="2890319" y="2453036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B5AA583-0B98-15A3-DBE5-42537AABBF72}"/>
                </a:ext>
              </a:extLst>
            </p:cNvPr>
            <p:cNvSpPr txBox="1"/>
            <p:nvPr/>
          </p:nvSpPr>
          <p:spPr>
            <a:xfrm>
              <a:off x="5171352" y="2422284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93FDA85-BD74-D1B2-EED2-6804D2101CCB}"/>
                </a:ext>
              </a:extLst>
            </p:cNvPr>
            <p:cNvSpPr txBox="1"/>
            <p:nvPr/>
          </p:nvSpPr>
          <p:spPr>
            <a:xfrm>
              <a:off x="7466953" y="2458134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43DBD39-895C-1104-FB96-E11AD8D2FC54}"/>
                </a:ext>
              </a:extLst>
            </p:cNvPr>
            <p:cNvSpPr txBox="1"/>
            <p:nvPr/>
          </p:nvSpPr>
          <p:spPr>
            <a:xfrm>
              <a:off x="9786687" y="2453036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AAD0E99-EE84-45B2-81CC-313BD7DEF06A}"/>
              </a:ext>
            </a:extLst>
          </p:cNvPr>
          <p:cNvSpPr txBox="1"/>
          <p:nvPr/>
        </p:nvSpPr>
        <p:spPr>
          <a:xfrm>
            <a:off x="546334" y="1541595"/>
            <a:ext cx="11184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Helvetica" pitchFamily="2" charset="0"/>
              </a:rPr>
              <a:t>S</a:t>
            </a:r>
            <a:r>
              <a:rPr lang="en-US" sz="2800" b="1" i="0" dirty="0">
                <a:effectLst/>
                <a:latin typeface="Helvetica" pitchFamily="2" charset="0"/>
              </a:rPr>
              <a:t>tep-by-step approach:</a:t>
            </a:r>
            <a:endParaRPr lang="en-US" sz="2800" dirty="0"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CA46C0-E789-4134-A6C8-4A55CE0C5B75}"/>
              </a:ext>
            </a:extLst>
          </p:cNvPr>
          <p:cNvSpPr txBox="1"/>
          <p:nvPr/>
        </p:nvSpPr>
        <p:spPr>
          <a:xfrm>
            <a:off x="10747850" y="3384651"/>
            <a:ext cx="1146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i</a:t>
            </a:r>
            <a:r>
              <a:rPr lang="en-US" sz="2400" b="1" dirty="0"/>
              <a:t> = 10%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D6D874E-6AAB-3265-A6F7-E6996E2DBE32}"/>
              </a:ext>
            </a:extLst>
          </p:cNvPr>
          <p:cNvGrpSpPr/>
          <p:nvPr/>
        </p:nvGrpSpPr>
        <p:grpSpPr>
          <a:xfrm flipH="1">
            <a:off x="1555359" y="3758245"/>
            <a:ext cx="6537869" cy="1711088"/>
            <a:chOff x="7771375" y="3783981"/>
            <a:chExt cx="2002536" cy="679629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99A857EE-8808-B958-8901-37527BE816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80092" y="3783981"/>
              <a:ext cx="0" cy="679628"/>
            </a:xfrm>
            <a:prstGeom prst="line">
              <a:avLst/>
            </a:prstGeom>
            <a:ln w="571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AD13EB52-8FC3-8CA5-AD21-342AA4423614}"/>
                </a:ext>
              </a:extLst>
            </p:cNvPr>
            <p:cNvCxnSpPr>
              <a:cxnSpLocks/>
            </p:cNvCxnSpPr>
            <p:nvPr/>
          </p:nvCxnSpPr>
          <p:spPr>
            <a:xfrm>
              <a:off x="7771375" y="4463610"/>
              <a:ext cx="2002536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107FE76-535C-D350-D25B-9A3B7E81875F}"/>
              </a:ext>
            </a:extLst>
          </p:cNvPr>
          <p:cNvGrpSpPr/>
          <p:nvPr/>
        </p:nvGrpSpPr>
        <p:grpSpPr>
          <a:xfrm flipH="1">
            <a:off x="1566958" y="3761568"/>
            <a:ext cx="4225312" cy="1115347"/>
            <a:chOff x="7784318" y="3866811"/>
            <a:chExt cx="1998772" cy="643807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5D984AC-8230-E36E-794B-44B7DE8409E8}"/>
                </a:ext>
              </a:extLst>
            </p:cNvPr>
            <p:cNvCxnSpPr>
              <a:cxnSpLocks/>
            </p:cNvCxnSpPr>
            <p:nvPr/>
          </p:nvCxnSpPr>
          <p:spPr>
            <a:xfrm>
              <a:off x="7797244" y="3866811"/>
              <a:ext cx="0" cy="643807"/>
            </a:xfrm>
            <a:prstGeom prst="line">
              <a:avLst/>
            </a:prstGeom>
            <a:ln w="571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4DBD04F1-CBD7-C00E-1014-3784991852F2}"/>
                </a:ext>
              </a:extLst>
            </p:cNvPr>
            <p:cNvCxnSpPr>
              <a:cxnSpLocks/>
            </p:cNvCxnSpPr>
            <p:nvPr/>
          </p:nvCxnSpPr>
          <p:spPr>
            <a:xfrm>
              <a:off x="7784318" y="4505844"/>
              <a:ext cx="1998772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62F4FBE-9573-5099-8292-5DCBEE4504B6}"/>
              </a:ext>
            </a:extLst>
          </p:cNvPr>
          <p:cNvGrpSpPr/>
          <p:nvPr/>
        </p:nvGrpSpPr>
        <p:grpSpPr>
          <a:xfrm flipH="1">
            <a:off x="1566938" y="3758247"/>
            <a:ext cx="1932978" cy="518185"/>
            <a:chOff x="7771947" y="3870953"/>
            <a:chExt cx="2008099" cy="650035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5EC0B1F-23CE-7779-C526-1933DCFC00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98291" y="3870953"/>
              <a:ext cx="3119" cy="650035"/>
            </a:xfrm>
            <a:prstGeom prst="line">
              <a:avLst/>
            </a:prstGeom>
            <a:ln w="571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4DA463C8-867E-9C52-0FC9-7703D148656D}"/>
                </a:ext>
              </a:extLst>
            </p:cNvPr>
            <p:cNvCxnSpPr>
              <a:cxnSpLocks/>
            </p:cNvCxnSpPr>
            <p:nvPr/>
          </p:nvCxnSpPr>
          <p:spPr>
            <a:xfrm>
              <a:off x="7771947" y="4512610"/>
              <a:ext cx="2008099" cy="34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7C19FA00-FD6F-31C1-CFE4-AB313CF48D0A}"/>
              </a:ext>
            </a:extLst>
          </p:cNvPr>
          <p:cNvSpPr txBox="1"/>
          <p:nvPr/>
        </p:nvSpPr>
        <p:spPr>
          <a:xfrm>
            <a:off x="377291" y="4069698"/>
            <a:ext cx="968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$90.91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5B5E7FC-D090-C265-56C5-1B9E72F52584}"/>
              </a:ext>
            </a:extLst>
          </p:cNvPr>
          <p:cNvSpPr txBox="1"/>
          <p:nvPr/>
        </p:nvSpPr>
        <p:spPr>
          <a:xfrm>
            <a:off x="327081" y="4674376"/>
            <a:ext cx="968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$82.64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1ECADD-89C3-2D4E-32E0-CC427040FFCA}"/>
              </a:ext>
            </a:extLst>
          </p:cNvPr>
          <p:cNvSpPr txBox="1"/>
          <p:nvPr/>
        </p:nvSpPr>
        <p:spPr>
          <a:xfrm>
            <a:off x="333500" y="5269275"/>
            <a:ext cx="968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$75.13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7317533-0CB9-4D12-7664-76039B7851FD}"/>
              </a:ext>
            </a:extLst>
          </p:cNvPr>
          <p:cNvSpPr txBox="1"/>
          <p:nvPr/>
        </p:nvSpPr>
        <p:spPr>
          <a:xfrm>
            <a:off x="343059" y="5864174"/>
            <a:ext cx="968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$68.30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A1159AD-B24A-4418-0D42-E3108127708B}"/>
              </a:ext>
            </a:extLst>
          </p:cNvPr>
          <p:cNvCxnSpPr>
            <a:cxnSpLocks/>
          </p:cNvCxnSpPr>
          <p:nvPr/>
        </p:nvCxnSpPr>
        <p:spPr>
          <a:xfrm>
            <a:off x="277141" y="6297933"/>
            <a:ext cx="104676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D657CDF8-1DD8-687F-9344-20C8B16B5B56}"/>
              </a:ext>
            </a:extLst>
          </p:cNvPr>
          <p:cNvSpPr txBox="1"/>
          <p:nvPr/>
        </p:nvSpPr>
        <p:spPr>
          <a:xfrm>
            <a:off x="177200" y="6370255"/>
            <a:ext cx="12682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$316.98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13D6300-E974-903F-312F-502C66DECDD8}"/>
              </a:ext>
            </a:extLst>
          </p:cNvPr>
          <p:cNvGrpSpPr/>
          <p:nvPr/>
        </p:nvGrpSpPr>
        <p:grpSpPr>
          <a:xfrm flipH="1">
            <a:off x="1566958" y="3745095"/>
            <a:ext cx="8854682" cy="2350738"/>
            <a:chOff x="7768293" y="3783981"/>
            <a:chExt cx="2002536" cy="679628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E64F573-A11E-39D1-680F-71539BC4ED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74502" y="3783981"/>
              <a:ext cx="0" cy="679628"/>
            </a:xfrm>
            <a:prstGeom prst="line">
              <a:avLst/>
            </a:prstGeom>
            <a:ln w="571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6C92BA6-EB98-AD22-376B-1441BCBD79F7}"/>
                </a:ext>
              </a:extLst>
            </p:cNvPr>
            <p:cNvCxnSpPr>
              <a:cxnSpLocks/>
            </p:cNvCxnSpPr>
            <p:nvPr/>
          </p:nvCxnSpPr>
          <p:spPr>
            <a:xfrm>
              <a:off x="7768293" y="4461937"/>
              <a:ext cx="2002536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3915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1" grpId="0"/>
      <p:bldP spid="72" grpId="0"/>
      <p:bldP spid="73" grpId="0"/>
      <p:bldP spid="75" grpId="0"/>
      <p:bldP spid="8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8F7D2-2385-6A76-C19F-5E8CD3CD5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F446688-8740-58FA-1E48-5E9FCE85830C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001A1CD0-403B-BA12-83C0-98804AEB3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052391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PV of an Ordinary Annuity-2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1D01713-E72B-30A9-E42A-5CD2B6702EE0}"/>
              </a:ext>
            </a:extLst>
          </p:cNvPr>
          <p:cNvGrpSpPr/>
          <p:nvPr/>
        </p:nvGrpSpPr>
        <p:grpSpPr>
          <a:xfrm>
            <a:off x="794284" y="2822952"/>
            <a:ext cx="10242589" cy="1427396"/>
            <a:chOff x="794284" y="2422284"/>
            <a:chExt cx="10242589" cy="1427396"/>
          </a:xfrm>
          <a:noFill/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2FCBF70-547B-2CF7-5C0D-E4680B090AFB}"/>
                </a:ext>
              </a:extLst>
            </p:cNvPr>
            <p:cNvGrpSpPr/>
            <p:nvPr/>
          </p:nvGrpSpPr>
          <p:grpSpPr>
            <a:xfrm>
              <a:off x="794284" y="3051732"/>
              <a:ext cx="10242589" cy="797948"/>
              <a:chOff x="873086" y="5053331"/>
              <a:chExt cx="10242589" cy="1147434"/>
            </a:xfrm>
            <a:grpFill/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BAF515FD-38D2-69EF-BFDC-52F4B799FFD6}"/>
                  </a:ext>
                </a:extLst>
              </p:cNvPr>
              <p:cNvGrpSpPr/>
              <p:nvPr/>
            </p:nvGrpSpPr>
            <p:grpSpPr>
              <a:xfrm>
                <a:off x="1027135" y="5053331"/>
                <a:ext cx="10088540" cy="475932"/>
                <a:chOff x="1027135" y="5053331"/>
                <a:chExt cx="10088540" cy="475932"/>
              </a:xfrm>
              <a:grpFill/>
            </p:grpSpPr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5CD61C0A-2C51-B4B5-0D5D-9A84EB84B1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5" y="5285984"/>
                  <a:ext cx="10088540" cy="14677"/>
                </a:xfrm>
                <a:prstGeom prst="straightConnector1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A612A362-E2F7-3C1C-243B-24247DE0EF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6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D1B10F07-333E-F2C5-F23D-B414811816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93890" y="5072062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1A019864-02DD-01A0-B934-596C2D9A1A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90258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896123DA-138F-C12A-9ED4-ACA9AFE36D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70524" y="505333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0DFB66EC-B764-A338-1381-F2A3D7339E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74923" y="5072063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3C5F4C0-8B56-B86D-55BF-69D659C14653}"/>
                  </a:ext>
                </a:extLst>
              </p:cNvPr>
              <p:cNvSpPr txBox="1"/>
              <p:nvPr/>
            </p:nvSpPr>
            <p:spPr>
              <a:xfrm>
                <a:off x="873086" y="5713928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0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CAF8A2-5B37-9EE7-DF4F-14BBC12D2D24}"/>
                  </a:ext>
                </a:extLst>
              </p:cNvPr>
              <p:cNvSpPr txBox="1"/>
              <p:nvPr/>
            </p:nvSpPr>
            <p:spPr>
              <a:xfrm>
                <a:off x="3139841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948F2B3-202D-1609-325E-A92BF69B82E1}"/>
                  </a:ext>
                </a:extLst>
              </p:cNvPr>
              <p:cNvSpPr txBox="1"/>
              <p:nvPr/>
            </p:nvSpPr>
            <p:spPr>
              <a:xfrm>
                <a:off x="5420874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E32D804-2301-F09D-2B49-EE458CCF443C}"/>
                  </a:ext>
                </a:extLst>
              </p:cNvPr>
              <p:cNvSpPr txBox="1"/>
              <p:nvPr/>
            </p:nvSpPr>
            <p:spPr>
              <a:xfrm>
                <a:off x="7716475" y="5710715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93E6A9C-9026-5734-DD45-D34ADC4F90B5}"/>
                  </a:ext>
                </a:extLst>
              </p:cNvPr>
              <p:cNvSpPr txBox="1"/>
              <p:nvPr/>
            </p:nvSpPr>
            <p:spPr>
              <a:xfrm>
                <a:off x="10036209" y="5710715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4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7D9487E-C6E9-7F82-53C9-C206E5664C86}"/>
                </a:ext>
              </a:extLst>
            </p:cNvPr>
            <p:cNvSpPr txBox="1"/>
            <p:nvPr/>
          </p:nvSpPr>
          <p:spPr>
            <a:xfrm>
              <a:off x="2890319" y="2453036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CAF914F-902A-6A6B-5096-8C34FE424624}"/>
                </a:ext>
              </a:extLst>
            </p:cNvPr>
            <p:cNvSpPr txBox="1"/>
            <p:nvPr/>
          </p:nvSpPr>
          <p:spPr>
            <a:xfrm>
              <a:off x="5171352" y="2422284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3300D86-0909-AAAB-FE8B-48AD23285E2E}"/>
                </a:ext>
              </a:extLst>
            </p:cNvPr>
            <p:cNvSpPr txBox="1"/>
            <p:nvPr/>
          </p:nvSpPr>
          <p:spPr>
            <a:xfrm>
              <a:off x="7466953" y="2458134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9B8FF97-6EA2-FC56-A51C-CC937CA95B03}"/>
                </a:ext>
              </a:extLst>
            </p:cNvPr>
            <p:cNvSpPr txBox="1"/>
            <p:nvPr/>
          </p:nvSpPr>
          <p:spPr>
            <a:xfrm>
              <a:off x="9786687" y="2453036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0DB89FC-7E09-70E6-240D-C9B8B1AFA855}"/>
              </a:ext>
            </a:extLst>
          </p:cNvPr>
          <p:cNvSpPr txBox="1"/>
          <p:nvPr/>
        </p:nvSpPr>
        <p:spPr>
          <a:xfrm>
            <a:off x="519530" y="4363263"/>
            <a:ext cx="1146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i</a:t>
            </a:r>
            <a:r>
              <a:rPr lang="en-US" sz="2400" b="1" dirty="0"/>
              <a:t> = 10%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B4F827-750B-CA09-CED6-C38261D994D9}"/>
                  </a:ext>
                </a:extLst>
              </p:cNvPr>
              <p:cNvSpPr txBox="1"/>
              <p:nvPr/>
            </p:nvSpPr>
            <p:spPr>
              <a:xfrm>
                <a:off x="4245053" y="1476121"/>
                <a:ext cx="4049378" cy="10279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𝐏𝐕𝐀</m:t>
                          </m:r>
                        </m:e>
                        <m:sub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𝐍</m:t>
                          </m:r>
                        </m:sub>
                      </m:sSub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𝐏𝐌𝐓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400" b="1">
                                          <a:latin typeface="Cambria Math" panose="02040503050406030204" pitchFamily="18" charset="0"/>
                                        </a:rPr>
                                        <m:t>𝐍</m:t>
                                      </m:r>
                                    </m:sup>
                                  </m:sSup>
                                </m:den>
                              </m:f>
                            </m:num>
                            <m:den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den>
                          </m:f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b="1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B4F827-750B-CA09-CED6-C38261D99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053" y="1476121"/>
                <a:ext cx="4049378" cy="1027974"/>
              </a:xfrm>
              <a:prstGeom prst="rect">
                <a:avLst/>
              </a:prstGeom>
              <a:blipFill>
                <a:blip r:embed="rId2"/>
                <a:stretch>
                  <a:fillRect l="-1250" t="-1220" b="-8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A7C7DE5-B2D1-5ED9-99FB-7EF1FA8FCEF9}"/>
                  </a:ext>
                </a:extLst>
              </p:cNvPr>
              <p:cNvSpPr txBox="1"/>
              <p:nvPr/>
            </p:nvSpPr>
            <p:spPr>
              <a:xfrm>
                <a:off x="2939348" y="4374243"/>
                <a:ext cx="6106510" cy="8838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PVA</m:t>
                          </m:r>
                        </m:e>
                        <m:sub>
                          <m: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=100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b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0.1</m:t>
                                      </m:r>
                                      <m:r>
                                        <a:rPr lang="en-US" b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</m:den>
                              </m:f>
                            </m:num>
                            <m:den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den>
                          </m:f>
                          <m: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A7C7DE5-B2D1-5ED9-99FB-7EF1FA8FC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348" y="4374243"/>
                <a:ext cx="6106510" cy="8838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D219F9F-AE10-6225-29FA-7875403D7130}"/>
                  </a:ext>
                </a:extLst>
              </p:cNvPr>
              <p:cNvSpPr txBox="1"/>
              <p:nvPr/>
            </p:nvSpPr>
            <p:spPr>
              <a:xfrm>
                <a:off x="2958102" y="5236237"/>
                <a:ext cx="6106510" cy="6202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PVA</m:t>
                          </m:r>
                        </m:e>
                        <m:sub>
                          <m: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=100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683</m:t>
                              </m:r>
                            </m:num>
                            <m:den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den>
                          </m:f>
                          <m: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D219F9F-AE10-6225-29FA-7875403D7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8102" y="5236237"/>
                <a:ext cx="6106510" cy="620234"/>
              </a:xfrm>
              <a:prstGeom prst="rect">
                <a:avLst/>
              </a:prstGeom>
              <a:blipFill>
                <a:blip r:embed="rId4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4C6EC89-E340-7320-8022-C47E84A1723F}"/>
                  </a:ext>
                </a:extLst>
              </p:cNvPr>
              <p:cNvSpPr txBox="1"/>
              <p:nvPr/>
            </p:nvSpPr>
            <p:spPr>
              <a:xfrm>
                <a:off x="2951718" y="5834568"/>
                <a:ext cx="61065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PV</m:t>
                          </m:r>
                          <m:r>
                            <m:rPr>
                              <m:sty m:val="p"/>
                            </m:rPr>
                            <a:rPr lang="en-US" b="0" i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0">
                          <a:latin typeface="Cambria Math" panose="02040503050406030204" pitchFamily="18" charset="0"/>
                        </a:rPr>
                        <m:t>=100 </m:t>
                      </m:r>
                      <m:r>
                        <a:rPr lang="en-US" b="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3.1698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4C6EC89-E340-7320-8022-C47E84A17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718" y="5834568"/>
                <a:ext cx="6106510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B6093A7-6AB9-9EF3-5014-38E117759595}"/>
                  </a:ext>
                </a:extLst>
              </p:cNvPr>
              <p:cNvSpPr txBox="1"/>
              <p:nvPr/>
            </p:nvSpPr>
            <p:spPr>
              <a:xfrm>
                <a:off x="3133772" y="6330020"/>
                <a:ext cx="61065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𝐏𝐕</m:t>
                          </m:r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𝟑𝟏𝟔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𝟗𝟖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B6093A7-6AB9-9EF3-5014-38E117759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72" y="6330020"/>
                <a:ext cx="610651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A3AB463-CAEE-439D-D38E-A04F01761E8D}"/>
              </a:ext>
            </a:extLst>
          </p:cNvPr>
          <p:cNvSpPr txBox="1"/>
          <p:nvPr/>
        </p:nvSpPr>
        <p:spPr>
          <a:xfrm>
            <a:off x="546334" y="1541595"/>
            <a:ext cx="172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Helvetica" pitchFamily="2" charset="0"/>
              </a:rPr>
              <a:t>Formula:</a:t>
            </a:r>
            <a:endParaRPr lang="en-US" sz="28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636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6" grpId="0"/>
      <p:bldP spid="28" grpId="0"/>
      <p:bldP spid="31" grpId="0"/>
      <p:bldP spid="3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F1CA4-CADF-FD89-08CE-C3A6753F0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B12A891-4B85-FCB7-AF87-3C342F543245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4ED6EAE0-7112-192A-ACE3-422C4CCE9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052391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PV of an Ordinary Annuity-3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38B7745-71C2-AE8B-222C-567FC58BF853}"/>
              </a:ext>
            </a:extLst>
          </p:cNvPr>
          <p:cNvGrpSpPr/>
          <p:nvPr/>
        </p:nvGrpSpPr>
        <p:grpSpPr>
          <a:xfrm>
            <a:off x="775285" y="2202024"/>
            <a:ext cx="10242589" cy="1427396"/>
            <a:chOff x="794284" y="2422284"/>
            <a:chExt cx="10242589" cy="1427396"/>
          </a:xfrm>
          <a:noFill/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C7CB1F8-AF4E-6706-646E-9EB8255EAD6E}"/>
                </a:ext>
              </a:extLst>
            </p:cNvPr>
            <p:cNvGrpSpPr/>
            <p:nvPr/>
          </p:nvGrpSpPr>
          <p:grpSpPr>
            <a:xfrm>
              <a:off x="794284" y="3051732"/>
              <a:ext cx="10242589" cy="797948"/>
              <a:chOff x="873086" y="5053331"/>
              <a:chExt cx="10242589" cy="1147434"/>
            </a:xfrm>
            <a:grpFill/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ED649CCB-9AB3-B8FE-2A08-1BBE86E978F6}"/>
                  </a:ext>
                </a:extLst>
              </p:cNvPr>
              <p:cNvGrpSpPr/>
              <p:nvPr/>
            </p:nvGrpSpPr>
            <p:grpSpPr>
              <a:xfrm>
                <a:off x="1027135" y="5053331"/>
                <a:ext cx="10088540" cy="475932"/>
                <a:chOff x="1027135" y="5053331"/>
                <a:chExt cx="10088540" cy="475932"/>
              </a:xfrm>
              <a:grpFill/>
            </p:grpSpPr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1755FC17-03E5-DDA0-8662-BECF9E6B1C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5" y="5285984"/>
                  <a:ext cx="10088540" cy="14677"/>
                </a:xfrm>
                <a:prstGeom prst="straightConnector1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95AFD540-4FA2-0A20-FAD8-03431E8728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6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2D889A0F-AA83-A02D-FFCE-8AEBE0A8F8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93890" y="5072062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7D4AAEA3-3A05-00AB-3FA1-1D05BC3F21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90258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B514B05A-5184-DE6D-339F-9EA6551850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70524" y="505333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A6706618-4422-6EEC-399F-498C3C534C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74923" y="5072063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5B3EDBA-F794-33B8-6B54-ADFA9588A912}"/>
                  </a:ext>
                </a:extLst>
              </p:cNvPr>
              <p:cNvSpPr txBox="1"/>
              <p:nvPr/>
            </p:nvSpPr>
            <p:spPr>
              <a:xfrm>
                <a:off x="873086" y="5713928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0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03253DC-44E0-DA38-5CE5-A67403351A99}"/>
                  </a:ext>
                </a:extLst>
              </p:cNvPr>
              <p:cNvSpPr txBox="1"/>
              <p:nvPr/>
            </p:nvSpPr>
            <p:spPr>
              <a:xfrm>
                <a:off x="3139841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853C273-466C-1BB8-9D84-5E401D6DC15B}"/>
                  </a:ext>
                </a:extLst>
              </p:cNvPr>
              <p:cNvSpPr txBox="1"/>
              <p:nvPr/>
            </p:nvSpPr>
            <p:spPr>
              <a:xfrm>
                <a:off x="5420874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82F6E83-CCC6-4138-FC04-4CEF8A072A14}"/>
                  </a:ext>
                </a:extLst>
              </p:cNvPr>
              <p:cNvSpPr txBox="1"/>
              <p:nvPr/>
            </p:nvSpPr>
            <p:spPr>
              <a:xfrm>
                <a:off x="7716475" y="5710715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AD01132-FED4-CD42-0CA3-D7A707E2A911}"/>
                  </a:ext>
                </a:extLst>
              </p:cNvPr>
              <p:cNvSpPr txBox="1"/>
              <p:nvPr/>
            </p:nvSpPr>
            <p:spPr>
              <a:xfrm>
                <a:off x="10036209" y="5710715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4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03420AA-18BD-8FBF-EF8D-51C5A50B7EC3}"/>
                </a:ext>
              </a:extLst>
            </p:cNvPr>
            <p:cNvSpPr txBox="1"/>
            <p:nvPr/>
          </p:nvSpPr>
          <p:spPr>
            <a:xfrm>
              <a:off x="2890319" y="2453036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251D5D6-CD88-E495-A509-DC6A4C5C59C9}"/>
                </a:ext>
              </a:extLst>
            </p:cNvPr>
            <p:cNvSpPr txBox="1"/>
            <p:nvPr/>
          </p:nvSpPr>
          <p:spPr>
            <a:xfrm>
              <a:off x="5171352" y="2422284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2FD8AAF-6476-1B5D-AC64-CECD1E43C9DB}"/>
                </a:ext>
              </a:extLst>
            </p:cNvPr>
            <p:cNvSpPr txBox="1"/>
            <p:nvPr/>
          </p:nvSpPr>
          <p:spPr>
            <a:xfrm>
              <a:off x="7466953" y="2458134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BF707AF-49D4-5E6D-1ADE-CD44BEA2CFD4}"/>
                </a:ext>
              </a:extLst>
            </p:cNvPr>
            <p:cNvSpPr txBox="1"/>
            <p:nvPr/>
          </p:nvSpPr>
          <p:spPr>
            <a:xfrm>
              <a:off x="9786687" y="2453036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D4C7D7D-7615-238C-5F18-860492B616F9}"/>
              </a:ext>
            </a:extLst>
          </p:cNvPr>
          <p:cNvSpPr txBox="1"/>
          <p:nvPr/>
        </p:nvSpPr>
        <p:spPr>
          <a:xfrm>
            <a:off x="500531" y="3767854"/>
            <a:ext cx="1146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i</a:t>
            </a:r>
            <a:r>
              <a:rPr lang="en-US" sz="2400" b="1" dirty="0"/>
              <a:t> = 10%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D93EAFC-3D4E-9E68-DB9E-6DF7611161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905347"/>
              </p:ext>
            </p:extLst>
          </p:nvPr>
        </p:nvGraphicFramePr>
        <p:xfrm>
          <a:off x="2682010" y="4334548"/>
          <a:ext cx="6451355" cy="158565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06455">
                  <a:extLst>
                    <a:ext uri="{9D8B030D-6E8A-4147-A177-3AD203B41FA5}">
                      <a16:colId xmlns:a16="http://schemas.microsoft.com/office/drawing/2014/main" val="2986694891"/>
                    </a:ext>
                  </a:extLst>
                </a:gridCol>
                <a:gridCol w="1184437">
                  <a:extLst>
                    <a:ext uri="{9D8B030D-6E8A-4147-A177-3AD203B41FA5}">
                      <a16:colId xmlns:a16="http://schemas.microsoft.com/office/drawing/2014/main" val="2867844822"/>
                    </a:ext>
                  </a:extLst>
                </a:gridCol>
                <a:gridCol w="1340280">
                  <a:extLst>
                    <a:ext uri="{9D8B030D-6E8A-4147-A177-3AD203B41FA5}">
                      <a16:colId xmlns:a16="http://schemas.microsoft.com/office/drawing/2014/main" val="3714192118"/>
                    </a:ext>
                  </a:extLst>
                </a:gridCol>
                <a:gridCol w="1379537">
                  <a:extLst>
                    <a:ext uri="{9D8B030D-6E8A-4147-A177-3AD203B41FA5}">
                      <a16:colId xmlns:a16="http://schemas.microsoft.com/office/drawing/2014/main" val="937620826"/>
                    </a:ext>
                  </a:extLst>
                </a:gridCol>
                <a:gridCol w="1440646">
                  <a:extLst>
                    <a:ext uri="{9D8B030D-6E8A-4147-A177-3AD203B41FA5}">
                      <a16:colId xmlns:a16="http://schemas.microsoft.com/office/drawing/2014/main" val="2814070118"/>
                    </a:ext>
                  </a:extLst>
                </a:gridCol>
              </a:tblGrid>
              <a:tr h="528551">
                <a:tc gridSpan="5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elvetica" pitchFamily="2" charset="0"/>
                        </a:rPr>
                        <a:t>Using Calculator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703353"/>
                  </a:ext>
                </a:extLst>
              </a:tr>
              <a:tr h="528551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I/Y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Helvetica" pitchFamily="2" charset="0"/>
                        </a:rPr>
                        <a:t>PV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PMT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FV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287289"/>
                  </a:ext>
                </a:extLst>
              </a:tr>
              <a:tr h="528551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??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-100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Helvetica" pitchFamily="2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11001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12D3C74-EE92-56C8-2C4D-558415B16FDA}"/>
              </a:ext>
            </a:extLst>
          </p:cNvPr>
          <p:cNvSpPr txBox="1"/>
          <p:nvPr/>
        </p:nvSpPr>
        <p:spPr>
          <a:xfrm>
            <a:off x="5100751" y="6288916"/>
            <a:ext cx="20585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PV = $316.98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95D009-D154-EDA9-770A-9B3F638A3C2E}"/>
              </a:ext>
            </a:extLst>
          </p:cNvPr>
          <p:cNvSpPr txBox="1"/>
          <p:nvPr/>
        </p:nvSpPr>
        <p:spPr>
          <a:xfrm>
            <a:off x="546335" y="1541595"/>
            <a:ext cx="3713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Helvetica" pitchFamily="2" charset="0"/>
              </a:rPr>
              <a:t>F</a:t>
            </a:r>
            <a:r>
              <a:rPr lang="en-US" sz="2800" b="1" i="0" dirty="0">
                <a:effectLst/>
                <a:latin typeface="Helvetica" pitchFamily="2" charset="0"/>
              </a:rPr>
              <a:t>inancial </a:t>
            </a:r>
            <a:r>
              <a:rPr lang="en-US" sz="2800" b="1" dirty="0">
                <a:latin typeface="Helvetica" pitchFamily="2" charset="0"/>
              </a:rPr>
              <a:t>C</a:t>
            </a:r>
            <a:r>
              <a:rPr lang="en-US" sz="2800" b="1" i="0" dirty="0">
                <a:effectLst/>
                <a:latin typeface="Helvetica" pitchFamily="2" charset="0"/>
              </a:rPr>
              <a:t>alculator</a:t>
            </a:r>
            <a:r>
              <a:rPr lang="en-US" sz="2800" b="1" dirty="0">
                <a:latin typeface="Helvetica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886756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CD76A-51CA-2675-8DEB-27E48BDF0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0C7D0-1B2A-FB57-C9A8-3840C33E1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077" y="1470467"/>
            <a:ext cx="10933792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200" dirty="0">
                <a:latin typeface="Helvetica" pitchFamily="2" charset="0"/>
              </a:rPr>
              <a:t>John's parents decide to invest </a:t>
            </a:r>
            <a:r>
              <a:rPr lang="en-US" sz="2200" b="1" dirty="0">
                <a:latin typeface="Helvetica" pitchFamily="2" charset="0"/>
              </a:rPr>
              <a:t>$3,000</a:t>
            </a:r>
            <a:r>
              <a:rPr lang="en-US" sz="2200" dirty="0">
                <a:latin typeface="Helvetica" pitchFamily="2" charset="0"/>
              </a:rPr>
              <a:t> at the </a:t>
            </a:r>
            <a:r>
              <a:rPr lang="en-US" sz="2200" b="1" dirty="0">
                <a:latin typeface="Helvetica" pitchFamily="2" charset="0"/>
              </a:rPr>
              <a:t>end of each year</a:t>
            </a:r>
            <a:r>
              <a:rPr lang="en-US" sz="2200" dirty="0">
                <a:latin typeface="Helvetica" pitchFamily="2" charset="0"/>
              </a:rPr>
              <a:t> for the next </a:t>
            </a:r>
            <a:r>
              <a:rPr lang="en-US" sz="2200" b="1" dirty="0">
                <a:latin typeface="Helvetica" pitchFamily="2" charset="0"/>
              </a:rPr>
              <a:t>14 years</a:t>
            </a:r>
            <a:r>
              <a:rPr lang="en-US" sz="2200" dirty="0">
                <a:latin typeface="Helvetica" pitchFamily="2" charset="0"/>
              </a:rPr>
              <a:t> in an account earning </a:t>
            </a:r>
            <a:r>
              <a:rPr lang="en-US" sz="2200" b="1" dirty="0">
                <a:latin typeface="Helvetica" pitchFamily="2" charset="0"/>
              </a:rPr>
              <a:t>8% annual interest</a:t>
            </a:r>
            <a:r>
              <a:rPr lang="en-US" sz="2200" dirty="0">
                <a:latin typeface="Helvetica" pitchFamily="2" charset="0"/>
              </a:rPr>
              <a:t>, compounded annually. If John's university costs will be </a:t>
            </a:r>
            <a:r>
              <a:rPr lang="en-US" sz="2200" b="1" dirty="0">
                <a:latin typeface="Helvetica" pitchFamily="2" charset="0"/>
              </a:rPr>
              <a:t>$70,000</a:t>
            </a:r>
            <a:r>
              <a:rPr lang="en-US" sz="2200" dirty="0">
                <a:latin typeface="Helvetica" pitchFamily="2" charset="0"/>
              </a:rPr>
              <a:t> at the end of the 14th year, will this investment be enough to cover the tuition? Show your calculations.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FB1042-828F-6362-6818-054243C2EB8A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50AFA18-FD4A-7A7E-E924-A69F00C74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794" y="77713"/>
            <a:ext cx="10502900" cy="1322996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Question-3</a:t>
            </a: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95E1918D-C026-4528-0AF0-AB0B3E654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012157"/>
              </p:ext>
            </p:extLst>
          </p:nvPr>
        </p:nvGraphicFramePr>
        <p:xfrm>
          <a:off x="3636105" y="4593072"/>
          <a:ext cx="4919790" cy="148157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43780">
                  <a:extLst>
                    <a:ext uri="{9D8B030D-6E8A-4147-A177-3AD203B41FA5}">
                      <a16:colId xmlns:a16="http://schemas.microsoft.com/office/drawing/2014/main" val="2986694891"/>
                    </a:ext>
                  </a:extLst>
                </a:gridCol>
                <a:gridCol w="903249">
                  <a:extLst>
                    <a:ext uri="{9D8B030D-6E8A-4147-A177-3AD203B41FA5}">
                      <a16:colId xmlns:a16="http://schemas.microsoft.com/office/drawing/2014/main" val="2867844822"/>
                    </a:ext>
                  </a:extLst>
                </a:gridCol>
                <a:gridCol w="1022095">
                  <a:extLst>
                    <a:ext uri="{9D8B030D-6E8A-4147-A177-3AD203B41FA5}">
                      <a16:colId xmlns:a16="http://schemas.microsoft.com/office/drawing/2014/main" val="3714192118"/>
                    </a:ext>
                  </a:extLst>
                </a:gridCol>
                <a:gridCol w="1052032">
                  <a:extLst>
                    <a:ext uri="{9D8B030D-6E8A-4147-A177-3AD203B41FA5}">
                      <a16:colId xmlns:a16="http://schemas.microsoft.com/office/drawing/2014/main" val="937620826"/>
                    </a:ext>
                  </a:extLst>
                </a:gridCol>
                <a:gridCol w="1098634">
                  <a:extLst>
                    <a:ext uri="{9D8B030D-6E8A-4147-A177-3AD203B41FA5}">
                      <a16:colId xmlns:a16="http://schemas.microsoft.com/office/drawing/2014/main" val="2814070118"/>
                    </a:ext>
                  </a:extLst>
                </a:gridCol>
              </a:tblGrid>
              <a:tr h="493858">
                <a:tc gridSpan="5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Using Calculator</a:t>
                      </a:r>
                      <a:endParaRPr lang="en-US" sz="2000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703353"/>
                  </a:ext>
                </a:extLst>
              </a:tr>
              <a:tr h="49385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I/Y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N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PV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PMT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FV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287289"/>
                  </a:ext>
                </a:extLst>
              </a:tr>
              <a:tr h="49385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8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14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-3,000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??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1100110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751602F4-1326-508A-AA7D-69F4674D59A6}"/>
              </a:ext>
            </a:extLst>
          </p:cNvPr>
          <p:cNvSpPr txBox="1"/>
          <p:nvPr/>
        </p:nvSpPr>
        <p:spPr>
          <a:xfrm>
            <a:off x="4888304" y="6229709"/>
            <a:ext cx="2584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</a:rPr>
              <a:t>FV = $72,644.76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B507A94-9F7A-2603-96B6-AF1724C037B1}"/>
              </a:ext>
            </a:extLst>
          </p:cNvPr>
          <p:cNvGrpSpPr/>
          <p:nvPr/>
        </p:nvGrpSpPr>
        <p:grpSpPr>
          <a:xfrm>
            <a:off x="846174" y="3180900"/>
            <a:ext cx="10260242" cy="1317967"/>
            <a:chOff x="846174" y="3180900"/>
            <a:chExt cx="10260242" cy="131796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767249-3A1E-5D3F-4BA2-27B8E109F1AC}"/>
                </a:ext>
              </a:extLst>
            </p:cNvPr>
            <p:cNvGrpSpPr/>
            <p:nvPr/>
          </p:nvGrpSpPr>
          <p:grpSpPr>
            <a:xfrm>
              <a:off x="846174" y="3550659"/>
              <a:ext cx="10260242" cy="948208"/>
              <a:chOff x="846174" y="3550659"/>
              <a:chExt cx="10260242" cy="948208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AF7EA636-D4DC-0902-108D-1312AA883676}"/>
                  </a:ext>
                </a:extLst>
              </p:cNvPr>
              <p:cNvGrpSpPr/>
              <p:nvPr/>
            </p:nvGrpSpPr>
            <p:grpSpPr>
              <a:xfrm>
                <a:off x="846174" y="3550659"/>
                <a:ext cx="10260242" cy="932871"/>
                <a:chOff x="846174" y="3373481"/>
                <a:chExt cx="10260242" cy="932871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83C7C7D7-DDA1-2D5F-B3D0-27780D40EF57}"/>
                    </a:ext>
                  </a:extLst>
                </p:cNvPr>
                <p:cNvGrpSpPr/>
                <p:nvPr/>
              </p:nvGrpSpPr>
              <p:grpSpPr>
                <a:xfrm>
                  <a:off x="846174" y="3373481"/>
                  <a:ext cx="10260242" cy="919279"/>
                  <a:chOff x="855433" y="5064722"/>
                  <a:chExt cx="10260242" cy="919279"/>
                </a:xfrm>
              </p:grpSpPr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147524F4-EDC3-CE5F-F03E-B7EA56AB694A}"/>
                      </a:ext>
                    </a:extLst>
                  </p:cNvPr>
                  <p:cNvGrpSpPr/>
                  <p:nvPr/>
                </p:nvGrpSpPr>
                <p:grpSpPr>
                  <a:xfrm>
                    <a:off x="1019100" y="5064722"/>
                    <a:ext cx="10096575" cy="464539"/>
                    <a:chOff x="1019100" y="5064722"/>
                    <a:chExt cx="10096575" cy="464539"/>
                  </a:xfrm>
                </p:grpSpPr>
                <p:cxnSp>
                  <p:nvCxnSpPr>
                    <p:cNvPr id="27" name="Straight Arrow Connector 26">
                      <a:extLst>
                        <a:ext uri="{FF2B5EF4-FFF2-40B4-BE49-F238E27FC236}">
                          <a16:creationId xmlns:a16="http://schemas.microsoft.com/office/drawing/2014/main" id="{A997F390-8F3D-50B5-9B2B-318BF1FC645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7135" y="5285984"/>
                      <a:ext cx="10088540" cy="14677"/>
                    </a:xfrm>
                    <a:prstGeom prst="straightConnector1">
                      <a:avLst/>
                    </a:prstGeom>
                    <a:ln w="38100"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" name="Straight Connector 27">
                      <a:extLst>
                        <a:ext uri="{FF2B5EF4-FFF2-40B4-BE49-F238E27FC236}">
                          <a16:creationId xmlns:a16="http://schemas.microsoft.com/office/drawing/2014/main" id="{9F53F27C-DBB3-3A56-35AD-BAE099C4F1E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19100" y="5064722"/>
                      <a:ext cx="0" cy="457200"/>
                    </a:xfrm>
                    <a:prstGeom prst="line">
                      <a:avLst/>
                    </a:prstGeom>
                    <a:ln w="3810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" name="Straight Connector 29">
                      <a:extLst>
                        <a:ext uri="{FF2B5EF4-FFF2-40B4-BE49-F238E27FC236}">
                          <a16:creationId xmlns:a16="http://schemas.microsoft.com/office/drawing/2014/main" id="{E4B41154-43D3-3573-EBC7-9B15D0553E2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022993" y="5072061"/>
                      <a:ext cx="0" cy="457200"/>
                    </a:xfrm>
                    <a:prstGeom prst="line">
                      <a:avLst/>
                    </a:prstGeom>
                    <a:ln w="3810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C96BB34E-DD33-1D54-052E-F6CD5D7948B3}"/>
                      </a:ext>
                    </a:extLst>
                  </p:cNvPr>
                  <p:cNvSpPr txBox="1"/>
                  <p:nvPr/>
                </p:nvSpPr>
                <p:spPr>
                  <a:xfrm>
                    <a:off x="855433" y="5583891"/>
                    <a:ext cx="327334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b="1" dirty="0">
                        <a:latin typeface="Helvetica" pitchFamily="2" charset="0"/>
                      </a:rPr>
                      <a:t>0</a:t>
                    </a:r>
                  </a:p>
                </p:txBody>
              </p:sp>
            </p:grp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ACA1D00-359B-B378-BD0C-CA9EE3AF4DDA}"/>
                    </a:ext>
                  </a:extLst>
                </p:cNvPr>
                <p:cNvSpPr txBox="1"/>
                <p:nvPr/>
              </p:nvSpPr>
              <p:spPr>
                <a:xfrm>
                  <a:off x="9778734" y="3906242"/>
                  <a:ext cx="47000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b="1" dirty="0">
                      <a:latin typeface="Helvetica" pitchFamily="2" charset="0"/>
                    </a:rPr>
                    <a:t>14</a:t>
                  </a:r>
                  <a:endParaRPr lang="en-US" sz="2400" b="1" dirty="0">
                    <a:latin typeface="Helvetica" pitchFamily="2" charset="0"/>
                  </a:endParaRPr>
                </a:p>
              </p:txBody>
            </p:sp>
          </p:grpSp>
          <p:cxnSp>
            <p:nvCxnSpPr>
              <p:cNvPr id="2" name="Straight Connector 1">
                <a:extLst>
                  <a:ext uri="{FF2B5EF4-FFF2-40B4-BE49-F238E27FC236}">
                    <a16:creationId xmlns:a16="http://schemas.microsoft.com/office/drawing/2014/main" id="{86F30ED7-9F3D-F694-50CF-FFBD9B35DC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7493" y="3557998"/>
                <a:ext cx="0" cy="45720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0557309C-76C3-AAEA-FDBA-68ADA91C57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0778" y="3557998"/>
                <a:ext cx="0" cy="45720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FB2D2C2-F399-0B0A-4350-06F0ECA7BE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53891" y="3557998"/>
                <a:ext cx="0" cy="45720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8B0E572-360E-083D-2121-277D6CCC39F1}"/>
                  </a:ext>
                </a:extLst>
              </p:cNvPr>
              <p:cNvSpPr txBox="1"/>
              <p:nvPr/>
            </p:nvSpPr>
            <p:spPr>
              <a:xfrm>
                <a:off x="1542004" y="4080989"/>
                <a:ext cx="3273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latin typeface="Helvetica" pitchFamily="2" charset="0"/>
                  </a:rPr>
                  <a:t>1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98B54F2-61B6-B7F1-A91F-5D9642DC8627}"/>
                  </a:ext>
                </a:extLst>
              </p:cNvPr>
              <p:cNvSpPr txBox="1"/>
              <p:nvPr/>
            </p:nvSpPr>
            <p:spPr>
              <a:xfrm>
                <a:off x="2370379" y="4098757"/>
                <a:ext cx="3273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latin typeface="Helvetica" pitchFamily="2" charset="0"/>
                  </a:rPr>
                  <a:t>2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D94A75-AA15-2741-3759-F69BE1CEE8B6}"/>
                  </a:ext>
                </a:extLst>
              </p:cNvPr>
              <p:cNvSpPr txBox="1"/>
              <p:nvPr/>
            </p:nvSpPr>
            <p:spPr>
              <a:xfrm>
                <a:off x="3278935" y="4098757"/>
                <a:ext cx="3273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Helvetica" pitchFamily="2" charset="0"/>
                  </a:rPr>
                  <a:t>3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3553D26-AE4C-4B02-4E3C-59FC4E933009}"/>
                </a:ext>
              </a:extLst>
            </p:cNvPr>
            <p:cNvSpPr txBox="1"/>
            <p:nvPr/>
          </p:nvSpPr>
          <p:spPr>
            <a:xfrm>
              <a:off x="5403141" y="3180900"/>
              <a:ext cx="5389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….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DA83228-5319-54C4-4F0E-0449A2DEC725}"/>
                </a:ext>
              </a:extLst>
            </p:cNvPr>
            <p:cNvSpPr txBox="1"/>
            <p:nvPr/>
          </p:nvSpPr>
          <p:spPr>
            <a:xfrm>
              <a:off x="5403141" y="3712323"/>
              <a:ext cx="5389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….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52F7D3A-02F4-3590-FED5-2A819BD233C4}"/>
              </a:ext>
            </a:extLst>
          </p:cNvPr>
          <p:cNvGrpSpPr/>
          <p:nvPr/>
        </p:nvGrpSpPr>
        <p:grpSpPr>
          <a:xfrm>
            <a:off x="1260677" y="3096026"/>
            <a:ext cx="9158010" cy="394417"/>
            <a:chOff x="1260677" y="3096026"/>
            <a:chExt cx="9158010" cy="394417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D647949-A13D-D8E1-F5BC-17D6785A0786}"/>
                </a:ext>
              </a:extLst>
            </p:cNvPr>
            <p:cNvSpPr txBox="1"/>
            <p:nvPr/>
          </p:nvSpPr>
          <p:spPr>
            <a:xfrm>
              <a:off x="1260677" y="3105767"/>
              <a:ext cx="8899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  <a:latin typeface="Helvetica" pitchFamily="2" charset="0"/>
                </a:rPr>
                <a:t>$3,000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E9B72D4-DE74-1902-89C9-05243CC6A7C1}"/>
                </a:ext>
              </a:extLst>
            </p:cNvPr>
            <p:cNvSpPr txBox="1"/>
            <p:nvPr/>
          </p:nvSpPr>
          <p:spPr>
            <a:xfrm>
              <a:off x="2150664" y="3096026"/>
              <a:ext cx="8899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  <a:latin typeface="Helvetica" pitchFamily="2" charset="0"/>
                </a:rPr>
                <a:t>$3,000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9328658-556A-858F-8A3C-7BB7C138BD60}"/>
                </a:ext>
              </a:extLst>
            </p:cNvPr>
            <p:cNvSpPr txBox="1"/>
            <p:nvPr/>
          </p:nvSpPr>
          <p:spPr>
            <a:xfrm>
              <a:off x="2993076" y="3121111"/>
              <a:ext cx="8899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  <a:latin typeface="Helvetica" pitchFamily="2" charset="0"/>
                </a:rPr>
                <a:t>$3,000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CCFCF31-CA05-D8CE-11E4-C8142708261E}"/>
                </a:ext>
              </a:extLst>
            </p:cNvPr>
            <p:cNvSpPr txBox="1"/>
            <p:nvPr/>
          </p:nvSpPr>
          <p:spPr>
            <a:xfrm>
              <a:off x="9528700" y="3115336"/>
              <a:ext cx="8899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  <a:latin typeface="Helvetica" pitchFamily="2" charset="0"/>
                </a:rPr>
                <a:t>$3,000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682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DFC45-BAB0-5D52-7F7F-9C770E88B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EE136-3620-109F-AB3C-B078E4B9B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077" y="1470467"/>
            <a:ext cx="10933792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Helvetica" pitchFamily="2" charset="0"/>
              </a:rPr>
              <a:t>Sarah plans to save </a:t>
            </a:r>
            <a:r>
              <a:rPr lang="en-US" sz="2400" b="1" dirty="0">
                <a:latin typeface="Helvetica" pitchFamily="2" charset="0"/>
              </a:rPr>
              <a:t>$1,500</a:t>
            </a:r>
            <a:r>
              <a:rPr lang="en-US" sz="2400" dirty="0">
                <a:latin typeface="Helvetica" pitchFamily="2" charset="0"/>
              </a:rPr>
              <a:t> at the </a:t>
            </a:r>
            <a:r>
              <a:rPr lang="en-US" sz="2400" b="1" dirty="0">
                <a:latin typeface="Helvetica" pitchFamily="2" charset="0"/>
              </a:rPr>
              <a:t>beginning of each year</a:t>
            </a:r>
            <a:r>
              <a:rPr lang="en-US" sz="2400" dirty="0">
                <a:latin typeface="Helvetica" pitchFamily="2" charset="0"/>
              </a:rPr>
              <a:t> for the next </a:t>
            </a:r>
            <a:r>
              <a:rPr lang="en-US" sz="2400" b="1" dirty="0">
                <a:latin typeface="Helvetica" pitchFamily="2" charset="0"/>
              </a:rPr>
              <a:t>12 years</a:t>
            </a:r>
            <a:r>
              <a:rPr lang="en-US" sz="2400" dirty="0">
                <a:latin typeface="Helvetica" pitchFamily="2" charset="0"/>
              </a:rPr>
              <a:t> in an account earning </a:t>
            </a:r>
            <a:r>
              <a:rPr lang="en-US" sz="2400" b="1" dirty="0">
                <a:latin typeface="Helvetica" pitchFamily="2" charset="0"/>
              </a:rPr>
              <a:t>6% annual interest</a:t>
            </a:r>
            <a:r>
              <a:rPr lang="en-US" sz="2400" dirty="0">
                <a:latin typeface="Helvetica" pitchFamily="2" charset="0"/>
              </a:rPr>
              <a:t>, compounded annually. How much will Sarah’s savings be worth at the end of </a:t>
            </a:r>
            <a:r>
              <a:rPr lang="en-US" sz="2400" b="1" dirty="0">
                <a:latin typeface="Helvetica" pitchFamily="2" charset="0"/>
              </a:rPr>
              <a:t>12 years</a:t>
            </a:r>
            <a:r>
              <a:rPr lang="en-US" sz="2400" dirty="0">
                <a:latin typeface="Helvetica" pitchFamily="2" charset="0"/>
              </a:rPr>
              <a:t>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2D7E63-7E76-5EB4-82CC-F7BE1F36E9DA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976EF4D-76B1-5539-3BE0-EF83626A1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794" y="77713"/>
            <a:ext cx="10502900" cy="1322996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Question-4</a:t>
            </a: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67908075-E426-654E-9555-D069DC3C6D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232567"/>
              </p:ext>
            </p:extLst>
          </p:nvPr>
        </p:nvGraphicFramePr>
        <p:xfrm>
          <a:off x="3636105" y="4705962"/>
          <a:ext cx="4919790" cy="1481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780">
                  <a:extLst>
                    <a:ext uri="{9D8B030D-6E8A-4147-A177-3AD203B41FA5}">
                      <a16:colId xmlns:a16="http://schemas.microsoft.com/office/drawing/2014/main" val="2986694891"/>
                    </a:ext>
                  </a:extLst>
                </a:gridCol>
                <a:gridCol w="903249">
                  <a:extLst>
                    <a:ext uri="{9D8B030D-6E8A-4147-A177-3AD203B41FA5}">
                      <a16:colId xmlns:a16="http://schemas.microsoft.com/office/drawing/2014/main" val="2867844822"/>
                    </a:ext>
                  </a:extLst>
                </a:gridCol>
                <a:gridCol w="1022095">
                  <a:extLst>
                    <a:ext uri="{9D8B030D-6E8A-4147-A177-3AD203B41FA5}">
                      <a16:colId xmlns:a16="http://schemas.microsoft.com/office/drawing/2014/main" val="3714192118"/>
                    </a:ext>
                  </a:extLst>
                </a:gridCol>
                <a:gridCol w="1052032">
                  <a:extLst>
                    <a:ext uri="{9D8B030D-6E8A-4147-A177-3AD203B41FA5}">
                      <a16:colId xmlns:a16="http://schemas.microsoft.com/office/drawing/2014/main" val="937620826"/>
                    </a:ext>
                  </a:extLst>
                </a:gridCol>
                <a:gridCol w="1098634">
                  <a:extLst>
                    <a:ext uri="{9D8B030D-6E8A-4147-A177-3AD203B41FA5}">
                      <a16:colId xmlns:a16="http://schemas.microsoft.com/office/drawing/2014/main" val="2814070118"/>
                    </a:ext>
                  </a:extLst>
                </a:gridCol>
              </a:tblGrid>
              <a:tr h="493858">
                <a:tc gridSpan="5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Using Calculator</a:t>
                      </a:r>
                      <a:endParaRPr lang="en-US" sz="2000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703353"/>
                  </a:ext>
                </a:extLst>
              </a:tr>
              <a:tr h="49385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I/Y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N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PV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PMT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FV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287289"/>
                  </a:ext>
                </a:extLst>
              </a:tr>
              <a:tr h="49385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6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12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-1,500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??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1100110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DD72B4E0-A54C-0717-9F88-481952938C2E}"/>
              </a:ext>
            </a:extLst>
          </p:cNvPr>
          <p:cNvSpPr txBox="1"/>
          <p:nvPr/>
        </p:nvSpPr>
        <p:spPr>
          <a:xfrm>
            <a:off x="4888304" y="6342599"/>
            <a:ext cx="2584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</a:rPr>
              <a:t>FV = $26,823.20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798E3D3-7DF8-72B2-2751-BADF39F202DB}"/>
              </a:ext>
            </a:extLst>
          </p:cNvPr>
          <p:cNvGrpSpPr/>
          <p:nvPr/>
        </p:nvGrpSpPr>
        <p:grpSpPr>
          <a:xfrm>
            <a:off x="496568" y="3059668"/>
            <a:ext cx="9181849" cy="383564"/>
            <a:chOff x="496568" y="3059668"/>
            <a:chExt cx="9181849" cy="383564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43E24F8-5AF4-8E92-EF49-8546651602A7}"/>
                </a:ext>
              </a:extLst>
            </p:cNvPr>
            <p:cNvGrpSpPr/>
            <p:nvPr/>
          </p:nvGrpSpPr>
          <p:grpSpPr>
            <a:xfrm>
              <a:off x="496568" y="3059668"/>
              <a:ext cx="9181849" cy="383564"/>
              <a:chOff x="496568" y="3059668"/>
              <a:chExt cx="9181849" cy="383564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F253B0C-014A-8DED-A4DE-3747198EF83A}"/>
                  </a:ext>
                </a:extLst>
              </p:cNvPr>
              <p:cNvSpPr txBox="1"/>
              <p:nvPr/>
            </p:nvSpPr>
            <p:spPr>
              <a:xfrm>
                <a:off x="496568" y="3073900"/>
                <a:ext cx="8899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2"/>
                    </a:solidFill>
                    <a:latin typeface="Helvetica" pitchFamily="2" charset="0"/>
                  </a:rPr>
                  <a:t>$1,500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A5DDF72-2CC4-B3B2-44F5-93EC3DB99C55}"/>
                  </a:ext>
                </a:extLst>
              </p:cNvPr>
              <p:cNvSpPr txBox="1"/>
              <p:nvPr/>
            </p:nvSpPr>
            <p:spPr>
              <a:xfrm>
                <a:off x="1328319" y="3073900"/>
                <a:ext cx="8899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2"/>
                    </a:solidFill>
                    <a:latin typeface="Helvetica" pitchFamily="2" charset="0"/>
                  </a:rPr>
                  <a:t>$1,500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8C25667-C5F1-7930-FE25-3E0FB158BBF7}"/>
                  </a:ext>
                </a:extLst>
              </p:cNvPr>
              <p:cNvSpPr txBox="1"/>
              <p:nvPr/>
            </p:nvSpPr>
            <p:spPr>
              <a:xfrm>
                <a:off x="2125797" y="3073900"/>
                <a:ext cx="8899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2"/>
                    </a:solidFill>
                    <a:latin typeface="Helvetica" pitchFamily="2" charset="0"/>
                  </a:rPr>
                  <a:t>$1,500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24F9819-0310-519B-360D-1632ECA12D8E}"/>
                  </a:ext>
                </a:extLst>
              </p:cNvPr>
              <p:cNvSpPr txBox="1"/>
              <p:nvPr/>
            </p:nvSpPr>
            <p:spPr>
              <a:xfrm>
                <a:off x="8788430" y="3059668"/>
                <a:ext cx="8899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2"/>
                    </a:solidFill>
                    <a:latin typeface="Helvetica" pitchFamily="2" charset="0"/>
                  </a:rPr>
                  <a:t>$1,500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674F4E-BB28-B521-733F-C6DFA2D34BD3}"/>
                </a:ext>
              </a:extLst>
            </p:cNvPr>
            <p:cNvSpPr txBox="1"/>
            <p:nvPr/>
          </p:nvSpPr>
          <p:spPr>
            <a:xfrm>
              <a:off x="2957548" y="3064788"/>
              <a:ext cx="8899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  <a:latin typeface="Helvetica" pitchFamily="2" charset="0"/>
                </a:rPr>
                <a:t>$1,500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D42F20F-DE34-667C-0D8C-19A69B8A554B}"/>
              </a:ext>
            </a:extLst>
          </p:cNvPr>
          <p:cNvGrpSpPr/>
          <p:nvPr/>
        </p:nvGrpSpPr>
        <p:grpSpPr>
          <a:xfrm>
            <a:off x="846174" y="3180900"/>
            <a:ext cx="10260242" cy="1317967"/>
            <a:chOff x="846174" y="3180900"/>
            <a:chExt cx="10260242" cy="131796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3C729A9-8551-EB21-1427-24FB62FBA114}"/>
                </a:ext>
              </a:extLst>
            </p:cNvPr>
            <p:cNvGrpSpPr/>
            <p:nvPr/>
          </p:nvGrpSpPr>
          <p:grpSpPr>
            <a:xfrm>
              <a:off x="846174" y="3180900"/>
              <a:ext cx="10260242" cy="1317967"/>
              <a:chOff x="846174" y="3180900"/>
              <a:chExt cx="10260242" cy="1317967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FEA90B9E-BD8C-45E0-2A4E-E89C8FF8736E}"/>
                  </a:ext>
                </a:extLst>
              </p:cNvPr>
              <p:cNvGrpSpPr/>
              <p:nvPr/>
            </p:nvGrpSpPr>
            <p:grpSpPr>
              <a:xfrm>
                <a:off x="846174" y="3550659"/>
                <a:ext cx="10260242" cy="948208"/>
                <a:chOff x="846174" y="3550659"/>
                <a:chExt cx="10260242" cy="948208"/>
              </a:xfrm>
            </p:grpSpPr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ED5AF631-85DB-6A6D-8505-6AA10FAE2421}"/>
                    </a:ext>
                  </a:extLst>
                </p:cNvPr>
                <p:cNvGrpSpPr/>
                <p:nvPr/>
              </p:nvGrpSpPr>
              <p:grpSpPr>
                <a:xfrm>
                  <a:off x="846174" y="3550659"/>
                  <a:ext cx="10260242" cy="932871"/>
                  <a:chOff x="846174" y="3373481"/>
                  <a:chExt cx="10260242" cy="932871"/>
                </a:xfrm>
              </p:grpSpPr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2ACD36B0-73B3-28AF-5ED2-51EA6D914891}"/>
                      </a:ext>
                    </a:extLst>
                  </p:cNvPr>
                  <p:cNvGrpSpPr/>
                  <p:nvPr/>
                </p:nvGrpSpPr>
                <p:grpSpPr>
                  <a:xfrm>
                    <a:off x="846174" y="3373481"/>
                    <a:ext cx="10260242" cy="919279"/>
                    <a:chOff x="855433" y="5064722"/>
                    <a:chExt cx="10260242" cy="919279"/>
                  </a:xfrm>
                </p:grpSpPr>
                <p:grpSp>
                  <p:nvGrpSpPr>
                    <p:cNvPr id="21" name="Group 20">
                      <a:extLst>
                        <a:ext uri="{FF2B5EF4-FFF2-40B4-BE49-F238E27FC236}">
                          <a16:creationId xmlns:a16="http://schemas.microsoft.com/office/drawing/2014/main" id="{6A1D19DD-4E41-E933-A60D-F75C1BB9155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19100" y="5064722"/>
                      <a:ext cx="10096575" cy="464539"/>
                      <a:chOff x="1019100" y="5064722"/>
                      <a:chExt cx="10096575" cy="464539"/>
                    </a:xfrm>
                  </p:grpSpPr>
                  <p:cxnSp>
                    <p:nvCxnSpPr>
                      <p:cNvPr id="27" name="Straight Arrow Connector 26">
                        <a:extLst>
                          <a:ext uri="{FF2B5EF4-FFF2-40B4-BE49-F238E27FC236}">
                            <a16:creationId xmlns:a16="http://schemas.microsoft.com/office/drawing/2014/main" id="{9BA2890E-D91B-1648-86F4-1A041D77D07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27135" y="5285984"/>
                        <a:ext cx="10088540" cy="14677"/>
                      </a:xfrm>
                      <a:prstGeom prst="straightConnector1">
                        <a:avLst/>
                      </a:prstGeom>
                      <a:ln w="38100"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8" name="Straight Connector 27">
                        <a:extLst>
                          <a:ext uri="{FF2B5EF4-FFF2-40B4-BE49-F238E27FC236}">
                            <a16:creationId xmlns:a16="http://schemas.microsoft.com/office/drawing/2014/main" id="{D2F65C82-AB13-4E56-D51F-74164D853F4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19100" y="5064722"/>
                        <a:ext cx="0" cy="457200"/>
                      </a:xfrm>
                      <a:prstGeom prst="line">
                        <a:avLst/>
                      </a:prstGeom>
                      <a:ln w="3810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0" name="Straight Connector 29">
                        <a:extLst>
                          <a:ext uri="{FF2B5EF4-FFF2-40B4-BE49-F238E27FC236}">
                            <a16:creationId xmlns:a16="http://schemas.microsoft.com/office/drawing/2014/main" id="{5BF73271-1ED4-D4D4-9147-1FF3250AB90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022993" y="5072061"/>
                        <a:ext cx="0" cy="457200"/>
                      </a:xfrm>
                      <a:prstGeom prst="line">
                        <a:avLst/>
                      </a:prstGeom>
                      <a:ln w="38100"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1E83C82C-12CE-2DB3-359B-B6B02CD30B6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55433" y="5583891"/>
                      <a:ext cx="327334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2000" b="1" dirty="0">
                          <a:latin typeface="Helvetica" pitchFamily="2" charset="0"/>
                        </a:rPr>
                        <a:t>0</a:t>
                      </a:r>
                    </a:p>
                  </p:txBody>
                </p:sp>
              </p:grpSp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4E21A485-FC10-1F6A-2D0C-F58057FFEE11}"/>
                      </a:ext>
                    </a:extLst>
                  </p:cNvPr>
                  <p:cNvSpPr txBox="1"/>
                  <p:nvPr/>
                </p:nvSpPr>
                <p:spPr>
                  <a:xfrm>
                    <a:off x="9778734" y="3906242"/>
                    <a:ext cx="470000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b="1" dirty="0">
                        <a:latin typeface="Helvetica" pitchFamily="2" charset="0"/>
                      </a:rPr>
                      <a:t>12</a:t>
                    </a:r>
                    <a:endParaRPr lang="en-US" sz="2400" b="1" dirty="0">
                      <a:latin typeface="Helvetica" pitchFamily="2" charset="0"/>
                    </a:endParaRPr>
                  </a:p>
                </p:txBody>
              </p:sp>
            </p:grpSp>
            <p:cxnSp>
              <p:nvCxnSpPr>
                <p:cNvPr id="2" name="Straight Connector 1">
                  <a:extLst>
                    <a:ext uri="{FF2B5EF4-FFF2-40B4-BE49-F238E27FC236}">
                      <a16:creationId xmlns:a16="http://schemas.microsoft.com/office/drawing/2014/main" id="{436589C5-3DF8-3E28-65D9-DEBC3E5D17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17493" y="3557998"/>
                  <a:ext cx="0" cy="45720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" name="Straight Connector 4">
                  <a:extLst>
                    <a:ext uri="{FF2B5EF4-FFF2-40B4-BE49-F238E27FC236}">
                      <a16:creationId xmlns:a16="http://schemas.microsoft.com/office/drawing/2014/main" id="{25B9782F-4746-A4B1-9223-AB33568B94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50778" y="3557998"/>
                  <a:ext cx="0" cy="45720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A8E7A8D2-97A4-4549-575A-1623EE4096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53891" y="3557998"/>
                  <a:ext cx="0" cy="45720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3D1CF08-338A-582B-0737-9EBD3BF93796}"/>
                    </a:ext>
                  </a:extLst>
                </p:cNvPr>
                <p:cNvSpPr txBox="1"/>
                <p:nvPr/>
              </p:nvSpPr>
              <p:spPr>
                <a:xfrm>
                  <a:off x="1542004" y="4080989"/>
                  <a:ext cx="3273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b="1" dirty="0">
                      <a:latin typeface="Helvetica" pitchFamily="2" charset="0"/>
                    </a:rPr>
                    <a:t>1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DD33C0A-D884-3EE2-4FBC-E661734D51C2}"/>
                    </a:ext>
                  </a:extLst>
                </p:cNvPr>
                <p:cNvSpPr txBox="1"/>
                <p:nvPr/>
              </p:nvSpPr>
              <p:spPr>
                <a:xfrm>
                  <a:off x="2370379" y="4098757"/>
                  <a:ext cx="3273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b="1" dirty="0">
                      <a:latin typeface="Helvetica" pitchFamily="2" charset="0"/>
                    </a:rPr>
                    <a:t>2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433A5FA-A826-ADCF-169F-1909AB60D27C}"/>
                    </a:ext>
                  </a:extLst>
                </p:cNvPr>
                <p:cNvSpPr txBox="1"/>
                <p:nvPr/>
              </p:nvSpPr>
              <p:spPr>
                <a:xfrm>
                  <a:off x="3278935" y="4098757"/>
                  <a:ext cx="32733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>
                      <a:latin typeface="Helvetica" pitchFamily="2" charset="0"/>
                    </a:rPr>
                    <a:t>3</a:t>
                  </a:r>
                </a:p>
              </p:txBody>
            </p: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A4E8F53-677B-D756-8D64-D7832AB3F5EA}"/>
                  </a:ext>
                </a:extLst>
              </p:cNvPr>
              <p:cNvSpPr txBox="1"/>
              <p:nvPr/>
            </p:nvSpPr>
            <p:spPr>
              <a:xfrm>
                <a:off x="5403141" y="3180900"/>
                <a:ext cx="5389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….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94556E1-34F2-A219-6F03-45848B911763}"/>
                  </a:ext>
                </a:extLst>
              </p:cNvPr>
              <p:cNvSpPr txBox="1"/>
              <p:nvPr/>
            </p:nvSpPr>
            <p:spPr>
              <a:xfrm>
                <a:off x="5403141" y="3712323"/>
                <a:ext cx="5389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….</a:t>
                </a:r>
              </a:p>
            </p:txBody>
          </p:sp>
        </p:grp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784A9A4-B15E-2007-6133-5A131744F70A}"/>
                </a:ext>
              </a:extLst>
            </p:cNvPr>
            <p:cNvCxnSpPr>
              <a:cxnSpLocks/>
            </p:cNvCxnSpPr>
            <p:nvPr/>
          </p:nvCxnSpPr>
          <p:spPr>
            <a:xfrm>
              <a:off x="9240445" y="3554610"/>
              <a:ext cx="0" cy="45720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9ECB6C4-3FDB-F1CE-D77A-B3CF364B8C3B}"/>
                </a:ext>
              </a:extLst>
            </p:cNvPr>
            <p:cNvSpPr txBox="1"/>
            <p:nvPr/>
          </p:nvSpPr>
          <p:spPr>
            <a:xfrm>
              <a:off x="9005445" y="4095093"/>
              <a:ext cx="4559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Helvetica" pitchFamily="2" charset="0"/>
                </a:rPr>
                <a:t>11</a:t>
              </a:r>
              <a:endParaRPr lang="en-US" sz="2400" b="1" dirty="0">
                <a:latin typeface="Helvetica" pitchFamily="2" charset="0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8B914A1-C2CF-4665-E6C8-21B71440B41E}"/>
              </a:ext>
            </a:extLst>
          </p:cNvPr>
          <p:cNvSpPr txBox="1"/>
          <p:nvPr/>
        </p:nvSpPr>
        <p:spPr>
          <a:xfrm>
            <a:off x="5053719" y="4336305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Helvetica" pitchFamily="2" charset="0"/>
              </a:rPr>
              <a:t>Change to BGN</a:t>
            </a:r>
          </a:p>
        </p:txBody>
      </p:sp>
    </p:spTree>
    <p:extLst>
      <p:ext uri="{BB962C8B-B14F-4D97-AF65-F5344CB8AC3E}">
        <p14:creationId xmlns:p14="http://schemas.microsoft.com/office/powerpoint/2010/main" val="2151544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3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CD8A3-9A19-B908-D903-F5E6FFE36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EDEBFF-E866-A0AA-7715-5F310C4349DB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4195C540-53E0-62AE-4B1C-AC19EDBBB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052391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Perpetuities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39E447F-A5DC-63D6-8210-37FFCDEE74A2}"/>
              </a:ext>
            </a:extLst>
          </p:cNvPr>
          <p:cNvGrpSpPr/>
          <p:nvPr/>
        </p:nvGrpSpPr>
        <p:grpSpPr>
          <a:xfrm>
            <a:off x="794284" y="2868893"/>
            <a:ext cx="10414525" cy="1427396"/>
            <a:chOff x="794284" y="4788006"/>
            <a:chExt cx="10414525" cy="1427396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F4A8C8B-C244-A966-7B0C-BCB5AE2DBC17}"/>
                </a:ext>
              </a:extLst>
            </p:cNvPr>
            <p:cNvGrpSpPr/>
            <p:nvPr/>
          </p:nvGrpSpPr>
          <p:grpSpPr>
            <a:xfrm>
              <a:off x="794284" y="4788006"/>
              <a:ext cx="10242589" cy="1427396"/>
              <a:chOff x="794284" y="2422284"/>
              <a:chExt cx="10242589" cy="1427396"/>
            </a:xfrm>
            <a:noFill/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9C2B2FDA-A054-C9A8-642F-AE4A01FC8E57}"/>
                  </a:ext>
                </a:extLst>
              </p:cNvPr>
              <p:cNvGrpSpPr/>
              <p:nvPr/>
            </p:nvGrpSpPr>
            <p:grpSpPr>
              <a:xfrm>
                <a:off x="794284" y="3051732"/>
                <a:ext cx="10242589" cy="797948"/>
                <a:chOff x="873086" y="5053331"/>
                <a:chExt cx="10242589" cy="1147434"/>
              </a:xfrm>
              <a:grpFill/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2F06645A-33DE-35FB-87A5-600D1027F371}"/>
                    </a:ext>
                  </a:extLst>
                </p:cNvPr>
                <p:cNvGrpSpPr/>
                <p:nvPr/>
              </p:nvGrpSpPr>
              <p:grpSpPr>
                <a:xfrm>
                  <a:off x="1027135" y="5053331"/>
                  <a:ext cx="10088540" cy="475932"/>
                  <a:chOff x="1027135" y="5053331"/>
                  <a:chExt cx="10088540" cy="475932"/>
                </a:xfrm>
                <a:grpFill/>
              </p:grpSpPr>
              <p:cxnSp>
                <p:nvCxnSpPr>
                  <p:cNvPr id="15" name="Straight Arrow Connector 14">
                    <a:extLst>
                      <a:ext uri="{FF2B5EF4-FFF2-40B4-BE49-F238E27FC236}">
                        <a16:creationId xmlns:a16="http://schemas.microsoft.com/office/drawing/2014/main" id="{3E3DF43C-EA2F-FE9A-3EFD-609EAA14F6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5" y="5285984"/>
                    <a:ext cx="10088540" cy="14677"/>
                  </a:xfrm>
                  <a:prstGeom prst="straightConnector1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Connector 15">
                    <a:extLst>
                      <a:ext uri="{FF2B5EF4-FFF2-40B4-BE49-F238E27FC236}">
                        <a16:creationId xmlns:a16="http://schemas.microsoft.com/office/drawing/2014/main" id="{AB63E70C-45D3-5221-444C-F2F5C6A87D3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6" y="507206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Connector 16">
                    <a:extLst>
                      <a:ext uri="{FF2B5EF4-FFF2-40B4-BE49-F238E27FC236}">
                        <a16:creationId xmlns:a16="http://schemas.microsoft.com/office/drawing/2014/main" id="{8667E4D8-CFF1-96C9-D5E6-22AF5BC8A8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93890" y="5072062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5730EC27-771D-C0E2-0CBD-775504D258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90258" y="507206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2C4489D5-591E-55CC-84B4-040C909A24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870524" y="505333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85F15BEE-17FF-7378-5121-9151967D82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74923" y="5072063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9FDA46B-10C5-1152-6F16-C7742620CCFD}"/>
                    </a:ext>
                  </a:extLst>
                </p:cNvPr>
                <p:cNvSpPr txBox="1"/>
                <p:nvPr/>
              </p:nvSpPr>
              <p:spPr>
                <a:xfrm>
                  <a:off x="873086" y="5713928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0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CAF2BC1-CF00-F1DD-9FAB-F815C4C3D4BF}"/>
                    </a:ext>
                  </a:extLst>
                </p:cNvPr>
                <p:cNvSpPr txBox="1"/>
                <p:nvPr/>
              </p:nvSpPr>
              <p:spPr>
                <a:xfrm>
                  <a:off x="3139841" y="5713931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1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C7EC5A7-29A8-3A3E-3822-045A4EECA0C9}"/>
                    </a:ext>
                  </a:extLst>
                </p:cNvPr>
                <p:cNvSpPr txBox="1"/>
                <p:nvPr/>
              </p:nvSpPr>
              <p:spPr>
                <a:xfrm>
                  <a:off x="5420874" y="5713931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2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B264754-0F85-5AF6-12A7-F6B1C910FBF0}"/>
                    </a:ext>
                  </a:extLst>
                </p:cNvPr>
                <p:cNvSpPr txBox="1"/>
                <p:nvPr/>
              </p:nvSpPr>
              <p:spPr>
                <a:xfrm>
                  <a:off x="7716475" y="5710715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3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EA2ED1E-19A4-A8E2-94FD-09F769B0AAA5}"/>
                    </a:ext>
                  </a:extLst>
                </p:cNvPr>
                <p:cNvSpPr txBox="1"/>
                <p:nvPr/>
              </p:nvSpPr>
              <p:spPr>
                <a:xfrm>
                  <a:off x="10036209" y="5710715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4</a:t>
                  </a:r>
                </a:p>
              </p:txBody>
            </p: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5DD3917-F40B-6540-1CF4-EFF486D5A64F}"/>
                  </a:ext>
                </a:extLst>
              </p:cNvPr>
              <p:cNvSpPr txBox="1"/>
              <p:nvPr/>
            </p:nvSpPr>
            <p:spPr>
              <a:xfrm>
                <a:off x="2890319" y="2453036"/>
                <a:ext cx="755335" cy="400110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$100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D9737B8-1758-131B-318C-1BF874294E51}"/>
                  </a:ext>
                </a:extLst>
              </p:cNvPr>
              <p:cNvSpPr txBox="1"/>
              <p:nvPr/>
            </p:nvSpPr>
            <p:spPr>
              <a:xfrm>
                <a:off x="5171352" y="2422284"/>
                <a:ext cx="755335" cy="400110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$100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8E17CAF-085F-2A3B-B631-1B2404B09715}"/>
                  </a:ext>
                </a:extLst>
              </p:cNvPr>
              <p:cNvSpPr txBox="1"/>
              <p:nvPr/>
            </p:nvSpPr>
            <p:spPr>
              <a:xfrm>
                <a:off x="7466953" y="2458134"/>
                <a:ext cx="755335" cy="400110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$100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B793BA0-F9C3-F623-C6F4-F689D398511C}"/>
                  </a:ext>
                </a:extLst>
              </p:cNvPr>
              <p:cNvSpPr txBox="1"/>
              <p:nvPr/>
            </p:nvSpPr>
            <p:spPr>
              <a:xfrm>
                <a:off x="9786687" y="2453036"/>
                <a:ext cx="755335" cy="400110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$100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AA133C4-AC88-DC26-6FE6-4BBFD04AA652}"/>
                </a:ext>
              </a:extLst>
            </p:cNvPr>
            <p:cNvSpPr txBox="1"/>
            <p:nvPr/>
          </p:nvSpPr>
          <p:spPr>
            <a:xfrm>
              <a:off x="10719573" y="4818758"/>
              <a:ext cx="4892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 dirty="0"/>
                <a:t>…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CEBA0D3-285A-6673-6487-A40AC777386E}"/>
                </a:ext>
              </a:extLst>
            </p:cNvPr>
            <p:cNvSpPr txBox="1"/>
            <p:nvPr/>
          </p:nvSpPr>
          <p:spPr>
            <a:xfrm>
              <a:off x="10718515" y="5683121"/>
              <a:ext cx="4892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 dirty="0"/>
                <a:t>…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24BFE40-F8DE-2475-D537-5B26C60A4D78}"/>
              </a:ext>
            </a:extLst>
          </p:cNvPr>
          <p:cNvSpPr txBox="1"/>
          <p:nvPr/>
        </p:nvSpPr>
        <p:spPr>
          <a:xfrm>
            <a:off x="634621" y="1648335"/>
            <a:ext cx="110606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0" i="0" dirty="0">
                <a:effectLst/>
                <a:latin typeface="Helvetica" pitchFamily="2" charset="0"/>
              </a:rPr>
              <a:t>A </a:t>
            </a:r>
            <a:r>
              <a:rPr lang="en-US" sz="2400" b="1" i="0" u="none" strike="noStrike" dirty="0">
                <a:effectLst/>
                <a:latin typeface="Helvetica" pitchFamily="2" charset="0"/>
              </a:rPr>
              <a:t>perpetuity</a:t>
            </a:r>
            <a:r>
              <a:rPr lang="en-US" sz="2400" b="0" i="0" dirty="0">
                <a:effectLst/>
                <a:latin typeface="Helvetica" pitchFamily="2" charset="0"/>
              </a:rPr>
              <a:t> is simply an annuity with an extended life. Because the payments go on forever, you can’t apply the step-by-step approach. </a:t>
            </a:r>
            <a:endParaRPr lang="en-US" sz="2400" dirty="0">
              <a:latin typeface="Helvetica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7E4BC1-FA7C-7BB7-87F2-3EE08C03F710}"/>
              </a:ext>
            </a:extLst>
          </p:cNvPr>
          <p:cNvSpPr txBox="1"/>
          <p:nvPr/>
        </p:nvSpPr>
        <p:spPr>
          <a:xfrm>
            <a:off x="634621" y="4465919"/>
            <a:ext cx="11060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latin typeface="Helvetica" pitchFamily="2" charset="0"/>
              </a:rPr>
              <a:t>Formula for Present Value of a Perpetuity: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DB70069-2BFA-E2F1-5939-CB9F81AF9488}"/>
                  </a:ext>
                </a:extLst>
              </p:cNvPr>
              <p:cNvSpPr txBox="1"/>
              <p:nvPr/>
            </p:nvSpPr>
            <p:spPr>
              <a:xfrm>
                <a:off x="1732373" y="5209665"/>
                <a:ext cx="3678443" cy="689035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50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𝐏𝐕</m:t>
                          </m:r>
                        </m:e>
                        <m:sub>
                          <m:r>
                            <a:rPr lang="en-US" sz="2400" b="1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𝐏𝐞𝐫𝐩𝐞𝐭𝐮𝐢𝐭𝐲</m:t>
                          </m:r>
                          <m:r>
                            <a:rPr lang="en-US" sz="2400" b="1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𝐎𝐫𝐝𝐢𝐧𝐚𝐫𝐲</m:t>
                          </m:r>
                        </m:sub>
                      </m:sSub>
                      <m:r>
                        <a:rPr lang="en-US" sz="24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𝐏𝐌𝐓</m:t>
                          </m:r>
                        </m:num>
                        <m:den>
                          <m:r>
                            <a:rPr lang="en-US" sz="2400" b="1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den>
                      </m:f>
                    </m:oMath>
                  </m:oMathPara>
                </a14:m>
                <a:endParaRPr lang="en-US" b="1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DB70069-2BFA-E2F1-5939-CB9F81AF9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2373" y="5209665"/>
                <a:ext cx="3678443" cy="689035"/>
              </a:xfrm>
              <a:prstGeom prst="rect">
                <a:avLst/>
              </a:prstGeom>
              <a:blipFill>
                <a:blip r:embed="rId2"/>
                <a:stretch>
                  <a:fillRect l="-1027" r="-1027" b="-12281"/>
                </a:stretch>
              </a:blipFill>
              <a:ln>
                <a:solidFill>
                  <a:schemeClr val="accent5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E0EC5B3-677B-7AF6-1777-09F1BC9042F3}"/>
                  </a:ext>
                </a:extLst>
              </p:cNvPr>
              <p:cNvSpPr txBox="1"/>
              <p:nvPr/>
            </p:nvSpPr>
            <p:spPr>
              <a:xfrm>
                <a:off x="6304515" y="5209665"/>
                <a:ext cx="4155112" cy="689035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𝐏𝐕</m:t>
                          </m:r>
                        </m:e>
                        <m:sub>
                          <m:r>
                            <a:rPr lang="en-US" sz="2400" b="1" i="0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𝐏𝐞𝐫𝐩𝐞𝐭𝐮𝐢𝐭𝐲</m:t>
                          </m:r>
                          <m:r>
                            <a:rPr lang="en-US" sz="2400" b="1" i="0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0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𝐃𝐮𝐞</m:t>
                          </m:r>
                        </m:sub>
                      </m:sSub>
                      <m:r>
                        <a:rPr lang="en-US" sz="24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𝐏𝐌𝐓</m:t>
                      </m:r>
                      <m:r>
                        <a:rPr lang="en-US" sz="2400" b="1" i="0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0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𝐏𝐌𝐓</m:t>
                          </m:r>
                        </m:num>
                        <m:den>
                          <m:r>
                            <a:rPr lang="en-US" sz="2400" b="1" i="0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den>
                      </m:f>
                    </m:oMath>
                  </m:oMathPara>
                </a14:m>
                <a:endParaRPr lang="en-US" b="1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E0EC5B3-677B-7AF6-1777-09F1BC9042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515" y="5209665"/>
                <a:ext cx="4155112" cy="689035"/>
              </a:xfrm>
              <a:prstGeom prst="rect">
                <a:avLst/>
              </a:prstGeom>
              <a:blipFill>
                <a:blip r:embed="rId3"/>
                <a:stretch>
                  <a:fillRect l="-909" r="-909" b="-12281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197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 animBg="1"/>
      <p:bldP spid="4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E1164-F26E-50FA-790F-29C527465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B334010-07AE-10B6-5D77-4DAF74FF0D02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B6978EB1-D1C3-9736-3440-B38F2924C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052391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Question-5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2A680B7-AD26-449A-7BA8-AA66A980157E}"/>
              </a:ext>
            </a:extLst>
          </p:cNvPr>
          <p:cNvGrpSpPr/>
          <p:nvPr/>
        </p:nvGrpSpPr>
        <p:grpSpPr>
          <a:xfrm>
            <a:off x="794284" y="2225420"/>
            <a:ext cx="10414525" cy="1427396"/>
            <a:chOff x="794284" y="4788006"/>
            <a:chExt cx="10414525" cy="1427396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D9FAAC6-6410-4B6D-A927-F792D919D522}"/>
                </a:ext>
              </a:extLst>
            </p:cNvPr>
            <p:cNvGrpSpPr/>
            <p:nvPr/>
          </p:nvGrpSpPr>
          <p:grpSpPr>
            <a:xfrm>
              <a:off x="794284" y="4788006"/>
              <a:ext cx="10242589" cy="1427396"/>
              <a:chOff x="794284" y="2422284"/>
              <a:chExt cx="10242589" cy="1427396"/>
            </a:xfrm>
            <a:noFill/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381719CD-F88E-CB23-0099-6573E786CD86}"/>
                  </a:ext>
                </a:extLst>
              </p:cNvPr>
              <p:cNvGrpSpPr/>
              <p:nvPr/>
            </p:nvGrpSpPr>
            <p:grpSpPr>
              <a:xfrm>
                <a:off x="794284" y="3051732"/>
                <a:ext cx="10242589" cy="797948"/>
                <a:chOff x="873086" y="5053331"/>
                <a:chExt cx="10242589" cy="1147434"/>
              </a:xfrm>
              <a:grpFill/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D0874105-491F-8E37-CCE3-ABB50831B0C0}"/>
                    </a:ext>
                  </a:extLst>
                </p:cNvPr>
                <p:cNvGrpSpPr/>
                <p:nvPr/>
              </p:nvGrpSpPr>
              <p:grpSpPr>
                <a:xfrm>
                  <a:off x="1027135" y="5053331"/>
                  <a:ext cx="10088540" cy="475932"/>
                  <a:chOff x="1027135" y="5053331"/>
                  <a:chExt cx="10088540" cy="475932"/>
                </a:xfrm>
                <a:grpFill/>
              </p:grpSpPr>
              <p:cxnSp>
                <p:nvCxnSpPr>
                  <p:cNvPr id="15" name="Straight Arrow Connector 14">
                    <a:extLst>
                      <a:ext uri="{FF2B5EF4-FFF2-40B4-BE49-F238E27FC236}">
                        <a16:creationId xmlns:a16="http://schemas.microsoft.com/office/drawing/2014/main" id="{47148F93-5DFC-7F36-4182-FE307B41B9F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5" y="5285984"/>
                    <a:ext cx="10088540" cy="14677"/>
                  </a:xfrm>
                  <a:prstGeom prst="straightConnector1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Connector 15">
                    <a:extLst>
                      <a:ext uri="{FF2B5EF4-FFF2-40B4-BE49-F238E27FC236}">
                        <a16:creationId xmlns:a16="http://schemas.microsoft.com/office/drawing/2014/main" id="{D2C29D4E-3E75-CC32-24DC-98B470D2DE2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6" y="507206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Connector 16">
                    <a:extLst>
                      <a:ext uri="{FF2B5EF4-FFF2-40B4-BE49-F238E27FC236}">
                        <a16:creationId xmlns:a16="http://schemas.microsoft.com/office/drawing/2014/main" id="{870DCA4F-E790-F266-1D50-3CAF91C617E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93890" y="5072062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4D09A6FA-58D2-BBCA-AF82-65BF63AD7E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90258" y="507206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2BE437E2-2C8A-1608-5A00-4323304B91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870524" y="505333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3EBD62CD-D73F-DE98-6BBB-79833F0194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74923" y="5072063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9B76752-A4CF-D38A-A7AB-5AFC94ABF163}"/>
                    </a:ext>
                  </a:extLst>
                </p:cNvPr>
                <p:cNvSpPr txBox="1"/>
                <p:nvPr/>
              </p:nvSpPr>
              <p:spPr>
                <a:xfrm>
                  <a:off x="873086" y="5713928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0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DB22F0E-86F9-0361-3819-7F5AF4834B2A}"/>
                    </a:ext>
                  </a:extLst>
                </p:cNvPr>
                <p:cNvSpPr txBox="1"/>
                <p:nvPr/>
              </p:nvSpPr>
              <p:spPr>
                <a:xfrm>
                  <a:off x="3139841" y="5713931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1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C22103A-3BCD-F985-4ACD-A1F8FA9264F7}"/>
                    </a:ext>
                  </a:extLst>
                </p:cNvPr>
                <p:cNvSpPr txBox="1"/>
                <p:nvPr/>
              </p:nvSpPr>
              <p:spPr>
                <a:xfrm>
                  <a:off x="5420874" y="5713931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2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590C6B8-D3D9-4439-0E8D-324BC01D289B}"/>
                    </a:ext>
                  </a:extLst>
                </p:cNvPr>
                <p:cNvSpPr txBox="1"/>
                <p:nvPr/>
              </p:nvSpPr>
              <p:spPr>
                <a:xfrm>
                  <a:off x="7716475" y="5710715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3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50E51AA-4680-8DE3-9F07-526264873C8C}"/>
                    </a:ext>
                  </a:extLst>
                </p:cNvPr>
                <p:cNvSpPr txBox="1"/>
                <p:nvPr/>
              </p:nvSpPr>
              <p:spPr>
                <a:xfrm>
                  <a:off x="10036209" y="5710715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4</a:t>
                  </a:r>
                </a:p>
              </p:txBody>
            </p: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7532F60-1D00-97CC-24F3-4CE8DBC1450F}"/>
                  </a:ext>
                </a:extLst>
              </p:cNvPr>
              <p:cNvSpPr txBox="1"/>
              <p:nvPr/>
            </p:nvSpPr>
            <p:spPr>
              <a:xfrm>
                <a:off x="2890319" y="2453036"/>
                <a:ext cx="755335" cy="400110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$100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115B2DE-B072-A195-28CB-109DA3D7AED3}"/>
                  </a:ext>
                </a:extLst>
              </p:cNvPr>
              <p:cNvSpPr txBox="1"/>
              <p:nvPr/>
            </p:nvSpPr>
            <p:spPr>
              <a:xfrm>
                <a:off x="5171352" y="2422284"/>
                <a:ext cx="755335" cy="400110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$100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93C7A21-B84B-9B2C-4DB8-6591559631C4}"/>
                  </a:ext>
                </a:extLst>
              </p:cNvPr>
              <p:cNvSpPr txBox="1"/>
              <p:nvPr/>
            </p:nvSpPr>
            <p:spPr>
              <a:xfrm>
                <a:off x="7466953" y="2458134"/>
                <a:ext cx="755335" cy="400110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$100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1813EFA-4192-9BC2-620E-37D57DE91A0D}"/>
                  </a:ext>
                </a:extLst>
              </p:cNvPr>
              <p:cNvSpPr txBox="1"/>
              <p:nvPr/>
            </p:nvSpPr>
            <p:spPr>
              <a:xfrm>
                <a:off x="9786687" y="2453036"/>
                <a:ext cx="755335" cy="400110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$100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D74EC9D-FF09-D00C-DA62-9EF038396365}"/>
                </a:ext>
              </a:extLst>
            </p:cNvPr>
            <p:cNvSpPr txBox="1"/>
            <p:nvPr/>
          </p:nvSpPr>
          <p:spPr>
            <a:xfrm>
              <a:off x="10719573" y="4818758"/>
              <a:ext cx="4892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 dirty="0"/>
                <a:t>…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DA11C6-076E-DC9E-E2A9-94A37647C13C}"/>
                </a:ext>
              </a:extLst>
            </p:cNvPr>
            <p:cNvSpPr txBox="1"/>
            <p:nvPr/>
          </p:nvSpPr>
          <p:spPr>
            <a:xfrm>
              <a:off x="10718515" y="5683121"/>
              <a:ext cx="4892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 dirty="0"/>
                <a:t>…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154CCF9-34BD-59CE-E452-0AEDCC1F3733}"/>
              </a:ext>
            </a:extLst>
          </p:cNvPr>
          <p:cNvSpPr txBox="1"/>
          <p:nvPr/>
        </p:nvSpPr>
        <p:spPr>
          <a:xfrm>
            <a:off x="634621" y="1546734"/>
            <a:ext cx="110606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200" b="0" i="0" dirty="0">
                <a:effectLst/>
                <a:latin typeface="Helvetica" pitchFamily="2" charset="0"/>
                <a:cs typeface="Times New Roman" panose="02020603050405020304" pitchFamily="18" charset="0"/>
              </a:rPr>
              <a:t>What’s the present value of a perpetuity that pays $1,000 per year beginning 1 year from now, if the appropriate interest rate is 5%?</a:t>
            </a:r>
            <a:endParaRPr lang="en-US" sz="2200" dirty="0">
              <a:latin typeface="Helvetica" pitchFamily="2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5C1926D-7703-4CAC-E026-9A310BC6E078}"/>
                  </a:ext>
                </a:extLst>
              </p:cNvPr>
              <p:cNvSpPr txBox="1"/>
              <p:nvPr/>
            </p:nvSpPr>
            <p:spPr>
              <a:xfrm>
                <a:off x="4998671" y="3503938"/>
                <a:ext cx="3223617" cy="6294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0" smtClean="0">
                              <a:latin typeface="Cambria Math" panose="02040503050406030204" pitchFamily="18" charset="0"/>
                            </a:rPr>
                            <m:t>𝐏𝐕</m:t>
                          </m:r>
                        </m:e>
                        <m:sub>
                          <m:r>
                            <a:rPr lang="en-US" sz="1800" b="1" i="0" smtClean="0">
                              <a:latin typeface="Cambria Math" panose="02040503050406030204" pitchFamily="18" charset="0"/>
                            </a:rPr>
                            <m:t>𝐏𝐞𝐫𝐩𝐞𝐭𝐮𝐢𝐭𝐲</m:t>
                          </m:r>
                        </m:sub>
                      </m:sSub>
                      <m:r>
                        <a:rPr lang="en-US" sz="18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$</m:t>
                          </m:r>
                          <m:r>
                            <a:rPr lang="en-US" sz="1800" b="1" i="0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num>
                        <m:den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𝟎𝟓</m:t>
                          </m:r>
                        </m:den>
                      </m:f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𝟎𝟎𝟎</m:t>
                      </m:r>
                    </m:oMath>
                  </m:oMathPara>
                </a14:m>
                <a:endParaRPr lang="en-US" b="1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5C1926D-7703-4CAC-E026-9A310BC6E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671" y="3503938"/>
                <a:ext cx="3223617" cy="629468"/>
              </a:xfrm>
              <a:prstGeom prst="rect">
                <a:avLst/>
              </a:prstGeom>
              <a:blipFill>
                <a:blip r:embed="rId2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E08B2C1D-8B77-DDE3-C747-97F396D47E80}"/>
              </a:ext>
            </a:extLst>
          </p:cNvPr>
          <p:cNvGrpSpPr/>
          <p:nvPr/>
        </p:nvGrpSpPr>
        <p:grpSpPr>
          <a:xfrm>
            <a:off x="2890319" y="3616661"/>
            <a:ext cx="2201998" cy="516745"/>
            <a:chOff x="2890319" y="3977909"/>
            <a:chExt cx="2201998" cy="5167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F745E9AD-1604-169F-5E5D-9F73F2BA8CDB}"/>
                    </a:ext>
                  </a:extLst>
                </p:cNvPr>
                <p:cNvSpPr txBox="1"/>
                <p:nvPr/>
              </p:nvSpPr>
              <p:spPr>
                <a:xfrm>
                  <a:off x="2890319" y="3977909"/>
                  <a:ext cx="1991443" cy="5167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𝐏𝐕</m:t>
                            </m:r>
                          </m:e>
                          <m:sub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𝐏𝐞𝐫𝐩𝐞𝐭𝐮𝐢𝐭𝐲</m:t>
                            </m:r>
                          </m:sub>
                        </m:s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𝐏𝐌𝐓</m:t>
                            </m:r>
                          </m:num>
                          <m:den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𝐢</m:t>
                            </m:r>
                          </m:den>
                        </m:f>
                      </m:oMath>
                    </m:oMathPara>
                  </a14:m>
                  <a:endParaRPr lang="en-US" b="1" dirty="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F745E9AD-1604-169F-5E5D-9F73F2BA8C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0319" y="3977909"/>
                  <a:ext cx="1991443" cy="516745"/>
                </a:xfrm>
                <a:prstGeom prst="rect">
                  <a:avLst/>
                </a:prstGeom>
                <a:blipFill>
                  <a:blip r:embed="rId3"/>
                  <a:stretch>
                    <a:fillRect l="-1899" t="-2381" r="-1899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D11613B-F8C5-36D7-8609-D4510551B325}"/>
                </a:ext>
              </a:extLst>
            </p:cNvPr>
            <p:cNvSpPr txBox="1"/>
            <p:nvPr/>
          </p:nvSpPr>
          <p:spPr>
            <a:xfrm>
              <a:off x="4841927" y="4051615"/>
              <a:ext cx="2503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,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F1E80F3C-097A-819E-EB7A-A0177453964E}"/>
              </a:ext>
            </a:extLst>
          </p:cNvPr>
          <p:cNvSpPr txBox="1"/>
          <p:nvPr/>
        </p:nvSpPr>
        <p:spPr>
          <a:xfrm>
            <a:off x="634621" y="4342580"/>
            <a:ext cx="92592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0" i="0" dirty="0">
                <a:effectLst/>
                <a:latin typeface="Helvetica" pitchFamily="2" charset="0"/>
              </a:rPr>
              <a:t>What would the value be if payments on the annuity began immediately?</a:t>
            </a:r>
            <a:endParaRPr lang="en-US" sz="2200" dirty="0">
              <a:latin typeface="Helvetica" pitchFamily="2" charset="0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3336BF7-0203-4861-2201-519EFF2E8328}"/>
              </a:ext>
            </a:extLst>
          </p:cNvPr>
          <p:cNvGrpSpPr/>
          <p:nvPr/>
        </p:nvGrpSpPr>
        <p:grpSpPr>
          <a:xfrm>
            <a:off x="600693" y="4665126"/>
            <a:ext cx="10608116" cy="1427396"/>
            <a:chOff x="600693" y="4665126"/>
            <a:chExt cx="10608116" cy="1427396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5B0D386-3EB3-4D2D-0C44-E843AF9B1055}"/>
                </a:ext>
              </a:extLst>
            </p:cNvPr>
            <p:cNvGrpSpPr/>
            <p:nvPr/>
          </p:nvGrpSpPr>
          <p:grpSpPr>
            <a:xfrm>
              <a:off x="794284" y="4665126"/>
              <a:ext cx="10414525" cy="1427396"/>
              <a:chOff x="794284" y="4788006"/>
              <a:chExt cx="10414525" cy="1427396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322A4B97-4DA9-BAE3-16E6-AF195928D33F}"/>
                  </a:ext>
                </a:extLst>
              </p:cNvPr>
              <p:cNvGrpSpPr/>
              <p:nvPr/>
            </p:nvGrpSpPr>
            <p:grpSpPr>
              <a:xfrm>
                <a:off x="794284" y="4788006"/>
                <a:ext cx="10242589" cy="1427396"/>
                <a:chOff x="794284" y="2422284"/>
                <a:chExt cx="10242589" cy="1427396"/>
              </a:xfrm>
              <a:noFill/>
            </p:grpSpPr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63302386-F44C-6F79-66DE-0F314BB67CFB}"/>
                    </a:ext>
                  </a:extLst>
                </p:cNvPr>
                <p:cNvGrpSpPr/>
                <p:nvPr/>
              </p:nvGrpSpPr>
              <p:grpSpPr>
                <a:xfrm>
                  <a:off x="794284" y="3051732"/>
                  <a:ext cx="10242589" cy="797948"/>
                  <a:chOff x="873086" y="5053331"/>
                  <a:chExt cx="10242589" cy="1147434"/>
                </a:xfrm>
                <a:grpFill/>
              </p:grpSpPr>
              <p:grpSp>
                <p:nvGrpSpPr>
                  <p:cNvPr id="40" name="Group 39">
                    <a:extLst>
                      <a:ext uri="{FF2B5EF4-FFF2-40B4-BE49-F238E27FC236}">
                        <a16:creationId xmlns:a16="http://schemas.microsoft.com/office/drawing/2014/main" id="{9F27C3F1-7338-8FA5-2025-69EEECB8D0BF}"/>
                      </a:ext>
                    </a:extLst>
                  </p:cNvPr>
                  <p:cNvGrpSpPr/>
                  <p:nvPr/>
                </p:nvGrpSpPr>
                <p:grpSpPr>
                  <a:xfrm>
                    <a:off x="1027135" y="5053331"/>
                    <a:ext cx="10088540" cy="475932"/>
                    <a:chOff x="1027135" y="5053331"/>
                    <a:chExt cx="10088540" cy="475932"/>
                  </a:xfrm>
                  <a:grpFill/>
                </p:grpSpPr>
                <p:cxnSp>
                  <p:nvCxnSpPr>
                    <p:cNvPr id="46" name="Straight Arrow Connector 45">
                      <a:extLst>
                        <a:ext uri="{FF2B5EF4-FFF2-40B4-BE49-F238E27FC236}">
                          <a16:creationId xmlns:a16="http://schemas.microsoft.com/office/drawing/2014/main" id="{D2C75203-16DF-C144-52B8-1B90F055A5B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7135" y="5285984"/>
                      <a:ext cx="10088540" cy="14677"/>
                    </a:xfrm>
                    <a:prstGeom prst="straightConnector1">
                      <a:avLst/>
                    </a:prstGeom>
                    <a:grpFill/>
                    <a:ln w="38100">
                      <a:solidFill>
                        <a:schemeClr val="accent2">
                          <a:lumMod val="75000"/>
                        </a:schemeClr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" name="Straight Connector 48">
                      <a:extLst>
                        <a:ext uri="{FF2B5EF4-FFF2-40B4-BE49-F238E27FC236}">
                          <a16:creationId xmlns:a16="http://schemas.microsoft.com/office/drawing/2014/main" id="{1C7ACDE9-DD0A-99ED-EE6A-D411D0C1A48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7136" y="5072061"/>
                      <a:ext cx="0" cy="457200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" name="Straight Connector 49">
                      <a:extLst>
                        <a:ext uri="{FF2B5EF4-FFF2-40B4-BE49-F238E27FC236}">
                          <a16:creationId xmlns:a16="http://schemas.microsoft.com/office/drawing/2014/main" id="{C0C420B3-8C9E-BD7B-8F3D-49B79EC80B0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293890" y="5072062"/>
                      <a:ext cx="0" cy="457200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" name="Straight Connector 50">
                      <a:extLst>
                        <a:ext uri="{FF2B5EF4-FFF2-40B4-BE49-F238E27FC236}">
                          <a16:creationId xmlns:a16="http://schemas.microsoft.com/office/drawing/2014/main" id="{2C5F828A-C0B6-4A9B-04B5-61690167741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190258" y="5072061"/>
                      <a:ext cx="0" cy="457200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2" name="Straight Connector 51">
                      <a:extLst>
                        <a:ext uri="{FF2B5EF4-FFF2-40B4-BE49-F238E27FC236}">
                          <a16:creationId xmlns:a16="http://schemas.microsoft.com/office/drawing/2014/main" id="{489862D1-6FA0-7C40-C142-F4A231D6F65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870524" y="5053331"/>
                      <a:ext cx="0" cy="457200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" name="Straight Connector 52">
                      <a:extLst>
                        <a:ext uri="{FF2B5EF4-FFF2-40B4-BE49-F238E27FC236}">
                          <a16:creationId xmlns:a16="http://schemas.microsoft.com/office/drawing/2014/main" id="{8A3DFC92-3923-D8FC-FC48-9E3CF0C73D3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574923" y="5072063"/>
                      <a:ext cx="0" cy="457200"/>
                    </a:xfrm>
                    <a:prstGeom prst="line">
                      <a:avLst/>
                    </a:prstGeom>
                    <a:grpFill/>
                    <a:ln w="38100"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C3A94662-8294-54A6-E5CF-D184F91E95A3}"/>
                      </a:ext>
                    </a:extLst>
                  </p:cNvPr>
                  <p:cNvSpPr txBox="1"/>
                  <p:nvPr/>
                </p:nvSpPr>
                <p:spPr>
                  <a:xfrm>
                    <a:off x="873086" y="5713928"/>
                    <a:ext cx="298480" cy="486834"/>
                  </a:xfrm>
                  <a:prstGeom prst="rect">
                    <a:avLst/>
                  </a:prstGeom>
                  <a:grpFill/>
                  <a:ln>
                    <a:solidFill>
                      <a:schemeClr val="accent2">
                        <a:lumMod val="75000"/>
                      </a:schemeClr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Helvetica" pitchFamily="2" charset="0"/>
                      </a:rPr>
                      <a:t>0</a:t>
                    </a:r>
                  </a:p>
                </p:txBody>
              </p:sp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62CBACDD-9C27-8E2B-AF8F-064A78B413CA}"/>
                      </a:ext>
                    </a:extLst>
                  </p:cNvPr>
                  <p:cNvSpPr txBox="1"/>
                  <p:nvPr/>
                </p:nvSpPr>
                <p:spPr>
                  <a:xfrm>
                    <a:off x="3139841" y="5713931"/>
                    <a:ext cx="298480" cy="486834"/>
                  </a:xfrm>
                  <a:prstGeom prst="rect">
                    <a:avLst/>
                  </a:prstGeom>
                  <a:grpFill/>
                  <a:ln>
                    <a:solidFill>
                      <a:schemeClr val="accent2">
                        <a:lumMod val="75000"/>
                      </a:schemeClr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Helvetica" pitchFamily="2" charset="0"/>
                      </a:rPr>
                      <a:t>1</a:t>
                    </a:r>
                  </a:p>
                </p:txBody>
              </p:sp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4C35628B-61EB-DC24-C87F-CF25C29D289E}"/>
                      </a:ext>
                    </a:extLst>
                  </p:cNvPr>
                  <p:cNvSpPr txBox="1"/>
                  <p:nvPr/>
                </p:nvSpPr>
                <p:spPr>
                  <a:xfrm>
                    <a:off x="5420874" y="5713931"/>
                    <a:ext cx="298480" cy="486834"/>
                  </a:xfrm>
                  <a:prstGeom prst="rect">
                    <a:avLst/>
                  </a:prstGeom>
                  <a:grpFill/>
                  <a:ln>
                    <a:solidFill>
                      <a:schemeClr val="accent2">
                        <a:lumMod val="75000"/>
                      </a:schemeClr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Helvetica" pitchFamily="2" charset="0"/>
                      </a:rPr>
                      <a:t>2</a:t>
                    </a:r>
                  </a:p>
                </p:txBody>
              </p:sp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25E90753-F1ED-E38B-CB30-53B3CAC04CEE}"/>
                      </a:ext>
                    </a:extLst>
                  </p:cNvPr>
                  <p:cNvSpPr txBox="1"/>
                  <p:nvPr/>
                </p:nvSpPr>
                <p:spPr>
                  <a:xfrm>
                    <a:off x="7716475" y="5710715"/>
                    <a:ext cx="298480" cy="486834"/>
                  </a:xfrm>
                  <a:prstGeom prst="rect">
                    <a:avLst/>
                  </a:prstGeom>
                  <a:grpFill/>
                  <a:ln>
                    <a:solidFill>
                      <a:schemeClr val="accent2">
                        <a:lumMod val="75000"/>
                      </a:schemeClr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Helvetica" pitchFamily="2" charset="0"/>
                      </a:rPr>
                      <a:t>3</a:t>
                    </a:r>
                  </a:p>
                </p:txBody>
              </p:sp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2B77F85C-0B84-668F-1F25-617A45102187}"/>
                      </a:ext>
                    </a:extLst>
                  </p:cNvPr>
                  <p:cNvSpPr txBox="1"/>
                  <p:nvPr/>
                </p:nvSpPr>
                <p:spPr>
                  <a:xfrm>
                    <a:off x="10036209" y="5710715"/>
                    <a:ext cx="298480" cy="486834"/>
                  </a:xfrm>
                  <a:prstGeom prst="rect">
                    <a:avLst/>
                  </a:prstGeom>
                  <a:grpFill/>
                  <a:ln>
                    <a:solidFill>
                      <a:schemeClr val="accent2">
                        <a:lumMod val="75000"/>
                      </a:schemeClr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Helvetica" pitchFamily="2" charset="0"/>
                      </a:rPr>
                      <a:t>4</a:t>
                    </a:r>
                  </a:p>
                </p:txBody>
              </p:sp>
            </p:grp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2B2C1E43-511D-5E34-D1CC-8884C1BDC612}"/>
                    </a:ext>
                  </a:extLst>
                </p:cNvPr>
                <p:cNvSpPr txBox="1"/>
                <p:nvPr/>
              </p:nvSpPr>
              <p:spPr>
                <a:xfrm>
                  <a:off x="2890319" y="2453036"/>
                  <a:ext cx="755335" cy="400110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$100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0DE787D-E501-CDFD-E2CE-053A64E130D4}"/>
                    </a:ext>
                  </a:extLst>
                </p:cNvPr>
                <p:cNvSpPr txBox="1"/>
                <p:nvPr/>
              </p:nvSpPr>
              <p:spPr>
                <a:xfrm>
                  <a:off x="5171352" y="2422284"/>
                  <a:ext cx="755335" cy="400110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$100</a:t>
                  </a: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9B596947-2127-77EA-37E9-5F7D29AC0A24}"/>
                    </a:ext>
                  </a:extLst>
                </p:cNvPr>
                <p:cNvSpPr txBox="1"/>
                <p:nvPr/>
              </p:nvSpPr>
              <p:spPr>
                <a:xfrm>
                  <a:off x="7466953" y="2458134"/>
                  <a:ext cx="755335" cy="400110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$100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A59669B0-21AC-B199-BDA0-024C4034442A}"/>
                    </a:ext>
                  </a:extLst>
                </p:cNvPr>
                <p:cNvSpPr txBox="1"/>
                <p:nvPr/>
              </p:nvSpPr>
              <p:spPr>
                <a:xfrm>
                  <a:off x="9786687" y="2453036"/>
                  <a:ext cx="755335" cy="400110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$100</a:t>
                  </a:r>
                </a:p>
              </p:txBody>
            </p:sp>
          </p:grp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BC04905-4E28-0FFD-835D-2192AB71D7E9}"/>
                  </a:ext>
                </a:extLst>
              </p:cNvPr>
              <p:cNvSpPr txBox="1"/>
              <p:nvPr/>
            </p:nvSpPr>
            <p:spPr>
              <a:xfrm>
                <a:off x="10719573" y="4818758"/>
                <a:ext cx="4892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00" b="1" dirty="0"/>
                  <a:t>…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09FA9D-4448-2C60-9DB4-225716739078}"/>
                  </a:ext>
                </a:extLst>
              </p:cNvPr>
              <p:cNvSpPr txBox="1"/>
              <p:nvPr/>
            </p:nvSpPr>
            <p:spPr>
              <a:xfrm>
                <a:off x="10718515" y="5683121"/>
                <a:ext cx="4892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00" b="1" dirty="0"/>
                  <a:t>…</a:t>
                </a:r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C9E4256-785D-310C-A177-B361BAA6330B}"/>
                </a:ext>
              </a:extLst>
            </p:cNvPr>
            <p:cNvSpPr txBox="1"/>
            <p:nvPr/>
          </p:nvSpPr>
          <p:spPr>
            <a:xfrm>
              <a:off x="600693" y="4696153"/>
              <a:ext cx="7553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2A3A48C-19C5-BD22-8B42-C9E588A314FC}"/>
                  </a:ext>
                </a:extLst>
              </p:cNvPr>
              <p:cNvSpPr txBox="1"/>
              <p:nvPr/>
            </p:nvSpPr>
            <p:spPr>
              <a:xfrm>
                <a:off x="5706600" y="6128250"/>
                <a:ext cx="4513287" cy="6294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0" smtClean="0">
                              <a:latin typeface="Cambria Math" panose="02040503050406030204" pitchFamily="18" charset="0"/>
                            </a:rPr>
                            <m:t>𝐏𝐕</m:t>
                          </m:r>
                        </m:e>
                        <m:sub>
                          <m:r>
                            <a:rPr lang="en-US" sz="1800" b="1" i="0" smtClean="0">
                              <a:latin typeface="Cambria Math" panose="02040503050406030204" pitchFamily="18" charset="0"/>
                            </a:rPr>
                            <m:t>𝐏𝐞𝐫𝐩𝐞𝐭𝐮𝐢𝐭𝐲</m:t>
                          </m:r>
                          <m:r>
                            <a:rPr lang="en-US" sz="1800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b="1" i="0" smtClean="0">
                              <a:latin typeface="Cambria Math" panose="02040503050406030204" pitchFamily="18" charset="0"/>
                            </a:rPr>
                            <m:t>𝐃𝐮𝐞</m:t>
                          </m:r>
                        </m:sub>
                      </m:sSub>
                      <m:r>
                        <a:rPr lang="en-US" sz="18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𝟏𝟎𝟎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 + </m:t>
                      </m:r>
                      <m:f>
                        <m:f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$</m:t>
                          </m:r>
                          <m:r>
                            <a:rPr lang="en-US" sz="1800" b="1" i="0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num>
                        <m:den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𝟎𝟓</m:t>
                          </m:r>
                        </m:den>
                      </m:f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2A3A48C-19C5-BD22-8B42-C9E588A314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600" y="6128250"/>
                <a:ext cx="4513287" cy="629468"/>
              </a:xfrm>
              <a:prstGeom prst="rect">
                <a:avLst/>
              </a:prstGeom>
              <a:blipFill>
                <a:blip r:embed="rId4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B1E6D30-56D1-91BF-9AA8-E1CB4F7B4AF0}"/>
                  </a:ext>
                </a:extLst>
              </p:cNvPr>
              <p:cNvSpPr txBox="1"/>
              <p:nvPr/>
            </p:nvSpPr>
            <p:spPr>
              <a:xfrm>
                <a:off x="1625067" y="6128250"/>
                <a:ext cx="3373604" cy="6294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0" smtClean="0">
                              <a:latin typeface="Cambria Math" panose="02040503050406030204" pitchFamily="18" charset="0"/>
                            </a:rPr>
                            <m:t>𝐏𝐕</m:t>
                          </m:r>
                        </m:e>
                        <m:sub>
                          <m:r>
                            <a:rPr lang="en-US" sz="1800" b="1" i="0" smtClean="0">
                              <a:latin typeface="Cambria Math" panose="02040503050406030204" pitchFamily="18" charset="0"/>
                            </a:rPr>
                            <m:t>𝐏𝐞𝐫𝐩𝐞𝐭𝐮𝐢𝐭𝐲</m:t>
                          </m:r>
                          <m:r>
                            <a:rPr lang="en-US" sz="1800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b="1" i="0" smtClean="0">
                              <a:latin typeface="Cambria Math" panose="02040503050406030204" pitchFamily="18" charset="0"/>
                            </a:rPr>
                            <m:t>𝐃𝐮𝐞</m:t>
                          </m:r>
                        </m:sub>
                      </m:sSub>
                      <m:r>
                        <a:rPr lang="en-US" sz="18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𝑷𝑴𝑻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 + </m:t>
                      </m:r>
                      <m:f>
                        <m:f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𝑷𝑴𝑻</m:t>
                          </m:r>
                        </m:num>
                        <m:den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B1E6D30-56D1-91BF-9AA8-E1CB4F7B4A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067" y="6128250"/>
                <a:ext cx="3373604" cy="6294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821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55" grpId="0"/>
      <p:bldP spid="5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299A5-C305-F53B-5371-EBD05E801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888F87-A5B7-3FBC-48D7-24D1EE4122DF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3AB39AC8-FD04-0CE1-ADD0-509CE7465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052391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Uneven Cash Flow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B399A1-F211-CD08-FDFC-6CFE3C002A67}"/>
              </a:ext>
            </a:extLst>
          </p:cNvPr>
          <p:cNvSpPr txBox="1"/>
          <p:nvPr/>
        </p:nvSpPr>
        <p:spPr>
          <a:xfrm>
            <a:off x="634620" y="1648335"/>
            <a:ext cx="11218703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spcBef>
                <a:spcPts val="600"/>
              </a:spcBef>
              <a:spcAft>
                <a:spcPts val="1125"/>
              </a:spcAft>
              <a:buFont typeface="Wingdings" pitchFamily="2" charset="2"/>
              <a:buChar char="ü"/>
            </a:pPr>
            <a:r>
              <a:rPr lang="en-US" sz="2400" b="0" i="0" dirty="0">
                <a:effectLst/>
                <a:latin typeface="Helvetica" pitchFamily="2" charset="0"/>
              </a:rPr>
              <a:t>There are two important classes of uneven cash flows:</a:t>
            </a:r>
          </a:p>
          <a:p>
            <a:pPr marL="800100" lvl="1" indent="-342900">
              <a:spcBef>
                <a:spcPts val="600"/>
              </a:spcBef>
              <a:spcAft>
                <a:spcPts val="525"/>
              </a:spcAft>
              <a:buFont typeface="Wingdings" pitchFamily="2" charset="2"/>
              <a:buChar char="Ø"/>
            </a:pPr>
            <a:r>
              <a:rPr lang="en-US" sz="2000" dirty="0">
                <a:latin typeface="Helvetica" pitchFamily="2" charset="0"/>
              </a:rPr>
              <a:t>A</a:t>
            </a:r>
            <a:r>
              <a:rPr lang="en-US" sz="2000" b="0" i="0" dirty="0">
                <a:effectLst/>
                <a:latin typeface="Helvetica" pitchFamily="2" charset="0"/>
              </a:rPr>
              <a:t> stream that consists of a series of annuity payments plus an additional final lump sum.</a:t>
            </a:r>
          </a:p>
          <a:p>
            <a:pPr marL="800100" lvl="1" indent="-342900">
              <a:buFont typeface="Wingdings" pitchFamily="2" charset="2"/>
              <a:buChar char="Ø"/>
            </a:pPr>
            <a:endParaRPr lang="en-US" sz="2000" b="0" i="0" dirty="0">
              <a:effectLst/>
              <a:latin typeface="Helvetica" pitchFamily="2" charset="0"/>
            </a:endParaRPr>
          </a:p>
          <a:p>
            <a:pPr marL="800100" lvl="1" indent="-342900">
              <a:spcBef>
                <a:spcPts val="600"/>
              </a:spcBef>
              <a:spcAft>
                <a:spcPts val="525"/>
              </a:spcAft>
              <a:buFont typeface="Wingdings" pitchFamily="2" charset="2"/>
              <a:buChar char="Ø"/>
            </a:pPr>
            <a:endParaRPr lang="en-US" sz="2000" dirty="0">
              <a:latin typeface="Helvetica" pitchFamily="2" charset="0"/>
            </a:endParaRPr>
          </a:p>
          <a:p>
            <a:pPr marL="800100" lvl="1" indent="-342900">
              <a:spcBef>
                <a:spcPts val="600"/>
              </a:spcBef>
              <a:spcAft>
                <a:spcPts val="525"/>
              </a:spcAft>
              <a:buFont typeface="Wingdings" pitchFamily="2" charset="2"/>
              <a:buChar char="Ø"/>
            </a:pPr>
            <a:endParaRPr lang="en-US" sz="2000" b="0" i="0" dirty="0">
              <a:effectLst/>
              <a:latin typeface="Helvetica" pitchFamily="2" charset="0"/>
            </a:endParaRPr>
          </a:p>
          <a:p>
            <a:pPr marL="800100" lvl="1" indent="-342900">
              <a:spcBef>
                <a:spcPts val="600"/>
              </a:spcBef>
              <a:spcAft>
                <a:spcPts val="525"/>
              </a:spcAft>
              <a:buFont typeface="Wingdings" pitchFamily="2" charset="2"/>
              <a:buChar char="Ø"/>
            </a:pPr>
            <a:endParaRPr lang="en-US" sz="2000" dirty="0">
              <a:latin typeface="Helvetica" pitchFamily="2" charset="0"/>
            </a:endParaRPr>
          </a:p>
          <a:p>
            <a:pPr lvl="1">
              <a:spcBef>
                <a:spcPts val="600"/>
              </a:spcBef>
              <a:spcAft>
                <a:spcPts val="525"/>
              </a:spcAft>
            </a:pPr>
            <a:endParaRPr lang="en-US" sz="2000" b="0" i="0" dirty="0">
              <a:effectLst/>
              <a:latin typeface="Helvetica" pitchFamily="2" charset="0"/>
            </a:endParaRPr>
          </a:p>
          <a:p>
            <a:pPr marL="800100" lvl="1" indent="-342900">
              <a:spcBef>
                <a:spcPts val="1200"/>
              </a:spcBef>
              <a:buFont typeface="Wingdings" pitchFamily="2" charset="2"/>
              <a:buChar char="Ø"/>
            </a:pPr>
            <a:r>
              <a:rPr lang="en-US" sz="2000" dirty="0">
                <a:latin typeface="Helvetica" pitchFamily="2" charset="0"/>
              </a:rPr>
              <a:t>A</a:t>
            </a:r>
            <a:r>
              <a:rPr lang="en-US" sz="2000" b="0" i="0" dirty="0">
                <a:effectLst/>
                <a:latin typeface="Helvetica" pitchFamily="2" charset="0"/>
              </a:rPr>
              <a:t>ll other uneven streams.</a:t>
            </a:r>
          </a:p>
          <a:p>
            <a:pPr lvl="1">
              <a:spcBef>
                <a:spcPts val="600"/>
              </a:spcBef>
              <a:spcAft>
                <a:spcPts val="525"/>
              </a:spcAft>
            </a:pPr>
            <a:endParaRPr lang="en-US" sz="2000" b="0" i="0" dirty="0">
              <a:effectLst/>
              <a:latin typeface="Helvetica" pitchFamily="2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D9385C0-0A8C-0590-77FD-FB6084645AF4}"/>
              </a:ext>
            </a:extLst>
          </p:cNvPr>
          <p:cNvGrpSpPr/>
          <p:nvPr/>
        </p:nvGrpSpPr>
        <p:grpSpPr>
          <a:xfrm>
            <a:off x="794284" y="2596678"/>
            <a:ext cx="10242589" cy="1823787"/>
            <a:chOff x="794284" y="2980504"/>
            <a:chExt cx="10242589" cy="1823787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593670E-FB6D-24BC-98B8-E0F7335260B9}"/>
                </a:ext>
              </a:extLst>
            </p:cNvPr>
            <p:cNvGrpSpPr/>
            <p:nvPr/>
          </p:nvGrpSpPr>
          <p:grpSpPr>
            <a:xfrm>
              <a:off x="794284" y="3376895"/>
              <a:ext cx="10242589" cy="1427396"/>
              <a:chOff x="794284" y="2422284"/>
              <a:chExt cx="10242589" cy="1427396"/>
            </a:xfrm>
            <a:noFill/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DE5D20A5-835E-4F54-6FA4-7C6C1D3144CC}"/>
                  </a:ext>
                </a:extLst>
              </p:cNvPr>
              <p:cNvGrpSpPr/>
              <p:nvPr/>
            </p:nvGrpSpPr>
            <p:grpSpPr>
              <a:xfrm>
                <a:off x="794284" y="3051732"/>
                <a:ext cx="10242589" cy="797948"/>
                <a:chOff x="873086" y="5053331"/>
                <a:chExt cx="10242589" cy="1147434"/>
              </a:xfrm>
              <a:grpFill/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B9EDD607-D0D6-7166-DAFC-64527783F4A9}"/>
                    </a:ext>
                  </a:extLst>
                </p:cNvPr>
                <p:cNvGrpSpPr/>
                <p:nvPr/>
              </p:nvGrpSpPr>
              <p:grpSpPr>
                <a:xfrm>
                  <a:off x="1027135" y="5053331"/>
                  <a:ext cx="10088540" cy="475932"/>
                  <a:chOff x="1027135" y="5053331"/>
                  <a:chExt cx="10088540" cy="475932"/>
                </a:xfrm>
                <a:grpFill/>
              </p:grpSpPr>
              <p:cxnSp>
                <p:nvCxnSpPr>
                  <p:cNvPr id="15" name="Straight Arrow Connector 14">
                    <a:extLst>
                      <a:ext uri="{FF2B5EF4-FFF2-40B4-BE49-F238E27FC236}">
                        <a16:creationId xmlns:a16="http://schemas.microsoft.com/office/drawing/2014/main" id="{9813347E-C3F4-8600-022B-E01DAACB90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5" y="5285984"/>
                    <a:ext cx="10088540" cy="14677"/>
                  </a:xfrm>
                  <a:prstGeom prst="straightConnector1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Connector 15">
                    <a:extLst>
                      <a:ext uri="{FF2B5EF4-FFF2-40B4-BE49-F238E27FC236}">
                        <a16:creationId xmlns:a16="http://schemas.microsoft.com/office/drawing/2014/main" id="{B8E5CE3D-EF8F-D474-2FFA-C5DA1C67EB2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6" y="507206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Connector 16">
                    <a:extLst>
                      <a:ext uri="{FF2B5EF4-FFF2-40B4-BE49-F238E27FC236}">
                        <a16:creationId xmlns:a16="http://schemas.microsoft.com/office/drawing/2014/main" id="{3A3C1C17-F9E8-251C-69B6-8489A91735F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93890" y="5072062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E9677C6E-EB58-1F42-F57F-72EA0AB9E7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90258" y="507206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0913970E-BB09-4B1A-1231-CACB659919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870524" y="505333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76E0DB2C-0120-191D-06DC-3A274E4D40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74923" y="5072063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B7BEB79-32A9-7E45-01C7-F7B9E4A9946D}"/>
                    </a:ext>
                  </a:extLst>
                </p:cNvPr>
                <p:cNvSpPr txBox="1"/>
                <p:nvPr/>
              </p:nvSpPr>
              <p:spPr>
                <a:xfrm>
                  <a:off x="873086" y="5713928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0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59F707E-8CDD-FC7C-FA71-CDA32BB06A1E}"/>
                    </a:ext>
                  </a:extLst>
                </p:cNvPr>
                <p:cNvSpPr txBox="1"/>
                <p:nvPr/>
              </p:nvSpPr>
              <p:spPr>
                <a:xfrm>
                  <a:off x="3139841" y="5713931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1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1BE733C-D76E-7189-DAFF-F70D4EA8FC4D}"/>
                    </a:ext>
                  </a:extLst>
                </p:cNvPr>
                <p:cNvSpPr txBox="1"/>
                <p:nvPr/>
              </p:nvSpPr>
              <p:spPr>
                <a:xfrm>
                  <a:off x="5420874" y="5713931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2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65D276B-6A68-49E4-5D1C-65D36C0DB6B3}"/>
                    </a:ext>
                  </a:extLst>
                </p:cNvPr>
                <p:cNvSpPr txBox="1"/>
                <p:nvPr/>
              </p:nvSpPr>
              <p:spPr>
                <a:xfrm>
                  <a:off x="7716475" y="5710715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3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5C74EE5-B881-9EC2-6D83-9E800674E548}"/>
                    </a:ext>
                  </a:extLst>
                </p:cNvPr>
                <p:cNvSpPr txBox="1"/>
                <p:nvPr/>
              </p:nvSpPr>
              <p:spPr>
                <a:xfrm>
                  <a:off x="10036209" y="5710715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4</a:t>
                  </a:r>
                </a:p>
              </p:txBody>
            </p: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785FF12-2B7B-F33C-3B30-9B29999245BA}"/>
                  </a:ext>
                </a:extLst>
              </p:cNvPr>
              <p:cNvSpPr txBox="1"/>
              <p:nvPr/>
            </p:nvSpPr>
            <p:spPr>
              <a:xfrm>
                <a:off x="2890319" y="2453036"/>
                <a:ext cx="755335" cy="400110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$100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0385F52-DAAC-1F9C-8344-D26AB7FE60F9}"/>
                  </a:ext>
                </a:extLst>
              </p:cNvPr>
              <p:cNvSpPr txBox="1"/>
              <p:nvPr/>
            </p:nvSpPr>
            <p:spPr>
              <a:xfrm>
                <a:off x="5171352" y="2422284"/>
                <a:ext cx="755335" cy="400110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$100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0299DAE-2351-8AB9-8AA0-964B6F69A264}"/>
                  </a:ext>
                </a:extLst>
              </p:cNvPr>
              <p:cNvSpPr txBox="1"/>
              <p:nvPr/>
            </p:nvSpPr>
            <p:spPr>
              <a:xfrm>
                <a:off x="7466953" y="2458134"/>
                <a:ext cx="755335" cy="400110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$100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0264403-D342-97EC-2576-81220F6282DE}"/>
                  </a:ext>
                </a:extLst>
              </p:cNvPr>
              <p:cNvSpPr txBox="1"/>
              <p:nvPr/>
            </p:nvSpPr>
            <p:spPr>
              <a:xfrm>
                <a:off x="9786687" y="2453036"/>
                <a:ext cx="755335" cy="400110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$100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ACB4B0B-379A-DED9-8FAF-64CB0BFE0FE1}"/>
                </a:ext>
              </a:extLst>
            </p:cNvPr>
            <p:cNvSpPr txBox="1"/>
            <p:nvPr/>
          </p:nvSpPr>
          <p:spPr>
            <a:xfrm>
              <a:off x="9672874" y="2980504"/>
              <a:ext cx="9685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  <a:latin typeface="Helvetica" pitchFamily="2" charset="0"/>
                </a:rPr>
                <a:t>$2,000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8264DC6-7846-BAF7-9FAE-630BAC1A7056}"/>
              </a:ext>
            </a:extLst>
          </p:cNvPr>
          <p:cNvGrpSpPr/>
          <p:nvPr/>
        </p:nvGrpSpPr>
        <p:grpSpPr>
          <a:xfrm>
            <a:off x="805392" y="5209739"/>
            <a:ext cx="10242589" cy="1427396"/>
            <a:chOff x="794284" y="2422284"/>
            <a:chExt cx="10242589" cy="1427396"/>
          </a:xfrm>
          <a:noFill/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9176365-3604-7159-134E-EBBB5065CFB4}"/>
                </a:ext>
              </a:extLst>
            </p:cNvPr>
            <p:cNvGrpSpPr/>
            <p:nvPr/>
          </p:nvGrpSpPr>
          <p:grpSpPr>
            <a:xfrm>
              <a:off x="794284" y="3051732"/>
              <a:ext cx="10242589" cy="797948"/>
              <a:chOff x="873086" y="5053331"/>
              <a:chExt cx="10242589" cy="1147434"/>
            </a:xfrm>
            <a:grpFill/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ECE52436-C6CE-167F-AD29-8EC141E4D90A}"/>
                  </a:ext>
                </a:extLst>
              </p:cNvPr>
              <p:cNvGrpSpPr/>
              <p:nvPr/>
            </p:nvGrpSpPr>
            <p:grpSpPr>
              <a:xfrm>
                <a:off x="1027135" y="5053331"/>
                <a:ext cx="10088540" cy="475932"/>
                <a:chOff x="1027135" y="5053331"/>
                <a:chExt cx="10088540" cy="475932"/>
              </a:xfrm>
              <a:grpFill/>
            </p:grpSpPr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31B4208B-0335-1094-3427-C059382AC1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5" y="5285984"/>
                  <a:ext cx="10088540" cy="14677"/>
                </a:xfrm>
                <a:prstGeom prst="straightConnector1">
                  <a:avLst/>
                </a:prstGeom>
                <a:grpFill/>
                <a:ln w="38100">
                  <a:solidFill>
                    <a:schemeClr val="accent5">
                      <a:lumMod val="75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A0A7CD87-A670-252E-A160-3A98EB967C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6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94820B63-28F7-384E-311F-741436E270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93890" y="5072062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A7DF7EF8-4780-FA1A-ED9F-9D1EA58544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90258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DFBA6C85-93A2-5ACD-6081-E570EFE9F9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70524" y="505333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286631BB-36A1-2722-B8B9-AAC8EDB8FF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74923" y="5072063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7562E38-D766-55CC-48BC-D11602DBD149}"/>
                  </a:ext>
                </a:extLst>
              </p:cNvPr>
              <p:cNvSpPr txBox="1"/>
              <p:nvPr/>
            </p:nvSpPr>
            <p:spPr>
              <a:xfrm>
                <a:off x="873086" y="5713928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5">
                        <a:lumMod val="75000"/>
                      </a:schemeClr>
                    </a:solidFill>
                    <a:latin typeface="Helvetica" pitchFamily="2" charset="0"/>
                  </a:rPr>
                  <a:t>0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B60C26E-FE87-09A2-B4DF-001793759B0C}"/>
                  </a:ext>
                </a:extLst>
              </p:cNvPr>
              <p:cNvSpPr txBox="1"/>
              <p:nvPr/>
            </p:nvSpPr>
            <p:spPr>
              <a:xfrm>
                <a:off x="3139841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5">
                        <a:lumMod val="75000"/>
                      </a:schemeClr>
                    </a:solidFill>
                    <a:latin typeface="Helvetica" pitchFamily="2" charset="0"/>
                  </a:rPr>
                  <a:t>1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284C846-0E00-7449-C437-BD06281B20B8}"/>
                  </a:ext>
                </a:extLst>
              </p:cNvPr>
              <p:cNvSpPr txBox="1"/>
              <p:nvPr/>
            </p:nvSpPr>
            <p:spPr>
              <a:xfrm>
                <a:off x="5420874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5">
                        <a:lumMod val="75000"/>
                      </a:schemeClr>
                    </a:solidFill>
                    <a:latin typeface="Helvetica" pitchFamily="2" charset="0"/>
                  </a:rPr>
                  <a:t>2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62E897C-679B-9C9A-725C-03BF681C6406}"/>
                  </a:ext>
                </a:extLst>
              </p:cNvPr>
              <p:cNvSpPr txBox="1"/>
              <p:nvPr/>
            </p:nvSpPr>
            <p:spPr>
              <a:xfrm>
                <a:off x="7716475" y="5710715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5">
                        <a:lumMod val="75000"/>
                      </a:schemeClr>
                    </a:solidFill>
                    <a:latin typeface="Helvetica" pitchFamily="2" charset="0"/>
                  </a:rPr>
                  <a:t>3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FE4B47D-4093-BC9D-900A-AFC47DB7CF13}"/>
                  </a:ext>
                </a:extLst>
              </p:cNvPr>
              <p:cNvSpPr txBox="1"/>
              <p:nvPr/>
            </p:nvSpPr>
            <p:spPr>
              <a:xfrm>
                <a:off x="10036209" y="5710715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5">
                        <a:lumMod val="75000"/>
                      </a:schemeClr>
                    </a:solidFill>
                    <a:latin typeface="Helvetica" pitchFamily="2" charset="0"/>
                  </a:rPr>
                  <a:t>4</a:t>
                </a: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1F4E789-137E-F8C6-FDE3-200CD6D94935}"/>
                </a:ext>
              </a:extLst>
            </p:cNvPr>
            <p:cNvSpPr txBox="1"/>
            <p:nvPr/>
          </p:nvSpPr>
          <p:spPr>
            <a:xfrm>
              <a:off x="2890319" y="2453036"/>
              <a:ext cx="755335" cy="400110"/>
            </a:xfrm>
            <a:prstGeom prst="rect">
              <a:avLst/>
            </a:prstGeom>
            <a:grpFill/>
            <a:ln>
              <a:solidFill>
                <a:schemeClr val="accent5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Helvetica" pitchFamily="2" charset="0"/>
                </a:rPr>
                <a:t>$200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47B3AA0-CAC5-487A-C50D-CAAF2213D710}"/>
                </a:ext>
              </a:extLst>
            </p:cNvPr>
            <p:cNvSpPr txBox="1"/>
            <p:nvPr/>
          </p:nvSpPr>
          <p:spPr>
            <a:xfrm>
              <a:off x="5171352" y="2422284"/>
              <a:ext cx="755335" cy="400110"/>
            </a:xfrm>
            <a:prstGeom prst="rect">
              <a:avLst/>
            </a:prstGeom>
            <a:grpFill/>
            <a:ln>
              <a:solidFill>
                <a:schemeClr val="accent5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Helvetica" pitchFamily="2" charset="0"/>
                </a:rPr>
                <a:t>$300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DB5C622-8C75-B98F-430B-DEC21FA9595D}"/>
                </a:ext>
              </a:extLst>
            </p:cNvPr>
            <p:cNvSpPr txBox="1"/>
            <p:nvPr/>
          </p:nvSpPr>
          <p:spPr>
            <a:xfrm>
              <a:off x="7466953" y="2458134"/>
              <a:ext cx="755335" cy="400110"/>
            </a:xfrm>
            <a:prstGeom prst="rect">
              <a:avLst/>
            </a:prstGeom>
            <a:grpFill/>
            <a:ln>
              <a:solidFill>
                <a:schemeClr val="accent5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1FC652A-6718-397F-CC9B-E6E17595A3C7}"/>
                </a:ext>
              </a:extLst>
            </p:cNvPr>
            <p:cNvSpPr txBox="1"/>
            <p:nvPr/>
          </p:nvSpPr>
          <p:spPr>
            <a:xfrm>
              <a:off x="9786687" y="2453036"/>
              <a:ext cx="755335" cy="400110"/>
            </a:xfrm>
            <a:prstGeom prst="rect">
              <a:avLst/>
            </a:prstGeom>
            <a:grpFill/>
            <a:ln>
              <a:solidFill>
                <a:schemeClr val="accent5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Helvetica" pitchFamily="2" charset="0"/>
                </a:rPr>
                <a:t>$900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9030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4453A-F852-8235-A91A-20ABC711B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3CB395A-C326-6404-0522-645CFB6A5326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624D6A6A-10BE-8ACA-DA5B-C50B4726E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052391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PV of an Uneven Cash Flow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0E3184A-123D-33D5-9E32-C3AEBBE8FBF7}"/>
                  </a:ext>
                </a:extLst>
              </p:cNvPr>
              <p:cNvSpPr txBox="1"/>
              <p:nvPr/>
            </p:nvSpPr>
            <p:spPr>
              <a:xfrm>
                <a:off x="1536098" y="3328323"/>
                <a:ext cx="9593780" cy="765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𝑃𝑉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𝐶𝐹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(1+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𝐶𝐹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(1+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>
                    <a:latin typeface="Helvetica" pitchFamily="2" charset="0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𝐶𝐹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(1+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3200" dirty="0">
                    <a:latin typeface="Helvetica" pitchFamily="2" charset="0"/>
                  </a:rPr>
                  <a:t> +…+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𝐶𝐹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(1+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den>
                    </m:f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𝐶𝐹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(1+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endParaRPr lang="en-US" sz="2800" dirty="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0E3184A-123D-33D5-9E32-C3AEBBE8F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6098" y="3328323"/>
                <a:ext cx="9593780" cy="765659"/>
              </a:xfrm>
              <a:prstGeom prst="rect">
                <a:avLst/>
              </a:prstGeom>
              <a:blipFill>
                <a:blip r:embed="rId2"/>
                <a:stretch>
                  <a:fillRect l="-1321" t="-95082" b="-1409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52AC27A7-448B-FD42-4D36-0CC31D196691}"/>
              </a:ext>
            </a:extLst>
          </p:cNvPr>
          <p:cNvGrpSpPr/>
          <p:nvPr/>
        </p:nvGrpSpPr>
        <p:grpSpPr>
          <a:xfrm>
            <a:off x="775285" y="1679138"/>
            <a:ext cx="10242589" cy="1427396"/>
            <a:chOff x="775285" y="1679138"/>
            <a:chExt cx="10242589" cy="142739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E636898-8297-8114-ECC8-C8B03153A1CE}"/>
                </a:ext>
              </a:extLst>
            </p:cNvPr>
            <p:cNvGrpSpPr/>
            <p:nvPr/>
          </p:nvGrpSpPr>
          <p:grpSpPr>
            <a:xfrm>
              <a:off x="775285" y="1679138"/>
              <a:ext cx="10242589" cy="1427396"/>
              <a:chOff x="794284" y="2422284"/>
              <a:chExt cx="10242589" cy="1427396"/>
            </a:xfrm>
            <a:noFill/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43BA33AF-F5BC-5A1C-7FB4-BC7F556CC052}"/>
                  </a:ext>
                </a:extLst>
              </p:cNvPr>
              <p:cNvGrpSpPr/>
              <p:nvPr/>
            </p:nvGrpSpPr>
            <p:grpSpPr>
              <a:xfrm>
                <a:off x="794284" y="3051732"/>
                <a:ext cx="10242589" cy="797948"/>
                <a:chOff x="873086" y="5053331"/>
                <a:chExt cx="10242589" cy="1147434"/>
              </a:xfrm>
              <a:grpFill/>
            </p:grpSpPr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5EE7A395-6BA2-9AED-33A6-544FE16328CF}"/>
                    </a:ext>
                  </a:extLst>
                </p:cNvPr>
                <p:cNvGrpSpPr/>
                <p:nvPr/>
              </p:nvGrpSpPr>
              <p:grpSpPr>
                <a:xfrm>
                  <a:off x="1027135" y="5053331"/>
                  <a:ext cx="10088540" cy="475932"/>
                  <a:chOff x="1027135" y="5053331"/>
                  <a:chExt cx="10088540" cy="475932"/>
                </a:xfrm>
                <a:grpFill/>
              </p:grpSpPr>
              <p:cxnSp>
                <p:nvCxnSpPr>
                  <p:cNvPr id="56" name="Straight Arrow Connector 55">
                    <a:extLst>
                      <a:ext uri="{FF2B5EF4-FFF2-40B4-BE49-F238E27FC236}">
                        <a16:creationId xmlns:a16="http://schemas.microsoft.com/office/drawing/2014/main" id="{5C33B3AD-6111-3859-3EE7-97B977C317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5" y="5285984"/>
                    <a:ext cx="10088540" cy="14677"/>
                  </a:xfrm>
                  <a:prstGeom prst="straightConnector1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DEE1CAB6-F1AE-4C6D-0931-5895C21645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6" y="507206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2249A08C-A508-E13B-FA08-956C0D55BE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93890" y="5072062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FD3B9912-A02E-07A0-0E3B-1FF81A449FD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90258" y="507206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722EA19D-5BA8-C758-4C8C-6CDA8EE1DD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870524" y="505333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F254405E-FC4E-F02E-1A1F-29E21AAFBA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74923" y="5072063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33D1D714-F60F-BF5F-F620-37165B8984FB}"/>
                    </a:ext>
                  </a:extLst>
                </p:cNvPr>
                <p:cNvSpPr txBox="1"/>
                <p:nvPr/>
              </p:nvSpPr>
              <p:spPr>
                <a:xfrm>
                  <a:off x="873086" y="5713928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0</a:t>
                  </a:r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A033F0A-8D5B-D56B-7076-A68E15D114CA}"/>
                    </a:ext>
                  </a:extLst>
                </p:cNvPr>
                <p:cNvSpPr txBox="1"/>
                <p:nvPr/>
              </p:nvSpPr>
              <p:spPr>
                <a:xfrm>
                  <a:off x="3139841" y="5713931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1</a:t>
                  </a:r>
                </a:p>
              </p:txBody>
            </p: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F7448EFD-6C00-18B2-B302-7BEABCCB3FFB}"/>
                    </a:ext>
                  </a:extLst>
                </p:cNvPr>
                <p:cNvSpPr txBox="1"/>
                <p:nvPr/>
              </p:nvSpPr>
              <p:spPr>
                <a:xfrm>
                  <a:off x="5420874" y="5713931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2</a:t>
                  </a:r>
                </a:p>
              </p:txBody>
            </p: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6EB95A86-06E8-001B-CD7F-7AF6C37BF3E4}"/>
                    </a:ext>
                  </a:extLst>
                </p:cNvPr>
                <p:cNvSpPr txBox="1"/>
                <p:nvPr/>
              </p:nvSpPr>
              <p:spPr>
                <a:xfrm>
                  <a:off x="7716475" y="5710715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3</a:t>
                  </a:r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79CB81FE-6CE7-09F1-8C5E-2458312B0ECE}"/>
                    </a:ext>
                  </a:extLst>
                </p:cNvPr>
                <p:cNvSpPr txBox="1"/>
                <p:nvPr/>
              </p:nvSpPr>
              <p:spPr>
                <a:xfrm>
                  <a:off x="10036209" y="5710715"/>
                  <a:ext cx="332142" cy="486834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2">
                          <a:lumMod val="75000"/>
                        </a:schemeClr>
                      </a:solidFill>
                      <a:latin typeface="Helvetica" pitchFamily="2" charset="0"/>
                    </a:rPr>
                    <a:t>N</a:t>
                  </a:r>
                </a:p>
              </p:txBody>
            </p:sp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1ABC765-1F0A-D84C-DA1B-AE7496FF78D1}"/>
                  </a:ext>
                </a:extLst>
              </p:cNvPr>
              <p:cNvSpPr txBox="1"/>
              <p:nvPr/>
            </p:nvSpPr>
            <p:spPr>
              <a:xfrm>
                <a:off x="2890319" y="2453036"/>
                <a:ext cx="622286" cy="40011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CF</a:t>
                </a:r>
                <a:r>
                  <a:rPr lang="en-US" sz="2000" b="1" baseline="-25000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1</a:t>
                </a:r>
                <a:endPara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2CABF87-628F-FE63-DF7A-4B8C2DD3602C}"/>
                  </a:ext>
                </a:extLst>
              </p:cNvPr>
              <p:cNvSpPr txBox="1"/>
              <p:nvPr/>
            </p:nvSpPr>
            <p:spPr>
              <a:xfrm>
                <a:off x="5171352" y="2422284"/>
                <a:ext cx="622286" cy="40011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CF</a:t>
                </a:r>
                <a:r>
                  <a:rPr lang="en-US" sz="2000" b="1" baseline="-25000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2</a:t>
                </a:r>
                <a:endPara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C9FD39F-C3CE-BE5A-C5B9-8385AF0973EA}"/>
                  </a:ext>
                </a:extLst>
              </p:cNvPr>
              <p:cNvSpPr txBox="1"/>
              <p:nvPr/>
            </p:nvSpPr>
            <p:spPr>
              <a:xfrm>
                <a:off x="7466953" y="2458134"/>
                <a:ext cx="622286" cy="40011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CF</a:t>
                </a:r>
                <a:r>
                  <a:rPr lang="en-US" sz="2000" b="1" baseline="-25000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3</a:t>
                </a:r>
                <a:endPara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29E3640-FA9E-7FB7-8538-C5E0B1BCB55F}"/>
                  </a:ext>
                </a:extLst>
              </p:cNvPr>
              <p:cNvSpPr txBox="1"/>
              <p:nvPr/>
            </p:nvSpPr>
            <p:spPr>
              <a:xfrm>
                <a:off x="9786687" y="2453036"/>
                <a:ext cx="651140" cy="40011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CF</a:t>
                </a:r>
                <a:r>
                  <a:rPr lang="en-US" sz="2000" b="1" baseline="-25000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N</a:t>
                </a:r>
                <a:endPara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endParaRPr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81BC013-4CD2-CE99-EAF9-B1ED5E203B32}"/>
                </a:ext>
              </a:extLst>
            </p:cNvPr>
            <p:cNvSpPr txBox="1"/>
            <p:nvPr/>
          </p:nvSpPr>
          <p:spPr>
            <a:xfrm>
              <a:off x="8565347" y="1879193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Helvetica" pitchFamily="2" charset="0"/>
                </a:rPr>
                <a:t>…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2E1CAE0-9CA5-2276-F0C9-297DCFFAA615}"/>
                </a:ext>
              </a:extLst>
            </p:cNvPr>
            <p:cNvSpPr txBox="1"/>
            <p:nvPr/>
          </p:nvSpPr>
          <p:spPr>
            <a:xfrm>
              <a:off x="8565347" y="2597548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Helvetica" pitchFamily="2" charset="0"/>
                </a:rPr>
                <a:t>…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24A10F75-D35B-D699-D869-7304F9332B7F}"/>
              </a:ext>
            </a:extLst>
          </p:cNvPr>
          <p:cNvSpPr txBox="1"/>
          <p:nvPr/>
        </p:nvSpPr>
        <p:spPr>
          <a:xfrm>
            <a:off x="560022" y="4372216"/>
            <a:ext cx="1107195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200" dirty="0">
                <a:latin typeface="Helvetica" pitchFamily="2" charset="0"/>
              </a:rPr>
              <a:t>Present Value of </a:t>
            </a:r>
            <a:r>
              <a:rPr lang="en-US" sz="2200" b="1" dirty="0">
                <a:latin typeface="Helvetica" pitchFamily="2" charset="0"/>
              </a:rPr>
              <a:t>A</a:t>
            </a:r>
            <a:r>
              <a:rPr lang="en-US" sz="2200" b="1" i="0" dirty="0">
                <a:effectLst/>
                <a:latin typeface="Helvetica" pitchFamily="2" charset="0"/>
              </a:rPr>
              <a:t> stream that consists of a series of annuity payments plus an additional final lump sum</a:t>
            </a:r>
            <a:r>
              <a:rPr lang="en-US" sz="2200" dirty="0">
                <a:latin typeface="Helvetica" pitchFamily="2" charset="0"/>
              </a:rPr>
              <a:t> are easy to calculate by financial calculator.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000" b="1" dirty="0">
                <a:latin typeface="Helvetica" pitchFamily="2" charset="0"/>
              </a:rPr>
              <a:t>For the annuity: </a:t>
            </a:r>
            <a:r>
              <a:rPr lang="en-US" sz="2000" dirty="0">
                <a:latin typeface="Helvetica" pitchFamily="2" charset="0"/>
              </a:rPr>
              <a:t>Input </a:t>
            </a:r>
            <a:r>
              <a:rPr lang="en-US" sz="2000" b="1" dirty="0">
                <a:latin typeface="Helvetica" pitchFamily="2" charset="0"/>
              </a:rPr>
              <a:t>PMT</a:t>
            </a:r>
            <a:r>
              <a:rPr lang="en-US" sz="2000" dirty="0">
                <a:latin typeface="Helvetica" pitchFamily="2" charset="0"/>
              </a:rPr>
              <a:t>, </a:t>
            </a:r>
            <a:r>
              <a:rPr lang="en-US" sz="2000" b="1" dirty="0" err="1">
                <a:latin typeface="Helvetica" pitchFamily="2" charset="0"/>
              </a:rPr>
              <a:t>i</a:t>
            </a:r>
            <a:r>
              <a:rPr lang="en-US" sz="2000" dirty="0">
                <a:latin typeface="Helvetica" pitchFamily="2" charset="0"/>
              </a:rPr>
              <a:t>, and </a:t>
            </a:r>
            <a:r>
              <a:rPr lang="en-US" sz="2000" b="1" dirty="0">
                <a:latin typeface="Helvetica" pitchFamily="2" charset="0"/>
              </a:rPr>
              <a:t>N.</a:t>
            </a:r>
            <a:endParaRPr lang="en-US" sz="2000" dirty="0">
              <a:latin typeface="Helvetica" pitchFamily="2" charset="0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000" b="1" dirty="0">
                <a:latin typeface="Helvetica" pitchFamily="2" charset="0"/>
              </a:rPr>
              <a:t>For the lump sum: </a:t>
            </a:r>
            <a:r>
              <a:rPr lang="en-US" sz="2000" dirty="0">
                <a:latin typeface="Helvetica" pitchFamily="2" charset="0"/>
              </a:rPr>
              <a:t>Input </a:t>
            </a:r>
            <a:r>
              <a:rPr lang="en-US" sz="2000" b="1" dirty="0">
                <a:latin typeface="Helvetica" pitchFamily="2" charset="0"/>
              </a:rPr>
              <a:t>FV.</a:t>
            </a:r>
            <a:endParaRPr lang="en-US" sz="20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829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82FDE-BD1B-2E7E-BEAE-05D64E0FF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8FECC-79D7-1D56-A9AB-C32FDC636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076" y="1470467"/>
            <a:ext cx="11219101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0" i="0" dirty="0">
                <a:effectLst/>
                <a:latin typeface="Helvetica" pitchFamily="2" charset="0"/>
              </a:rPr>
              <a:t>What’s the present value of a 15-year ordinary annuity of $900 plus an additional $3,000 at the end of Year 15 if the interest rate is 6%? </a:t>
            </a:r>
            <a:endParaRPr lang="en-US" sz="3200" dirty="0">
              <a:latin typeface="Helvetica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DAB901-E888-4980-E719-F4E7130A7487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637333-90A4-704C-5AAF-E62363170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794" y="77713"/>
            <a:ext cx="10502900" cy="1322996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Question-6</a:t>
            </a: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88BD9929-627D-715B-7CCF-E55DAC2BF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55817"/>
              </p:ext>
            </p:extLst>
          </p:nvPr>
        </p:nvGraphicFramePr>
        <p:xfrm>
          <a:off x="3473454" y="4375110"/>
          <a:ext cx="4919790" cy="148157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43780">
                  <a:extLst>
                    <a:ext uri="{9D8B030D-6E8A-4147-A177-3AD203B41FA5}">
                      <a16:colId xmlns:a16="http://schemas.microsoft.com/office/drawing/2014/main" val="2986694891"/>
                    </a:ext>
                  </a:extLst>
                </a:gridCol>
                <a:gridCol w="903249">
                  <a:extLst>
                    <a:ext uri="{9D8B030D-6E8A-4147-A177-3AD203B41FA5}">
                      <a16:colId xmlns:a16="http://schemas.microsoft.com/office/drawing/2014/main" val="2867844822"/>
                    </a:ext>
                  </a:extLst>
                </a:gridCol>
                <a:gridCol w="1022095">
                  <a:extLst>
                    <a:ext uri="{9D8B030D-6E8A-4147-A177-3AD203B41FA5}">
                      <a16:colId xmlns:a16="http://schemas.microsoft.com/office/drawing/2014/main" val="3714192118"/>
                    </a:ext>
                  </a:extLst>
                </a:gridCol>
                <a:gridCol w="1052032">
                  <a:extLst>
                    <a:ext uri="{9D8B030D-6E8A-4147-A177-3AD203B41FA5}">
                      <a16:colId xmlns:a16="http://schemas.microsoft.com/office/drawing/2014/main" val="937620826"/>
                    </a:ext>
                  </a:extLst>
                </a:gridCol>
                <a:gridCol w="1098634">
                  <a:extLst>
                    <a:ext uri="{9D8B030D-6E8A-4147-A177-3AD203B41FA5}">
                      <a16:colId xmlns:a16="http://schemas.microsoft.com/office/drawing/2014/main" val="2814070118"/>
                    </a:ext>
                  </a:extLst>
                </a:gridCol>
              </a:tblGrid>
              <a:tr h="493858">
                <a:tc gridSpan="5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Using Calculator</a:t>
                      </a:r>
                      <a:endParaRPr lang="en-US" sz="2000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703353"/>
                  </a:ext>
                </a:extLst>
              </a:tr>
              <a:tr h="49385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I/Y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N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PV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PMT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FV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287289"/>
                  </a:ext>
                </a:extLst>
              </a:tr>
              <a:tr h="49385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6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15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??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900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3,000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1100110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221C5E83-1519-94C0-8D92-D907667CC0E0}"/>
              </a:ext>
            </a:extLst>
          </p:cNvPr>
          <p:cNvSpPr txBox="1"/>
          <p:nvPr/>
        </p:nvSpPr>
        <p:spPr>
          <a:xfrm>
            <a:off x="4640879" y="6195035"/>
            <a:ext cx="2584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</a:rPr>
              <a:t>PV = $9,928.19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AADD95D-1C5D-F961-0724-41867584B3C9}"/>
              </a:ext>
            </a:extLst>
          </p:cNvPr>
          <p:cNvGrpSpPr/>
          <p:nvPr/>
        </p:nvGrpSpPr>
        <p:grpSpPr>
          <a:xfrm>
            <a:off x="837452" y="2683913"/>
            <a:ext cx="10260242" cy="1317967"/>
            <a:chOff x="846174" y="3180900"/>
            <a:chExt cx="10260242" cy="131796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27D5C74-1555-A62F-B558-23C5A47A6AEF}"/>
                </a:ext>
              </a:extLst>
            </p:cNvPr>
            <p:cNvGrpSpPr/>
            <p:nvPr/>
          </p:nvGrpSpPr>
          <p:grpSpPr>
            <a:xfrm>
              <a:off x="846174" y="3550659"/>
              <a:ext cx="10260242" cy="948208"/>
              <a:chOff x="846174" y="3550659"/>
              <a:chExt cx="10260242" cy="948208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098EDC22-EC4B-85FE-0454-927DE041FA0E}"/>
                  </a:ext>
                </a:extLst>
              </p:cNvPr>
              <p:cNvGrpSpPr/>
              <p:nvPr/>
            </p:nvGrpSpPr>
            <p:grpSpPr>
              <a:xfrm>
                <a:off x="846174" y="3550659"/>
                <a:ext cx="10260242" cy="942798"/>
                <a:chOff x="846174" y="3373481"/>
                <a:chExt cx="10260242" cy="942798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FFA79F24-205A-E578-BA68-274CAD94D3D6}"/>
                    </a:ext>
                  </a:extLst>
                </p:cNvPr>
                <p:cNvGrpSpPr/>
                <p:nvPr/>
              </p:nvGrpSpPr>
              <p:grpSpPr>
                <a:xfrm>
                  <a:off x="846174" y="3373481"/>
                  <a:ext cx="10260242" cy="919279"/>
                  <a:chOff x="855433" y="5064722"/>
                  <a:chExt cx="10260242" cy="919279"/>
                </a:xfrm>
              </p:grpSpPr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D248A702-1B4D-14EB-499D-1C1EC1C13F4B}"/>
                      </a:ext>
                    </a:extLst>
                  </p:cNvPr>
                  <p:cNvGrpSpPr/>
                  <p:nvPr/>
                </p:nvGrpSpPr>
                <p:grpSpPr>
                  <a:xfrm>
                    <a:off x="1019100" y="5064722"/>
                    <a:ext cx="10096575" cy="464539"/>
                    <a:chOff x="1019100" y="5064722"/>
                    <a:chExt cx="10096575" cy="464539"/>
                  </a:xfrm>
                </p:grpSpPr>
                <p:cxnSp>
                  <p:nvCxnSpPr>
                    <p:cNvPr id="27" name="Straight Arrow Connector 26">
                      <a:extLst>
                        <a:ext uri="{FF2B5EF4-FFF2-40B4-BE49-F238E27FC236}">
                          <a16:creationId xmlns:a16="http://schemas.microsoft.com/office/drawing/2014/main" id="{579AB770-9A96-8AC2-7E00-C141BADCCEB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7135" y="5285984"/>
                      <a:ext cx="10088540" cy="14677"/>
                    </a:xfrm>
                    <a:prstGeom prst="straightConnector1">
                      <a:avLst/>
                    </a:prstGeom>
                    <a:ln w="38100"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" name="Straight Connector 27">
                      <a:extLst>
                        <a:ext uri="{FF2B5EF4-FFF2-40B4-BE49-F238E27FC236}">
                          <a16:creationId xmlns:a16="http://schemas.microsoft.com/office/drawing/2014/main" id="{ED7C2B8A-37CF-09CA-5CA9-1E7A51D0792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19100" y="5064722"/>
                      <a:ext cx="0" cy="457200"/>
                    </a:xfrm>
                    <a:prstGeom prst="line">
                      <a:avLst/>
                    </a:prstGeom>
                    <a:ln w="3810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" name="Straight Connector 29">
                      <a:extLst>
                        <a:ext uri="{FF2B5EF4-FFF2-40B4-BE49-F238E27FC236}">
                          <a16:creationId xmlns:a16="http://schemas.microsoft.com/office/drawing/2014/main" id="{F8BB0A1A-5835-45B1-BFF2-8DA9BA70EA0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022993" y="5072061"/>
                      <a:ext cx="0" cy="457200"/>
                    </a:xfrm>
                    <a:prstGeom prst="line">
                      <a:avLst/>
                    </a:prstGeom>
                    <a:ln w="38100"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9BF7FFF5-77E5-D352-62BD-B8F3D656022D}"/>
                      </a:ext>
                    </a:extLst>
                  </p:cNvPr>
                  <p:cNvSpPr txBox="1"/>
                  <p:nvPr/>
                </p:nvSpPr>
                <p:spPr>
                  <a:xfrm>
                    <a:off x="855433" y="5583891"/>
                    <a:ext cx="327334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b="1" dirty="0">
                        <a:latin typeface="Helvetica" pitchFamily="2" charset="0"/>
                      </a:rPr>
                      <a:t>0</a:t>
                    </a:r>
                  </a:p>
                </p:txBody>
              </p:sp>
            </p:grp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AAA3B87-49F9-4FE2-F68B-01F9772B3B7A}"/>
                    </a:ext>
                  </a:extLst>
                </p:cNvPr>
                <p:cNvSpPr txBox="1"/>
                <p:nvPr/>
              </p:nvSpPr>
              <p:spPr>
                <a:xfrm>
                  <a:off x="9772478" y="3916169"/>
                  <a:ext cx="47000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b="1" dirty="0">
                      <a:latin typeface="Helvetica" pitchFamily="2" charset="0"/>
                    </a:rPr>
                    <a:t>15</a:t>
                  </a:r>
                  <a:endParaRPr lang="en-US" sz="2400" b="1" dirty="0">
                    <a:latin typeface="Helvetica" pitchFamily="2" charset="0"/>
                  </a:endParaRPr>
                </a:p>
              </p:txBody>
            </p:sp>
          </p:grpSp>
          <p:cxnSp>
            <p:nvCxnSpPr>
              <p:cNvPr id="2" name="Straight Connector 1">
                <a:extLst>
                  <a:ext uri="{FF2B5EF4-FFF2-40B4-BE49-F238E27FC236}">
                    <a16:creationId xmlns:a16="http://schemas.microsoft.com/office/drawing/2014/main" id="{6C5A7682-C0DD-5065-0E94-99E8650DE1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7493" y="3557998"/>
                <a:ext cx="0" cy="45720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ECAF9D7-35FF-565C-A763-8318BFCC1D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0778" y="3557998"/>
                <a:ext cx="0" cy="45720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A5C27144-9F5B-537D-CC71-70C6111527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53891" y="3557998"/>
                <a:ext cx="0" cy="45720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F0959A-EAA6-21A7-C511-1BDF9C1BC382}"/>
                  </a:ext>
                </a:extLst>
              </p:cNvPr>
              <p:cNvSpPr txBox="1"/>
              <p:nvPr/>
            </p:nvSpPr>
            <p:spPr>
              <a:xfrm>
                <a:off x="1542004" y="4080989"/>
                <a:ext cx="3273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latin typeface="Helvetica" pitchFamily="2" charset="0"/>
                  </a:rPr>
                  <a:t>1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34B1CD4-C241-F923-D670-F2F6404F5999}"/>
                  </a:ext>
                </a:extLst>
              </p:cNvPr>
              <p:cNvSpPr txBox="1"/>
              <p:nvPr/>
            </p:nvSpPr>
            <p:spPr>
              <a:xfrm>
                <a:off x="2370379" y="4098757"/>
                <a:ext cx="3273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latin typeface="Helvetica" pitchFamily="2" charset="0"/>
                  </a:rPr>
                  <a:t>2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2D4005-53B0-3A2F-8905-AD02993EF171}"/>
                  </a:ext>
                </a:extLst>
              </p:cNvPr>
              <p:cNvSpPr txBox="1"/>
              <p:nvPr/>
            </p:nvSpPr>
            <p:spPr>
              <a:xfrm>
                <a:off x="3278935" y="4098757"/>
                <a:ext cx="3273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Helvetica" pitchFamily="2" charset="0"/>
                  </a:rPr>
                  <a:t>3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E71B643-E7E7-F5C7-836B-F31687425ACC}"/>
                </a:ext>
              </a:extLst>
            </p:cNvPr>
            <p:cNvSpPr txBox="1"/>
            <p:nvPr/>
          </p:nvSpPr>
          <p:spPr>
            <a:xfrm>
              <a:off x="5403141" y="3180900"/>
              <a:ext cx="5389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….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A2C8787-9BA2-7BFC-B338-CCFF61987296}"/>
                </a:ext>
              </a:extLst>
            </p:cNvPr>
            <p:cNvSpPr txBox="1"/>
            <p:nvPr/>
          </p:nvSpPr>
          <p:spPr>
            <a:xfrm>
              <a:off x="5403141" y="3712323"/>
              <a:ext cx="5389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….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C305045-AA21-CC73-A3DD-D7F9D0BF94A9}"/>
              </a:ext>
            </a:extLst>
          </p:cNvPr>
          <p:cNvGrpSpPr/>
          <p:nvPr/>
        </p:nvGrpSpPr>
        <p:grpSpPr>
          <a:xfrm>
            <a:off x="1310072" y="2561096"/>
            <a:ext cx="9037499" cy="373265"/>
            <a:chOff x="1303510" y="3101834"/>
            <a:chExt cx="9037499" cy="373265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7771C91-2BA2-8EC7-E8EB-441E0852F826}"/>
                </a:ext>
              </a:extLst>
            </p:cNvPr>
            <p:cNvSpPr txBox="1"/>
            <p:nvPr/>
          </p:nvSpPr>
          <p:spPr>
            <a:xfrm>
              <a:off x="1303510" y="3105767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  <a:latin typeface="Helvetica" pitchFamily="2" charset="0"/>
                </a:rPr>
                <a:t>$900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F2D978B-C0E4-7EED-04E4-75D31213F1C8}"/>
                </a:ext>
              </a:extLst>
            </p:cNvPr>
            <p:cNvSpPr txBox="1"/>
            <p:nvPr/>
          </p:nvSpPr>
          <p:spPr>
            <a:xfrm>
              <a:off x="2186680" y="3105767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  <a:latin typeface="Helvetica" pitchFamily="2" charset="0"/>
                </a:rPr>
                <a:t>$900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B94C16C-C2FE-0121-B727-315DFBB3FD20}"/>
                </a:ext>
              </a:extLst>
            </p:cNvPr>
            <p:cNvSpPr txBox="1"/>
            <p:nvPr/>
          </p:nvSpPr>
          <p:spPr>
            <a:xfrm>
              <a:off x="3078504" y="3101834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  <a:latin typeface="Helvetica" pitchFamily="2" charset="0"/>
                </a:rPr>
                <a:t>$900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D2390ED-449C-F54E-F737-9185C566D814}"/>
                </a:ext>
              </a:extLst>
            </p:cNvPr>
            <p:cNvSpPr txBox="1"/>
            <p:nvPr/>
          </p:nvSpPr>
          <p:spPr>
            <a:xfrm>
              <a:off x="9643382" y="3101834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  <a:latin typeface="Helvetica" pitchFamily="2" charset="0"/>
                </a:rPr>
                <a:t>$900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D0DD668-98AF-E75A-AB27-201CD6BE43C2}"/>
              </a:ext>
            </a:extLst>
          </p:cNvPr>
          <p:cNvSpPr txBox="1"/>
          <p:nvPr/>
        </p:nvSpPr>
        <p:spPr>
          <a:xfrm>
            <a:off x="9527313" y="2126107"/>
            <a:ext cx="9428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$3,000</a:t>
            </a:r>
          </a:p>
        </p:txBody>
      </p:sp>
    </p:spTree>
    <p:extLst>
      <p:ext uri="{BB962C8B-B14F-4D97-AF65-F5344CB8AC3E}">
        <p14:creationId xmlns:p14="http://schemas.microsoft.com/office/powerpoint/2010/main" val="331716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E9384-D493-F40C-0FBA-819AF09B9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47DB1-9E60-E902-E854-D048AC28C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076" y="1470467"/>
            <a:ext cx="11219101" cy="117171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0" i="0" dirty="0">
                <a:effectLst/>
                <a:latin typeface="Helvetica" pitchFamily="2" charset="0"/>
              </a:rPr>
              <a:t>What’s the present value of the following uneven cash flow stream: $0 at Time 0, $200 in Year 1 (or at Time 1), $300 in Year 2, $0 in Year 3, and $900 in Year 4 if the interest rate is 8%? </a:t>
            </a:r>
            <a:endParaRPr lang="en-US" sz="3200" dirty="0">
              <a:latin typeface="Helvetica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3AB072-8049-B582-7EA8-E4346598C9B8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8F65C11-45C7-97E7-FD95-28423A786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794" y="77713"/>
            <a:ext cx="10502900" cy="1322996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Question-7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AD90176-BD2D-FEE5-59E9-CF9AE73FD265}"/>
              </a:ext>
            </a:extLst>
          </p:cNvPr>
          <p:cNvGrpSpPr/>
          <p:nvPr/>
        </p:nvGrpSpPr>
        <p:grpSpPr>
          <a:xfrm>
            <a:off x="724949" y="2416192"/>
            <a:ext cx="10242589" cy="1432992"/>
            <a:chOff x="794284" y="2416688"/>
            <a:chExt cx="10242589" cy="1432992"/>
          </a:xfrm>
          <a:noFill/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2C282FD2-1F1D-FB9D-A0F0-C10B235AC2B5}"/>
                </a:ext>
              </a:extLst>
            </p:cNvPr>
            <p:cNvGrpSpPr/>
            <p:nvPr/>
          </p:nvGrpSpPr>
          <p:grpSpPr>
            <a:xfrm>
              <a:off x="794284" y="3051732"/>
              <a:ext cx="10242589" cy="797948"/>
              <a:chOff x="873086" y="5053331"/>
              <a:chExt cx="10242589" cy="1147434"/>
            </a:xfrm>
            <a:grpFill/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F5F175F0-7153-57E4-E090-CC8A2D9BA78E}"/>
                  </a:ext>
                </a:extLst>
              </p:cNvPr>
              <p:cNvGrpSpPr/>
              <p:nvPr/>
            </p:nvGrpSpPr>
            <p:grpSpPr>
              <a:xfrm>
                <a:off x="1027135" y="5053331"/>
                <a:ext cx="10088540" cy="475932"/>
                <a:chOff x="1027135" y="5053331"/>
                <a:chExt cx="10088540" cy="475932"/>
              </a:xfrm>
              <a:grpFill/>
            </p:grpSpPr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EF8C7768-0162-93BE-3D8D-501BD4412F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5" y="5285984"/>
                  <a:ext cx="10088540" cy="14677"/>
                </a:xfrm>
                <a:prstGeom prst="straightConnector1">
                  <a:avLst/>
                </a:prstGeom>
                <a:grpFill/>
                <a:ln w="38100">
                  <a:solidFill>
                    <a:schemeClr val="accent5">
                      <a:lumMod val="75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4B8389C8-046E-87FC-C2A2-86B73ED226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6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FF03D26E-2694-5DE7-6633-AFA3FCC460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93890" y="5072062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8248C71D-7118-5CCA-3016-6E6B2693B3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90258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7954C198-9556-9576-038A-A5A484A044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70524" y="505333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FB4AB9F5-7D2E-3D2E-CE1D-2A8B4D9244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74923" y="5072063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A2F7936-63C9-53CD-4593-A7DA00D670B5}"/>
                  </a:ext>
                </a:extLst>
              </p:cNvPr>
              <p:cNvSpPr txBox="1"/>
              <p:nvPr/>
            </p:nvSpPr>
            <p:spPr>
              <a:xfrm>
                <a:off x="873086" y="5713928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5">
                        <a:lumMod val="75000"/>
                      </a:schemeClr>
                    </a:solidFill>
                    <a:latin typeface="Helvetica" pitchFamily="2" charset="0"/>
                  </a:rPr>
                  <a:t>0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3647BCD-E8E3-8152-9908-2C96FE6D689E}"/>
                  </a:ext>
                </a:extLst>
              </p:cNvPr>
              <p:cNvSpPr txBox="1"/>
              <p:nvPr/>
            </p:nvSpPr>
            <p:spPr>
              <a:xfrm>
                <a:off x="3139841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5">
                        <a:lumMod val="75000"/>
                      </a:schemeClr>
                    </a:solidFill>
                    <a:latin typeface="Helvetica" pitchFamily="2" charset="0"/>
                  </a:rPr>
                  <a:t>1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D0B09C5-D1CD-D6C4-518B-BE613F055FD1}"/>
                  </a:ext>
                </a:extLst>
              </p:cNvPr>
              <p:cNvSpPr txBox="1"/>
              <p:nvPr/>
            </p:nvSpPr>
            <p:spPr>
              <a:xfrm>
                <a:off x="5420874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5">
                        <a:lumMod val="75000"/>
                      </a:schemeClr>
                    </a:solidFill>
                    <a:latin typeface="Helvetica" pitchFamily="2" charset="0"/>
                  </a:rPr>
                  <a:t>2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0E11BF1-2995-DB2F-4D38-E1FFADB41137}"/>
                  </a:ext>
                </a:extLst>
              </p:cNvPr>
              <p:cNvSpPr txBox="1"/>
              <p:nvPr/>
            </p:nvSpPr>
            <p:spPr>
              <a:xfrm>
                <a:off x="7716475" y="5710715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5">
                        <a:lumMod val="75000"/>
                      </a:schemeClr>
                    </a:solidFill>
                    <a:latin typeface="Helvetica" pitchFamily="2" charset="0"/>
                  </a:rPr>
                  <a:t>3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BA8984B-3EDC-EBEC-99D7-1DA712752A84}"/>
                  </a:ext>
                </a:extLst>
              </p:cNvPr>
              <p:cNvSpPr txBox="1"/>
              <p:nvPr/>
            </p:nvSpPr>
            <p:spPr>
              <a:xfrm>
                <a:off x="10036209" y="5710715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5">
                        <a:lumMod val="75000"/>
                      </a:schemeClr>
                    </a:solidFill>
                    <a:latin typeface="Helvetica" pitchFamily="2" charset="0"/>
                  </a:rPr>
                  <a:t>4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A48D810-F943-483B-33B5-079800FB7E45}"/>
                </a:ext>
              </a:extLst>
            </p:cNvPr>
            <p:cNvSpPr txBox="1"/>
            <p:nvPr/>
          </p:nvSpPr>
          <p:spPr>
            <a:xfrm>
              <a:off x="2890319" y="2453036"/>
              <a:ext cx="755335" cy="400110"/>
            </a:xfrm>
            <a:prstGeom prst="rect">
              <a:avLst/>
            </a:prstGeom>
            <a:grpFill/>
            <a:ln>
              <a:solidFill>
                <a:schemeClr val="accent5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Helvetica" pitchFamily="2" charset="0"/>
                </a:rPr>
                <a:t>$200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48D581F-12B3-E3CC-6ECC-EDDE614AE416}"/>
                </a:ext>
              </a:extLst>
            </p:cNvPr>
            <p:cNvSpPr txBox="1"/>
            <p:nvPr/>
          </p:nvSpPr>
          <p:spPr>
            <a:xfrm>
              <a:off x="5171352" y="2422284"/>
              <a:ext cx="755335" cy="400110"/>
            </a:xfrm>
            <a:prstGeom prst="rect">
              <a:avLst/>
            </a:prstGeom>
            <a:grpFill/>
            <a:ln>
              <a:solidFill>
                <a:schemeClr val="accent5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Helvetica" pitchFamily="2" charset="0"/>
                </a:rPr>
                <a:t>$300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EE7C9CE-F789-817C-3F9D-EE14148C4A4D}"/>
                </a:ext>
              </a:extLst>
            </p:cNvPr>
            <p:cNvSpPr txBox="1"/>
            <p:nvPr/>
          </p:nvSpPr>
          <p:spPr>
            <a:xfrm>
              <a:off x="7623246" y="2416688"/>
              <a:ext cx="327334" cy="400110"/>
            </a:xfrm>
            <a:prstGeom prst="rect">
              <a:avLst/>
            </a:prstGeom>
            <a:grpFill/>
            <a:ln>
              <a:solidFill>
                <a:schemeClr val="accent5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Helvetica" pitchFamily="2" charset="0"/>
                </a:rPr>
                <a:t>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BCCBF70-D9AF-04AD-2A03-23121F013D8E}"/>
                </a:ext>
              </a:extLst>
            </p:cNvPr>
            <p:cNvSpPr txBox="1"/>
            <p:nvPr/>
          </p:nvSpPr>
          <p:spPr>
            <a:xfrm>
              <a:off x="9786687" y="2453036"/>
              <a:ext cx="755335" cy="400110"/>
            </a:xfrm>
            <a:prstGeom prst="rect">
              <a:avLst/>
            </a:prstGeom>
            <a:grpFill/>
            <a:ln>
              <a:solidFill>
                <a:schemeClr val="accent5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Helvetica" pitchFamily="2" charset="0"/>
                </a:rPr>
                <a:t>$900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37C9EEE9-009D-3F66-7E60-A0FDCDFB7786}"/>
              </a:ext>
            </a:extLst>
          </p:cNvPr>
          <p:cNvSpPr txBox="1"/>
          <p:nvPr/>
        </p:nvSpPr>
        <p:spPr>
          <a:xfrm>
            <a:off x="555628" y="3990039"/>
            <a:ext cx="1108074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i="1" dirty="0">
                <a:solidFill>
                  <a:srgbClr val="FF0000"/>
                </a:solidFill>
                <a:latin typeface="Helvetica" pitchFamily="2" charset="0"/>
              </a:rPr>
              <a:t>For this type of cash flow, we need to calculate the present value of each payment individually.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B3C9A50-3658-EDC4-3320-D0EACA2D9C1A}"/>
                  </a:ext>
                </a:extLst>
              </p:cNvPr>
              <p:cNvSpPr txBox="1"/>
              <p:nvPr/>
            </p:nvSpPr>
            <p:spPr>
              <a:xfrm>
                <a:off x="2161750" y="4507503"/>
                <a:ext cx="8073749" cy="6698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𝑃𝑉</m:t>
                    </m:r>
                    <m:r>
                      <a:rPr lang="en-US" sz="28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8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𝐶𝐹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(1+</m:t>
                            </m:r>
                            <m:r>
                              <a:rPr lang="en-US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a:rPr lang="en-US" sz="28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8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𝐶𝐹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(1+</m:t>
                            </m:r>
                            <m:r>
                              <a:rPr lang="en-US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8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chemeClr val="accent4">
                        <a:lumMod val="50000"/>
                      </a:schemeClr>
                    </a:solidFill>
                    <a:latin typeface="Helvetica" pitchFamily="2" charset="0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𝐶𝐹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(1+</m:t>
                            </m:r>
                            <m:r>
                              <a:rPr lang="en-US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800" dirty="0">
                    <a:solidFill>
                      <a:schemeClr val="accent4">
                        <a:lumMod val="50000"/>
                      </a:schemeClr>
                    </a:solidFill>
                    <a:latin typeface="Helvetica" pitchFamily="2" charset="0"/>
                  </a:rPr>
                  <a:t> +…+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𝐶𝐹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(1+</m:t>
                            </m:r>
                            <m:r>
                              <a:rPr lang="en-US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den>
                    </m:f>
                    <m:r>
                      <a:rPr lang="en-US" sz="28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8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US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𝐶𝐹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sz="2800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(1+</m:t>
                                </m:r>
                                <m:r>
                                  <a:rPr lang="en-US" sz="2800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800" i="1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endParaRPr lang="en-US" sz="2800" dirty="0">
                  <a:solidFill>
                    <a:schemeClr val="accent4">
                      <a:lumMod val="50000"/>
                    </a:schemeClr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B3C9A50-3658-EDC4-3320-D0EACA2D9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750" y="4507503"/>
                <a:ext cx="8073749" cy="669863"/>
              </a:xfrm>
              <a:prstGeom prst="rect">
                <a:avLst/>
              </a:prstGeom>
              <a:blipFill>
                <a:blip r:embed="rId2"/>
                <a:stretch>
                  <a:fillRect l="-1572" t="-90741" b="-13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C29600C-6DF2-5084-1523-325101FD81D8}"/>
                  </a:ext>
                </a:extLst>
              </p:cNvPr>
              <p:cNvSpPr txBox="1"/>
              <p:nvPr/>
            </p:nvSpPr>
            <p:spPr>
              <a:xfrm>
                <a:off x="3235349" y="5371021"/>
                <a:ext cx="5926553" cy="7621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𝑃𝑉</m:t>
                    </m:r>
                    <m:r>
                      <a:rPr lang="en-US" sz="28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8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num>
                      <m:den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(1.08)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a:rPr lang="en-US" sz="28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8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8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num>
                      <m:den>
                        <m:sSup>
                          <m:sSupPr>
                            <m:ctrlPr>
                              <a:rPr lang="en-US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(1</m:t>
                            </m:r>
                            <m:r>
                              <a:rPr lang="en-US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.08</m:t>
                            </m:r>
                            <m:r>
                              <a:rPr lang="en-US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800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chemeClr val="accent4">
                        <a:lumMod val="50000"/>
                      </a:schemeClr>
                    </a:solidFill>
                    <a:latin typeface="Helvetica" pitchFamily="2" charset="0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p>
                          <m:sSupPr>
                            <m:ctrlPr>
                              <a:rPr lang="en-US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1.08</m:t>
                            </m:r>
                            <m:r>
                              <a:rPr lang="en-US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800" dirty="0">
                    <a:solidFill>
                      <a:schemeClr val="accent4">
                        <a:lumMod val="50000"/>
                      </a:schemeClr>
                    </a:solidFill>
                    <a:latin typeface="Helvetica" pitchFamily="2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sz="28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num>
                      <m:den>
                        <m:sSup>
                          <m:sSupPr>
                            <m:ctrlPr>
                              <a:rPr lang="en-US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1.08</m:t>
                            </m:r>
                            <m:r>
                              <a:rPr lang="en-US" sz="2800" i="1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C29600C-6DF2-5084-1523-325101FD8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349" y="5371021"/>
                <a:ext cx="5926553" cy="762196"/>
              </a:xfrm>
              <a:prstGeom prst="rect">
                <a:avLst/>
              </a:prstGeom>
              <a:blipFill>
                <a:blip r:embed="rId3"/>
                <a:stretch>
                  <a:fillRect l="-427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EEC5916-38DB-0BB2-635B-D805B8829681}"/>
                  </a:ext>
                </a:extLst>
              </p:cNvPr>
              <p:cNvSpPr txBox="1"/>
              <p:nvPr/>
            </p:nvSpPr>
            <p:spPr>
              <a:xfrm>
                <a:off x="4599577" y="6326872"/>
                <a:ext cx="264738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𝑷𝑽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𝟏𝟎𝟑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𝟗𝟏</m:t>
                      </m:r>
                    </m:oMath>
                  </m:oMathPara>
                </a14:m>
                <a:endParaRPr lang="en-US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EEC5916-38DB-0BB2-635B-D805B8829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577" y="6326872"/>
                <a:ext cx="2647381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4127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0" grpId="0"/>
      <p:bldP spid="52" grpId="0"/>
      <p:bldP spid="5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34650-C61E-BA24-5EC6-8ED1EC85C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640A9F-3AC3-1A73-9143-AD895A5C1947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841277FE-9820-DA80-6EB6-FF4C285BC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1230276" cy="1143000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chemeClr val="bg1"/>
                </a:solidFill>
                <a:effectLst/>
                <a:latin typeface="Helvetica" pitchFamily="2" charset="0"/>
              </a:rPr>
              <a:t>Semiannual and Other Compounding Periods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8AA674-DD09-02D7-42AE-CC7F489072A2}"/>
              </a:ext>
            </a:extLst>
          </p:cNvPr>
          <p:cNvSpPr txBox="1"/>
          <p:nvPr/>
        </p:nvSpPr>
        <p:spPr>
          <a:xfrm>
            <a:off x="634621" y="1648335"/>
            <a:ext cx="1123027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en-US" sz="2400" dirty="0">
                <a:latin typeface="Helvetica" pitchFamily="2" charset="0"/>
              </a:rPr>
              <a:t>In all our previous examples, we assumed that interest was compounded once a year, known as </a:t>
            </a:r>
            <a:r>
              <a:rPr lang="en-US" sz="2400" b="1" dirty="0">
                <a:latin typeface="Helvetica" pitchFamily="2" charset="0"/>
              </a:rPr>
              <a:t>annual compounding</a:t>
            </a:r>
            <a:r>
              <a:rPr lang="en-US" sz="2400" dirty="0">
                <a:latin typeface="Helvetica" pitchFamily="2" charset="0"/>
              </a:rPr>
              <a:t>. 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en-US" sz="2400" dirty="0">
                <a:latin typeface="Helvetica" pitchFamily="2" charset="0"/>
              </a:rPr>
              <a:t>However, interest is often compounded more frequently, such as semiannually, quarterly, monthly, or even daily. 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en-US" sz="2400" dirty="0">
                <a:latin typeface="Helvetica" pitchFamily="2" charset="0"/>
              </a:rPr>
              <a:t>When interest is compounded more than once a year, the accumulated amount grows faster because interest is calculated and added to the principal multiple times within a year. 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en-US" sz="2400" dirty="0">
                <a:latin typeface="Helvetica" pitchFamily="2" charset="0"/>
              </a:rPr>
              <a:t>This is referred to as </a:t>
            </a:r>
            <a:r>
              <a:rPr lang="en-US" sz="2400" b="1" dirty="0">
                <a:latin typeface="Helvetica" pitchFamily="2" charset="0"/>
              </a:rPr>
              <a:t>nonannual compounding</a:t>
            </a:r>
            <a:r>
              <a:rPr lang="en-US" sz="2400" dirty="0">
                <a:latin typeface="Helvetica" pitchFamily="2" charset="0"/>
              </a:rPr>
              <a:t>.</a:t>
            </a:r>
            <a:endParaRPr lang="en-US" sz="2400" b="0" i="0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1168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E0503-9081-49F9-76F5-EC912ADE4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C183DD-8900-726F-2499-2D9C979AB8CF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8C6D4270-9D69-6A1C-CD50-451A3946B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1230276" cy="1143000"/>
          </a:xfrm>
        </p:spPr>
        <p:txBody>
          <a:bodyPr>
            <a:normAutofit/>
          </a:bodyPr>
          <a:lstStyle/>
          <a:p>
            <a:r>
              <a:rPr lang="en-US" b="1" i="0" dirty="0">
                <a:solidFill>
                  <a:schemeClr val="bg1"/>
                </a:solidFill>
                <a:effectLst/>
                <a:latin typeface="Helvetica" pitchFamily="2" charset="0"/>
              </a:rPr>
              <a:t>Semiannual Compounding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5EF80E8-EC56-FB55-977B-5252A41CFD52}"/>
              </a:ext>
            </a:extLst>
          </p:cNvPr>
          <p:cNvGrpSpPr/>
          <p:nvPr/>
        </p:nvGrpSpPr>
        <p:grpSpPr>
          <a:xfrm>
            <a:off x="735126" y="2826274"/>
            <a:ext cx="10471017" cy="1306216"/>
            <a:chOff x="565856" y="2543465"/>
            <a:chExt cx="10471017" cy="1306216"/>
          </a:xfrm>
          <a:noFill/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6BC2A17-4554-9A47-25C9-789CD0C8D145}"/>
                </a:ext>
              </a:extLst>
            </p:cNvPr>
            <p:cNvGrpSpPr/>
            <p:nvPr/>
          </p:nvGrpSpPr>
          <p:grpSpPr>
            <a:xfrm>
              <a:off x="794284" y="3064758"/>
              <a:ext cx="10242589" cy="784923"/>
              <a:chOff x="873086" y="5072061"/>
              <a:chExt cx="10242589" cy="1128704"/>
            </a:xfrm>
            <a:grpFill/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3C1FC33-B8EC-1F8E-140D-8EA1D9D60718}"/>
                  </a:ext>
                </a:extLst>
              </p:cNvPr>
              <p:cNvGrpSpPr/>
              <p:nvPr/>
            </p:nvGrpSpPr>
            <p:grpSpPr>
              <a:xfrm>
                <a:off x="1027135" y="5072061"/>
                <a:ext cx="10088540" cy="457202"/>
                <a:chOff x="1027135" y="5072061"/>
                <a:chExt cx="10088540" cy="457202"/>
              </a:xfrm>
              <a:grpFill/>
            </p:grpSpPr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6D1C0619-BAF7-DECD-CDC0-EBC9E04915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5" y="5285984"/>
                  <a:ext cx="10088540" cy="14677"/>
                </a:xfrm>
                <a:prstGeom prst="straightConnector1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596AA78E-EA54-7A49-A7A2-67655F48A9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6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9BC835E6-35E5-7B75-9041-94918E073D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71216" y="5072062"/>
                  <a:ext cx="0" cy="457201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4B60AA-1D9A-A4D1-FC81-64B0FA1F2146}"/>
                  </a:ext>
                </a:extLst>
              </p:cNvPr>
              <p:cNvSpPr txBox="1"/>
              <p:nvPr/>
            </p:nvSpPr>
            <p:spPr>
              <a:xfrm>
                <a:off x="873086" y="5713928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0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4BCBB85-F873-35A8-8037-E52C27093B7F}"/>
                  </a:ext>
                </a:extLst>
              </p:cNvPr>
              <p:cNvSpPr txBox="1"/>
              <p:nvPr/>
            </p:nvSpPr>
            <p:spPr>
              <a:xfrm>
                <a:off x="7739471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1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D8B5A81-5F91-2111-5C4F-97E4CA563065}"/>
                </a:ext>
              </a:extLst>
            </p:cNvPr>
            <p:cNvSpPr txBox="1"/>
            <p:nvPr/>
          </p:nvSpPr>
          <p:spPr>
            <a:xfrm>
              <a:off x="565856" y="2543465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C00000"/>
                  </a:solidFill>
                  <a:latin typeface="Helvetica" pitchFamily="2" charset="0"/>
                </a:rPr>
                <a:t>$100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4E5BEE0-11B3-2377-2D3C-C6A623A39893}"/>
              </a:ext>
            </a:extLst>
          </p:cNvPr>
          <p:cNvSpPr txBox="1"/>
          <p:nvPr/>
        </p:nvSpPr>
        <p:spPr>
          <a:xfrm>
            <a:off x="634621" y="1648335"/>
            <a:ext cx="110606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Wingdings" pitchFamily="2" charset="2"/>
              <a:buChar char="ü"/>
            </a:pPr>
            <a:r>
              <a:rPr lang="en-US" sz="2400" dirty="0">
                <a:latin typeface="Helvetica" pitchFamily="2" charset="0"/>
              </a:rPr>
              <a:t>If you invest </a:t>
            </a:r>
            <a:r>
              <a:rPr lang="en-US" sz="2400" b="1" dirty="0">
                <a:latin typeface="Helvetica" pitchFamily="2" charset="0"/>
              </a:rPr>
              <a:t>$100</a:t>
            </a:r>
            <a:r>
              <a:rPr lang="en-US" sz="2400" dirty="0">
                <a:latin typeface="Helvetica" pitchFamily="2" charset="0"/>
              </a:rPr>
              <a:t> at </a:t>
            </a:r>
            <a:r>
              <a:rPr lang="en-US" sz="2400" b="1" dirty="0">
                <a:latin typeface="Helvetica" pitchFamily="2" charset="0"/>
              </a:rPr>
              <a:t>8% annual interest rate</a:t>
            </a:r>
            <a:r>
              <a:rPr lang="en-US" sz="2400" dirty="0">
                <a:latin typeface="Helvetica" pitchFamily="2" charset="0"/>
              </a:rPr>
              <a:t> for </a:t>
            </a:r>
            <a:r>
              <a:rPr lang="en-US" sz="2400" b="1" dirty="0">
                <a:latin typeface="Helvetica" pitchFamily="2" charset="0"/>
              </a:rPr>
              <a:t>1 year</a:t>
            </a:r>
            <a:r>
              <a:rPr lang="en-US" sz="2400" dirty="0">
                <a:latin typeface="Helvetica" pitchFamily="2" charset="0"/>
              </a:rPr>
              <a:t>, the amount you will have at the end of the year: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A876EF4-4EA1-B1D4-9CD6-EC84321C1E73}"/>
              </a:ext>
            </a:extLst>
          </p:cNvPr>
          <p:cNvGrpSpPr/>
          <p:nvPr/>
        </p:nvGrpSpPr>
        <p:grpSpPr>
          <a:xfrm>
            <a:off x="1128753" y="2481341"/>
            <a:ext cx="6999660" cy="831113"/>
            <a:chOff x="1128753" y="2481341"/>
            <a:chExt cx="6999660" cy="831113"/>
          </a:xfrm>
        </p:grpSpPr>
        <p:sp>
          <p:nvSpPr>
            <p:cNvPr id="2" name="Curved Down Arrow 1">
              <a:extLst>
                <a:ext uri="{FF2B5EF4-FFF2-40B4-BE49-F238E27FC236}">
                  <a16:creationId xmlns:a16="http://schemas.microsoft.com/office/drawing/2014/main" id="{CDD4796C-F0CE-8434-1E2E-088CED42F474}"/>
                </a:ext>
              </a:extLst>
            </p:cNvPr>
            <p:cNvSpPr/>
            <p:nvPr/>
          </p:nvSpPr>
          <p:spPr>
            <a:xfrm>
              <a:off x="1128753" y="2894473"/>
              <a:ext cx="6999660" cy="417981"/>
            </a:xfrm>
            <a:prstGeom prst="curvedDownArrow">
              <a:avLst>
                <a:gd name="adj1" fmla="val 25000"/>
                <a:gd name="adj2" fmla="val 121968"/>
                <a:gd name="adj3" fmla="val 25000"/>
              </a:avLst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D25F674-0393-1D58-D4DD-D3B093A86F04}"/>
                </a:ext>
              </a:extLst>
            </p:cNvPr>
            <p:cNvSpPr txBox="1"/>
            <p:nvPr/>
          </p:nvSpPr>
          <p:spPr>
            <a:xfrm>
              <a:off x="3019938" y="2481341"/>
              <a:ext cx="24481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C00000"/>
                  </a:solidFill>
                  <a:latin typeface="Helvetica" pitchFamily="2" charset="0"/>
                </a:rPr>
                <a:t>8% annual interest</a:t>
              </a:r>
              <a:endParaRPr lang="en-US" sz="2000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B106903-2BE8-79F1-243B-A9D9912117CC}"/>
              </a:ext>
            </a:extLst>
          </p:cNvPr>
          <p:cNvSpPr txBox="1"/>
          <p:nvPr/>
        </p:nvSpPr>
        <p:spPr>
          <a:xfrm>
            <a:off x="7601511" y="2724806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Helvetica" pitchFamily="2" charset="0"/>
              </a:rPr>
              <a:t>$108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A7DAC2-8D8B-ECAD-1618-59C307FBD792}"/>
              </a:ext>
            </a:extLst>
          </p:cNvPr>
          <p:cNvSpPr txBox="1"/>
          <p:nvPr/>
        </p:nvSpPr>
        <p:spPr>
          <a:xfrm>
            <a:off x="4009344" y="5125041"/>
            <a:ext cx="755335" cy="400110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$104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8F9F6A5-8E24-DE18-3FB9-DC4E06517F6B}"/>
              </a:ext>
            </a:extLst>
          </p:cNvPr>
          <p:cNvGrpSpPr/>
          <p:nvPr/>
        </p:nvGrpSpPr>
        <p:grpSpPr>
          <a:xfrm>
            <a:off x="735126" y="5311417"/>
            <a:ext cx="10471017" cy="1306216"/>
            <a:chOff x="565856" y="2543465"/>
            <a:chExt cx="10471017" cy="1306216"/>
          </a:xfrm>
          <a:noFill/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62F616D-0EB8-D5AD-75D8-9A96264FB21F}"/>
                </a:ext>
              </a:extLst>
            </p:cNvPr>
            <p:cNvGrpSpPr/>
            <p:nvPr/>
          </p:nvGrpSpPr>
          <p:grpSpPr>
            <a:xfrm>
              <a:off x="794284" y="3064758"/>
              <a:ext cx="10242589" cy="784923"/>
              <a:chOff x="873086" y="5072061"/>
              <a:chExt cx="10242589" cy="1128704"/>
            </a:xfrm>
            <a:grpFill/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8B35AAB4-92C6-ADE2-0964-1CE3C87B9F4E}"/>
                  </a:ext>
                </a:extLst>
              </p:cNvPr>
              <p:cNvGrpSpPr/>
              <p:nvPr/>
            </p:nvGrpSpPr>
            <p:grpSpPr>
              <a:xfrm>
                <a:off x="1027135" y="5072061"/>
                <a:ext cx="10088540" cy="457202"/>
                <a:chOff x="1027135" y="5072061"/>
                <a:chExt cx="10088540" cy="457202"/>
              </a:xfrm>
              <a:grpFill/>
            </p:grpSpPr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7D63E336-F67B-5791-7633-C53AE51A6C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5" y="5285984"/>
                  <a:ext cx="10088540" cy="14677"/>
                </a:xfrm>
                <a:prstGeom prst="straightConnector1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A936AD3C-1ECC-BCEB-1125-C2F5BF73E3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6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9A82F00A-74BD-BF67-6BE7-F938DBB0AC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71216" y="5072062"/>
                  <a:ext cx="0" cy="457201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9975F61-8367-BAE6-1861-59DA92EBE72E}"/>
                  </a:ext>
                </a:extLst>
              </p:cNvPr>
              <p:cNvSpPr txBox="1"/>
              <p:nvPr/>
            </p:nvSpPr>
            <p:spPr>
              <a:xfrm>
                <a:off x="873086" y="5713928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0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B3296B6-AC66-166F-168F-21B31BA8E49B}"/>
                  </a:ext>
                </a:extLst>
              </p:cNvPr>
              <p:cNvSpPr txBox="1"/>
              <p:nvPr/>
            </p:nvSpPr>
            <p:spPr>
              <a:xfrm>
                <a:off x="7739471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1</a:t>
                </a: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6F6AE47-E4E7-70F8-6613-CE27F0D9C16F}"/>
                </a:ext>
              </a:extLst>
            </p:cNvPr>
            <p:cNvSpPr txBox="1"/>
            <p:nvPr/>
          </p:nvSpPr>
          <p:spPr>
            <a:xfrm>
              <a:off x="565856" y="2543465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05CCE44-4589-C68B-3A00-9A4287805C72}"/>
              </a:ext>
            </a:extLst>
          </p:cNvPr>
          <p:cNvGrpSpPr/>
          <p:nvPr/>
        </p:nvGrpSpPr>
        <p:grpSpPr>
          <a:xfrm>
            <a:off x="1128754" y="5074376"/>
            <a:ext cx="6934988" cy="1096815"/>
            <a:chOff x="1128754" y="5074376"/>
            <a:chExt cx="6934988" cy="109681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F2A7354-0705-DE6C-048C-33394B9B8C1C}"/>
                </a:ext>
              </a:extLst>
            </p:cNvPr>
            <p:cNvCxnSpPr>
              <a:cxnSpLocks/>
            </p:cNvCxnSpPr>
            <p:nvPr/>
          </p:nvCxnSpPr>
          <p:spPr>
            <a:xfrm>
              <a:off x="4387012" y="5853245"/>
              <a:ext cx="0" cy="317946"/>
            </a:xfrm>
            <a:prstGeom prst="line">
              <a:avLst/>
            </a:prstGeom>
            <a:noFill/>
            <a:ln w="571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1B1255A9-EF84-F709-9C6F-8194D63E95C3}"/>
                </a:ext>
              </a:extLst>
            </p:cNvPr>
            <p:cNvGrpSpPr/>
            <p:nvPr/>
          </p:nvGrpSpPr>
          <p:grpSpPr>
            <a:xfrm>
              <a:off x="1128754" y="5074376"/>
              <a:ext cx="6934988" cy="772718"/>
              <a:chOff x="1128754" y="5074376"/>
              <a:chExt cx="6934988" cy="772718"/>
            </a:xfrm>
          </p:grpSpPr>
          <p:sp>
            <p:nvSpPr>
              <p:cNvPr id="26" name="Curved Down Arrow 25">
                <a:extLst>
                  <a:ext uri="{FF2B5EF4-FFF2-40B4-BE49-F238E27FC236}">
                    <a16:creationId xmlns:a16="http://schemas.microsoft.com/office/drawing/2014/main" id="{65C15743-F55A-F772-0693-D48A9856CA7C}"/>
                  </a:ext>
                </a:extLst>
              </p:cNvPr>
              <p:cNvSpPr/>
              <p:nvPr/>
            </p:nvSpPr>
            <p:spPr>
              <a:xfrm>
                <a:off x="1128754" y="5496299"/>
                <a:ext cx="3404572" cy="350795"/>
              </a:xfrm>
              <a:prstGeom prst="curvedDownArrow">
                <a:avLst>
                  <a:gd name="adj1" fmla="val 25000"/>
                  <a:gd name="adj2" fmla="val 121968"/>
                  <a:gd name="adj3" fmla="val 25000"/>
                </a:avLst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408010B-F21C-1A8D-8692-60C6394D3D19}"/>
                  </a:ext>
                </a:extLst>
              </p:cNvPr>
              <p:cNvSpPr txBox="1"/>
              <p:nvPr/>
            </p:nvSpPr>
            <p:spPr>
              <a:xfrm>
                <a:off x="2055828" y="5074376"/>
                <a:ext cx="15504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  <a:latin typeface="Helvetica" pitchFamily="2" charset="0"/>
                  </a:rPr>
                  <a:t>4% interest</a:t>
                </a:r>
                <a:endParaRPr lang="en-US" sz="20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0" name="Curved Down Arrow 39">
                <a:extLst>
                  <a:ext uri="{FF2B5EF4-FFF2-40B4-BE49-F238E27FC236}">
                    <a16:creationId xmlns:a16="http://schemas.microsoft.com/office/drawing/2014/main" id="{B9065729-356A-8D52-D09E-9D5A1A2C92AC}"/>
                  </a:ext>
                </a:extLst>
              </p:cNvPr>
              <p:cNvSpPr/>
              <p:nvPr/>
            </p:nvSpPr>
            <p:spPr>
              <a:xfrm>
                <a:off x="4471576" y="5484070"/>
                <a:ext cx="3592166" cy="350795"/>
              </a:xfrm>
              <a:prstGeom prst="curvedDownArrow">
                <a:avLst>
                  <a:gd name="adj1" fmla="val 25000"/>
                  <a:gd name="adj2" fmla="val 121968"/>
                  <a:gd name="adj3" fmla="val 25000"/>
                </a:avLst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98FF843-11E0-2E22-0D65-3A3254DE8B94}"/>
                  </a:ext>
                </a:extLst>
              </p:cNvPr>
              <p:cNvSpPr txBox="1"/>
              <p:nvPr/>
            </p:nvSpPr>
            <p:spPr>
              <a:xfrm>
                <a:off x="5468044" y="5074376"/>
                <a:ext cx="15504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  <a:latin typeface="Helvetica" pitchFamily="2" charset="0"/>
                  </a:rPr>
                  <a:t>4% interest</a:t>
                </a:r>
                <a:endParaRPr lang="en-US" sz="20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p:grp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6ABD1EFC-C122-35DA-4F16-E9A5863958AE}"/>
              </a:ext>
            </a:extLst>
          </p:cNvPr>
          <p:cNvSpPr txBox="1"/>
          <p:nvPr/>
        </p:nvSpPr>
        <p:spPr>
          <a:xfrm>
            <a:off x="7584016" y="5070314"/>
            <a:ext cx="1111202" cy="400110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$108.16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90B11F1-57C6-552C-47C0-38A648262CE2}"/>
              </a:ext>
            </a:extLst>
          </p:cNvPr>
          <p:cNvSpPr txBox="1"/>
          <p:nvPr/>
        </p:nvSpPr>
        <p:spPr>
          <a:xfrm>
            <a:off x="634621" y="4512617"/>
            <a:ext cx="5455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en-US" sz="2400" dirty="0">
                <a:latin typeface="Helvetica" pitchFamily="2" charset="0"/>
              </a:rPr>
              <a:t>What if it compound every </a:t>
            </a:r>
            <a:r>
              <a:rPr lang="en-US" sz="2400" b="1" dirty="0">
                <a:latin typeface="Helvetica" pitchFamily="2" charset="0"/>
              </a:rPr>
              <a:t>6 month</a:t>
            </a:r>
            <a:r>
              <a:rPr lang="en-US" sz="2400" dirty="0">
                <a:latin typeface="Helvetica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33944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28" grpId="0" animBg="1"/>
      <p:bldP spid="42" grpId="0" animBg="1"/>
      <p:bldP spid="4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9A1EE-664B-C84E-416D-BCE4A9F5F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EAF5342-49B4-3E37-1471-8986BD0D7724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FFFDF2AA-BDF3-D3D3-1F80-173FDFBC7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123027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Quarterly</a:t>
            </a:r>
            <a:r>
              <a:rPr lang="en-US" b="1" i="0" dirty="0">
                <a:solidFill>
                  <a:schemeClr val="bg1"/>
                </a:solidFill>
                <a:effectLst/>
                <a:latin typeface="Helvetica" pitchFamily="2" charset="0"/>
              </a:rPr>
              <a:t> Compounding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C05380A-5E7A-A912-3CFF-AE9AFF38FFC9}"/>
              </a:ext>
            </a:extLst>
          </p:cNvPr>
          <p:cNvGrpSpPr/>
          <p:nvPr/>
        </p:nvGrpSpPr>
        <p:grpSpPr>
          <a:xfrm>
            <a:off x="735126" y="2826274"/>
            <a:ext cx="10471017" cy="1306216"/>
            <a:chOff x="565856" y="2543465"/>
            <a:chExt cx="10471017" cy="1306216"/>
          </a:xfrm>
          <a:noFill/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C0DD2E8-5231-6564-7532-09CF2C6E5962}"/>
                </a:ext>
              </a:extLst>
            </p:cNvPr>
            <p:cNvGrpSpPr/>
            <p:nvPr/>
          </p:nvGrpSpPr>
          <p:grpSpPr>
            <a:xfrm>
              <a:off x="794284" y="3064758"/>
              <a:ext cx="10242589" cy="784923"/>
              <a:chOff x="873086" y="5072061"/>
              <a:chExt cx="10242589" cy="1128704"/>
            </a:xfrm>
            <a:grpFill/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811B20B3-A0C0-3BF8-F07F-697E23C7AC51}"/>
                  </a:ext>
                </a:extLst>
              </p:cNvPr>
              <p:cNvGrpSpPr/>
              <p:nvPr/>
            </p:nvGrpSpPr>
            <p:grpSpPr>
              <a:xfrm>
                <a:off x="1027135" y="5072061"/>
                <a:ext cx="10088540" cy="457202"/>
                <a:chOff x="1027135" y="5072061"/>
                <a:chExt cx="10088540" cy="457202"/>
              </a:xfrm>
              <a:grpFill/>
            </p:grpSpPr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7DB45A50-663C-9675-F044-009D35B249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5" y="5285984"/>
                  <a:ext cx="10088540" cy="14677"/>
                </a:xfrm>
                <a:prstGeom prst="straightConnector1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DAF7A21C-34C4-7427-FD3E-913F41BE31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6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15E63BD5-8A19-3357-93F9-221185846A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742218" y="5072062"/>
                  <a:ext cx="0" cy="457201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910685C-61BF-B4F9-3461-F9EBB2FF8280}"/>
                  </a:ext>
                </a:extLst>
              </p:cNvPr>
              <p:cNvSpPr txBox="1"/>
              <p:nvPr/>
            </p:nvSpPr>
            <p:spPr>
              <a:xfrm>
                <a:off x="873086" y="5713928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0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F731708-979F-8251-FAD9-34035C946A63}"/>
                  </a:ext>
                </a:extLst>
              </p:cNvPr>
              <p:cNvSpPr txBox="1"/>
              <p:nvPr/>
            </p:nvSpPr>
            <p:spPr>
              <a:xfrm>
                <a:off x="9610473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1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841FFDE-3B09-F3AB-3866-32EF421B6A4B}"/>
                </a:ext>
              </a:extLst>
            </p:cNvPr>
            <p:cNvSpPr txBox="1"/>
            <p:nvPr/>
          </p:nvSpPr>
          <p:spPr>
            <a:xfrm>
              <a:off x="565856" y="2543465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C00000"/>
                  </a:solidFill>
                  <a:latin typeface="Helvetica" pitchFamily="2" charset="0"/>
                </a:rPr>
                <a:t>$100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39B5827-7F93-C0BD-92FC-0F7C2FEE57A3}"/>
              </a:ext>
            </a:extLst>
          </p:cNvPr>
          <p:cNvSpPr txBox="1"/>
          <p:nvPr/>
        </p:nvSpPr>
        <p:spPr>
          <a:xfrm>
            <a:off x="634621" y="1648335"/>
            <a:ext cx="110606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Wingdings" pitchFamily="2" charset="2"/>
              <a:buChar char="ü"/>
            </a:pPr>
            <a:r>
              <a:rPr lang="en-US" sz="2400" dirty="0">
                <a:latin typeface="Helvetica" pitchFamily="2" charset="0"/>
              </a:rPr>
              <a:t>If you invest </a:t>
            </a:r>
            <a:r>
              <a:rPr lang="en-US" sz="2400" b="1" dirty="0">
                <a:latin typeface="Helvetica" pitchFamily="2" charset="0"/>
              </a:rPr>
              <a:t>$100</a:t>
            </a:r>
            <a:r>
              <a:rPr lang="en-US" sz="2400" dirty="0">
                <a:latin typeface="Helvetica" pitchFamily="2" charset="0"/>
              </a:rPr>
              <a:t> at </a:t>
            </a:r>
            <a:r>
              <a:rPr lang="en-US" sz="2400" b="1" dirty="0">
                <a:latin typeface="Helvetica" pitchFamily="2" charset="0"/>
              </a:rPr>
              <a:t>8% annual interest rate</a:t>
            </a:r>
            <a:r>
              <a:rPr lang="en-US" sz="2400" dirty="0">
                <a:latin typeface="Helvetica" pitchFamily="2" charset="0"/>
              </a:rPr>
              <a:t> for </a:t>
            </a:r>
            <a:r>
              <a:rPr lang="en-US" sz="2400" b="1" dirty="0">
                <a:latin typeface="Helvetica" pitchFamily="2" charset="0"/>
              </a:rPr>
              <a:t>1 year</a:t>
            </a:r>
            <a:r>
              <a:rPr lang="en-US" sz="2400" dirty="0">
                <a:latin typeface="Helvetica" pitchFamily="2" charset="0"/>
              </a:rPr>
              <a:t>, the amount you will have at the end of the year: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77F203E-FCAF-5339-350A-C5832B2765B4}"/>
              </a:ext>
            </a:extLst>
          </p:cNvPr>
          <p:cNvGrpSpPr/>
          <p:nvPr/>
        </p:nvGrpSpPr>
        <p:grpSpPr>
          <a:xfrm>
            <a:off x="1185024" y="2510127"/>
            <a:ext cx="8703923" cy="886735"/>
            <a:chOff x="1128753" y="2425719"/>
            <a:chExt cx="6999660" cy="886735"/>
          </a:xfrm>
        </p:grpSpPr>
        <p:sp>
          <p:nvSpPr>
            <p:cNvPr id="2" name="Curved Down Arrow 1">
              <a:extLst>
                <a:ext uri="{FF2B5EF4-FFF2-40B4-BE49-F238E27FC236}">
                  <a16:creationId xmlns:a16="http://schemas.microsoft.com/office/drawing/2014/main" id="{044F5620-3E8D-4D0E-7129-CCE0659B76D7}"/>
                </a:ext>
              </a:extLst>
            </p:cNvPr>
            <p:cNvSpPr/>
            <p:nvPr/>
          </p:nvSpPr>
          <p:spPr>
            <a:xfrm>
              <a:off x="1128753" y="2894473"/>
              <a:ext cx="6999660" cy="417981"/>
            </a:xfrm>
            <a:prstGeom prst="curvedDownArrow">
              <a:avLst>
                <a:gd name="adj1" fmla="val 25000"/>
                <a:gd name="adj2" fmla="val 121968"/>
                <a:gd name="adj3" fmla="val 25000"/>
              </a:avLst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DD39251-82F1-3CEE-909B-E9A44696EA56}"/>
                </a:ext>
              </a:extLst>
            </p:cNvPr>
            <p:cNvSpPr txBox="1"/>
            <p:nvPr/>
          </p:nvSpPr>
          <p:spPr>
            <a:xfrm>
              <a:off x="3352863" y="2425719"/>
              <a:ext cx="24481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C00000"/>
                  </a:solidFill>
                  <a:latin typeface="Helvetica" pitchFamily="2" charset="0"/>
                </a:rPr>
                <a:t>8% annual interest</a:t>
              </a:r>
              <a:endParaRPr lang="en-US" sz="2000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BC8A320-8369-8808-F20E-ED5A59D1EED9}"/>
              </a:ext>
            </a:extLst>
          </p:cNvPr>
          <p:cNvSpPr txBox="1"/>
          <p:nvPr/>
        </p:nvSpPr>
        <p:spPr>
          <a:xfrm>
            <a:off x="9455018" y="2822863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Helvetica" pitchFamily="2" charset="0"/>
              </a:rPr>
              <a:t>$108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59BB116-640B-2DA5-2685-ACE3C2B426E5}"/>
              </a:ext>
            </a:extLst>
          </p:cNvPr>
          <p:cNvGrpSpPr/>
          <p:nvPr/>
        </p:nvGrpSpPr>
        <p:grpSpPr>
          <a:xfrm>
            <a:off x="735126" y="5311417"/>
            <a:ext cx="10471017" cy="1306216"/>
            <a:chOff x="565856" y="2543465"/>
            <a:chExt cx="10471017" cy="1306216"/>
          </a:xfrm>
          <a:noFill/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C594173-3ED5-6025-46D6-92A238E421C4}"/>
                </a:ext>
              </a:extLst>
            </p:cNvPr>
            <p:cNvGrpSpPr/>
            <p:nvPr/>
          </p:nvGrpSpPr>
          <p:grpSpPr>
            <a:xfrm>
              <a:off x="794284" y="3064758"/>
              <a:ext cx="10242589" cy="784923"/>
              <a:chOff x="873086" y="5072061"/>
              <a:chExt cx="10242589" cy="1128704"/>
            </a:xfrm>
            <a:grpFill/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0DEDABDE-954C-8AB3-0CCE-B1C213156C36}"/>
                  </a:ext>
                </a:extLst>
              </p:cNvPr>
              <p:cNvGrpSpPr/>
              <p:nvPr/>
            </p:nvGrpSpPr>
            <p:grpSpPr>
              <a:xfrm>
                <a:off x="1027135" y="5072061"/>
                <a:ext cx="10088540" cy="457202"/>
                <a:chOff x="1027135" y="5072061"/>
                <a:chExt cx="10088540" cy="457202"/>
              </a:xfrm>
              <a:grpFill/>
            </p:grpSpPr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A5AA23FC-C964-A0DA-18B4-BCB042EAE2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5" y="5285984"/>
                  <a:ext cx="10088540" cy="14677"/>
                </a:xfrm>
                <a:prstGeom prst="straightConnector1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8CCB1BB0-FB58-1926-C08E-FFB9D0CA5C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7136" y="5072061"/>
                  <a:ext cx="0" cy="457200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F73D88FE-51A5-86C5-13FF-E4CBE2C817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728153" y="5072062"/>
                  <a:ext cx="0" cy="457201"/>
                </a:xfrm>
                <a:prstGeom prst="line">
                  <a:avLst/>
                </a:prstGeom>
                <a:grp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F3949AD-B5F6-5286-AC88-67E6E6EB159C}"/>
                  </a:ext>
                </a:extLst>
              </p:cNvPr>
              <p:cNvSpPr txBox="1"/>
              <p:nvPr/>
            </p:nvSpPr>
            <p:spPr>
              <a:xfrm>
                <a:off x="873086" y="5713928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0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E202366-085B-5D6A-B48D-D60DC2EEE50C}"/>
                  </a:ext>
                </a:extLst>
              </p:cNvPr>
              <p:cNvSpPr txBox="1"/>
              <p:nvPr/>
            </p:nvSpPr>
            <p:spPr>
              <a:xfrm>
                <a:off x="9596408" y="5713931"/>
                <a:ext cx="298480" cy="486834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1</a:t>
                </a: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92DC142-DA9E-E55D-CA30-E87933C80DE0}"/>
                </a:ext>
              </a:extLst>
            </p:cNvPr>
            <p:cNvSpPr txBox="1"/>
            <p:nvPr/>
          </p:nvSpPr>
          <p:spPr>
            <a:xfrm>
              <a:off x="565856" y="2543465"/>
              <a:ext cx="755335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$100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1DB4508F-9FA3-6C3A-6473-D9F471AAF4D8}"/>
              </a:ext>
            </a:extLst>
          </p:cNvPr>
          <p:cNvSpPr txBox="1"/>
          <p:nvPr/>
        </p:nvSpPr>
        <p:spPr>
          <a:xfrm>
            <a:off x="9277084" y="5171432"/>
            <a:ext cx="1111202" cy="400110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</a:rPr>
              <a:t>$108.24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4F4E0A3-2680-2C72-F593-C36A15434B00}"/>
              </a:ext>
            </a:extLst>
          </p:cNvPr>
          <p:cNvSpPr txBox="1"/>
          <p:nvPr/>
        </p:nvSpPr>
        <p:spPr>
          <a:xfrm>
            <a:off x="634621" y="4512617"/>
            <a:ext cx="5455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en-US" sz="2400" dirty="0">
                <a:latin typeface="Helvetica" pitchFamily="2" charset="0"/>
              </a:rPr>
              <a:t>What if it compound every </a:t>
            </a:r>
            <a:r>
              <a:rPr lang="en-US" sz="2400" b="1" dirty="0">
                <a:latin typeface="Helvetica" pitchFamily="2" charset="0"/>
              </a:rPr>
              <a:t>3 month</a:t>
            </a:r>
            <a:r>
              <a:rPr lang="en-US" sz="2400" dirty="0">
                <a:latin typeface="Helvetica" pitchFamily="2" charset="0"/>
              </a:rPr>
              <a:t>: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2C94399-66A9-AC9D-6D28-84F568E28EB3}"/>
              </a:ext>
            </a:extLst>
          </p:cNvPr>
          <p:cNvGrpSpPr/>
          <p:nvPr/>
        </p:nvGrpSpPr>
        <p:grpSpPr>
          <a:xfrm>
            <a:off x="1128754" y="5112030"/>
            <a:ext cx="8731427" cy="1044458"/>
            <a:chOff x="1128754" y="5112030"/>
            <a:chExt cx="8731427" cy="104445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AF69080-10F8-AA15-2185-987815234350}"/>
                </a:ext>
              </a:extLst>
            </p:cNvPr>
            <p:cNvCxnSpPr>
              <a:cxnSpLocks/>
            </p:cNvCxnSpPr>
            <p:nvPr/>
          </p:nvCxnSpPr>
          <p:spPr>
            <a:xfrm>
              <a:off x="5521052" y="5832710"/>
              <a:ext cx="0" cy="317946"/>
            </a:xfrm>
            <a:prstGeom prst="line">
              <a:avLst/>
            </a:prstGeom>
            <a:noFill/>
            <a:ln w="571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27CCC5E-B267-AD77-C545-79F95E9CED6E}"/>
                </a:ext>
              </a:extLst>
            </p:cNvPr>
            <p:cNvCxnSpPr>
              <a:cxnSpLocks/>
            </p:cNvCxnSpPr>
            <p:nvPr/>
          </p:nvCxnSpPr>
          <p:spPr>
            <a:xfrm>
              <a:off x="7594574" y="5832710"/>
              <a:ext cx="0" cy="317946"/>
            </a:xfrm>
            <a:prstGeom prst="line">
              <a:avLst/>
            </a:prstGeom>
            <a:noFill/>
            <a:ln w="5715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935E387-03D1-B124-7335-A1D9D4EA2D5B}"/>
                </a:ext>
              </a:extLst>
            </p:cNvPr>
            <p:cNvGrpSpPr/>
            <p:nvPr/>
          </p:nvGrpSpPr>
          <p:grpSpPr>
            <a:xfrm>
              <a:off x="1128754" y="5112030"/>
              <a:ext cx="8731427" cy="1044458"/>
              <a:chOff x="1128754" y="5112030"/>
              <a:chExt cx="8731427" cy="1044458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1EF90D06-717E-4BDB-1B9B-E7FEB4624A89}"/>
                  </a:ext>
                </a:extLst>
              </p:cNvPr>
              <p:cNvGrpSpPr/>
              <p:nvPr/>
            </p:nvGrpSpPr>
            <p:grpSpPr>
              <a:xfrm>
                <a:off x="1128754" y="5161862"/>
                <a:ext cx="2318777" cy="994626"/>
                <a:chOff x="1128754" y="5161862"/>
                <a:chExt cx="2318777" cy="994626"/>
              </a:xfrm>
            </p:grpSpPr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61DC060D-E86E-257C-8759-244B1507BF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74141" y="5838542"/>
                  <a:ext cx="0" cy="317946"/>
                </a:xfrm>
                <a:prstGeom prst="line">
                  <a:avLst/>
                </a:prstGeom>
                <a:noFill/>
                <a:ln w="57150">
                  <a:solidFill>
                    <a:srgbClr val="0070C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E78E1826-2114-CEC4-FF9E-EC065FB2D578}"/>
                    </a:ext>
                  </a:extLst>
                </p:cNvPr>
                <p:cNvGrpSpPr/>
                <p:nvPr/>
              </p:nvGrpSpPr>
              <p:grpSpPr>
                <a:xfrm>
                  <a:off x="1128754" y="5161862"/>
                  <a:ext cx="2318777" cy="685232"/>
                  <a:chOff x="1128754" y="5161862"/>
                  <a:chExt cx="2318777" cy="685232"/>
                </a:xfrm>
              </p:grpSpPr>
              <p:sp>
                <p:nvSpPr>
                  <p:cNvPr id="26" name="Curved Down Arrow 25">
                    <a:extLst>
                      <a:ext uri="{FF2B5EF4-FFF2-40B4-BE49-F238E27FC236}">
                        <a16:creationId xmlns:a16="http://schemas.microsoft.com/office/drawing/2014/main" id="{AC1E9972-2FD3-A67A-F8C9-940A5C2D41B2}"/>
                      </a:ext>
                    </a:extLst>
                  </p:cNvPr>
                  <p:cNvSpPr/>
                  <p:nvPr/>
                </p:nvSpPr>
                <p:spPr>
                  <a:xfrm>
                    <a:off x="1128754" y="5496299"/>
                    <a:ext cx="2318777" cy="350795"/>
                  </a:xfrm>
                  <a:prstGeom prst="curvedDownArrow">
                    <a:avLst>
                      <a:gd name="adj1" fmla="val 25000"/>
                      <a:gd name="adj2" fmla="val 121968"/>
                      <a:gd name="adj3" fmla="val 25000"/>
                    </a:avLst>
                  </a:prstGeom>
                  <a:solidFill>
                    <a:schemeClr val="accent6">
                      <a:lumMod val="75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accent6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9687E413-6CD9-939D-E247-9424B11C83DF}"/>
                      </a:ext>
                    </a:extLst>
                  </p:cNvPr>
                  <p:cNvSpPr txBox="1"/>
                  <p:nvPr/>
                </p:nvSpPr>
                <p:spPr>
                  <a:xfrm>
                    <a:off x="2010662" y="5161862"/>
                    <a:ext cx="554960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Helvetica" pitchFamily="2" charset="0"/>
                      </a:rPr>
                      <a:t>2%</a:t>
                    </a:r>
                    <a:endParaRPr lang="en-US" sz="2000" b="1" dirty="0">
                      <a:solidFill>
                        <a:schemeClr val="accent6">
                          <a:lumMod val="75000"/>
                        </a:schemeClr>
                      </a:solidFill>
                    </a:endParaRPr>
                  </a:p>
                </p:txBody>
              </p:sp>
            </p:grpSp>
          </p:grpSp>
          <p:sp>
            <p:nvSpPr>
              <p:cNvPr id="47" name="Curved Down Arrow 46">
                <a:extLst>
                  <a:ext uri="{FF2B5EF4-FFF2-40B4-BE49-F238E27FC236}">
                    <a16:creationId xmlns:a16="http://schemas.microsoft.com/office/drawing/2014/main" id="{F4F9A6A2-BD9A-5585-9213-87C1379941B2}"/>
                  </a:ext>
                </a:extLst>
              </p:cNvPr>
              <p:cNvSpPr/>
              <p:nvPr/>
            </p:nvSpPr>
            <p:spPr>
              <a:xfrm>
                <a:off x="3363173" y="5508020"/>
                <a:ext cx="2318777" cy="350795"/>
              </a:xfrm>
              <a:prstGeom prst="curvedDownArrow">
                <a:avLst>
                  <a:gd name="adj1" fmla="val 25000"/>
                  <a:gd name="adj2" fmla="val 121968"/>
                  <a:gd name="adj3" fmla="val 25000"/>
                </a:avLst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BB18A77-114E-6DFD-2C28-2911FDCD49F4}"/>
                  </a:ext>
                </a:extLst>
              </p:cNvPr>
              <p:cNvSpPr txBox="1"/>
              <p:nvPr/>
            </p:nvSpPr>
            <p:spPr>
              <a:xfrm>
                <a:off x="4245081" y="5173583"/>
                <a:ext cx="55496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  <a:latin typeface="Helvetica" pitchFamily="2" charset="0"/>
                  </a:rPr>
                  <a:t>2%</a:t>
                </a:r>
                <a:endParaRPr lang="en-US" sz="20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9" name="Curved Down Arrow 48">
                <a:extLst>
                  <a:ext uri="{FF2B5EF4-FFF2-40B4-BE49-F238E27FC236}">
                    <a16:creationId xmlns:a16="http://schemas.microsoft.com/office/drawing/2014/main" id="{FD5149D1-FFD4-BB88-EB4C-8D8126895BDE}"/>
                  </a:ext>
                </a:extLst>
              </p:cNvPr>
              <p:cNvSpPr/>
              <p:nvPr/>
            </p:nvSpPr>
            <p:spPr>
              <a:xfrm>
                <a:off x="5541325" y="5491608"/>
                <a:ext cx="2140706" cy="350795"/>
              </a:xfrm>
              <a:prstGeom prst="curvedDownArrow">
                <a:avLst>
                  <a:gd name="adj1" fmla="val 25000"/>
                  <a:gd name="adj2" fmla="val 121968"/>
                  <a:gd name="adj3" fmla="val 25000"/>
                </a:avLst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2DC7C11-E2C8-E1D8-4E67-12870C8C6CD5}"/>
                  </a:ext>
                </a:extLst>
              </p:cNvPr>
              <p:cNvSpPr txBox="1"/>
              <p:nvPr/>
            </p:nvSpPr>
            <p:spPr>
              <a:xfrm>
                <a:off x="6271428" y="5156579"/>
                <a:ext cx="55496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  <a:latin typeface="Helvetica" pitchFamily="2" charset="0"/>
                  </a:rPr>
                  <a:t>2%</a:t>
                </a:r>
                <a:endParaRPr lang="en-US" sz="20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1" name="Curved Down Arrow 50">
                <a:extLst>
                  <a:ext uri="{FF2B5EF4-FFF2-40B4-BE49-F238E27FC236}">
                    <a16:creationId xmlns:a16="http://schemas.microsoft.com/office/drawing/2014/main" id="{F27B8E96-12B6-9D44-B5AE-ED7610FF84FB}"/>
                  </a:ext>
                </a:extLst>
              </p:cNvPr>
              <p:cNvSpPr/>
              <p:nvPr/>
            </p:nvSpPr>
            <p:spPr>
              <a:xfrm>
                <a:off x="7682031" y="5447059"/>
                <a:ext cx="2178150" cy="350795"/>
              </a:xfrm>
              <a:prstGeom prst="curvedDownArrow">
                <a:avLst>
                  <a:gd name="adj1" fmla="val 25000"/>
                  <a:gd name="adj2" fmla="val 121968"/>
                  <a:gd name="adj3" fmla="val 25000"/>
                </a:avLst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0F155E-439D-5336-167F-4EE2D839E260}"/>
                  </a:ext>
                </a:extLst>
              </p:cNvPr>
              <p:cNvSpPr txBox="1"/>
              <p:nvPr/>
            </p:nvSpPr>
            <p:spPr>
              <a:xfrm>
                <a:off x="8449578" y="5112030"/>
                <a:ext cx="55496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  <a:latin typeface="Helvetica" pitchFamily="2" charset="0"/>
                  </a:rPr>
                  <a:t>2%</a:t>
                </a:r>
                <a:endParaRPr lang="en-US" sz="20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991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42" grpId="0" animBg="1"/>
      <p:bldP spid="4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8E444-4AD9-3A95-F6B9-51524CDA1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2777B0C-8956-2E96-4BC9-1765A4696553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D1DEE5DE-BDF4-1F43-08ED-1CBDCC357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1230276" cy="1143000"/>
          </a:xfrm>
        </p:spPr>
        <p:txBody>
          <a:bodyPr>
            <a:normAutofit/>
          </a:bodyPr>
          <a:lstStyle/>
          <a:p>
            <a:r>
              <a:rPr lang="en-US" b="1" i="0" dirty="0">
                <a:solidFill>
                  <a:schemeClr val="bg1"/>
                </a:solidFill>
                <a:effectLst/>
                <a:latin typeface="Helvetica" pitchFamily="2" charset="0"/>
              </a:rPr>
              <a:t>Multiple Compounding Periods 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23630CB9-D34A-1E0F-FE69-5A8A321568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9076" y="1470466"/>
                <a:ext cx="11219101" cy="511946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ts val="1200"/>
                  </a:spcBef>
                  <a:spcAft>
                    <a:spcPts val="600"/>
                  </a:spcAft>
                  <a:buFont typeface="Wingdings" pitchFamily="2" charset="2"/>
                  <a:buChar char="ü"/>
                </a:pPr>
                <a:r>
                  <a:rPr lang="en-US" sz="2400" dirty="0">
                    <a:latin typeface="Helvetica" pitchFamily="2" charset="0"/>
                  </a:rPr>
                  <a:t>To solve the problems related to Multiple compounding periods </a:t>
                </a:r>
              </a:p>
              <a:p>
                <a:pPr lvl="1">
                  <a:lnSpc>
                    <a:spcPct val="120000"/>
                  </a:lnSpc>
                  <a:spcBef>
                    <a:spcPts val="1200"/>
                  </a:spcBef>
                  <a:spcAft>
                    <a:spcPts val="600"/>
                  </a:spcAft>
                  <a:buFont typeface="Wingdings" pitchFamily="2" charset="2"/>
                  <a:buChar char="Ø"/>
                </a:pPr>
                <a:r>
                  <a:rPr lang="en-US" sz="2200" dirty="0">
                    <a:latin typeface="Helvetica" pitchFamily="2" charset="0"/>
                  </a:rPr>
                  <a:t>First, we need to calculate the periodic interest rate: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12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𝑷𝒆𝒓𝒊𝒐𝒅𝒊𝒄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𝑺𝒕𝒂𝒕𝒆𝒅</m:t>
                          </m:r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𝑨𝒏𝒏𝒖𝒂𝒍</m:t>
                          </m:r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𝑹𝒂𝒕𝒆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𝑵𝒖𝒎𝒃𝒆𝒓</m:t>
                          </m:r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𝒐𝒇</m:t>
                          </m:r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𝑷𝒂𝒚𝒎𝒆𝒏𝒕𝒔</m:t>
                          </m:r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𝒑𝒆𝒓</m:t>
                          </m:r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𝒚𝒆𝒂𝒓</m:t>
                          </m:r>
                        </m:den>
                      </m:f>
                    </m:oMath>
                  </m:oMathPara>
                </a14:m>
                <a:endParaRPr lang="en-US" sz="2400" b="0" i="0" dirty="0">
                  <a:solidFill>
                    <a:srgbClr val="C00000"/>
                  </a:solidFill>
                  <a:effectLst/>
                  <a:latin typeface="Helvetica" pitchFamily="2" charset="0"/>
                </a:endParaRPr>
              </a:p>
              <a:p>
                <a:pPr lvl="2" algn="just">
                  <a:lnSpc>
                    <a:spcPct val="110000"/>
                  </a:lnSpc>
                  <a:spcBef>
                    <a:spcPts val="1200"/>
                  </a:spcBef>
                  <a:spcAft>
                    <a:spcPts val="600"/>
                  </a:spcAft>
                  <a:buFont typeface="Wingdings" pitchFamily="2" charset="2"/>
                  <a:buChar char="v"/>
                </a:pPr>
                <a:r>
                  <a:rPr lang="en-US" sz="1800" dirty="0">
                    <a:latin typeface="Helvetica" pitchFamily="2" charset="0"/>
                  </a:rPr>
                  <a:t>For example, if the annual interest rate is 12%, the monthly interest rate will be 1%.</a:t>
                </a:r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  <a:buFont typeface="Wingdings" pitchFamily="2" charset="2"/>
                  <a:buChar char="Ø"/>
                </a:pPr>
                <a:r>
                  <a:rPr lang="en-US" sz="2200" dirty="0">
                    <a:latin typeface="Helvetica" pitchFamily="2" charset="0"/>
                  </a:rPr>
                  <a:t>Determine the total number of compounding periods over the entire time frame.</a:t>
                </a:r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  <a:buFont typeface="Wingdings" pitchFamily="2" charset="2"/>
                  <a:buChar char="Ø"/>
                </a:pPr>
                <a:r>
                  <a:rPr lang="en-US" sz="2200" dirty="0">
                    <a:latin typeface="Helvetica" pitchFamily="2" charset="0"/>
                  </a:rPr>
                  <a:t>Calculate the Future Value (FV) or Present Value (PV) using a financial calculator.</a:t>
                </a:r>
              </a:p>
            </p:txBody>
          </p:sp>
        </mc:Choice>
        <mc:Fallback xmlns="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23630CB9-D34A-1E0F-FE69-5A8A321568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9076" y="1470466"/>
                <a:ext cx="11219101" cy="5119465"/>
              </a:xfrm>
              <a:blipFill>
                <a:blip r:embed="rId2"/>
                <a:stretch>
                  <a:fillRect l="-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86433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C2C64-56C3-166C-F45A-5779DA053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A3766E3-0926-6DDC-3ADE-413E89F2FFBF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79F2918C-FCC8-99B6-C526-FF0049105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123027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Question-8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97CB2D2A-BD0F-90D8-88F0-BD508E331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076" y="1470466"/>
            <a:ext cx="11219101" cy="5119465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8000" dirty="0">
                <a:latin typeface="Helvetica" pitchFamily="2" charset="0"/>
              </a:rPr>
              <a:t>Calculate the future value (FV) of $2,000 after 8 years at an annual interest rate of 12%, under the following compounding frequencies: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b="1" dirty="0">
                <a:solidFill>
                  <a:schemeClr val="accent6"/>
                </a:solidFill>
                <a:latin typeface="Helvetica" pitchFamily="2" charset="0"/>
              </a:rPr>
              <a:t>A) Annually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8000" dirty="0">
              <a:latin typeface="Helvetica" pitchFamily="2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8000" dirty="0">
              <a:latin typeface="Helvetica" pitchFamily="2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8000" dirty="0">
              <a:latin typeface="Helvetica" pitchFamily="2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b="1" dirty="0">
                <a:solidFill>
                  <a:schemeClr val="accent4"/>
                </a:solidFill>
                <a:latin typeface="Helvetica" pitchFamily="2" charset="0"/>
              </a:rPr>
              <a:t>B) Semiannually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8000" dirty="0">
              <a:latin typeface="Helvetica" pitchFamily="2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8000" dirty="0">
              <a:latin typeface="Helvetica" pitchFamily="2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8000" dirty="0">
              <a:latin typeface="Helvetica" pitchFamily="2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b="1" dirty="0">
                <a:solidFill>
                  <a:schemeClr val="accent2"/>
                </a:solidFill>
                <a:latin typeface="Helvetica" pitchFamily="2" charset="0"/>
              </a:rPr>
              <a:t>C) Quarterly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8000" dirty="0">
              <a:latin typeface="Helvetica" pitchFamily="2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8000" dirty="0">
              <a:latin typeface="Helvetica" pitchFamily="2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8000" dirty="0">
              <a:latin typeface="Helvetica" pitchFamily="2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b="1" dirty="0">
                <a:solidFill>
                  <a:schemeClr val="accent5"/>
                </a:solidFill>
                <a:latin typeface="Helvetica" pitchFamily="2" charset="0"/>
              </a:rPr>
              <a:t>D) Monthly</a:t>
            </a:r>
            <a:endParaRPr lang="en-US" sz="2400" b="1" i="0" dirty="0">
              <a:solidFill>
                <a:schemeClr val="accent5"/>
              </a:solidFill>
              <a:effectLst/>
              <a:latin typeface="Helvetica" pitchFamily="2" charset="0"/>
            </a:endParaRPr>
          </a:p>
          <a:p>
            <a:pPr marL="0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4400" dirty="0">
              <a:latin typeface="Helvetica" pitchFamily="2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E071B2E-1DC9-5591-7078-00C284447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86809"/>
              </p:ext>
            </p:extLst>
          </p:nvPr>
        </p:nvGraphicFramePr>
        <p:xfrm>
          <a:off x="3001537" y="2215918"/>
          <a:ext cx="8128002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895597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533518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54119311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2855514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1479326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6986124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I/Y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PMT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5676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4,951.92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709697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9293CA8-17B7-A4D5-2D16-87EF33D22D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474654"/>
              </p:ext>
            </p:extLst>
          </p:nvPr>
        </p:nvGraphicFramePr>
        <p:xfrm>
          <a:off x="3001537" y="3429000"/>
          <a:ext cx="8128002" cy="7416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42765187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6833657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6126266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3968473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287384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3350828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I/Y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PMT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0166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5,080.70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649047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49847AC-C95C-DF2A-2C51-C7861B61E3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182757"/>
              </p:ext>
            </p:extLst>
          </p:nvPr>
        </p:nvGraphicFramePr>
        <p:xfrm>
          <a:off x="3001537" y="4568456"/>
          <a:ext cx="8128002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4240095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9592368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235690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18852851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519416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1052648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I/Y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PMT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6244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5,150.16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91020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FBE8AA0-BF24-0CF9-D173-24B953B453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195240"/>
              </p:ext>
            </p:extLst>
          </p:nvPr>
        </p:nvGraphicFramePr>
        <p:xfrm>
          <a:off x="3001537" y="5848252"/>
          <a:ext cx="8128002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4240095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9592368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235690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18852851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519416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1052648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I/Y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PMT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6244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5,198.54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910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3797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B5DB9-E9CD-3EE7-6566-166E01DAA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C60407-A241-0E2A-2B11-647FD1FFD036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3AF5DC42-BA38-2689-93FB-5B05BE100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123027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Summary of PV vs. FV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CD81FB7-DC6A-DFB3-33A7-AAFCA3B76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076" y="1470466"/>
            <a:ext cx="11219101" cy="5119465"/>
          </a:xfrm>
        </p:spPr>
        <p:txBody>
          <a:bodyPr>
            <a:normAutofit lnSpcReduction="10000"/>
          </a:bodyPr>
          <a:lstStyle/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b="1" dirty="0">
                <a:latin typeface="Helvetica" pitchFamily="2" charset="0"/>
              </a:rPr>
              <a:t>lump Sum</a:t>
            </a: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endParaRPr lang="en-US" sz="2400" b="1" dirty="0">
              <a:latin typeface="Helvetica" pitchFamily="2" charset="0"/>
            </a:endParaRP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endParaRPr lang="en-US" sz="2400" b="1" dirty="0">
              <a:latin typeface="Helvetica" pitchFamily="2" charset="0"/>
            </a:endParaRP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b="1" dirty="0">
                <a:latin typeface="Helvetica" pitchFamily="2" charset="0"/>
              </a:rPr>
              <a:t>Annuities</a:t>
            </a:r>
            <a:r>
              <a:rPr lang="en-US" sz="2400" dirty="0">
                <a:latin typeface="Helvetica" pitchFamily="2" charset="0"/>
              </a:rPr>
              <a:t> 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endParaRPr lang="en-US" sz="2400" dirty="0">
              <a:latin typeface="Helvetica" pitchFamily="2" charset="0"/>
            </a:endParaRP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endParaRPr lang="en-US" sz="2400" dirty="0">
              <a:latin typeface="Helvetica" pitchFamily="2" charset="0"/>
            </a:endParaRP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latin typeface="Helvetica" pitchFamily="2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b="1" dirty="0">
                <a:latin typeface="Helvetica" pitchFamily="2" charset="0"/>
              </a:rPr>
              <a:t>Uneven payments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endParaRPr lang="en-US" sz="2400" b="1" dirty="0">
              <a:latin typeface="Helvetica" pitchFamily="2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endParaRPr lang="en-US" sz="2400" b="1" dirty="0">
              <a:latin typeface="Helvetica" pitchFamily="2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b="1" i="0" dirty="0">
                <a:effectLst/>
                <a:latin typeface="Helvetica" pitchFamily="2" charset="0"/>
              </a:rPr>
              <a:t>Multiple Compounding Periods </a:t>
            </a:r>
            <a:endParaRPr lang="en-US" sz="1400" dirty="0">
              <a:latin typeface="Helvetica" pitchFamily="2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6974D2F-922F-E504-3DA7-4472A5A74EA7}"/>
              </a:ext>
            </a:extLst>
          </p:cNvPr>
          <p:cNvGrpSpPr/>
          <p:nvPr/>
        </p:nvGrpSpPr>
        <p:grpSpPr>
          <a:xfrm>
            <a:off x="2429936" y="2249195"/>
            <a:ext cx="2139058" cy="1545864"/>
            <a:chOff x="2418785" y="2249195"/>
            <a:chExt cx="2139058" cy="1545864"/>
          </a:xfrm>
        </p:grpSpPr>
        <p:sp>
          <p:nvSpPr>
            <p:cNvPr id="2" name="Left Brace 1">
              <a:extLst>
                <a:ext uri="{FF2B5EF4-FFF2-40B4-BE49-F238E27FC236}">
                  <a16:creationId xmlns:a16="http://schemas.microsoft.com/office/drawing/2014/main" id="{C07122E2-35B8-7E04-E7C9-46E3C6D742A9}"/>
                </a:ext>
              </a:extLst>
            </p:cNvPr>
            <p:cNvSpPr/>
            <p:nvPr/>
          </p:nvSpPr>
          <p:spPr>
            <a:xfrm>
              <a:off x="2418785" y="2249195"/>
              <a:ext cx="155448" cy="1486466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2A2C710-C918-D5B5-1371-05739BC6A880}"/>
                </a:ext>
              </a:extLst>
            </p:cNvPr>
            <p:cNvSpPr txBox="1"/>
            <p:nvPr/>
          </p:nvSpPr>
          <p:spPr>
            <a:xfrm>
              <a:off x="2496509" y="2266149"/>
              <a:ext cx="2061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latin typeface="Helvetica" pitchFamily="2" charset="0"/>
                </a:rPr>
                <a:t>Ordinary Annuity</a:t>
              </a:r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71D012A-CD28-2D71-E7AC-C5944FD30A05}"/>
                </a:ext>
              </a:extLst>
            </p:cNvPr>
            <p:cNvSpPr txBox="1"/>
            <p:nvPr/>
          </p:nvSpPr>
          <p:spPr>
            <a:xfrm>
              <a:off x="2569812" y="3425727"/>
              <a:ext cx="1544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latin typeface="Helvetica" pitchFamily="2" charset="0"/>
                </a:rPr>
                <a:t>Annuity Due</a:t>
              </a:r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68F4705-A148-EAE2-667F-43E361129185}"/>
              </a:ext>
            </a:extLst>
          </p:cNvPr>
          <p:cNvGrpSpPr/>
          <p:nvPr/>
        </p:nvGrpSpPr>
        <p:grpSpPr>
          <a:xfrm>
            <a:off x="4916209" y="2532994"/>
            <a:ext cx="1838849" cy="1005662"/>
            <a:chOff x="4893907" y="2666806"/>
            <a:chExt cx="1838849" cy="100566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5B4E69B-04B1-B829-2A50-867BDBDD72E9}"/>
                </a:ext>
              </a:extLst>
            </p:cNvPr>
            <p:cNvSpPr txBox="1"/>
            <p:nvPr/>
          </p:nvSpPr>
          <p:spPr>
            <a:xfrm>
              <a:off x="5030495" y="2666806"/>
              <a:ext cx="17022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latin typeface="Helvetica" pitchFamily="2" charset="0"/>
                </a:rPr>
                <a:t>Fixed Annuity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C9A889D-9F02-D752-08BA-C7C71569BB17}"/>
                </a:ext>
              </a:extLst>
            </p:cNvPr>
            <p:cNvSpPr txBox="1"/>
            <p:nvPr/>
          </p:nvSpPr>
          <p:spPr>
            <a:xfrm>
              <a:off x="5059435" y="3303136"/>
              <a:ext cx="13131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latin typeface="Helvetica" pitchFamily="2" charset="0"/>
                </a:rPr>
                <a:t>Perpetuity</a:t>
              </a:r>
              <a:endParaRPr lang="en-US" dirty="0"/>
            </a:p>
          </p:txBody>
        </p:sp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FFD5E7E4-89F5-9411-8DDF-54778CB53EAA}"/>
                </a:ext>
              </a:extLst>
            </p:cNvPr>
            <p:cNvSpPr/>
            <p:nvPr/>
          </p:nvSpPr>
          <p:spPr>
            <a:xfrm>
              <a:off x="4893907" y="2725886"/>
              <a:ext cx="149374" cy="929823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9AA68F7-C676-5949-2AC7-22D473A32478}"/>
              </a:ext>
            </a:extLst>
          </p:cNvPr>
          <p:cNvGrpSpPr/>
          <p:nvPr/>
        </p:nvGrpSpPr>
        <p:grpSpPr>
          <a:xfrm>
            <a:off x="3714116" y="4258641"/>
            <a:ext cx="6023649" cy="979969"/>
            <a:chOff x="3702965" y="4492816"/>
            <a:chExt cx="6023649" cy="979969"/>
          </a:xfrm>
        </p:grpSpPr>
        <p:sp>
          <p:nvSpPr>
            <p:cNvPr id="12" name="Left Brace 11">
              <a:extLst>
                <a:ext uri="{FF2B5EF4-FFF2-40B4-BE49-F238E27FC236}">
                  <a16:creationId xmlns:a16="http://schemas.microsoft.com/office/drawing/2014/main" id="{971D1C13-97AF-5D3D-F51D-497DE896578B}"/>
                </a:ext>
              </a:extLst>
            </p:cNvPr>
            <p:cNvSpPr/>
            <p:nvPr/>
          </p:nvSpPr>
          <p:spPr>
            <a:xfrm>
              <a:off x="3702965" y="4515118"/>
              <a:ext cx="149374" cy="929823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6D27A7A-0B45-BFEF-8873-997C8C85E107}"/>
                </a:ext>
              </a:extLst>
            </p:cNvPr>
            <p:cNvSpPr txBox="1"/>
            <p:nvPr/>
          </p:nvSpPr>
          <p:spPr>
            <a:xfrm>
              <a:off x="3860906" y="4492816"/>
              <a:ext cx="58657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Helvetica" pitchFamily="2" charset="0"/>
                </a:rPr>
                <a:t>A</a:t>
              </a:r>
              <a:r>
                <a:rPr lang="en-US" sz="1800" b="1" i="0" dirty="0">
                  <a:effectLst/>
                  <a:latin typeface="Helvetica" pitchFamily="2" charset="0"/>
                </a:rPr>
                <a:t>nnuity payments plus an additional final lump sum</a:t>
              </a:r>
              <a:endParaRPr lang="en-US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BA925F1-C2F9-B250-22ED-CB1006B360ED}"/>
                </a:ext>
              </a:extLst>
            </p:cNvPr>
            <p:cNvSpPr txBox="1"/>
            <p:nvPr/>
          </p:nvSpPr>
          <p:spPr>
            <a:xfrm>
              <a:off x="3850550" y="5103453"/>
              <a:ext cx="29418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latin typeface="Helvetica" pitchFamily="2" charset="0"/>
                </a:rPr>
                <a:t>A</a:t>
              </a:r>
              <a:r>
                <a:rPr lang="en-US" sz="1800" b="1" i="0" dirty="0">
                  <a:effectLst/>
                  <a:latin typeface="Helvetica" pitchFamily="2" charset="0"/>
                </a:rPr>
                <a:t>ll other uneven streams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9234854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3FDFC-3F67-D40B-9953-13FE97C5E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81F45B-794D-D6C3-F73F-91A87ABF1B46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C19CA040-63F2-2C56-B4CD-A0C41B2B2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123027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Comparing Interest Rates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F4BE6EDF-D5FD-0470-7756-4A5A4B0CC6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9076" y="1470466"/>
                <a:ext cx="11219101" cy="511946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itchFamily="2" charset="2"/>
                  <a:buChar char="ü"/>
                </a:pPr>
                <a:r>
                  <a:rPr lang="en-US" sz="2200" b="1" dirty="0">
                    <a:latin typeface="Helvetica" pitchFamily="2" charset="0"/>
                  </a:rPr>
                  <a:t>Nominal Interest Rate or Annual percentage rate (APR):</a:t>
                </a:r>
                <a:endParaRPr lang="en-US" sz="2200" dirty="0">
                  <a:latin typeface="Helvetica" pitchFamily="2" charset="0"/>
                </a:endParaRP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itchFamily="2" charset="2"/>
                  <a:buChar char="Ø"/>
                </a:pPr>
                <a:r>
                  <a:rPr lang="en-US" sz="2200" dirty="0">
                    <a:latin typeface="Helvetica" pitchFamily="2" charset="0"/>
                  </a:rPr>
                  <a:t>The stated annual rate (quoted by lenders).</a:t>
                </a:r>
              </a:p>
              <a:p>
                <a:pPr lvl="2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itchFamily="2" charset="2"/>
                  <a:buChar char="v"/>
                </a:pPr>
                <a:r>
                  <a:rPr lang="en-US" sz="1900" dirty="0">
                    <a:latin typeface="Helvetica" pitchFamily="2" charset="0"/>
                  </a:rPr>
                  <a:t>Example: An 8% APR with </a:t>
                </a:r>
                <a:r>
                  <a:rPr lang="en-US" sz="1900" b="1" dirty="0">
                    <a:latin typeface="Helvetica" pitchFamily="2" charset="0"/>
                  </a:rPr>
                  <a:t>monthly</a:t>
                </a:r>
                <a:r>
                  <a:rPr lang="en-US" sz="1900" dirty="0">
                    <a:latin typeface="Helvetica" pitchFamily="2" charset="0"/>
                  </a:rPr>
                  <a:t> payments costs </a:t>
                </a:r>
                <a:r>
                  <a:rPr lang="en-US" sz="1900" b="1" dirty="0">
                    <a:latin typeface="Helvetica" pitchFamily="2" charset="0"/>
                  </a:rPr>
                  <a:t>more</a:t>
                </a:r>
                <a:r>
                  <a:rPr lang="en-US" sz="1900" dirty="0">
                    <a:latin typeface="Helvetica" pitchFamily="2" charset="0"/>
                  </a:rPr>
                  <a:t> than with </a:t>
                </a:r>
                <a:r>
                  <a:rPr lang="en-US" sz="1900" b="1" dirty="0">
                    <a:latin typeface="Helvetica" pitchFamily="2" charset="0"/>
                  </a:rPr>
                  <a:t>quarterly</a:t>
                </a:r>
                <a:r>
                  <a:rPr lang="en-US" sz="1900" dirty="0">
                    <a:latin typeface="Helvetica" pitchFamily="2" charset="0"/>
                  </a:rPr>
                  <a:t> payments.</a:t>
                </a: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  <a:buFont typeface="Wingdings" pitchFamily="2" charset="2"/>
                  <a:buChar char="ü"/>
                </a:pPr>
                <a:r>
                  <a:rPr lang="en-US" sz="2200" b="1" dirty="0">
                    <a:latin typeface="Helvetica" pitchFamily="2" charset="0"/>
                  </a:rPr>
                  <a:t>Effective Annual Rate (EAR or EFF%):</a:t>
                </a:r>
                <a:endParaRPr lang="en-US" sz="2200" dirty="0">
                  <a:latin typeface="Helvetica" pitchFamily="2" charset="0"/>
                </a:endParaRP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itchFamily="2" charset="2"/>
                  <a:buChar char="Ø"/>
                </a:pPr>
                <a:r>
                  <a:rPr lang="en-US" sz="2200" dirty="0">
                    <a:latin typeface="Helvetica" pitchFamily="2" charset="0"/>
                  </a:rPr>
                  <a:t>The actual annual rate accounting for compounding.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itchFamily="2" charset="2"/>
                  <a:buChar char="Ø"/>
                </a:pPr>
                <a:r>
                  <a:rPr lang="en-US" sz="2200" dirty="0">
                    <a:latin typeface="Helvetica" pitchFamily="2" charset="0"/>
                  </a:rPr>
                  <a:t>It shows the </a:t>
                </a:r>
                <a:r>
                  <a:rPr lang="en-US" sz="2200" b="1" dirty="0">
                    <a:latin typeface="Helvetica" pitchFamily="2" charset="0"/>
                  </a:rPr>
                  <a:t>true</a:t>
                </a:r>
                <a:r>
                  <a:rPr lang="en-US" sz="2200" dirty="0">
                    <a:latin typeface="Helvetica" pitchFamily="2" charset="0"/>
                  </a:rPr>
                  <a:t> cost or return.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itchFamily="2" charset="2"/>
                  <a:buChar char="Ø"/>
                </a:pPr>
                <a:r>
                  <a:rPr lang="en-US" sz="2200" dirty="0">
                    <a:latin typeface="Helvetica" pitchFamily="2" charset="0"/>
                  </a:rPr>
                  <a:t>When compounding occurs more than once a year, </a:t>
                </a:r>
                <a:r>
                  <a:rPr lang="en-US" sz="2200" b="1" dirty="0">
                    <a:latin typeface="Helvetica" pitchFamily="2" charset="0"/>
                  </a:rPr>
                  <a:t>EFF% &gt; Nominal Rate</a:t>
                </a:r>
                <a:r>
                  <a:rPr lang="en-US" sz="2200" dirty="0">
                    <a:latin typeface="Helvetica" pitchFamily="2" charset="0"/>
                  </a:rPr>
                  <a:t>.</a:t>
                </a:r>
                <a:endParaRPr lang="en-US" sz="2400" b="1" dirty="0">
                  <a:latin typeface="Helvetica" pitchFamily="2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1" dirty="0" smtClean="0">
                        <a:solidFill>
                          <a:srgbClr val="C00000"/>
                        </a:solidFill>
                        <a:latin typeface="Helvetica" pitchFamily="2" charset="0"/>
                      </a:rPr>
                      <m:t>EAR</m:t>
                    </m:r>
                    <m:r>
                      <a:rPr lang="en-US" sz="24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400" b="1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2400" b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𝐢</m:t>
                                </m:r>
                              </m:num>
                              <m:den>
                                <m:r>
                                  <a:rPr lang="en-US" sz="2400" b="1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𝐌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𝐌</m:t>
                        </m:r>
                      </m:sup>
                    </m:sSup>
                    <m:r>
                      <a:rPr lang="en-US" sz="24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  <a:latin typeface="Helvetica" pitchFamily="2" charset="0"/>
                  </a:rPr>
                  <a:t> </a:t>
                </a:r>
              </a:p>
              <a:p>
                <a:pPr lvl="2" algn="just"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  <a:buFont typeface="Wingdings" pitchFamily="2" charset="2"/>
                  <a:buChar char="v"/>
                </a:pPr>
                <a:r>
                  <a:rPr lang="en-US" b="1" dirty="0">
                    <a:latin typeface="Helvetica" pitchFamily="2" charset="0"/>
                  </a:rPr>
                  <a:t>M</a:t>
                </a:r>
                <a:r>
                  <a:rPr lang="en-US" dirty="0">
                    <a:latin typeface="Helvetica" pitchFamily="2" charset="0"/>
                  </a:rPr>
                  <a:t> = Number of compounding periods per year</a:t>
                </a:r>
                <a:endParaRPr lang="en-US" b="1" dirty="0">
                  <a:solidFill>
                    <a:srgbClr val="C00000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F4BE6EDF-D5FD-0470-7756-4A5A4B0CC6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9076" y="1470466"/>
                <a:ext cx="11219101" cy="5119465"/>
              </a:xfrm>
              <a:blipFill>
                <a:blip r:embed="rId2"/>
                <a:stretch>
                  <a:fillRect l="-566" t="-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66943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53550-9FFE-BA82-9E4E-EB7E5C632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C485A8D-ED6A-41C6-415D-D063AC1876A9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1513485E-FA94-BFF2-06B2-C574F33B4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123027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Question-9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C971C425-91FC-E792-1E06-5BE92CC858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9076" y="1470466"/>
                <a:ext cx="11230276" cy="511946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en-US" sz="2200" b="0" i="0" dirty="0">
                    <a:effectLst/>
                    <a:latin typeface="Helvetica" pitchFamily="2" charset="0"/>
                  </a:rPr>
                  <a:t>By law, credit card issuers must print their annual percentage rate on their monthly statements. A common APR is 18% with interest paid monthly. What is the EAR on such a loan? </a:t>
                </a:r>
                <a:endParaRPr lang="en-US" sz="2200" b="1" dirty="0">
                  <a:latin typeface="Helvetica" pitchFamily="2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200" b="1" dirty="0" smtClean="0">
                        <a:solidFill>
                          <a:srgbClr val="0070C0"/>
                        </a:solidFill>
                        <a:latin typeface="Helvetica" pitchFamily="2" charset="0"/>
                      </a:rPr>
                      <m:t>EAR</m:t>
                    </m:r>
                    <m:r>
                      <a:rPr lang="en-US" sz="22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1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200" b="1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22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200" b="1" i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𝐢</m:t>
                                </m:r>
                              </m:num>
                              <m:den>
                                <m:r>
                                  <a:rPr lang="en-US" sz="2200" b="1" i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𝐌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200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𝐌</m:t>
                        </m:r>
                      </m:sup>
                    </m:sSup>
                    <m:r>
                      <a:rPr lang="en-US" sz="22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200" b="1" dirty="0">
                    <a:solidFill>
                      <a:srgbClr val="0070C0"/>
                    </a:solidFill>
                    <a:latin typeface="Helvetica" pitchFamily="2" charset="0"/>
                  </a:rPr>
                  <a:t> 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200" b="1" dirty="0" smtClean="0">
                        <a:solidFill>
                          <a:srgbClr val="0070C0"/>
                        </a:solidFill>
                        <a:latin typeface="Helvetica" pitchFamily="2" charset="0"/>
                      </a:rPr>
                      <m:t>EAR</m:t>
                    </m:r>
                    <m:r>
                      <a:rPr lang="en-US" sz="22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1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200" b="1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22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2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22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2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𝟏𝟖</m:t>
                                </m:r>
                              </m:num>
                              <m:den>
                                <m:r>
                                  <a:rPr lang="en-US" sz="22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𝟏𝟐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sup>
                    </m:sSup>
                    <m:r>
                      <a:rPr lang="en-US" sz="22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200" b="1" dirty="0">
                    <a:solidFill>
                      <a:srgbClr val="0070C0"/>
                    </a:solidFill>
                    <a:latin typeface="Helvetica" pitchFamily="2" charset="0"/>
                  </a:rPr>
                  <a:t> 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200" b="1" dirty="0" smtClean="0">
                        <a:solidFill>
                          <a:srgbClr val="0070C0"/>
                        </a:solidFill>
                        <a:latin typeface="Helvetica" pitchFamily="2" charset="0"/>
                      </a:rPr>
                      <m:t>EAR</m:t>
                    </m:r>
                    <m:r>
                      <a:rPr lang="en-US" sz="22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1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200" b="1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𝟎𝟏𝟓</m:t>
                            </m:r>
                          </m:e>
                        </m:d>
                      </m:e>
                      <m:sup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sup>
                    </m:sSup>
                    <m:r>
                      <a:rPr lang="en-US" sz="22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200" b="1" dirty="0">
                    <a:solidFill>
                      <a:srgbClr val="0070C0"/>
                    </a:solidFill>
                    <a:latin typeface="Helvetica" pitchFamily="2" charset="0"/>
                  </a:rPr>
                  <a:t> 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200" b="1" dirty="0" smtClean="0">
                        <a:solidFill>
                          <a:srgbClr val="0070C0"/>
                        </a:solidFill>
                        <a:latin typeface="Helvetica" pitchFamily="2" charset="0"/>
                      </a:rPr>
                      <m:t>EAR</m:t>
                    </m:r>
                    <m:r>
                      <a:rPr lang="en-US" sz="22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2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2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𝟏𝟗𝟔𝟓</m:t>
                    </m:r>
                    <m:r>
                      <a:rPr lang="en-US" sz="22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200" b="1" dirty="0">
                    <a:solidFill>
                      <a:srgbClr val="0070C0"/>
                    </a:solidFill>
                    <a:latin typeface="Helvetica" pitchFamily="2" charset="0"/>
                  </a:rPr>
                  <a:t> 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60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200" b="1" dirty="0" smtClean="0">
                          <a:solidFill>
                            <a:srgbClr val="0070C0"/>
                          </a:solidFill>
                          <a:latin typeface="Helvetica" pitchFamily="2" charset="0"/>
                        </a:rPr>
                        <m:t>EAR</m:t>
                      </m:r>
                      <m:r>
                        <a:rPr lang="en-US" sz="22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𝟏𝟗</m:t>
                      </m:r>
                      <m:r>
                        <a:rPr lang="en-US" sz="22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2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𝟔𝟓</m:t>
                      </m:r>
                      <m:r>
                        <a:rPr lang="en-US" sz="22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sz="2200" b="1" dirty="0">
                  <a:solidFill>
                    <a:srgbClr val="0070C0"/>
                  </a:solidFill>
                  <a:latin typeface="Helvetica" pitchFamily="2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  <a:buNone/>
                </a:pPr>
                <a:endParaRPr lang="en-US" sz="2200" b="1" dirty="0">
                  <a:solidFill>
                    <a:srgbClr val="0070C0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C971C425-91FC-E792-1E06-5BE92CC858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9076" y="1470466"/>
                <a:ext cx="11230276" cy="5119465"/>
              </a:xfrm>
              <a:blipFill>
                <a:blip r:embed="rId2"/>
                <a:stretch>
                  <a:fillRect l="-678" t="-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2689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09AA3-D542-05D3-011F-905EFE485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8015E4-1A93-CAD7-782E-070965493C13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87237D76-BCA1-D8FA-3778-FA8BBC954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123027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Question-10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63EDCB8E-BCD8-3138-F369-82991E98E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076" y="1470466"/>
            <a:ext cx="11230276" cy="511946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2200" dirty="0">
                <a:latin typeface="Helvetica" pitchFamily="2" charset="0"/>
              </a:rPr>
              <a:t>Calculate the EAR of an annual interest rate of 12%, under the following compounding frequencies: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1800"/>
              </a:spcAft>
              <a:buAutoNum type="alphaUcParenR"/>
            </a:pP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</a:rPr>
              <a:t>Annually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1800"/>
              </a:spcAft>
              <a:buAutoNum type="alphaUcParenR"/>
            </a:pPr>
            <a:r>
              <a:rPr lang="en-US" sz="2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Semiannually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1800"/>
              </a:spcAft>
              <a:buAutoNum type="alphaUcParenR"/>
            </a:pPr>
            <a:r>
              <a:rPr lang="en-US" sz="2200" b="1" dirty="0">
                <a:solidFill>
                  <a:schemeClr val="accent2"/>
                </a:solidFill>
                <a:latin typeface="Helvetica" pitchFamily="2" charset="0"/>
              </a:rPr>
              <a:t>Quarterly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1800"/>
              </a:spcAft>
              <a:buAutoNum type="alphaUcParenR"/>
            </a:pPr>
            <a:r>
              <a:rPr lang="en-US" sz="2200" b="1" dirty="0">
                <a:solidFill>
                  <a:schemeClr val="accent5"/>
                </a:solidFill>
                <a:latin typeface="Helvetica" pitchFamily="2" charset="0"/>
              </a:rPr>
              <a:t>Monthly</a:t>
            </a:r>
          </a:p>
          <a:p>
            <a:pPr marL="457200" indent="-457200">
              <a:lnSpc>
                <a:spcPct val="120000"/>
              </a:lnSpc>
              <a:spcBef>
                <a:spcPts val="1800"/>
              </a:spcBef>
              <a:spcAft>
                <a:spcPts val="1800"/>
              </a:spcAft>
              <a:buAutoNum type="alphaUcParenR"/>
            </a:pPr>
            <a:r>
              <a:rPr lang="en-US" sz="2200" b="1" dirty="0">
                <a:solidFill>
                  <a:srgbClr val="C00000"/>
                </a:solidFill>
                <a:latin typeface="Helvetica" pitchFamily="2" charset="0"/>
              </a:rPr>
              <a:t>Daily</a:t>
            </a:r>
            <a:endParaRPr lang="en-US" sz="2200" b="1" dirty="0">
              <a:solidFill>
                <a:schemeClr val="accent4"/>
              </a:solidFill>
              <a:latin typeface="Helvetica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EAE0DD3-5DEC-95BE-AAA0-22F7C27FD2BF}"/>
                  </a:ext>
                </a:extLst>
              </p:cNvPr>
              <p:cNvSpPr txBox="1"/>
              <p:nvPr/>
            </p:nvSpPr>
            <p:spPr>
              <a:xfrm>
                <a:off x="2743127" y="2484330"/>
                <a:ext cx="2374496" cy="6817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Helvetica" pitchFamily="2" charset="0"/>
                        </a:rPr>
                        <m:t>EAR</m:t>
                      </m:r>
                      <m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800" b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1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num>
                                <m:den>
                                  <m:r>
                                    <a:rPr lang="en-US" sz="1800" b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𝐌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800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𝐌</m:t>
                          </m:r>
                        </m:sup>
                      </m:sSup>
                      <m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EAE0DD3-5DEC-95BE-AAA0-22F7C27FD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127" y="2484330"/>
                <a:ext cx="2374496" cy="681790"/>
              </a:xfrm>
              <a:prstGeom prst="rect">
                <a:avLst/>
              </a:prstGeom>
              <a:blipFill>
                <a:blip r:embed="rId2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CA23831-0503-8BB5-D29E-959B562A9A01}"/>
                  </a:ext>
                </a:extLst>
              </p:cNvPr>
              <p:cNvSpPr txBox="1"/>
              <p:nvPr/>
            </p:nvSpPr>
            <p:spPr>
              <a:xfrm>
                <a:off x="5523992" y="2466698"/>
                <a:ext cx="2687082" cy="6994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Helvetica" pitchFamily="2" charset="0"/>
                        </a:rPr>
                        <m:t>EAR</m:t>
                      </m:r>
                      <m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800" b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1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  <m:r>
                                    <a:rPr lang="en-US" sz="18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sz="18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𝟏𝟐</m:t>
                                  </m:r>
                                </m:num>
                                <m:den>
                                  <m:r>
                                    <a:rPr lang="en-US" sz="18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CA23831-0503-8BB5-D29E-959B562A9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3992" y="2466698"/>
                <a:ext cx="2687082" cy="6994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2CB6AB-DFE9-29D5-F283-96AAD4E41612}"/>
                  </a:ext>
                </a:extLst>
              </p:cNvPr>
              <p:cNvSpPr txBox="1"/>
              <p:nvPr/>
            </p:nvSpPr>
            <p:spPr>
              <a:xfrm>
                <a:off x="8617443" y="2662861"/>
                <a:ext cx="15007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Helvetica" pitchFamily="2" charset="0"/>
                        </a:rPr>
                        <m:t>EAR</m:t>
                      </m:r>
                      <m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US" sz="1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2CB6AB-DFE9-29D5-F283-96AAD4E41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7443" y="2662861"/>
                <a:ext cx="150073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F9B1E7-472F-2B8C-F078-7D85B20CFB7F}"/>
                  </a:ext>
                </a:extLst>
              </p:cNvPr>
              <p:cNvSpPr txBox="1"/>
              <p:nvPr/>
            </p:nvSpPr>
            <p:spPr>
              <a:xfrm>
                <a:off x="3672890" y="3342170"/>
                <a:ext cx="2687082" cy="6994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Helvetica" pitchFamily="2" charset="0"/>
                        </a:rPr>
                        <m:t>EAR</m:t>
                      </m:r>
                      <m:r>
                        <a:rPr lang="en-US" sz="1800" b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1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800" b="1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800" b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1800" b="1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1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  <m:r>
                                    <a:rPr lang="en-US" sz="1800" b="1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sz="1800" b="1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𝟏𝟐</m:t>
                                  </m:r>
                                </m:num>
                                <m:den>
                                  <m:r>
                                    <a:rPr lang="en-US" sz="1800" b="1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800" b="1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1800" b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F9B1E7-472F-2B8C-F078-7D85B20CF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890" y="3342170"/>
                <a:ext cx="2687082" cy="6994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890C3E-B077-C346-FF76-719C161BDAFB}"/>
                  </a:ext>
                </a:extLst>
              </p:cNvPr>
              <p:cNvSpPr txBox="1"/>
              <p:nvPr/>
            </p:nvSpPr>
            <p:spPr>
              <a:xfrm>
                <a:off x="3672890" y="4157071"/>
                <a:ext cx="2687082" cy="6994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Helvetica" pitchFamily="2" charset="0"/>
                        </a:rPr>
                        <m:t>EAR</m:t>
                      </m:r>
                      <m:r>
                        <a:rPr lang="en-US" sz="1800" b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800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800" b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1800" b="1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  <m:r>
                                    <a:rPr lang="en-US" sz="1800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sz="1800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𝟏𝟐</m:t>
                                  </m:r>
                                </m:num>
                                <m:den>
                                  <m:r>
                                    <a:rPr lang="en-US" sz="1800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n-US" sz="1800" b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890C3E-B077-C346-FF76-719C161BD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890" y="4157071"/>
                <a:ext cx="2687082" cy="6994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1A8BD45-E0B2-1C48-4A56-88AAE59FD12B}"/>
                  </a:ext>
                </a:extLst>
              </p:cNvPr>
              <p:cNvSpPr txBox="1"/>
              <p:nvPr/>
            </p:nvSpPr>
            <p:spPr>
              <a:xfrm>
                <a:off x="3672890" y="5037823"/>
                <a:ext cx="2733569" cy="6819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Helvetica" pitchFamily="2" charset="0"/>
                        </a:rPr>
                        <m:t>EAR</m:t>
                      </m:r>
                      <m:r>
                        <a:rPr lang="en-US" sz="1800" b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800" b="1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800" b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1800" b="1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1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  <m:r>
                                    <a:rPr lang="en-US" sz="1800" b="1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sz="1800" b="1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𝟏𝟐</m:t>
                                  </m:r>
                                </m:num>
                                <m:den>
                                  <m:r>
                                    <a:rPr lang="en-US" sz="1800" b="1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sup>
                      </m:sSup>
                      <m:r>
                        <a:rPr lang="en-US" sz="1800" b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1A8BD45-E0B2-1C48-4A56-88AAE59FD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890" y="5037823"/>
                <a:ext cx="2733569" cy="681982"/>
              </a:xfrm>
              <a:prstGeom prst="rect">
                <a:avLst/>
              </a:prstGeom>
              <a:blipFill>
                <a:blip r:embed="rId7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05917B-55AC-2743-5E00-73D542DA3F3B}"/>
                  </a:ext>
                </a:extLst>
              </p:cNvPr>
              <p:cNvSpPr txBox="1"/>
              <p:nvPr/>
            </p:nvSpPr>
            <p:spPr>
              <a:xfrm>
                <a:off x="3672890" y="5890509"/>
                <a:ext cx="2834559" cy="6860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1" dirty="0" smtClean="0">
                          <a:solidFill>
                            <a:srgbClr val="C00000"/>
                          </a:solidFill>
                          <a:latin typeface="Helvetica" pitchFamily="2" charset="0"/>
                        </a:rPr>
                        <m:t>EAR</m:t>
                      </m:r>
                      <m:r>
                        <a:rPr lang="en-US" sz="18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800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18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  <m:r>
                                    <a:rPr lang="en-US" sz="18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sz="18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𝟏𝟐</m:t>
                                  </m:r>
                                </m:num>
                                <m:den>
                                  <m:r>
                                    <a:rPr lang="en-US" sz="18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𝟑𝟔𝟓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𝟑𝟔𝟓</m:t>
                          </m:r>
                        </m:sup>
                      </m:sSup>
                      <m:r>
                        <a:rPr lang="en-US" sz="18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05917B-55AC-2743-5E00-73D542DA3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890" y="5890509"/>
                <a:ext cx="2834559" cy="686085"/>
              </a:xfrm>
              <a:prstGeom prst="rect">
                <a:avLst/>
              </a:prstGeom>
              <a:blipFill>
                <a:blip r:embed="rId8"/>
                <a:stretch>
                  <a:fillRect b="-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57889A-21BD-6E07-EDB1-BF6C7A0340CA}"/>
                  </a:ext>
                </a:extLst>
              </p:cNvPr>
              <p:cNvSpPr txBox="1"/>
              <p:nvPr/>
            </p:nvSpPr>
            <p:spPr>
              <a:xfrm>
                <a:off x="7113779" y="3476929"/>
                <a:ext cx="18630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Helvetica" pitchFamily="2" charset="0"/>
                        </a:rPr>
                        <m:t>EAR</m:t>
                      </m:r>
                      <m:r>
                        <a:rPr lang="en-US" sz="1800" b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US" sz="1800" b="1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1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𝟑𝟔</m:t>
                      </m:r>
                      <m:r>
                        <a:rPr lang="en-US" sz="1800" b="1" i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57889A-21BD-6E07-EDB1-BF6C7A034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779" y="3476929"/>
                <a:ext cx="186301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13C676-4552-961B-BEC9-5AACFD2529EE}"/>
                  </a:ext>
                </a:extLst>
              </p:cNvPr>
              <p:cNvSpPr txBox="1"/>
              <p:nvPr/>
            </p:nvSpPr>
            <p:spPr>
              <a:xfrm>
                <a:off x="7113779" y="4320625"/>
                <a:ext cx="18630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Helvetica" pitchFamily="2" charset="0"/>
                        </a:rPr>
                        <m:t>EAR</m:t>
                      </m:r>
                      <m:r>
                        <a:rPr lang="en-US" sz="1800" b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US" sz="1800" b="1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1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𝟓𝟓</m:t>
                      </m:r>
                      <m:r>
                        <a:rPr lang="en-US" sz="1800" b="1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13C676-4552-961B-BEC9-5AACFD252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779" y="4320625"/>
                <a:ext cx="186301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81FA99-D44D-5A50-025E-68DDAED21176}"/>
                  </a:ext>
                </a:extLst>
              </p:cNvPr>
              <p:cNvSpPr txBox="1"/>
              <p:nvPr/>
            </p:nvSpPr>
            <p:spPr>
              <a:xfrm>
                <a:off x="7113779" y="5202868"/>
                <a:ext cx="18630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Helvetica" pitchFamily="2" charset="0"/>
                        </a:rPr>
                        <m:t>EAR</m:t>
                      </m:r>
                      <m:r>
                        <a:rPr lang="en-US" sz="1800" b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US" sz="18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𝟔𝟖</m:t>
                      </m:r>
                      <m:r>
                        <a:rPr lang="en-US" sz="18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81FA99-D44D-5A50-025E-68DDAED21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779" y="5202868"/>
                <a:ext cx="186301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3703A0-7A82-24A2-7108-A91F36ADE332}"/>
                  </a:ext>
                </a:extLst>
              </p:cNvPr>
              <p:cNvSpPr txBox="1"/>
              <p:nvPr/>
            </p:nvSpPr>
            <p:spPr>
              <a:xfrm>
                <a:off x="7113779" y="6079867"/>
                <a:ext cx="18630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1" dirty="0" smtClean="0">
                          <a:solidFill>
                            <a:srgbClr val="C00000"/>
                          </a:solidFill>
                          <a:latin typeface="Helvetica" pitchFamily="2" charset="0"/>
                        </a:rPr>
                        <m:t>EAR</m:t>
                      </m:r>
                      <m:r>
                        <a:rPr lang="en-US" sz="18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US" sz="1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𝟕𝟓</m:t>
                      </m:r>
                      <m:r>
                        <a:rPr lang="en-US" sz="1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3703A0-7A82-24A2-7108-A91F36ADE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779" y="6079867"/>
                <a:ext cx="186301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3833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D6323-6C21-D751-2794-974C8CAA3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920638D-2291-4AB5-0401-3EDF65D2F61A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A29391E3-DFF2-3FD0-E1F4-E9B415F49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123027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Amortized Loans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0E2C7244-4E05-6095-4EA0-07AAEF928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076" y="1470466"/>
            <a:ext cx="11219101" cy="511946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b="1" dirty="0">
                <a:latin typeface="Helvetica" pitchFamily="2" charset="0"/>
              </a:rPr>
              <a:t>What is an Amortized Loan?</a:t>
            </a:r>
            <a:endParaRPr lang="en-US" sz="2400" dirty="0">
              <a:latin typeface="Helvetica" pitchFamily="2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000" dirty="0">
                <a:latin typeface="Helvetica" pitchFamily="2" charset="0"/>
              </a:rPr>
              <a:t>A loan repaid in </a:t>
            </a:r>
            <a:r>
              <a:rPr lang="en-US" sz="2000" b="1" dirty="0">
                <a:latin typeface="Helvetica" pitchFamily="2" charset="0"/>
              </a:rPr>
              <a:t>equal installments</a:t>
            </a:r>
            <a:r>
              <a:rPr lang="en-US" sz="2000" dirty="0">
                <a:latin typeface="Helvetica" pitchFamily="2" charset="0"/>
              </a:rPr>
              <a:t> over time.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000" dirty="0">
                <a:latin typeface="Helvetica" pitchFamily="2" charset="0"/>
              </a:rPr>
              <a:t>Payments are made on a </a:t>
            </a:r>
            <a:r>
              <a:rPr lang="en-US" sz="2000" b="1" dirty="0">
                <a:latin typeface="Helvetica" pitchFamily="2" charset="0"/>
              </a:rPr>
              <a:t>monthly, quarterly, or annual</a:t>
            </a:r>
            <a:r>
              <a:rPr lang="en-US" sz="2000" dirty="0">
                <a:latin typeface="Helvetica" pitchFamily="2" charset="0"/>
              </a:rPr>
              <a:t> basis.</a:t>
            </a:r>
          </a:p>
          <a:p>
            <a:pPr>
              <a:spcBef>
                <a:spcPts val="18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b="1" dirty="0">
                <a:latin typeface="Helvetica" pitchFamily="2" charset="0"/>
              </a:rPr>
              <a:t>Examples of Amortized Loans:</a:t>
            </a:r>
            <a:endParaRPr lang="en-US" sz="2400" dirty="0">
              <a:latin typeface="Helvetica" pitchFamily="2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000" dirty="0">
                <a:latin typeface="Helvetica" pitchFamily="2" charset="0"/>
              </a:rPr>
              <a:t>Home mortgages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000" dirty="0">
                <a:latin typeface="Helvetica" pitchFamily="2" charset="0"/>
              </a:rPr>
              <a:t>Auto loans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000" dirty="0">
                <a:latin typeface="Helvetica" pitchFamily="2" charset="0"/>
              </a:rPr>
              <a:t>Student loans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000" dirty="0">
                <a:latin typeface="Helvetica" pitchFamily="2" charset="0"/>
              </a:rPr>
              <a:t>Business loans</a:t>
            </a:r>
          </a:p>
          <a:p>
            <a:pPr>
              <a:spcBef>
                <a:spcPts val="180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en-US" sz="2400" b="1" dirty="0">
                <a:latin typeface="Helvetica" pitchFamily="2" charset="0"/>
              </a:rPr>
              <a:t>Key Idea:</a:t>
            </a:r>
            <a:r>
              <a:rPr lang="en-US" sz="2400" dirty="0">
                <a:latin typeface="Helvetica" pitchFamily="2" charset="0"/>
              </a:rPr>
              <a:t> Each payment covers both </a:t>
            </a:r>
            <a:r>
              <a:rPr lang="en-US" sz="2400" b="1" dirty="0">
                <a:latin typeface="Helvetica" pitchFamily="2" charset="0"/>
              </a:rPr>
              <a:t>interest</a:t>
            </a:r>
            <a:r>
              <a:rPr lang="en-US" sz="2400" dirty="0">
                <a:latin typeface="Helvetica" pitchFamily="2" charset="0"/>
              </a:rPr>
              <a:t> and a portion of the </a:t>
            </a:r>
            <a:r>
              <a:rPr lang="en-US" sz="2400" b="1" dirty="0">
                <a:latin typeface="Helvetica" pitchFamily="2" charset="0"/>
              </a:rPr>
              <a:t>principal</a:t>
            </a:r>
            <a:r>
              <a:rPr lang="en-US" sz="2400" dirty="0">
                <a:latin typeface="Helvetica" pitchFamily="2" charset="0"/>
              </a:rPr>
              <a:t> (the original loan amount).</a:t>
            </a:r>
          </a:p>
        </p:txBody>
      </p:sp>
    </p:spTree>
    <p:extLst>
      <p:ext uri="{BB962C8B-B14F-4D97-AF65-F5344CB8AC3E}">
        <p14:creationId xmlns:p14="http://schemas.microsoft.com/office/powerpoint/2010/main" val="9288103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65D8D-4A42-4F5A-0297-937F9FCAA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46C7FB5-BD69-A712-B160-B0F113D8370E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B146257B-14C4-39D0-99BF-290EA7FE4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123027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Amortized Loans’ Payment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386E6E95-5AE2-D0F6-C443-16B972592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076" y="1470466"/>
            <a:ext cx="11219101" cy="152934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dirty="0">
                <a:latin typeface="Helvetica" pitchFamily="2" charset="0"/>
              </a:rPr>
              <a:t>Imagine you take out a loan of $200,000 at an 8% APR for 5 years.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dirty="0">
                <a:latin typeface="Helvetica" pitchFamily="2" charset="0"/>
              </a:rPr>
              <a:t>If the loan is amortized, the payments will be in equal amounts.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dirty="0">
                <a:latin typeface="Helvetica" pitchFamily="2" charset="0"/>
              </a:rPr>
              <a:t>If payments happen at the end of each year:</a:t>
            </a:r>
            <a:endParaRPr lang="en-US" sz="4400" dirty="0">
              <a:latin typeface="Helvetica" pitchFamily="2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C5F4C34-44C2-458F-AF29-3DAA162239C4}"/>
              </a:ext>
            </a:extLst>
          </p:cNvPr>
          <p:cNvGrpSpPr/>
          <p:nvPr/>
        </p:nvGrpSpPr>
        <p:grpSpPr>
          <a:xfrm>
            <a:off x="435021" y="3164596"/>
            <a:ext cx="11161132" cy="1398263"/>
            <a:chOff x="435021" y="2908121"/>
            <a:chExt cx="11161132" cy="139826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101295E-D56C-F06B-1609-B64E28D5EAE3}"/>
                </a:ext>
              </a:extLst>
            </p:cNvPr>
            <p:cNvGrpSpPr/>
            <p:nvPr/>
          </p:nvGrpSpPr>
          <p:grpSpPr>
            <a:xfrm>
              <a:off x="435021" y="2909740"/>
              <a:ext cx="11151100" cy="1396644"/>
              <a:chOff x="794284" y="2453036"/>
              <a:chExt cx="11151100" cy="1396644"/>
            </a:xfrm>
            <a:noFill/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44C54531-B388-69C9-A510-78BC5914532C}"/>
                  </a:ext>
                </a:extLst>
              </p:cNvPr>
              <p:cNvGrpSpPr/>
              <p:nvPr/>
            </p:nvGrpSpPr>
            <p:grpSpPr>
              <a:xfrm>
                <a:off x="794284" y="3051732"/>
                <a:ext cx="11151100" cy="797948"/>
                <a:chOff x="873086" y="5053331"/>
                <a:chExt cx="11151100" cy="1147434"/>
              </a:xfrm>
              <a:grpFill/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F1D27785-FBBA-E563-404E-0ED797ED984D}"/>
                    </a:ext>
                  </a:extLst>
                </p:cNvPr>
                <p:cNvGrpSpPr/>
                <p:nvPr/>
              </p:nvGrpSpPr>
              <p:grpSpPr>
                <a:xfrm>
                  <a:off x="1027135" y="5053331"/>
                  <a:ext cx="10997051" cy="475932"/>
                  <a:chOff x="1027135" y="5053331"/>
                  <a:chExt cx="10997051" cy="475932"/>
                </a:xfrm>
                <a:grpFill/>
              </p:grpSpPr>
              <p:cxnSp>
                <p:nvCxnSpPr>
                  <p:cNvPr id="15" name="Straight Arrow Connector 14">
                    <a:extLst>
                      <a:ext uri="{FF2B5EF4-FFF2-40B4-BE49-F238E27FC236}">
                        <a16:creationId xmlns:a16="http://schemas.microsoft.com/office/drawing/2014/main" id="{0559B112-79A5-2804-2C37-6107EEDBEAB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5" y="5285984"/>
                    <a:ext cx="10997051" cy="14676"/>
                  </a:xfrm>
                  <a:prstGeom prst="straightConnector1">
                    <a:avLst/>
                  </a:prstGeom>
                  <a:grpFill/>
                  <a:ln w="38100">
                    <a:solidFill>
                      <a:schemeClr val="accent5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Connector 15">
                    <a:extLst>
                      <a:ext uri="{FF2B5EF4-FFF2-40B4-BE49-F238E27FC236}">
                        <a16:creationId xmlns:a16="http://schemas.microsoft.com/office/drawing/2014/main" id="{052C2C19-1DFD-B014-7091-7C956D0860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7136" y="5072061"/>
                    <a:ext cx="0" cy="457200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5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Connector 16">
                    <a:extLst>
                      <a:ext uri="{FF2B5EF4-FFF2-40B4-BE49-F238E27FC236}">
                        <a16:creationId xmlns:a16="http://schemas.microsoft.com/office/drawing/2014/main" id="{570197D3-1C34-0108-BC04-0F7CA6863FD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82380" y="5072062"/>
                    <a:ext cx="0" cy="457199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5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9C4A61F6-7BF3-2949-21D3-3ADA76160C5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855728" y="5072061"/>
                    <a:ext cx="0" cy="457199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5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4B26B9AF-F37B-60FC-6394-0F543102A7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647504" y="5053331"/>
                    <a:ext cx="0" cy="457199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5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30A26D8F-288E-C033-F83C-7C1C060ABC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463413" y="5072064"/>
                    <a:ext cx="0" cy="457199"/>
                  </a:xfrm>
                  <a:prstGeom prst="line">
                    <a:avLst/>
                  </a:prstGeom>
                  <a:grpFill/>
                  <a:ln w="38100">
                    <a:solidFill>
                      <a:schemeClr val="accent5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4408C30-B0CE-C23A-30EF-222268CD81FF}"/>
                    </a:ext>
                  </a:extLst>
                </p:cNvPr>
                <p:cNvSpPr txBox="1"/>
                <p:nvPr/>
              </p:nvSpPr>
              <p:spPr>
                <a:xfrm>
                  <a:off x="873086" y="5713928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5">
                          <a:lumMod val="75000"/>
                        </a:schemeClr>
                      </a:solidFill>
                      <a:latin typeface="Helvetica" pitchFamily="2" charset="0"/>
                    </a:rPr>
                    <a:t>0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FEA48DF-A468-EC7A-D14B-EBF3FA80B5E0}"/>
                    </a:ext>
                  </a:extLst>
                </p:cNvPr>
                <p:cNvSpPr txBox="1"/>
                <p:nvPr/>
              </p:nvSpPr>
              <p:spPr>
                <a:xfrm>
                  <a:off x="3028331" y="5713931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5">
                          <a:lumMod val="75000"/>
                        </a:schemeClr>
                      </a:solidFill>
                      <a:latin typeface="Helvetica" pitchFamily="2" charset="0"/>
                    </a:rPr>
                    <a:t>1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78A5584-C240-43CB-0C48-D589A55ECEC3}"/>
                    </a:ext>
                  </a:extLst>
                </p:cNvPr>
                <p:cNvSpPr txBox="1"/>
                <p:nvPr/>
              </p:nvSpPr>
              <p:spPr>
                <a:xfrm>
                  <a:off x="5309364" y="5713931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5">
                          <a:lumMod val="75000"/>
                        </a:schemeClr>
                      </a:solidFill>
                      <a:latin typeface="Helvetica" pitchFamily="2" charset="0"/>
                    </a:rPr>
                    <a:t>2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7740B6A-5EB9-BBD7-88D8-CDD4469B4ADC}"/>
                    </a:ext>
                  </a:extLst>
                </p:cNvPr>
                <p:cNvSpPr txBox="1"/>
                <p:nvPr/>
              </p:nvSpPr>
              <p:spPr>
                <a:xfrm>
                  <a:off x="7493455" y="5710715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5">
                          <a:lumMod val="75000"/>
                        </a:schemeClr>
                      </a:solidFill>
                      <a:latin typeface="Helvetica" pitchFamily="2" charset="0"/>
                    </a:rPr>
                    <a:t>3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722207C-4275-77EF-FDE4-14EF86763254}"/>
                    </a:ext>
                  </a:extLst>
                </p:cNvPr>
                <p:cNvSpPr txBox="1"/>
                <p:nvPr/>
              </p:nvSpPr>
              <p:spPr>
                <a:xfrm>
                  <a:off x="9701679" y="5710715"/>
                  <a:ext cx="298480" cy="486834"/>
                </a:xfrm>
                <a:prstGeom prst="rect">
                  <a:avLst/>
                </a:prstGeom>
                <a:grpFill/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5">
                          <a:lumMod val="75000"/>
                        </a:schemeClr>
                      </a:solidFill>
                      <a:latin typeface="Helvetica" pitchFamily="2" charset="0"/>
                    </a:rPr>
                    <a:t>4</a:t>
                  </a:r>
                </a:p>
              </p:txBody>
            </p:sp>
          </p:grp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D5E77D-8AEC-7D44-C2D0-E604B71D85DD}"/>
                  </a:ext>
                </a:extLst>
              </p:cNvPr>
              <p:cNvSpPr txBox="1"/>
              <p:nvPr/>
            </p:nvSpPr>
            <p:spPr>
              <a:xfrm>
                <a:off x="2737658" y="2453036"/>
                <a:ext cx="726481" cy="40011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5">
                        <a:lumMod val="75000"/>
                      </a:schemeClr>
                    </a:solidFill>
                    <a:latin typeface="Helvetica" pitchFamily="2" charset="0"/>
                  </a:rPr>
                  <a:t>PMT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C87A90-08B4-77A6-B61E-6C1804962849}"/>
                  </a:ext>
                </a:extLst>
              </p:cNvPr>
              <p:cNvSpPr txBox="1"/>
              <p:nvPr/>
            </p:nvSpPr>
            <p:spPr>
              <a:xfrm>
                <a:off x="5024910" y="2453036"/>
                <a:ext cx="726481" cy="40011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5">
                        <a:lumMod val="75000"/>
                      </a:schemeClr>
                    </a:solidFill>
                    <a:latin typeface="Helvetica" pitchFamily="2" charset="0"/>
                  </a:rPr>
                  <a:t>PMT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805F02-4B52-15CD-A74C-FF2B31EC8FC6}"/>
                  </a:ext>
                </a:extLst>
              </p:cNvPr>
              <p:cNvSpPr txBox="1"/>
              <p:nvPr/>
            </p:nvSpPr>
            <p:spPr>
              <a:xfrm>
                <a:off x="7200652" y="2453036"/>
                <a:ext cx="726481" cy="40011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5">
                        <a:lumMod val="75000"/>
                      </a:schemeClr>
                    </a:solidFill>
                    <a:latin typeface="Helvetica" pitchFamily="2" charset="0"/>
                  </a:rPr>
                  <a:t>PMT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BC12E6-0FA7-9187-5B62-42245AE2B6A4}"/>
                  </a:ext>
                </a:extLst>
              </p:cNvPr>
              <p:cNvSpPr txBox="1"/>
              <p:nvPr/>
            </p:nvSpPr>
            <p:spPr>
              <a:xfrm>
                <a:off x="9396062" y="2453036"/>
                <a:ext cx="726481" cy="400110"/>
              </a:xfrm>
              <a:prstGeom prst="rect">
                <a:avLst/>
              </a:prstGeom>
              <a:grpFill/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5">
                        <a:lumMod val="75000"/>
                      </a:schemeClr>
                    </a:solidFill>
                    <a:latin typeface="Helvetica" pitchFamily="2" charset="0"/>
                  </a:rPr>
                  <a:t>PMT</a:t>
                </a:r>
              </a:p>
            </p:txBody>
          </p:sp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A3B95C0-4E7E-BEDC-DF41-B48F8F832E1E}"/>
                </a:ext>
              </a:extLst>
            </p:cNvPr>
            <p:cNvCxnSpPr>
              <a:cxnSpLocks/>
            </p:cNvCxnSpPr>
            <p:nvPr/>
          </p:nvCxnSpPr>
          <p:spPr>
            <a:xfrm>
              <a:off x="11231590" y="3528896"/>
              <a:ext cx="0" cy="317945"/>
            </a:xfrm>
            <a:prstGeom prst="line">
              <a:avLst/>
            </a:prstGeom>
            <a:noFill/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F7CA095-5FFC-BE68-B72D-D152142D77EE}"/>
                </a:ext>
              </a:extLst>
            </p:cNvPr>
            <p:cNvSpPr txBox="1"/>
            <p:nvPr/>
          </p:nvSpPr>
          <p:spPr>
            <a:xfrm>
              <a:off x="11082350" y="3965594"/>
              <a:ext cx="298480" cy="338554"/>
            </a:xfrm>
            <a:prstGeom prst="rect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Helvetica" pitchFamily="2" charset="0"/>
                </a:rPr>
                <a:t>5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658275E-34A4-C257-91AE-26878E6CA661}"/>
                </a:ext>
              </a:extLst>
            </p:cNvPr>
            <p:cNvSpPr txBox="1"/>
            <p:nvPr/>
          </p:nvSpPr>
          <p:spPr>
            <a:xfrm>
              <a:off x="10869672" y="2908121"/>
              <a:ext cx="726481" cy="400110"/>
            </a:xfrm>
            <a:prstGeom prst="rect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Helvetica" pitchFamily="2" charset="0"/>
                </a:rPr>
                <a:t>PMT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6823A737-F4B9-3895-F8CA-F6F0B62B3542}"/>
              </a:ext>
            </a:extLst>
          </p:cNvPr>
          <p:cNvSpPr txBox="1"/>
          <p:nvPr/>
        </p:nvSpPr>
        <p:spPr>
          <a:xfrm>
            <a:off x="140421" y="3206392"/>
            <a:ext cx="1215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$200,000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47C19D-5104-BB40-6452-FAC06CEDD705}"/>
              </a:ext>
            </a:extLst>
          </p:cNvPr>
          <p:cNvSpPr txBox="1"/>
          <p:nvPr/>
        </p:nvSpPr>
        <p:spPr>
          <a:xfrm>
            <a:off x="584261" y="4692681"/>
            <a:ext cx="11230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en-US" sz="2000" dirty="0">
                <a:latin typeface="Helvetica" pitchFamily="2" charset="0"/>
              </a:rPr>
              <a:t>Since this cash flow structure is an ordinary annuity; we can calculate the amount of each PMT.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1DB8A4EC-E1CC-B80D-3409-4EF45F7E2C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65134"/>
              </p:ext>
            </p:extLst>
          </p:nvPr>
        </p:nvGraphicFramePr>
        <p:xfrm>
          <a:off x="3249130" y="5183589"/>
          <a:ext cx="5380614" cy="98771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22815">
                  <a:extLst>
                    <a:ext uri="{9D8B030D-6E8A-4147-A177-3AD203B41FA5}">
                      <a16:colId xmlns:a16="http://schemas.microsoft.com/office/drawing/2014/main" val="2986694891"/>
                    </a:ext>
                  </a:extLst>
                </a:gridCol>
                <a:gridCol w="987854">
                  <a:extLst>
                    <a:ext uri="{9D8B030D-6E8A-4147-A177-3AD203B41FA5}">
                      <a16:colId xmlns:a16="http://schemas.microsoft.com/office/drawing/2014/main" val="2867844822"/>
                    </a:ext>
                  </a:extLst>
                </a:gridCol>
                <a:gridCol w="1117832">
                  <a:extLst>
                    <a:ext uri="{9D8B030D-6E8A-4147-A177-3AD203B41FA5}">
                      <a16:colId xmlns:a16="http://schemas.microsoft.com/office/drawing/2014/main" val="3714192118"/>
                    </a:ext>
                  </a:extLst>
                </a:gridCol>
                <a:gridCol w="1150573">
                  <a:extLst>
                    <a:ext uri="{9D8B030D-6E8A-4147-A177-3AD203B41FA5}">
                      <a16:colId xmlns:a16="http://schemas.microsoft.com/office/drawing/2014/main" val="937620826"/>
                    </a:ext>
                  </a:extLst>
                </a:gridCol>
                <a:gridCol w="1201540">
                  <a:extLst>
                    <a:ext uri="{9D8B030D-6E8A-4147-A177-3AD203B41FA5}">
                      <a16:colId xmlns:a16="http://schemas.microsoft.com/office/drawing/2014/main" val="2814070118"/>
                    </a:ext>
                  </a:extLst>
                </a:gridCol>
              </a:tblGrid>
              <a:tr h="49385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I/Y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N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PV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PMT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287289"/>
                  </a:ext>
                </a:extLst>
              </a:tr>
              <a:tr h="49385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8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5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200,000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??</a:t>
                      </a:r>
                      <a:endParaRPr lang="en-US" sz="20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1100110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F9470D92-706A-66D6-1E6C-CAC7658041F0}"/>
              </a:ext>
            </a:extLst>
          </p:cNvPr>
          <p:cNvSpPr txBox="1"/>
          <p:nvPr/>
        </p:nvSpPr>
        <p:spPr>
          <a:xfrm>
            <a:off x="5029200" y="6345045"/>
            <a:ext cx="2165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PMT = $50,091.29</a:t>
            </a:r>
          </a:p>
        </p:txBody>
      </p:sp>
    </p:spTree>
    <p:extLst>
      <p:ext uri="{BB962C8B-B14F-4D97-AF65-F5344CB8AC3E}">
        <p14:creationId xmlns:p14="http://schemas.microsoft.com/office/powerpoint/2010/main" val="17238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3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04DA3-0E13-8547-97B9-80452F423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2A3B4F0-3D64-FFCA-699C-48832F7F6DC8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796D8753-1FB2-17EA-C1CC-6460EB863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123027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Principal vs. Interest Payment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4E97C17-D0E9-47B7-B4FC-C63D95D77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963" y="1470025"/>
            <a:ext cx="11218862" cy="145159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dirty="0">
                <a:latin typeface="Helvetica" pitchFamily="2" charset="0"/>
              </a:rPr>
              <a:t>Imagine you take out a loan of $200,000 at an 8% APR for 5 years.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dirty="0">
                <a:latin typeface="Helvetica" pitchFamily="2" charset="0"/>
              </a:rPr>
              <a:t>Now we know the amount of total payment at the end of each year.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dirty="0">
                <a:latin typeface="Helvetica" pitchFamily="2" charset="0"/>
              </a:rPr>
              <a:t>The total payment consist of principal payment and interest payment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5FC2BF90-6864-1A11-6A9D-E91A4F8B8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554930"/>
              </p:ext>
            </p:extLst>
          </p:nvPr>
        </p:nvGraphicFramePr>
        <p:xfrm>
          <a:off x="479502" y="3136217"/>
          <a:ext cx="11184675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935">
                  <a:extLst>
                    <a:ext uri="{9D8B030D-6E8A-4147-A177-3AD203B41FA5}">
                      <a16:colId xmlns:a16="http://schemas.microsoft.com/office/drawing/2014/main" val="4126846082"/>
                    </a:ext>
                  </a:extLst>
                </a:gridCol>
                <a:gridCol w="2236935">
                  <a:extLst>
                    <a:ext uri="{9D8B030D-6E8A-4147-A177-3AD203B41FA5}">
                      <a16:colId xmlns:a16="http://schemas.microsoft.com/office/drawing/2014/main" val="1642046156"/>
                    </a:ext>
                  </a:extLst>
                </a:gridCol>
                <a:gridCol w="2236935">
                  <a:extLst>
                    <a:ext uri="{9D8B030D-6E8A-4147-A177-3AD203B41FA5}">
                      <a16:colId xmlns:a16="http://schemas.microsoft.com/office/drawing/2014/main" val="98516644"/>
                    </a:ext>
                  </a:extLst>
                </a:gridCol>
                <a:gridCol w="2236935">
                  <a:extLst>
                    <a:ext uri="{9D8B030D-6E8A-4147-A177-3AD203B41FA5}">
                      <a16:colId xmlns:a16="http://schemas.microsoft.com/office/drawing/2014/main" val="1609163466"/>
                    </a:ext>
                  </a:extLst>
                </a:gridCol>
                <a:gridCol w="2236935">
                  <a:extLst>
                    <a:ext uri="{9D8B030D-6E8A-4147-A177-3AD203B41FA5}">
                      <a16:colId xmlns:a16="http://schemas.microsoft.com/office/drawing/2014/main" val="633354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Payment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Interest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Balance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252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200,000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953218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E7168D44-29BA-9432-0F35-8FAF5713EC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71163"/>
              </p:ext>
            </p:extLst>
          </p:nvPr>
        </p:nvGraphicFramePr>
        <p:xfrm>
          <a:off x="479499" y="4725265"/>
          <a:ext cx="1118467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935">
                  <a:extLst>
                    <a:ext uri="{9D8B030D-6E8A-4147-A177-3AD203B41FA5}">
                      <a16:colId xmlns:a16="http://schemas.microsoft.com/office/drawing/2014/main" val="1920292863"/>
                    </a:ext>
                  </a:extLst>
                </a:gridCol>
                <a:gridCol w="2236935">
                  <a:extLst>
                    <a:ext uri="{9D8B030D-6E8A-4147-A177-3AD203B41FA5}">
                      <a16:colId xmlns:a16="http://schemas.microsoft.com/office/drawing/2014/main" val="2686274726"/>
                    </a:ext>
                  </a:extLst>
                </a:gridCol>
                <a:gridCol w="2236935">
                  <a:extLst>
                    <a:ext uri="{9D8B030D-6E8A-4147-A177-3AD203B41FA5}">
                      <a16:colId xmlns:a16="http://schemas.microsoft.com/office/drawing/2014/main" val="3605098035"/>
                    </a:ext>
                  </a:extLst>
                </a:gridCol>
                <a:gridCol w="2236935">
                  <a:extLst>
                    <a:ext uri="{9D8B030D-6E8A-4147-A177-3AD203B41FA5}">
                      <a16:colId xmlns:a16="http://schemas.microsoft.com/office/drawing/2014/main" val="592462042"/>
                    </a:ext>
                  </a:extLst>
                </a:gridCol>
                <a:gridCol w="2236935">
                  <a:extLst>
                    <a:ext uri="{9D8B030D-6E8A-4147-A177-3AD203B41FA5}">
                      <a16:colId xmlns:a16="http://schemas.microsoft.com/office/drawing/2014/main" val="243210165"/>
                    </a:ext>
                  </a:extLst>
                </a:gridCol>
              </a:tblGrid>
              <a:tr h="23385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268562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B13FDA86-5336-1896-5B44-B2706593DF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025822"/>
              </p:ext>
            </p:extLst>
          </p:nvPr>
        </p:nvGraphicFramePr>
        <p:xfrm>
          <a:off x="479499" y="5944358"/>
          <a:ext cx="1118467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935">
                  <a:extLst>
                    <a:ext uri="{9D8B030D-6E8A-4147-A177-3AD203B41FA5}">
                      <a16:colId xmlns:a16="http://schemas.microsoft.com/office/drawing/2014/main" val="2083148177"/>
                    </a:ext>
                  </a:extLst>
                </a:gridCol>
                <a:gridCol w="2236935">
                  <a:extLst>
                    <a:ext uri="{9D8B030D-6E8A-4147-A177-3AD203B41FA5}">
                      <a16:colId xmlns:a16="http://schemas.microsoft.com/office/drawing/2014/main" val="3648965169"/>
                    </a:ext>
                  </a:extLst>
                </a:gridCol>
                <a:gridCol w="2236935">
                  <a:extLst>
                    <a:ext uri="{9D8B030D-6E8A-4147-A177-3AD203B41FA5}">
                      <a16:colId xmlns:a16="http://schemas.microsoft.com/office/drawing/2014/main" val="3007836400"/>
                    </a:ext>
                  </a:extLst>
                </a:gridCol>
                <a:gridCol w="2236935">
                  <a:extLst>
                    <a:ext uri="{9D8B030D-6E8A-4147-A177-3AD203B41FA5}">
                      <a16:colId xmlns:a16="http://schemas.microsoft.com/office/drawing/2014/main" val="822773726"/>
                    </a:ext>
                  </a:extLst>
                </a:gridCol>
                <a:gridCol w="2236935">
                  <a:extLst>
                    <a:ext uri="{9D8B030D-6E8A-4147-A177-3AD203B41FA5}">
                      <a16:colId xmlns:a16="http://schemas.microsoft.com/office/drawing/2014/main" val="16840521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77912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CE25F0-954A-A981-56D4-E82583285999}"/>
                  </a:ext>
                </a:extLst>
              </p:cNvPr>
              <p:cNvSpPr txBox="1"/>
              <p:nvPr/>
            </p:nvSpPr>
            <p:spPr>
              <a:xfrm>
                <a:off x="5225274" y="4240687"/>
                <a:ext cx="16855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chemeClr val="accent6">
                        <a:lumMod val="75000"/>
                      </a:schemeClr>
                    </a:solidFill>
                  </a:rPr>
                  <a:t>200,000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0.08 </a:t>
                </a:r>
                <a:r>
                  <a:rPr lang="en-US" sz="180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CE25F0-954A-A981-56D4-E82583285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274" y="4240687"/>
                <a:ext cx="1685513" cy="369332"/>
              </a:xfrm>
              <a:prstGeom prst="rect">
                <a:avLst/>
              </a:prstGeom>
              <a:blipFill>
                <a:blip r:embed="rId2"/>
                <a:stretch>
                  <a:fillRect l="-2985" t="-10345" r="-6716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01A5663D-1CDD-30E4-B216-FE5EBABE6465}"/>
              </a:ext>
            </a:extLst>
          </p:cNvPr>
          <p:cNvSpPr txBox="1"/>
          <p:nvPr/>
        </p:nvSpPr>
        <p:spPr>
          <a:xfrm>
            <a:off x="5559834" y="4715376"/>
            <a:ext cx="11031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16,000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FF2212-9E13-C7E6-3DE6-9EEF1EC57982}"/>
              </a:ext>
            </a:extLst>
          </p:cNvPr>
          <p:cNvSpPr txBox="1"/>
          <p:nvPr/>
        </p:nvSpPr>
        <p:spPr>
          <a:xfrm>
            <a:off x="7521104" y="4715376"/>
            <a:ext cx="1516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kern="120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34,091.29</a:t>
            </a:r>
            <a:endParaRPr lang="en-US" sz="1800" b="1" kern="1200" dirty="0">
              <a:solidFill>
                <a:schemeClr val="accent4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CC38A2-C806-B3C1-D020-ECCAB8029621}"/>
              </a:ext>
            </a:extLst>
          </p:cNvPr>
          <p:cNvSpPr txBox="1"/>
          <p:nvPr/>
        </p:nvSpPr>
        <p:spPr>
          <a:xfrm>
            <a:off x="9646037" y="4715376"/>
            <a:ext cx="1691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ctr" defTabSz="914400" rtl="0" eaLnBrk="1" latinLnBrk="0" hangingPunct="1"/>
            <a:r>
              <a:rPr lang="en-US" sz="2400" b="1" kern="1200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165,908.71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D2CEB65-48C3-B569-0C79-5CD27A40BBA2}"/>
              </a:ext>
            </a:extLst>
          </p:cNvPr>
          <p:cNvSpPr txBox="1"/>
          <p:nvPr/>
        </p:nvSpPr>
        <p:spPr>
          <a:xfrm>
            <a:off x="7207387" y="4237796"/>
            <a:ext cx="2112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50,091.29 - </a:t>
            </a:r>
            <a:r>
              <a:rPr lang="en-US" sz="1800" b="1" dirty="0">
                <a:solidFill>
                  <a:schemeClr val="accent4">
                    <a:lumMod val="75000"/>
                  </a:schemeClr>
                </a:solidFill>
              </a:rPr>
              <a:t>16,000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BBE746-E3E8-90A6-BDA4-3399E6B67D9D}"/>
              </a:ext>
            </a:extLst>
          </p:cNvPr>
          <p:cNvSpPr txBox="1"/>
          <p:nvPr/>
        </p:nvSpPr>
        <p:spPr>
          <a:xfrm>
            <a:off x="9463037" y="4234905"/>
            <a:ext cx="2344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200,000 - 34,091.29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C3949D4-07A4-B559-7529-EF6DF2AEE459}"/>
              </a:ext>
            </a:extLst>
          </p:cNvPr>
          <p:cNvSpPr txBox="1"/>
          <p:nvPr/>
        </p:nvSpPr>
        <p:spPr>
          <a:xfrm>
            <a:off x="2963774" y="4714483"/>
            <a:ext cx="1526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ctr" defTabSz="914400" rtl="0" eaLnBrk="1" latinLnBrk="0" hangingPunct="1"/>
            <a:r>
              <a:rPr lang="en-US" sz="2400" b="1" dirty="0">
                <a:solidFill>
                  <a:srgbClr val="C00000"/>
                </a:solidFill>
              </a:rPr>
              <a:t>50,091.29</a:t>
            </a:r>
            <a:endParaRPr lang="en-US" sz="2400" kern="12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D734DA1-93C1-ECA2-B7F1-19E06D6E7566}"/>
              </a:ext>
            </a:extLst>
          </p:cNvPr>
          <p:cNvSpPr txBox="1"/>
          <p:nvPr/>
        </p:nvSpPr>
        <p:spPr>
          <a:xfrm>
            <a:off x="2963774" y="5938041"/>
            <a:ext cx="1526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ctr" defTabSz="914400" rtl="0" eaLnBrk="1" latinLnBrk="0" hangingPunct="1"/>
            <a:r>
              <a:rPr lang="en-US" sz="2400" b="1" dirty="0">
                <a:solidFill>
                  <a:srgbClr val="C00000"/>
                </a:solidFill>
              </a:rPr>
              <a:t>50,091.29</a:t>
            </a:r>
            <a:endParaRPr lang="en-US" sz="2400" kern="12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B443493-5E37-411B-63DF-47A7BFA99227}"/>
              </a:ext>
            </a:extLst>
          </p:cNvPr>
          <p:cNvSpPr txBox="1"/>
          <p:nvPr/>
        </p:nvSpPr>
        <p:spPr>
          <a:xfrm>
            <a:off x="5332811" y="5929746"/>
            <a:ext cx="1526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ctr" defTabSz="914400" rtl="0" eaLnBrk="1" latinLnBrk="0" hangingPunct="1"/>
            <a:r>
              <a:rPr lang="en-US" sz="2400" b="1" kern="120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13,272.70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A8F8F35-E887-AD52-683E-3BD52E8583DB}"/>
              </a:ext>
            </a:extLst>
          </p:cNvPr>
          <p:cNvSpPr txBox="1"/>
          <p:nvPr/>
        </p:nvSpPr>
        <p:spPr>
          <a:xfrm>
            <a:off x="7516295" y="5946210"/>
            <a:ext cx="1526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ctr" defTabSz="914400" rtl="0" eaLnBrk="1" latinLnBrk="0" hangingPunct="1"/>
            <a:r>
              <a:rPr lang="en-US" sz="2400" b="1" kern="120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36,818.59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B5A450E-D6C8-1042-C139-6DED2FD44E8F}"/>
              </a:ext>
            </a:extLst>
          </p:cNvPr>
          <p:cNvSpPr txBox="1"/>
          <p:nvPr/>
        </p:nvSpPr>
        <p:spPr>
          <a:xfrm>
            <a:off x="9646041" y="5938040"/>
            <a:ext cx="1691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kern="1200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129,090.11</a:t>
            </a:r>
          </a:p>
        </p:txBody>
      </p:sp>
    </p:spTree>
    <p:extLst>
      <p:ext uri="{BB962C8B-B14F-4D97-AF65-F5344CB8AC3E}">
        <p14:creationId xmlns:p14="http://schemas.microsoft.com/office/powerpoint/2010/main" val="2128403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/>
      <p:bldP spid="41" grpId="0"/>
      <p:bldP spid="42" grpId="0"/>
      <p:bldP spid="43" grpId="0"/>
      <p:bldP spid="44" grpId="0"/>
      <p:bldP spid="45" grpId="0"/>
      <p:bldP spid="48" grpId="0"/>
      <p:bldP spid="5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9449E-F811-FD13-5199-CEDA4B8DD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FD744F7-D505-A351-0097-1C987975D98B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560DFCB4-B8D5-603B-A5A8-93648C994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123027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Amortized Loan’s Table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06CF567-9531-F975-7208-F9B978D83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963" y="1470025"/>
            <a:ext cx="11218862" cy="145159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dirty="0">
                <a:latin typeface="Helvetica" pitchFamily="2" charset="0"/>
              </a:rPr>
              <a:t>Imagine you take out a loan of $200,000 at an 8% APR for 5 years.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1AE052-01A7-8816-32FF-708BCC6D1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68798"/>
              </p:ext>
            </p:extLst>
          </p:nvPr>
        </p:nvGraphicFramePr>
        <p:xfrm>
          <a:off x="486570" y="2195822"/>
          <a:ext cx="11218860" cy="387102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43772">
                  <a:extLst>
                    <a:ext uri="{9D8B030D-6E8A-4147-A177-3AD203B41FA5}">
                      <a16:colId xmlns:a16="http://schemas.microsoft.com/office/drawing/2014/main" val="2748415188"/>
                    </a:ext>
                  </a:extLst>
                </a:gridCol>
                <a:gridCol w="2243772">
                  <a:extLst>
                    <a:ext uri="{9D8B030D-6E8A-4147-A177-3AD203B41FA5}">
                      <a16:colId xmlns:a16="http://schemas.microsoft.com/office/drawing/2014/main" val="1782608969"/>
                    </a:ext>
                  </a:extLst>
                </a:gridCol>
                <a:gridCol w="2243772">
                  <a:extLst>
                    <a:ext uri="{9D8B030D-6E8A-4147-A177-3AD203B41FA5}">
                      <a16:colId xmlns:a16="http://schemas.microsoft.com/office/drawing/2014/main" val="1149193403"/>
                    </a:ext>
                  </a:extLst>
                </a:gridCol>
                <a:gridCol w="2243772">
                  <a:extLst>
                    <a:ext uri="{9D8B030D-6E8A-4147-A177-3AD203B41FA5}">
                      <a16:colId xmlns:a16="http://schemas.microsoft.com/office/drawing/2014/main" val="1213513711"/>
                    </a:ext>
                  </a:extLst>
                </a:gridCol>
                <a:gridCol w="2243772">
                  <a:extLst>
                    <a:ext uri="{9D8B030D-6E8A-4147-A177-3AD203B41FA5}">
                      <a16:colId xmlns:a16="http://schemas.microsoft.com/office/drawing/2014/main" val="1505466899"/>
                    </a:ext>
                  </a:extLst>
                </a:gridCol>
              </a:tblGrid>
              <a:tr h="553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Year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Payment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Interest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Principal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Balance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5276215"/>
                  </a:ext>
                </a:extLst>
              </a:tr>
              <a:tr h="553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0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200,000</a:t>
                      </a:r>
                      <a:endParaRPr lang="en-US" sz="2400" b="1" i="0" u="none" strike="noStrike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18756418"/>
                  </a:ext>
                </a:extLst>
              </a:tr>
              <a:tr h="553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>
                          <a:effectLst/>
                        </a:rPr>
                        <a:t>1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50,091.29</a:t>
                      </a:r>
                      <a:endParaRPr lang="en-US" sz="2400" b="1" i="0" u="none" strike="noStrike" dirty="0">
                        <a:solidFill>
                          <a:srgbClr val="C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16,000</a:t>
                      </a:r>
                      <a:endParaRPr lang="en-US" sz="2400" b="1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34,091.29</a:t>
                      </a:r>
                      <a:endParaRPr lang="en-US" sz="2400" b="1" i="0" u="none" strike="noStrike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165,908.71</a:t>
                      </a:r>
                      <a:endParaRPr lang="en-US" sz="2400" b="1" i="0" u="none" strike="noStrike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4245579"/>
                  </a:ext>
                </a:extLst>
              </a:tr>
              <a:tr h="553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>
                          <a:effectLst/>
                        </a:rPr>
                        <a:t>2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50,091.29</a:t>
                      </a:r>
                      <a:endParaRPr lang="en-US" sz="2400" b="1" i="0" u="none" strike="noStrike" dirty="0">
                        <a:solidFill>
                          <a:srgbClr val="C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13,272.69</a:t>
                      </a:r>
                      <a:endParaRPr lang="en-US" sz="2400" b="1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36,818.59</a:t>
                      </a:r>
                      <a:endParaRPr lang="en-US" sz="2400" b="1" i="0" u="none" strike="noStrike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129,090.12</a:t>
                      </a:r>
                      <a:endParaRPr lang="en-US" sz="2400" b="1" i="0" u="none" strike="noStrike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03323925"/>
                  </a:ext>
                </a:extLst>
              </a:tr>
              <a:tr h="553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>
                          <a:effectLst/>
                        </a:rPr>
                        <a:t>3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50,091.29</a:t>
                      </a:r>
                      <a:endParaRPr lang="en-US" sz="2400" b="1" i="0" u="none" strike="noStrike" dirty="0">
                        <a:solidFill>
                          <a:srgbClr val="C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10,327.20</a:t>
                      </a:r>
                      <a:endParaRPr lang="en-US" sz="2400" b="1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39,764.08</a:t>
                      </a:r>
                      <a:endParaRPr lang="en-US" sz="2400" b="1" i="0" u="none" strike="noStrike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89,326.03</a:t>
                      </a:r>
                      <a:endParaRPr lang="en-US" sz="2400" b="1" i="0" u="none" strike="noStrike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45561785"/>
                  </a:ext>
                </a:extLst>
              </a:tr>
              <a:tr h="553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>
                          <a:effectLst/>
                        </a:rPr>
                        <a:t>4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50,091.29</a:t>
                      </a:r>
                      <a:endParaRPr lang="en-US" sz="2400" b="1" i="0" u="none" strike="noStrike" dirty="0">
                        <a:solidFill>
                          <a:srgbClr val="C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7,146.08</a:t>
                      </a:r>
                      <a:endParaRPr lang="en-US" sz="2400" b="1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42,945.21</a:t>
                      </a:r>
                      <a:endParaRPr lang="en-US" sz="2400" b="1" i="0" u="none" strike="noStrike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46,380.83</a:t>
                      </a:r>
                      <a:endParaRPr lang="en-US" sz="2400" b="1" i="0" u="none" strike="noStrike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68472854"/>
                  </a:ext>
                </a:extLst>
              </a:tr>
              <a:tr h="553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>
                          <a:effectLst/>
                        </a:rPr>
                        <a:t>5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50,091.29</a:t>
                      </a:r>
                      <a:endParaRPr lang="en-US" sz="2400" b="1" i="0" u="none" strike="noStrike" dirty="0">
                        <a:solidFill>
                          <a:srgbClr val="C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3,710.46</a:t>
                      </a:r>
                      <a:endParaRPr lang="en-US" sz="2400" b="1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46,380.82</a:t>
                      </a:r>
                      <a:endParaRPr lang="en-US" sz="2400" b="1" i="0" u="none" strike="noStrike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0.00</a:t>
                      </a:r>
                      <a:endParaRPr lang="en-US" sz="2400" b="1" i="0" u="none" strike="noStrike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34873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65208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DADAE-F4A5-A6C4-DB97-DED31D0F5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A458D32-AAD1-53EF-F02A-780A46EDDBB6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171D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C3581C5F-714B-1ADD-E7DB-DD377D729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22" y="268068"/>
            <a:ext cx="11230276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Question-11</a:t>
            </a:r>
            <a:endParaRPr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B214BD59-B4C3-F4D7-F074-1D7C1CE72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076" y="1470466"/>
            <a:ext cx="11230276" cy="511946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2000" b="0" i="0" dirty="0">
                <a:effectLst/>
                <a:latin typeface="Helvetica" pitchFamily="2" charset="0"/>
              </a:rPr>
              <a:t>Suppose you borrowed $30,000 on a student loan at a rate of 8% and must repay it in three equal installments at the end of each of the next 3 years. </a:t>
            </a:r>
            <a:r>
              <a:rPr lang="en-US" sz="2000" dirty="0">
                <a:latin typeface="Helvetica" pitchFamily="2" charset="0"/>
              </a:rPr>
              <a:t>Calculate the amount of principal and interest at the third year.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spcAft>
                <a:spcPts val="600"/>
              </a:spcAft>
              <a:buNone/>
            </a:pPr>
            <a:endParaRPr lang="en-US" b="1" dirty="0">
              <a:latin typeface="Helvetica" pitchFamily="2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00D8151-8166-1C0F-A5B3-B0DEF25F31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31"/>
              </p:ext>
            </p:extLst>
          </p:nvPr>
        </p:nvGraphicFramePr>
        <p:xfrm>
          <a:off x="611876" y="3657608"/>
          <a:ext cx="11184675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935">
                  <a:extLst>
                    <a:ext uri="{9D8B030D-6E8A-4147-A177-3AD203B41FA5}">
                      <a16:colId xmlns:a16="http://schemas.microsoft.com/office/drawing/2014/main" val="1434084149"/>
                    </a:ext>
                  </a:extLst>
                </a:gridCol>
                <a:gridCol w="2236935">
                  <a:extLst>
                    <a:ext uri="{9D8B030D-6E8A-4147-A177-3AD203B41FA5}">
                      <a16:colId xmlns:a16="http://schemas.microsoft.com/office/drawing/2014/main" val="1897092184"/>
                    </a:ext>
                  </a:extLst>
                </a:gridCol>
                <a:gridCol w="2236935">
                  <a:extLst>
                    <a:ext uri="{9D8B030D-6E8A-4147-A177-3AD203B41FA5}">
                      <a16:colId xmlns:a16="http://schemas.microsoft.com/office/drawing/2014/main" val="2306827698"/>
                    </a:ext>
                  </a:extLst>
                </a:gridCol>
                <a:gridCol w="2236935">
                  <a:extLst>
                    <a:ext uri="{9D8B030D-6E8A-4147-A177-3AD203B41FA5}">
                      <a16:colId xmlns:a16="http://schemas.microsoft.com/office/drawing/2014/main" val="3340213514"/>
                    </a:ext>
                  </a:extLst>
                </a:gridCol>
                <a:gridCol w="2236935">
                  <a:extLst>
                    <a:ext uri="{9D8B030D-6E8A-4147-A177-3AD203B41FA5}">
                      <a16:colId xmlns:a16="http://schemas.microsoft.com/office/drawing/2014/main" val="31601028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Payment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Interest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Balance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32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914001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6320332-51E9-B44B-CAFB-4E423DD56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389760"/>
              </p:ext>
            </p:extLst>
          </p:nvPr>
        </p:nvGraphicFramePr>
        <p:xfrm>
          <a:off x="611876" y="4675681"/>
          <a:ext cx="1118467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935">
                  <a:extLst>
                    <a:ext uri="{9D8B030D-6E8A-4147-A177-3AD203B41FA5}">
                      <a16:colId xmlns:a16="http://schemas.microsoft.com/office/drawing/2014/main" val="1920292863"/>
                    </a:ext>
                  </a:extLst>
                </a:gridCol>
                <a:gridCol w="2236935">
                  <a:extLst>
                    <a:ext uri="{9D8B030D-6E8A-4147-A177-3AD203B41FA5}">
                      <a16:colId xmlns:a16="http://schemas.microsoft.com/office/drawing/2014/main" val="2686274726"/>
                    </a:ext>
                  </a:extLst>
                </a:gridCol>
                <a:gridCol w="2236935">
                  <a:extLst>
                    <a:ext uri="{9D8B030D-6E8A-4147-A177-3AD203B41FA5}">
                      <a16:colId xmlns:a16="http://schemas.microsoft.com/office/drawing/2014/main" val="3605098035"/>
                    </a:ext>
                  </a:extLst>
                </a:gridCol>
                <a:gridCol w="2236935">
                  <a:extLst>
                    <a:ext uri="{9D8B030D-6E8A-4147-A177-3AD203B41FA5}">
                      <a16:colId xmlns:a16="http://schemas.microsoft.com/office/drawing/2014/main" val="592462042"/>
                    </a:ext>
                  </a:extLst>
                </a:gridCol>
                <a:gridCol w="2236935">
                  <a:extLst>
                    <a:ext uri="{9D8B030D-6E8A-4147-A177-3AD203B41FA5}">
                      <a16:colId xmlns:a16="http://schemas.microsoft.com/office/drawing/2014/main" val="243210165"/>
                    </a:ext>
                  </a:extLst>
                </a:gridCol>
              </a:tblGrid>
              <a:tr h="23385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268562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B09FFAA-87FC-B53E-3411-27BF966C7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558995"/>
              </p:ext>
            </p:extLst>
          </p:nvPr>
        </p:nvGraphicFramePr>
        <p:xfrm>
          <a:off x="610613" y="5234154"/>
          <a:ext cx="1118467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935">
                  <a:extLst>
                    <a:ext uri="{9D8B030D-6E8A-4147-A177-3AD203B41FA5}">
                      <a16:colId xmlns:a16="http://schemas.microsoft.com/office/drawing/2014/main" val="1920292863"/>
                    </a:ext>
                  </a:extLst>
                </a:gridCol>
                <a:gridCol w="2236935">
                  <a:extLst>
                    <a:ext uri="{9D8B030D-6E8A-4147-A177-3AD203B41FA5}">
                      <a16:colId xmlns:a16="http://schemas.microsoft.com/office/drawing/2014/main" val="2686274726"/>
                    </a:ext>
                  </a:extLst>
                </a:gridCol>
                <a:gridCol w="2236935">
                  <a:extLst>
                    <a:ext uri="{9D8B030D-6E8A-4147-A177-3AD203B41FA5}">
                      <a16:colId xmlns:a16="http://schemas.microsoft.com/office/drawing/2014/main" val="3605098035"/>
                    </a:ext>
                  </a:extLst>
                </a:gridCol>
                <a:gridCol w="2236935">
                  <a:extLst>
                    <a:ext uri="{9D8B030D-6E8A-4147-A177-3AD203B41FA5}">
                      <a16:colId xmlns:a16="http://schemas.microsoft.com/office/drawing/2014/main" val="592462042"/>
                    </a:ext>
                  </a:extLst>
                </a:gridCol>
                <a:gridCol w="2236935">
                  <a:extLst>
                    <a:ext uri="{9D8B030D-6E8A-4147-A177-3AD203B41FA5}">
                      <a16:colId xmlns:a16="http://schemas.microsoft.com/office/drawing/2014/main" val="243210165"/>
                    </a:ext>
                  </a:extLst>
                </a:gridCol>
              </a:tblGrid>
              <a:tr h="23385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268562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C56EC5E-23AB-EB9F-ABF0-26E70D445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602217"/>
              </p:ext>
            </p:extLst>
          </p:nvPr>
        </p:nvGraphicFramePr>
        <p:xfrm>
          <a:off x="610558" y="5792627"/>
          <a:ext cx="1118467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935">
                  <a:extLst>
                    <a:ext uri="{9D8B030D-6E8A-4147-A177-3AD203B41FA5}">
                      <a16:colId xmlns:a16="http://schemas.microsoft.com/office/drawing/2014/main" val="1920292863"/>
                    </a:ext>
                  </a:extLst>
                </a:gridCol>
                <a:gridCol w="2236935">
                  <a:extLst>
                    <a:ext uri="{9D8B030D-6E8A-4147-A177-3AD203B41FA5}">
                      <a16:colId xmlns:a16="http://schemas.microsoft.com/office/drawing/2014/main" val="2686274726"/>
                    </a:ext>
                  </a:extLst>
                </a:gridCol>
                <a:gridCol w="2236935">
                  <a:extLst>
                    <a:ext uri="{9D8B030D-6E8A-4147-A177-3AD203B41FA5}">
                      <a16:colId xmlns:a16="http://schemas.microsoft.com/office/drawing/2014/main" val="3605098035"/>
                    </a:ext>
                  </a:extLst>
                </a:gridCol>
                <a:gridCol w="2236935">
                  <a:extLst>
                    <a:ext uri="{9D8B030D-6E8A-4147-A177-3AD203B41FA5}">
                      <a16:colId xmlns:a16="http://schemas.microsoft.com/office/drawing/2014/main" val="592462042"/>
                    </a:ext>
                  </a:extLst>
                </a:gridCol>
                <a:gridCol w="2236935">
                  <a:extLst>
                    <a:ext uri="{9D8B030D-6E8A-4147-A177-3AD203B41FA5}">
                      <a16:colId xmlns:a16="http://schemas.microsoft.com/office/drawing/2014/main" val="243210165"/>
                    </a:ext>
                  </a:extLst>
                </a:gridCol>
              </a:tblGrid>
              <a:tr h="23385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268562"/>
                  </a:ext>
                </a:extLst>
              </a:tr>
            </a:tbl>
          </a:graphicData>
        </a:graphic>
      </p:graphicFrame>
      <p:sp>
        <p:nvSpPr>
          <p:cNvPr id="18" name="5-Point Star 17">
            <a:extLst>
              <a:ext uri="{FF2B5EF4-FFF2-40B4-BE49-F238E27FC236}">
                <a16:creationId xmlns:a16="http://schemas.microsoft.com/office/drawing/2014/main" id="{79F5CB8C-23FF-E5F4-8DFB-F64EB677CC45}"/>
              </a:ext>
            </a:extLst>
          </p:cNvPr>
          <p:cNvSpPr/>
          <p:nvPr/>
        </p:nvSpPr>
        <p:spPr>
          <a:xfrm>
            <a:off x="5204273" y="5900011"/>
            <a:ext cx="282126" cy="240631"/>
          </a:xfrm>
          <a:prstGeom prst="star5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5-Point Star 18">
            <a:extLst>
              <a:ext uri="{FF2B5EF4-FFF2-40B4-BE49-F238E27FC236}">
                <a16:creationId xmlns:a16="http://schemas.microsoft.com/office/drawing/2014/main" id="{40DF4214-F0C3-4897-D4A7-44A35A468D11}"/>
              </a:ext>
            </a:extLst>
          </p:cNvPr>
          <p:cNvSpPr/>
          <p:nvPr/>
        </p:nvSpPr>
        <p:spPr>
          <a:xfrm>
            <a:off x="7353915" y="5900010"/>
            <a:ext cx="282126" cy="240631"/>
          </a:xfrm>
          <a:prstGeom prst="star5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36BB7C95-DBE0-1AEA-5624-8279FAB088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147274"/>
              </p:ext>
            </p:extLst>
          </p:nvPr>
        </p:nvGraphicFramePr>
        <p:xfrm>
          <a:off x="3512588" y="2423751"/>
          <a:ext cx="5380614" cy="6705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22815">
                  <a:extLst>
                    <a:ext uri="{9D8B030D-6E8A-4147-A177-3AD203B41FA5}">
                      <a16:colId xmlns:a16="http://schemas.microsoft.com/office/drawing/2014/main" val="2986694891"/>
                    </a:ext>
                  </a:extLst>
                </a:gridCol>
                <a:gridCol w="987854">
                  <a:extLst>
                    <a:ext uri="{9D8B030D-6E8A-4147-A177-3AD203B41FA5}">
                      <a16:colId xmlns:a16="http://schemas.microsoft.com/office/drawing/2014/main" val="2867844822"/>
                    </a:ext>
                  </a:extLst>
                </a:gridCol>
                <a:gridCol w="1117832">
                  <a:extLst>
                    <a:ext uri="{9D8B030D-6E8A-4147-A177-3AD203B41FA5}">
                      <a16:colId xmlns:a16="http://schemas.microsoft.com/office/drawing/2014/main" val="3714192118"/>
                    </a:ext>
                  </a:extLst>
                </a:gridCol>
                <a:gridCol w="1150573">
                  <a:extLst>
                    <a:ext uri="{9D8B030D-6E8A-4147-A177-3AD203B41FA5}">
                      <a16:colId xmlns:a16="http://schemas.microsoft.com/office/drawing/2014/main" val="937620826"/>
                    </a:ext>
                  </a:extLst>
                </a:gridCol>
                <a:gridCol w="1201540">
                  <a:extLst>
                    <a:ext uri="{9D8B030D-6E8A-4147-A177-3AD203B41FA5}">
                      <a16:colId xmlns:a16="http://schemas.microsoft.com/office/drawing/2014/main" val="2814070118"/>
                    </a:ext>
                  </a:extLst>
                </a:gridCol>
              </a:tblGrid>
              <a:tr h="29405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I/Y</a:t>
                      </a:r>
                      <a:endParaRPr lang="en-US" sz="16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N</a:t>
                      </a:r>
                      <a:endParaRPr lang="en-US" sz="16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PV</a:t>
                      </a:r>
                      <a:endParaRPr lang="en-US" sz="16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PMT</a:t>
                      </a:r>
                      <a:endParaRPr lang="en-US" sz="16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287289"/>
                  </a:ext>
                </a:extLst>
              </a:tr>
              <a:tr h="29405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8</a:t>
                      </a:r>
                      <a:endParaRPr lang="en-US" sz="16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3</a:t>
                      </a:r>
                      <a:endParaRPr lang="en-US" sz="16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30,000</a:t>
                      </a:r>
                      <a:endParaRPr lang="en-US" sz="16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??</a:t>
                      </a:r>
                      <a:endParaRPr lang="en-US" sz="1600" b="1" dirty="0">
                        <a:latin typeface="Helvetica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1100110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6284422A-5319-51D9-1892-9CA17ECC1C9E}"/>
              </a:ext>
            </a:extLst>
          </p:cNvPr>
          <p:cNvSpPr txBox="1"/>
          <p:nvPr/>
        </p:nvSpPr>
        <p:spPr>
          <a:xfrm>
            <a:off x="3470716" y="4661622"/>
            <a:ext cx="102303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</a:rPr>
              <a:t>11,641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A78211-30FA-D9C0-8C69-A15056A26533}"/>
              </a:ext>
            </a:extLst>
          </p:cNvPr>
          <p:cNvSpPr txBox="1"/>
          <p:nvPr/>
        </p:nvSpPr>
        <p:spPr>
          <a:xfrm>
            <a:off x="3470717" y="5228883"/>
            <a:ext cx="102303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</a:rPr>
              <a:t>11,641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42492E-9610-EDFC-906F-E45CF908D4E1}"/>
              </a:ext>
            </a:extLst>
          </p:cNvPr>
          <p:cNvSpPr txBox="1"/>
          <p:nvPr/>
        </p:nvSpPr>
        <p:spPr>
          <a:xfrm>
            <a:off x="3470718" y="5804881"/>
            <a:ext cx="102303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</a:rPr>
              <a:t>11,641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9737F8-9430-787C-A9DA-34A4AC769DD8}"/>
              </a:ext>
            </a:extLst>
          </p:cNvPr>
          <p:cNvSpPr txBox="1"/>
          <p:nvPr/>
        </p:nvSpPr>
        <p:spPr>
          <a:xfrm>
            <a:off x="10166685" y="4114808"/>
            <a:ext cx="10182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30,000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2E8A14-DCF6-39FA-D7BF-693DD996A0A2}"/>
              </a:ext>
            </a:extLst>
          </p:cNvPr>
          <p:cNvSpPr txBox="1"/>
          <p:nvPr/>
        </p:nvSpPr>
        <p:spPr>
          <a:xfrm>
            <a:off x="5769122" y="4671680"/>
            <a:ext cx="8675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2,400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B97ADE-D152-8F65-9125-674ED101F31E}"/>
              </a:ext>
            </a:extLst>
          </p:cNvPr>
          <p:cNvSpPr txBox="1"/>
          <p:nvPr/>
        </p:nvSpPr>
        <p:spPr>
          <a:xfrm>
            <a:off x="5612709" y="5206765"/>
            <a:ext cx="12586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1,660.72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A003DD-EA4C-4862-7126-D8B1E48E8285}"/>
              </a:ext>
            </a:extLst>
          </p:cNvPr>
          <p:cNvSpPr txBox="1"/>
          <p:nvPr/>
        </p:nvSpPr>
        <p:spPr>
          <a:xfrm>
            <a:off x="5762461" y="5762313"/>
            <a:ext cx="102303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862.30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D19AE2-93E3-BC51-C985-4D35E66D7B11}"/>
              </a:ext>
            </a:extLst>
          </p:cNvPr>
          <p:cNvSpPr txBox="1"/>
          <p:nvPr/>
        </p:nvSpPr>
        <p:spPr>
          <a:xfrm>
            <a:off x="10166683" y="4665801"/>
            <a:ext cx="102303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20,759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EAA6F8-0FC3-9824-A5FE-30496EB51817}"/>
              </a:ext>
            </a:extLst>
          </p:cNvPr>
          <p:cNvSpPr txBox="1"/>
          <p:nvPr/>
        </p:nvSpPr>
        <p:spPr>
          <a:xfrm>
            <a:off x="10022303" y="5204812"/>
            <a:ext cx="14093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10,778.72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B50D74-9265-9809-DD52-05747592177B}"/>
              </a:ext>
            </a:extLst>
          </p:cNvPr>
          <p:cNvSpPr txBox="1"/>
          <p:nvPr/>
        </p:nvSpPr>
        <p:spPr>
          <a:xfrm>
            <a:off x="10551697" y="5800566"/>
            <a:ext cx="3353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35CFC-7287-FDCD-169B-54E33AD963E9}"/>
              </a:ext>
            </a:extLst>
          </p:cNvPr>
          <p:cNvSpPr txBox="1"/>
          <p:nvPr/>
        </p:nvSpPr>
        <p:spPr>
          <a:xfrm>
            <a:off x="7908076" y="4690305"/>
            <a:ext cx="8723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accent4">
                    <a:lumMod val="75000"/>
                  </a:schemeClr>
                </a:solidFill>
              </a:rPr>
              <a:t>9,241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F12879-54EB-40A9-361B-EA0599B06074}"/>
              </a:ext>
            </a:extLst>
          </p:cNvPr>
          <p:cNvSpPr txBox="1"/>
          <p:nvPr/>
        </p:nvSpPr>
        <p:spPr>
          <a:xfrm>
            <a:off x="7775092" y="5215075"/>
            <a:ext cx="12586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accent4">
                    <a:lumMod val="75000"/>
                  </a:schemeClr>
                </a:solidFill>
              </a:rPr>
              <a:t>9,980.28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02BA3A-1DEA-13F5-225C-2A207B3A6218}"/>
              </a:ext>
            </a:extLst>
          </p:cNvPr>
          <p:cNvSpPr txBox="1"/>
          <p:nvPr/>
        </p:nvSpPr>
        <p:spPr>
          <a:xfrm>
            <a:off x="7835884" y="5764655"/>
            <a:ext cx="132440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accent4">
                    <a:lumMod val="75000"/>
                  </a:schemeClr>
                </a:solidFill>
              </a:rPr>
              <a:t>10778.72</a:t>
            </a:r>
          </a:p>
        </p:txBody>
      </p:sp>
    </p:spTree>
    <p:extLst>
      <p:ext uri="{BB962C8B-B14F-4D97-AF65-F5344CB8AC3E}">
        <p14:creationId xmlns:p14="http://schemas.microsoft.com/office/powerpoint/2010/main" val="404892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3" grpId="0"/>
      <p:bldP spid="24" grpId="0"/>
      <p:bldP spid="25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2436</TotalTime>
  <Words>3360</Words>
  <Application>Microsoft Macintosh PowerPoint</Application>
  <PresentationFormat>Widescreen</PresentationFormat>
  <Paragraphs>923</Paragraphs>
  <Slides>54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Aptos</vt:lpstr>
      <vt:lpstr>Aptos Display</vt:lpstr>
      <vt:lpstr>Arial</vt:lpstr>
      <vt:lpstr>Cambria Math</vt:lpstr>
      <vt:lpstr>Helvetica</vt:lpstr>
      <vt:lpstr>Times New Roman</vt:lpstr>
      <vt:lpstr>Wingdings</vt:lpstr>
      <vt:lpstr>Office Theme</vt:lpstr>
      <vt:lpstr>PowerPoint Presentation</vt:lpstr>
      <vt:lpstr>PowerPoint Presentation</vt:lpstr>
      <vt:lpstr>What is an interest rate?</vt:lpstr>
      <vt:lpstr>PowerPoint Presentation</vt:lpstr>
      <vt:lpstr>The Power of Time in Finance</vt:lpstr>
      <vt:lpstr>Future Value</vt:lpstr>
      <vt:lpstr>PowerPoint Presentation</vt:lpstr>
      <vt:lpstr>Future Value</vt:lpstr>
      <vt:lpstr>Future Value</vt:lpstr>
      <vt:lpstr>Present Value</vt:lpstr>
      <vt:lpstr>Basic Formula</vt:lpstr>
      <vt:lpstr>Impact of Time and Interest on FV</vt:lpstr>
      <vt:lpstr>Impact of Time and Interest on PV</vt:lpstr>
      <vt:lpstr>Calculator Tip #1</vt:lpstr>
      <vt:lpstr>Calculator Tip #2</vt:lpstr>
      <vt:lpstr>PowerPoint Presentation</vt:lpstr>
      <vt:lpstr>Example</vt:lpstr>
      <vt:lpstr>Question-1</vt:lpstr>
      <vt:lpstr>Question-2</vt:lpstr>
      <vt:lpstr>Lump Sum vs. Annuities</vt:lpstr>
      <vt:lpstr>Annuities</vt:lpstr>
      <vt:lpstr>Annuities FV vs. PV</vt:lpstr>
      <vt:lpstr>FV of an Ordinary Annuity-1</vt:lpstr>
      <vt:lpstr>FV of an Ordinary Annuity-2</vt:lpstr>
      <vt:lpstr>FV of an Ordinary Annuity-3</vt:lpstr>
      <vt:lpstr>FV of an Annuity Due-1</vt:lpstr>
      <vt:lpstr>FV of an Annuity Due-2</vt:lpstr>
      <vt:lpstr>FV of Annuity Due Using Calculator</vt:lpstr>
      <vt:lpstr>FV of an Annuity Due-3</vt:lpstr>
      <vt:lpstr>PV of an Ordinary Annuity-1</vt:lpstr>
      <vt:lpstr>PV of an Ordinary Annuity-2</vt:lpstr>
      <vt:lpstr>PV of an Ordinary Annuity-3</vt:lpstr>
      <vt:lpstr>Question-3</vt:lpstr>
      <vt:lpstr>Question-4</vt:lpstr>
      <vt:lpstr>Perpetuities</vt:lpstr>
      <vt:lpstr>Question-5</vt:lpstr>
      <vt:lpstr>Uneven Cash Flow</vt:lpstr>
      <vt:lpstr>PV of an Uneven Cash Flow</vt:lpstr>
      <vt:lpstr>Question-6</vt:lpstr>
      <vt:lpstr>Question-7</vt:lpstr>
      <vt:lpstr>Semiannual and Other Compounding Periods</vt:lpstr>
      <vt:lpstr>Semiannual Compounding</vt:lpstr>
      <vt:lpstr>Quarterly Compounding</vt:lpstr>
      <vt:lpstr>Multiple Compounding Periods </vt:lpstr>
      <vt:lpstr>Question-8</vt:lpstr>
      <vt:lpstr>Summary of PV vs. FV</vt:lpstr>
      <vt:lpstr>Comparing Interest Rates</vt:lpstr>
      <vt:lpstr>Question-9</vt:lpstr>
      <vt:lpstr>Question-10</vt:lpstr>
      <vt:lpstr>Amortized Loans</vt:lpstr>
      <vt:lpstr>Amortized Loans’ Payment</vt:lpstr>
      <vt:lpstr>Principal vs. Interest Payment</vt:lpstr>
      <vt:lpstr>Amortized Loan’s Table</vt:lpstr>
      <vt:lpstr>Question-11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HAGHIGHI ZADEH, REIHANEH</dc:creator>
  <cp:lastModifiedBy>reza bavili</cp:lastModifiedBy>
  <cp:revision>52</cp:revision>
  <dcterms:created xsi:type="dcterms:W3CDTF">2024-10-08T02:28:39Z</dcterms:created>
  <dcterms:modified xsi:type="dcterms:W3CDTF">2025-02-18T02:23:07Z</dcterms:modified>
</cp:coreProperties>
</file>