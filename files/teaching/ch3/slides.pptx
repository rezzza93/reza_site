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98" r:id="rId3"/>
    <p:sldId id="300" r:id="rId4"/>
    <p:sldId id="301" r:id="rId5"/>
    <p:sldId id="303" r:id="rId6"/>
    <p:sldId id="304" r:id="rId7"/>
    <p:sldId id="305" r:id="rId8"/>
    <p:sldId id="306" r:id="rId9"/>
    <p:sldId id="307" r:id="rId10"/>
    <p:sldId id="318" r:id="rId11"/>
    <p:sldId id="308" r:id="rId12"/>
    <p:sldId id="320" r:id="rId13"/>
    <p:sldId id="310" r:id="rId14"/>
    <p:sldId id="319" r:id="rId15"/>
    <p:sldId id="309" r:id="rId16"/>
    <p:sldId id="311" r:id="rId17"/>
    <p:sldId id="312" r:id="rId18"/>
    <p:sldId id="315" r:id="rId19"/>
    <p:sldId id="314" r:id="rId20"/>
    <p:sldId id="322" r:id="rId21"/>
    <p:sldId id="323" r:id="rId22"/>
    <p:sldId id="313" r:id="rId23"/>
    <p:sldId id="324" r:id="rId24"/>
    <p:sldId id="316" r:id="rId25"/>
    <p:sldId id="317" r:id="rId26"/>
    <p:sldId id="343" r:id="rId27"/>
    <p:sldId id="327" r:id="rId28"/>
    <p:sldId id="328" r:id="rId29"/>
    <p:sldId id="329" r:id="rId30"/>
    <p:sldId id="332" r:id="rId31"/>
    <p:sldId id="330" r:id="rId32"/>
    <p:sldId id="333" r:id="rId33"/>
    <p:sldId id="337" r:id="rId34"/>
    <p:sldId id="334" r:id="rId35"/>
    <p:sldId id="336" r:id="rId36"/>
    <p:sldId id="338" r:id="rId37"/>
    <p:sldId id="340" r:id="rId38"/>
    <p:sldId id="344" r:id="rId39"/>
    <p:sldId id="339" r:id="rId40"/>
    <p:sldId id="345" r:id="rId41"/>
    <p:sldId id="341" r:id="rId42"/>
    <p:sldId id="346" r:id="rId43"/>
    <p:sldId id="347" r:id="rId44"/>
    <p:sldId id="348" r:id="rId45"/>
    <p:sldId id="350" r:id="rId46"/>
    <p:sldId id="349" r:id="rId47"/>
    <p:sldId id="351" r:id="rId48"/>
    <p:sldId id="352" r:id="rId49"/>
    <p:sldId id="353" r:id="rId50"/>
    <p:sldId id="354" r:id="rId51"/>
    <p:sldId id="355" r:id="rId52"/>
    <p:sldId id="357" r:id="rId53"/>
    <p:sldId id="356" r:id="rId54"/>
    <p:sldId id="358" r:id="rId55"/>
    <p:sldId id="359" r:id="rId56"/>
    <p:sldId id="360" r:id="rId57"/>
    <p:sldId id="361" r:id="rId58"/>
    <p:sldId id="362" r:id="rId59"/>
    <p:sldId id="363" r:id="rId60"/>
    <p:sldId id="365" r:id="rId61"/>
    <p:sldId id="366" r:id="rId62"/>
    <p:sldId id="369" r:id="rId63"/>
    <p:sldId id="370" r:id="rId64"/>
    <p:sldId id="372" r:id="rId65"/>
    <p:sldId id="373" r:id="rId66"/>
    <p:sldId id="374" r:id="rId67"/>
    <p:sldId id="375" r:id="rId68"/>
    <p:sldId id="377" r:id="rId69"/>
    <p:sldId id="378" r:id="rId70"/>
    <p:sldId id="381" r:id="rId71"/>
    <p:sldId id="379" r:id="rId72"/>
    <p:sldId id="382" r:id="rId73"/>
    <p:sldId id="384" r:id="rId74"/>
    <p:sldId id="383" r:id="rId75"/>
    <p:sldId id="386" r:id="rId76"/>
    <p:sldId id="388" r:id="rId77"/>
    <p:sldId id="389" r:id="rId78"/>
    <p:sldId id="391" r:id="rId79"/>
    <p:sldId id="392" r:id="rId80"/>
    <p:sldId id="390" r:id="rId81"/>
    <p:sldId id="297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B83"/>
    <a:srgbClr val="DFEB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791"/>
  </p:normalViewPr>
  <p:slideViewPr>
    <p:cSldViewPr snapToGrid="0">
      <p:cViewPr varScale="1">
        <p:scale>
          <a:sx n="110" d="100"/>
          <a:sy n="110" d="100"/>
        </p:scale>
        <p:origin x="7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75D4D-DD20-9541-890F-5DC1B3D5EF48}" type="datetimeFigureOut">
              <a:rPr lang="en-US" smtClean="0"/>
              <a:t>1/29/25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EDE79-8DC1-B145-8D1C-DD470F7AF5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0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FEDE79-8DC1-B145-8D1C-DD470F7AF5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08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B7A63-C3EE-36E1-D0DF-586B62FA82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9970E-54E0-07C6-A289-98870A806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DCD9-5328-0D33-CD66-F4D72DC71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9E8A-5A10-D0DE-51E8-9AEA7914F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FD013-EE79-12DE-EDBC-97CB5847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3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EB57-F30A-DD27-3151-7D4FCC1B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3172-3DE6-B686-F518-C95362E5E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F2425-FE06-241E-72A6-036EEFA9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1378-59C6-58F9-C2A6-E80292B10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AF2E8-038A-6C4E-2487-14C7FD1F3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4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4A83-645C-CBC0-1BD5-E63742B1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D3C07-7191-CAFB-6E7D-EFD1337E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4666B-3AED-721B-E4D7-00DD5BDA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1C038-EEB3-F711-5B77-E9B55A79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CF066-D896-6A08-E083-DFD97465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4522-D6EE-80D3-ADEE-62EE6B7C3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3D913-D2A9-E3BC-793B-DA647C686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3BDCA-FB8D-37AA-37A4-234FD721F6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7DC7A-A386-E82E-7EF5-B2D1E511A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A5D30-CBD6-4148-D8C5-3F6403EC4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5E40F-487E-AFF9-3CAF-191510CC9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9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6FD2-B68A-C04E-315D-F1FDF655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C0AF7-7F72-D73B-0D09-301EFC58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C9995-2AC3-46C9-9F69-5B110A6E1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7C5E0-374B-4823-0E3F-43CDB787B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761BFB-647C-DB49-9289-2C78B72B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F529D9-F430-5852-7DFC-8A6AA3F5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1FE0F-FA06-B5A8-4BDB-8130880D5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CE928-8634-73E3-5C9E-D600F72E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6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E24C8-D3A3-C915-CD61-8AA573DE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AF085-7131-FC1D-9AEC-68301B6C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D974D-EA13-B08A-29A3-D74872A70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F3B51-D0F1-5BC1-9A1D-7203DEE5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5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48263-02BE-828E-A51C-3AA0CD22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10C6F-378E-80B3-4A2D-1D02052E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0ECBE-E2B6-4418-FFB3-DE2DE608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00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010D-63AB-8092-5FF7-BF1AD14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EEDD6-AF6F-57C9-97BE-71D8AAC89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3A901-D84D-EB44-8EC8-A50EBB69A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F616C-C952-458F-EA10-3E846BCE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77621-B2BB-6F83-C3BD-5B5DC2B0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EFEE1-2991-0269-9923-8F678608E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4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731F-B8B5-376F-84AF-110346D8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99ED49-E3B0-9E22-9041-D32BB9623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C837D-2305-5021-1E44-278FAD929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529DB-C8F1-F179-20CD-96BC50A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16A44-C563-CBA5-C17C-E26FA859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0D08B-9DE0-EC7E-B1BB-32439F19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3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8761-9415-06DA-ED91-50C1ECABE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095CB9-BE05-16EF-06E3-BF5BB4766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DE36D-A60D-E379-E31A-87C66335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2BE5-A1C0-2343-7CB8-FC2F8383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E6652-B7D6-A69E-4093-29A28A2B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8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DD80E-6E1F-5C91-B735-5674D0A84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0AC7D2-91A5-551E-71C0-8AD15972B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B2E5-CE42-B0F5-D0ED-FDB17EA8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3D00C-0BF6-F87B-847D-6B461518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5EFA6-E14D-9016-AE45-E275BC3C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4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95D0C-615E-DB38-51FE-71A55FF4E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B9349-084F-D77B-BBF0-29C5B54E6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FE218-FBC8-055F-447C-6A1C1B3B23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761939-D89A-EF4C-BF2A-E48CB6AD1120}" type="datetimeFigureOut">
              <a:rPr lang="en-US" smtClean="0"/>
              <a:t>1/29/25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97CFA-1B22-C13F-F8D0-1AD1710D3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AE71-4701-CD42-1105-E73B797FD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6C135-3E33-BD4F-A94C-89A146DCD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0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2F475F-F676-405C-BC39-67E6FE69C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794" y="2137126"/>
            <a:ext cx="9963149" cy="2764028"/>
          </a:xfrm>
        </p:spPr>
        <p:txBody>
          <a:bodyPr anchor="ctr">
            <a:normAutofit/>
          </a:bodyPr>
          <a:lstStyle/>
          <a:p>
            <a:r>
              <a:rPr lang="en-US" sz="4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Chapter-3</a:t>
            </a:r>
            <a:br>
              <a:rPr lang="en-US" sz="4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Statements, Cash Flow, and Taxes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51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7DB1F-E69C-2B3C-BD91-4919DF6D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0934C9-79FB-F596-2116-C2490885B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D4ED7-CD5A-48DC-2420-138640FA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on What We’ve Learned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67CC174-7012-CEED-90C3-B15818E377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85A66-FAB1-9F62-A327-D227929C2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375122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Previous Session: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finance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maximizing shareholder wealth.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Intrinsic value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Present value of true cash flows (calculated with full information).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Present value of perceived cash flows (estimated future cash flows with incomplete information).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Session: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We’ll explore how investors estimate cash flows using financial statements.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managers and investors interpret and use financial data to make informed decisions.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5190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1228D-22C3-1FB2-416E-3EAE7A10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1A6869-93DD-91CC-2A50-1CDDF4A3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BF137-CCE4-57D8-5684-9D7265C5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Annual Report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C77E2FC-B4BB-2791-B8A6-FDD79D9A1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E26B-C69D-A9D7-295B-BB8E375AA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35942" cy="43751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important report issued to stockholders.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two key components: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Verbal Section: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a letter from the chairperson. Describes past operating results and future developments.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Basic Financial Statements: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Assets owned and claims on those assets.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Sales, costs, and profits over a period.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Cash Flows: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Cash movements during the year.</a:t>
            </a:r>
          </a:p>
          <a:p>
            <a:pPr marL="1143000" lvl="2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Stockholders’ Equity: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in equity over the year.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65044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C1E8D-6DAF-5D1B-F2FD-5BFD4F00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6AC104-A0AF-A9F6-A41E-D57B4D896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1CF0D-ED89-7868-1D44-466559F90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Balance Sheet?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33DBC6C-2613-522D-2777-4B405BCC3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53D48-0CCC-D57A-8649-B29760464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balance sheet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firm’s financial position at a specific point in time.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Terms: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Anything an individual or business owns that has monetary value and can be sold for cash.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Liability: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obligation requiring future sacrifices of economic benefits to other entities or businesses.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Ownership, or the value of an ownership stake, after subtracting liabilities.</a:t>
            </a:r>
          </a:p>
          <a:p>
            <a:pPr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</a:t>
            </a:r>
          </a:p>
          <a:p>
            <a:pPr lvl="1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sides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(Left Side): What the company owns.</a:t>
            </a:r>
          </a:p>
          <a:p>
            <a:pPr marL="1200150" lvl="2" indent="-28575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Liabilities &amp; Equity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(Right Side): Claims on those assets.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20669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52E7-9E3E-E5AD-B261-74C43AEA3329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simple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C94D467F-02E9-7434-0B73-E847C926FC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7846057"/>
              </p:ext>
            </p:extLst>
          </p:nvPr>
        </p:nvGraphicFramePr>
        <p:xfrm>
          <a:off x="619041" y="1269649"/>
          <a:ext cx="10953918" cy="302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480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2732324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2904008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579106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37814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38BC1D-5B49-95F8-07E1-B34FBBFB1DFE}"/>
              </a:ext>
            </a:extLst>
          </p:cNvPr>
          <p:cNvSpPr txBox="1"/>
          <p:nvPr/>
        </p:nvSpPr>
        <p:spPr>
          <a:xfrm>
            <a:off x="1561893" y="4718390"/>
            <a:ext cx="9068213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Equation: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= Liabilities + Equity</a:t>
            </a:r>
          </a:p>
        </p:txBody>
      </p:sp>
    </p:spTree>
    <p:extLst>
      <p:ext uri="{BB962C8B-B14F-4D97-AF65-F5344CB8AC3E}">
        <p14:creationId xmlns:p14="http://schemas.microsoft.com/office/powerpoint/2010/main" val="2545556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8C88-DF0D-C4FE-D669-699BB4E0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F16D-1622-87F3-EB62-7D344D057E0E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simple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D5050D33-B95B-8475-5AF7-1207353C4CF0}"/>
              </a:ext>
            </a:extLst>
          </p:cNvPr>
          <p:cNvGraphicFramePr>
            <a:graphicFrameLocks/>
          </p:cNvGraphicFramePr>
          <p:nvPr/>
        </p:nvGraphicFramePr>
        <p:xfrm>
          <a:off x="619041" y="1269649"/>
          <a:ext cx="10953918" cy="3025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480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2732324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2904008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579106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37814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C98948-BC37-2B19-CE67-9B157240E23E}"/>
              </a:ext>
            </a:extLst>
          </p:cNvPr>
          <p:cNvSpPr txBox="1"/>
          <p:nvPr/>
        </p:nvSpPr>
        <p:spPr>
          <a:xfrm>
            <a:off x="1561893" y="4718390"/>
            <a:ext cx="9068213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Equation: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= Liabilities + Equity</a:t>
            </a:r>
          </a:p>
        </p:txBody>
      </p:sp>
      <p:sp>
        <p:nvSpPr>
          <p:cNvPr id="5" name="Cloud Callout 4">
            <a:extLst>
              <a:ext uri="{FF2B5EF4-FFF2-40B4-BE49-F238E27FC236}">
                <a16:creationId xmlns:a16="http://schemas.microsoft.com/office/drawing/2014/main" id="{49E5012D-C195-0CF4-4B22-FC6086F7C4BF}"/>
              </a:ext>
            </a:extLst>
          </p:cNvPr>
          <p:cNvSpPr/>
          <p:nvPr/>
        </p:nvSpPr>
        <p:spPr>
          <a:xfrm>
            <a:off x="1561893" y="2119289"/>
            <a:ext cx="3758184" cy="1325880"/>
          </a:xfrm>
          <a:prstGeom prst="cloud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of Capital</a:t>
            </a:r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B43FF26D-021A-409A-921D-76A376E6C605}"/>
              </a:ext>
            </a:extLst>
          </p:cNvPr>
          <p:cNvSpPr/>
          <p:nvPr/>
        </p:nvSpPr>
        <p:spPr>
          <a:xfrm>
            <a:off x="6972509" y="2119289"/>
            <a:ext cx="3754964" cy="1326995"/>
          </a:xfrm>
          <a:prstGeom prst="cloudCallou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of Capital</a:t>
            </a:r>
          </a:p>
        </p:txBody>
      </p:sp>
    </p:spTree>
    <p:extLst>
      <p:ext uri="{BB962C8B-B14F-4D97-AF65-F5344CB8AC3E}">
        <p14:creationId xmlns:p14="http://schemas.microsoft.com/office/powerpoint/2010/main" val="1476924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BD335-1A78-1C00-768B-E6A60B49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26CB-3653-4C5C-A0BD-E44DB3678EE2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DAF0AE0-E46B-EE13-26EF-1CEDF2B164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1904016"/>
              </p:ext>
            </p:extLst>
          </p:nvPr>
        </p:nvGraphicFramePr>
        <p:xfrm>
          <a:off x="619041" y="1148194"/>
          <a:ext cx="10953918" cy="5294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8480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2732324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2904008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579106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37814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Current 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37814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Expected to be converted into cash or used up within one year or one operating cycle of the business.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3"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1460331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378145">
                <a:tc rowSpan="4" gridSpan="2">
                  <a:txBody>
                    <a:bodyPr/>
                    <a:lstStyle/>
                    <a:p>
                      <a:pPr algn="ctr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(or non-current assets or long-term assets) include anything that a business plans to use or hold more than one year or one operating cycle of the business.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4"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53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A643-4951-499F-0256-8AB23EB30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C8524-A037-2A84-4188-DBE68449B635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E34A260B-B60B-99E9-8AAA-E4386763A7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3860231"/>
              </p:ext>
            </p:extLst>
          </p:nvPr>
        </p:nvGraphicFramePr>
        <p:xfrm>
          <a:off x="556706" y="1325405"/>
          <a:ext cx="11078588" cy="5294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69648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2751061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2949419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608460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378145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Current Liabilities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756290">
                <a:tc rowSpan="2" gridSpan="2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Claims to be paid within one year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 one operating cycle of the business.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378145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Long-Term Liabilities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 gridSpan="2"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Any debt that lasts longer than 12 months.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3050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ECD25-18C3-23A0-73EA-1CB0BEB1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507FD-C470-36FF-C5FA-8A6BB415501C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3C9A259A-490A-3433-E53C-6C397EF4BA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3125"/>
              </p:ext>
            </p:extLst>
          </p:nvPr>
        </p:nvGraphicFramePr>
        <p:xfrm>
          <a:off x="525948" y="1120218"/>
          <a:ext cx="11140104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6052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3337932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232120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Current Liabilities: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Cash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Accounts Receivable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Inventory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Long-Term 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389628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61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26E72-5FFA-F055-972C-11FDEABF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501B091-C9A6-EC75-CE8C-A38815FA9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A2A16-1BA5-CB44-F4F6-F9AB2B7B4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5E1B72B-15C0-9CC8-E1C7-67D7FFBE8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A128C-944E-E3BA-B83D-8E3731132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and Cash Equivalents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physical cash, bank balances, and short-term liquid investments readily convertible to cash.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Receivable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 owed to the company by customers for sales made on credit.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reported net of an allowance for doubtful accounts.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raw materials, work-in-process, and finished goods held for sale.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Valued using methods such as FIFO, LIFO, or weighted average cost.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Marketable Securities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investments that can be quickly sold for cash, such as stocks or bonds.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Prepaid Expenses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Payments are made in advance for goods or services, such as insurance or rent.</a:t>
            </a:r>
          </a:p>
        </p:txBody>
      </p:sp>
    </p:spTree>
    <p:extLst>
      <p:ext uri="{BB962C8B-B14F-4D97-AF65-F5344CB8AC3E}">
        <p14:creationId xmlns:p14="http://schemas.microsoft.com/office/powerpoint/2010/main" val="211493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4BFE5-7F7D-A6A6-1A6C-CA32B974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C825-5C5D-8931-C813-B6167431F246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D95EC460-28A6-5500-F278-D0B799906F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8876124"/>
              </p:ext>
            </p:extLst>
          </p:nvPr>
        </p:nvGraphicFramePr>
        <p:xfrm>
          <a:off x="525948" y="1120218"/>
          <a:ext cx="11140104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137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278673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3337932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2232120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Current Liabilities: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Cash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Accounts Receivable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Inventory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Long-Term 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  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rtl="0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2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ABF8F-1280-4BB0-083E-873EC639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E61FBD-A66D-1C22-CB41-0179E06D3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46CBD-7301-3631-6C30-9E231CE66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Assets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9EB582C-8E38-36EA-CC5F-47EAD82F7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69309-4715-C62E-216E-A9D466102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Property, Plant, and Equipment (PP&amp;E):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land, buildings, machinery, vehicles, furniture, and equipment used in operations.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Reported net of accumulated depreciation (except for land, which is not depreciated).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Intangible Assets: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Non-physical assets such as patents, copyrights, trademarks, and goodwill.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Properties: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held for earning rental income or capital appreciation rather than for use in operations.</a:t>
            </a:r>
          </a:p>
        </p:txBody>
      </p:sp>
    </p:spTree>
    <p:extLst>
      <p:ext uri="{BB962C8B-B14F-4D97-AF65-F5344CB8AC3E}">
        <p14:creationId xmlns:p14="http://schemas.microsoft.com/office/powerpoint/2010/main" val="1531188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FFF5-7D9C-FE71-3FC5-A0220C6D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3EB-1339-64EB-D297-5945AA6B1BE8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C7E6C82F-8E72-1613-2BCE-A9C5F8F650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977568"/>
              </p:ext>
            </p:extLst>
          </p:nvPr>
        </p:nvGraphicFramePr>
        <p:xfrm>
          <a:off x="525948" y="1120218"/>
          <a:ext cx="11140104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137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278673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4207727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1362325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Current Liabilities: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Cash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 Accounts Payable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Accounts Receivable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Accruals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Inventory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       Unearned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Long-Term Liabilities: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84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518B88-0F4B-00E4-3F43-59A45DD34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D2B15A2-49FC-E179-EADD-2A59D6BCD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4BA62-0555-0EC8-BD57-DB81AC6EC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Liabilities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E508DED-D921-C833-8C2F-A2BF71810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0A19B-C056-9D55-69E1-096B85FEA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Payable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 the company owes to suppliers for goods and services received but not yet paid for.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Debt (or Notes Payable)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or borrowings that are due within one year, including short-term bank loans or lines of credit.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Accrued Expenses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Expenses that have been incurred but not yet paid, such as wages, taxes, and utilities. 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Portion of Long-Term Debt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portion of long-term debt that is due within the next year. 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Unearned Revenue (or Deferred Revenue)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Money received in advance from customers for goods or services to be delivered in the future. 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Payables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sz="20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include amounts owed for dividends, interest, or other short-term obligations.</a:t>
            </a:r>
          </a:p>
        </p:txBody>
      </p:sp>
    </p:spTree>
    <p:extLst>
      <p:ext uri="{BB962C8B-B14F-4D97-AF65-F5344CB8AC3E}">
        <p14:creationId xmlns:p14="http://schemas.microsoft.com/office/powerpoint/2010/main" val="921488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159AC-F217-42E9-45C0-659C863B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FE8B-18CE-81E1-70D7-C029D9AD303E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7B9A0029-5C80-B93A-0032-6D8C9465AE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5698188"/>
              </p:ext>
            </p:extLst>
          </p:nvPr>
        </p:nvGraphicFramePr>
        <p:xfrm>
          <a:off x="525948" y="1120218"/>
          <a:ext cx="11140104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137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278673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4207727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1362325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Current Liabilities: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Cash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Accounts Payable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Accounts Receivable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Accruals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Inventory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     Unearned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Long-Term Liabilities: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Bonds Payable</a:t>
                      </a:r>
                      <a:endParaRPr lang="en-US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Long-Term 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519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94D34-94E0-72B7-CDF0-2F0FFAA23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19D9-B468-5CF7-3849-D1E636BB526F}"/>
              </a:ext>
            </a:extLst>
          </p:cNvPr>
          <p:cNvSpPr txBox="1">
            <a:spLocks/>
          </p:cNvSpPr>
          <p:nvPr/>
        </p:nvSpPr>
        <p:spPr>
          <a:xfrm>
            <a:off x="669036" y="365126"/>
            <a:ext cx="10853928" cy="6830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form of Balance sheet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C0B9A096-D680-DF37-5D9B-CDE67A661C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0962562"/>
              </p:ext>
            </p:extLst>
          </p:nvPr>
        </p:nvGraphicFramePr>
        <p:xfrm>
          <a:off x="525948" y="1120218"/>
          <a:ext cx="11140104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137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278673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5211337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358715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Current Liabilities: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Cash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Accounts Payable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Accounts Receivable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     Accruals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Inventory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     Unearned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Long-Term Liabilities: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b="0" dirty="0"/>
                        <a:t>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Bonds Payable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       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Long-Term 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                    Common </a:t>
                      </a:r>
                      <a:r>
                        <a:rPr lang="en-US" sz="18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stocks (N shares)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                               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                   Retained 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2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8E17C0-2DEA-F000-3BF4-60B09FB0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3935A3-1516-281B-C307-BEAAA8DEF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72ABC-2F19-856F-565A-17B09C4CD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or Common Equity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E461A03-35F1-333E-3685-4E63124E5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551B2-B7B9-BFC8-52A1-F82BAA9AB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ownership stake in the company.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components:</a:t>
            </a:r>
          </a:p>
          <a:p>
            <a:pPr marL="742950" lvl="1" indent="-2857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Paid-in Capital: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Amount stockholders paid when purchasing shares.</a:t>
            </a:r>
          </a:p>
          <a:p>
            <a:pPr marL="742950" lvl="1" indent="-28575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Cumulative earnings retained over the company’s life.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 acts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claim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gains or losses directly impact stockholders.</a:t>
            </a:r>
          </a:p>
        </p:txBody>
      </p:sp>
    </p:spTree>
    <p:extLst>
      <p:ext uri="{BB962C8B-B14F-4D97-AF65-F5344CB8AC3E}">
        <p14:creationId xmlns:p14="http://schemas.microsoft.com/office/powerpoint/2010/main" val="3815659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A321-026C-8D25-1588-1FB7232B0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8FFC941E-D1B6-E8BE-1C06-E7F557AE36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355573"/>
              </p:ext>
            </p:extLst>
          </p:nvPr>
        </p:nvGraphicFramePr>
        <p:xfrm>
          <a:off x="525948" y="250431"/>
          <a:ext cx="11140104" cy="637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1379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278673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  <a:gridCol w="4207727">
                  <a:extLst>
                    <a:ext uri="{9D8B030D-6E8A-4147-A177-3AD203B41FA5}">
                      <a16:colId xmlns:a16="http://schemas.microsoft.com/office/drawing/2014/main" val="3610001402"/>
                    </a:ext>
                  </a:extLst>
                </a:gridCol>
                <a:gridCol w="1362325">
                  <a:extLst>
                    <a:ext uri="{9D8B030D-6E8A-4147-A177-3AD203B41FA5}">
                      <a16:colId xmlns:a16="http://schemas.microsoft.com/office/drawing/2014/main" val="1346674643"/>
                    </a:ext>
                  </a:extLst>
                </a:gridCol>
              </a:tblGrid>
              <a:tr h="27432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20XX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20XX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Current Assets: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Current Liabilities: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$20,000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Accounts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$27,000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401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Accounts Receivable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$26,600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Accruals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$12,100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94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Inventory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$38,500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Notes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$28,000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09954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Prepaid Expenses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$8,000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      Unearned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$3,700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06219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Other Current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$3,500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573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Total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Assets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$96,600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Total Current Liabilities:         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$70,800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84754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Fixed Assets: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Long-Term Liabilities: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   Net Plant &amp; Equipment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$113,400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Bonds Payable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$57,000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0981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Intangible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$18,200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Long-Term Loans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>
                      <a:noFill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$65,000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Investments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$35,000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Total Long-Term Liabilities:         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$122,000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7764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Other Fixed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$11,000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$192,800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01332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6190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Common stocks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$60,000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Retained 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$21,400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Total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Assets: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$177,600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Equity: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$81,400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57154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Assets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$274,200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 and Equity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9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$274,200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B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965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ocument with text and numbers&#10;&#10;AI-generated content may be incorrect.">
            <a:extLst>
              <a:ext uri="{FF2B5EF4-FFF2-40B4-BE49-F238E27FC236}">
                <a16:creationId xmlns:a16="http://schemas.microsoft.com/office/drawing/2014/main" id="{7A5D8F7C-6F35-80DE-1D81-CD4A23791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234" y="81627"/>
            <a:ext cx="4705818" cy="66947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DDA56D-2AC4-1EB4-05F1-8C1712197540}"/>
              </a:ext>
            </a:extLst>
          </p:cNvPr>
          <p:cNvSpPr txBox="1"/>
          <p:nvPr/>
        </p:nvSpPr>
        <p:spPr>
          <a:xfrm>
            <a:off x="536875" y="626237"/>
            <a:ext cx="6410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Sheet Formats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3BBA0-F2EA-5675-D05C-98F22CBBCCDD}"/>
              </a:ext>
            </a:extLst>
          </p:cNvPr>
          <p:cNvSpPr txBox="1"/>
          <p:nvPr/>
        </p:nvSpPr>
        <p:spPr>
          <a:xfrm>
            <a:off x="213490" y="1583473"/>
            <a:ext cx="703910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Horizontal Format (Account Format):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are on the left, liabilities and equity are on the right.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previous slides.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Format (Report Format):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Assets listed first, followed by liabilities and equity.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Sections are arranged vertically, one below the other.</a:t>
            </a:r>
          </a:p>
          <a:p>
            <a:endParaRPr 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0FA1916-D384-0991-C616-67A799046BB7}"/>
              </a:ext>
            </a:extLst>
          </p:cNvPr>
          <p:cNvSpPr/>
          <p:nvPr/>
        </p:nvSpPr>
        <p:spPr>
          <a:xfrm>
            <a:off x="5252226" y="3373245"/>
            <a:ext cx="1694984" cy="330758"/>
          </a:xfrm>
          <a:prstGeom prst="rightArrow">
            <a:avLst>
              <a:gd name="adj1" fmla="val 50000"/>
              <a:gd name="adj2" fmla="val 77612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56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D784DC-1D97-DAA9-DA3F-9F347772E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6B7F8F-6795-BF9D-6F23-C036F53B7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39A621-635C-2E32-7D34-63F067D5A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Values vs. Market Values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7D36E82A-6BE4-511B-5C50-53C6DC128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0D7B0-66B3-479F-D891-8D8D4EC7A0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921" y="1806222"/>
                <a:ext cx="11363131" cy="48885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Values (GAAP Reporting):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Assets in the balance sheet are recorded at their historical cost, reduced by depreciation over time.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Book Value Per Share (BVPS)</a:t>
                </a:r>
              </a:p>
              <a:p>
                <a:pPr lvl="2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amount each shareholder would theoretically receive.</a:t>
                </a:r>
              </a:p>
              <a:p>
                <a:pPr marL="914400" lvl="2" indent="0">
                  <a:lnSpc>
                    <a:spcPct val="10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𝐁𝐨𝐨𝐤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𝐕𝐚𝐥𝐮𝐞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𝐏𝐞𝐫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𝐒𝐡𝐚𝐫𝐞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Equity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Outstanding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Shares</m:t>
                          </m:r>
                        </m:den>
                      </m:f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Market Values: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 the current price and often higher than book values. </a:t>
                </a:r>
              </a:p>
              <a:p>
                <a:pPr lvl="1">
                  <a:lnSpc>
                    <a:spcPct val="10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Market Value Per Share (MVPS) typically exceeds BVPS due to growth expectations.</a:t>
                </a:r>
                <a:endPara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B0D7B0-66B3-479F-D891-8D8D4EC7A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921" y="1806222"/>
                <a:ext cx="11363131" cy="4888524"/>
              </a:xfrm>
              <a:blipFill>
                <a:blip r:embed="rId2"/>
                <a:stretch>
                  <a:fillRect l="-670" t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45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6E179-4303-51F2-781D-430CCC08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2ED79-A7E2-59DC-8666-ABCC4C91F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C30DB8-658F-171E-EEDA-7227C9A9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Debt vs. Total Liabilities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2CA453F-3390-80BB-4B34-997071829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442A4-816A-182C-B2B8-8379BCEBC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Debt: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interest-bearing liabilities, both: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debt (e.g., notes payable, Short-term loans).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debt (e.g., bonds, Long-term loans).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</a:rPr>
              <a:t>Total Debt = Short-Term Debt + Long-Term Debt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Liabilities: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Total Debt and free liabilities (non-interest-bearing).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liabilities: Accounts payable, accruals, Unearned Revenue, and Other Payables (Non-Interest-Bearing).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</a:rPr>
              <a:t>Total Liabilities = Total Debt + Free Liabilities </a:t>
            </a:r>
          </a:p>
        </p:txBody>
      </p:sp>
    </p:spTree>
    <p:extLst>
      <p:ext uri="{BB962C8B-B14F-4D97-AF65-F5344CB8AC3E}">
        <p14:creationId xmlns:p14="http://schemas.microsoft.com/office/powerpoint/2010/main" val="640391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C3E1B8-851E-A1DF-B6E3-903A7489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95044D-BE79-7284-57B9-E512057B0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3D7FB-E7C7-D07E-9B3F-F1B42695B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Capital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254D7B9-338C-D682-03CA-ACAFB394B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F6AF-E5F5-7A9B-C24D-4ACFA4309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measures a company's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financial health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</a:rPr>
              <a:t>Net Working Capital = Current Assets − Current Liabilities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Working Capital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company can meet its short-term obligations and has excess assets to invest in operations.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Working Capital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Signals potential liquidity issues, as liabilities exceed short-term assets.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59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622BA-D9C6-6C1F-420A-ACFD700A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3122649-4639-D483-1D82-6C27539A6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5CFCA7-2D44-A5B3-2827-5E6FDDC6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Operating Working Capital (NOWC)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0886E6D-FC99-BBCE-A5F7-6E5CCE6FE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1FF1-4E61-723C-18CE-03E97128A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 firm's short-term operational liquidity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cash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current assets.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interest-bearing notes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current liabilities.</a:t>
            </a:r>
          </a:p>
          <a:p>
            <a:pPr marL="457200" lvl="1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Cambria Math" panose="02040503050406030204" pitchFamily="18" charset="0"/>
              </a:rPr>
              <a:t>NOWC = (Operating Current Assets) - (Operating Current Liabilities)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Cambria Math" panose="02040503050406030204" pitchFamily="18" charset="0"/>
              </a:rPr>
              <a:t>NOWC = (Current Assets - excess cash) - (Current Liabilities - Short-term debt)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tells 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Liquidity Indicator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Reflects the capital available for daily operations.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831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706BCA-60F5-A119-514C-C72840718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431805"/>
              </p:ext>
            </p:extLst>
          </p:nvPr>
        </p:nvGraphicFramePr>
        <p:xfrm>
          <a:off x="735150" y="830697"/>
          <a:ext cx="10721700" cy="51966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517169">
                  <a:extLst>
                    <a:ext uri="{9D8B030D-6E8A-4147-A177-3AD203B41FA5}">
                      <a16:colId xmlns:a16="http://schemas.microsoft.com/office/drawing/2014/main" val="3274890742"/>
                    </a:ext>
                  </a:extLst>
                </a:gridCol>
                <a:gridCol w="2703414">
                  <a:extLst>
                    <a:ext uri="{9D8B030D-6E8A-4147-A177-3AD203B41FA5}">
                      <a16:colId xmlns:a16="http://schemas.microsoft.com/office/drawing/2014/main" val="925117567"/>
                    </a:ext>
                  </a:extLst>
                </a:gridCol>
                <a:gridCol w="2501117">
                  <a:extLst>
                    <a:ext uri="{9D8B030D-6E8A-4147-A177-3AD203B41FA5}">
                      <a16:colId xmlns:a16="http://schemas.microsoft.com/office/drawing/2014/main" val="2041846366"/>
                    </a:ext>
                  </a:extLst>
                </a:gridCol>
              </a:tblGrid>
              <a:tr h="1825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XYZ: December 31 Balance Sheets(MD)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2024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2023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127006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Assets: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1629521"/>
                  </a:ext>
                </a:extLst>
              </a:tr>
              <a:tr h="2624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Current Assets: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8446685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Cash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39698321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Accounts Receivable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$266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$294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7665188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Inventory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$385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$258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7234328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Prepaid Expenses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$80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393003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Other Current Assets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$35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$50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841172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     Total Current Assets:        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$786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$654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0279658"/>
                  </a:ext>
                </a:extLst>
              </a:tr>
              <a:tr h="2738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9141480"/>
                  </a:ext>
                </a:extLst>
              </a:tr>
              <a:tr h="262429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Fixed Assets: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401227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 Net Plant &amp; Equipment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$1,254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$1,190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5162037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Intangible Assets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$182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$170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2031879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Investments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$350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$440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3897176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Other Fixed Assets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$110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$170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0918722"/>
                  </a:ext>
                </a:extLst>
              </a:tr>
              <a:tr h="2510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     Total Fixed Assets: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$1,896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$1,970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11666106"/>
                  </a:ext>
                </a:extLst>
              </a:tr>
              <a:tr h="273839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>
                          <a:effectLst/>
                        </a:rPr>
                        <a:t> 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96051731"/>
                  </a:ext>
                </a:extLst>
              </a:tr>
              <a:tr h="239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</a:rPr>
                        <a:t> Total Assets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000" b="1" u="none" strike="noStrike" dirty="0">
                          <a:effectLst/>
                        </a:rPr>
                        <a:t>$2,682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000" b="1" u="none" strike="noStrike" dirty="0">
                          <a:effectLst/>
                        </a:rPr>
                        <a:t>$2,624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732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712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7AF95-AFC1-4DA7-1FE1-FBBC7FB62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97701C-484C-01A6-12FD-C861AD95F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65145"/>
              </p:ext>
            </p:extLst>
          </p:nvPr>
        </p:nvGraphicFramePr>
        <p:xfrm>
          <a:off x="881269" y="415716"/>
          <a:ext cx="10429461" cy="60265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6731">
                  <a:extLst>
                    <a:ext uri="{9D8B030D-6E8A-4147-A177-3AD203B41FA5}">
                      <a16:colId xmlns:a16="http://schemas.microsoft.com/office/drawing/2014/main" val="4270175547"/>
                    </a:ext>
                  </a:extLst>
                </a:gridCol>
                <a:gridCol w="2519044">
                  <a:extLst>
                    <a:ext uri="{9D8B030D-6E8A-4147-A177-3AD203B41FA5}">
                      <a16:colId xmlns:a16="http://schemas.microsoft.com/office/drawing/2014/main" val="2607964511"/>
                    </a:ext>
                  </a:extLst>
                </a:gridCol>
                <a:gridCol w="2503686">
                  <a:extLst>
                    <a:ext uri="{9D8B030D-6E8A-4147-A177-3AD203B41FA5}">
                      <a16:colId xmlns:a16="http://schemas.microsoft.com/office/drawing/2014/main" val="2657953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XYZ: December 31 Balance Sheets(MD)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2024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2023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990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Liabilities: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45427994"/>
                  </a:ext>
                </a:extLst>
              </a:tr>
              <a:tr h="24336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Current Liabilities:        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33883983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Accounts Payable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$200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$159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107273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Accruals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$141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$160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97616218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Notes Payable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$230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$295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01138152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Unearned Revenue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$37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$188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40288637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     Total Current Liabilities:        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$608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$802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97506110"/>
                  </a:ext>
                </a:extLst>
              </a:tr>
              <a:tr h="2327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101348826"/>
                  </a:ext>
                </a:extLst>
              </a:tr>
              <a:tr h="2539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Long-Term Liabilities: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87611043"/>
                  </a:ext>
                </a:extLst>
              </a:tr>
              <a:tr h="24336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                         Bonds Payable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$690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$550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73368636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Long-Term Loans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$550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$500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07509884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     Total Long-Term Liabilities:        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$1,240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effectLst/>
                        </a:rPr>
                        <a:t>$1,050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5529187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8922709"/>
                  </a:ext>
                </a:extLst>
              </a:tr>
              <a:tr h="24336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Total Liabilities: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$1,848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$1,852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2403953"/>
                  </a:ext>
                </a:extLst>
              </a:tr>
              <a:tr h="3819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Equity: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25" marR="6325" marT="63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12555242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Common stocks (50,000,000 shares)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$600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$600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907407668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                       Retained Earning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$234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  $172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98030442"/>
                  </a:ext>
                </a:extLst>
              </a:tr>
              <a:tr h="21828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</a:rPr>
                        <a:t> Total Equity: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$834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</a:rPr>
                        <a:t>$772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8441212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effectLst/>
                        </a:rPr>
                        <a:t> 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</a:rPr>
                        <a:t>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767590"/>
                  </a:ext>
                </a:extLst>
              </a:tr>
              <a:tr h="22220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u="none" strike="noStrike" dirty="0">
                          <a:effectLst/>
                        </a:rPr>
                        <a:t> Total Liabilities and Equity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000" b="1" u="none" strike="noStrike" dirty="0">
                          <a:effectLst/>
                        </a:rPr>
                        <a:t>$2,682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000" b="1" u="none" strike="noStrike" dirty="0">
                          <a:effectLst/>
                        </a:rPr>
                        <a:t>$2,624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25" marR="6325" marT="63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48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2343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5B37F-7A1B-D76D-C614-08B70102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B15626-B424-59EC-2044-F7159ABC02DC}"/>
              </a:ext>
            </a:extLst>
          </p:cNvPr>
          <p:cNvSpPr txBox="1"/>
          <p:nvPr/>
        </p:nvSpPr>
        <p:spPr>
          <a:xfrm>
            <a:off x="624469" y="1430452"/>
            <a:ext cx="10042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balance sheet of XYZ for 2024, calculate the following: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713EB-E188-79F5-14C0-8E5CAD691E93}"/>
              </a:ext>
            </a:extLst>
          </p:cNvPr>
          <p:cNvSpPr txBox="1"/>
          <p:nvPr/>
        </p:nvSpPr>
        <p:spPr>
          <a:xfrm>
            <a:off x="624469" y="2563479"/>
            <a:ext cx="2542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Value per Share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C5208-38A5-936A-AA01-23C61AD64B21}"/>
              </a:ext>
            </a:extLst>
          </p:cNvPr>
          <p:cNvSpPr txBox="1"/>
          <p:nvPr/>
        </p:nvSpPr>
        <p:spPr>
          <a:xfrm>
            <a:off x="624469" y="3630607"/>
            <a:ext cx="1420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Debt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67B522-CCF2-01D2-A493-C8DD6EF8168A}"/>
              </a:ext>
            </a:extLst>
          </p:cNvPr>
          <p:cNvSpPr txBox="1"/>
          <p:nvPr/>
        </p:nvSpPr>
        <p:spPr>
          <a:xfrm>
            <a:off x="624469" y="4703160"/>
            <a:ext cx="3380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Working Capital (NWC)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1688B-E961-3ECC-8ACE-2AACA37FDAE1}"/>
              </a:ext>
            </a:extLst>
          </p:cNvPr>
          <p:cNvSpPr txBox="1"/>
          <p:nvPr/>
        </p:nvSpPr>
        <p:spPr>
          <a:xfrm>
            <a:off x="624469" y="5775046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58066-24B9-73BA-D4FD-DF2A61A16A16}"/>
              </a:ext>
            </a:extLst>
          </p:cNvPr>
          <p:cNvSpPr txBox="1"/>
          <p:nvPr/>
        </p:nvSpPr>
        <p:spPr>
          <a:xfrm>
            <a:off x="624469" y="447899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Question_1</a:t>
            </a:r>
          </a:p>
        </p:txBody>
      </p:sp>
    </p:spTree>
    <p:extLst>
      <p:ext uri="{BB962C8B-B14F-4D97-AF65-F5344CB8AC3E}">
        <p14:creationId xmlns:p14="http://schemas.microsoft.com/office/powerpoint/2010/main" val="3606638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8D07A2-E052-1522-9EF4-F67C5DBBC39C}"/>
              </a:ext>
            </a:extLst>
          </p:cNvPr>
          <p:cNvSpPr txBox="1"/>
          <p:nvPr/>
        </p:nvSpPr>
        <p:spPr>
          <a:xfrm>
            <a:off x="624469" y="1425935"/>
            <a:ext cx="96776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balance sheet of XYZ for 2024, calculate the following: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2B1D7-277F-EE9F-7BE6-3947835BE4A9}"/>
              </a:ext>
            </a:extLst>
          </p:cNvPr>
          <p:cNvSpPr txBox="1"/>
          <p:nvPr/>
        </p:nvSpPr>
        <p:spPr>
          <a:xfrm>
            <a:off x="624469" y="2563467"/>
            <a:ext cx="2542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Value per Share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72B44-27F9-D08B-0206-B0192FC8A3BD}"/>
              </a:ext>
            </a:extLst>
          </p:cNvPr>
          <p:cNvSpPr txBox="1"/>
          <p:nvPr/>
        </p:nvSpPr>
        <p:spPr>
          <a:xfrm>
            <a:off x="624469" y="3630595"/>
            <a:ext cx="14205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Debt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B1BF8-6FFB-FCF6-CDDD-2C06F4A38FE1}"/>
              </a:ext>
            </a:extLst>
          </p:cNvPr>
          <p:cNvSpPr txBox="1"/>
          <p:nvPr/>
        </p:nvSpPr>
        <p:spPr>
          <a:xfrm>
            <a:off x="624469" y="4703148"/>
            <a:ext cx="3380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Working Capital (NWC)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2AD90-3605-3682-8A64-0611494BA5D7}"/>
              </a:ext>
            </a:extLst>
          </p:cNvPr>
          <p:cNvSpPr txBox="1"/>
          <p:nvPr/>
        </p:nvSpPr>
        <p:spPr>
          <a:xfrm>
            <a:off x="624469" y="577503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B5296-59E2-4818-8F98-C90B8A6F97D3}"/>
                  </a:ext>
                </a:extLst>
              </p:cNvPr>
              <p:cNvSpPr txBox="1"/>
              <p:nvPr/>
            </p:nvSpPr>
            <p:spPr>
              <a:xfrm>
                <a:off x="3078766" y="2466429"/>
                <a:ext cx="3274551" cy="607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Common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Equity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Outstanding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Shares</m:t>
                          </m:r>
                        </m:den>
                      </m:f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0EB5296-59E2-4818-8F98-C90B8A6F9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766" y="2466429"/>
                <a:ext cx="3274551" cy="607282"/>
              </a:xfrm>
              <a:prstGeom prst="rect">
                <a:avLst/>
              </a:prstGeom>
              <a:blipFill>
                <a:blip r:embed="rId2"/>
                <a:stretch>
                  <a:fillRect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731DA-5C6A-2002-DFF2-37C49F4E7E0A}"/>
                  </a:ext>
                </a:extLst>
              </p:cNvPr>
              <p:cNvSpPr txBox="1"/>
              <p:nvPr/>
            </p:nvSpPr>
            <p:spPr>
              <a:xfrm>
                <a:off x="5999890" y="2454033"/>
                <a:ext cx="3274551" cy="919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i="0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834,000,000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tx2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50,000,000</m:t>
                          </m:r>
                        </m:den>
                      </m:f>
                      <m:r>
                        <a:rPr lang="en-US" b="0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  <m:r>
                        <a:rPr lang="en-US" b="1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𝟔𝟖</m:t>
                      </m:r>
                    </m:oMath>
                  </m:oMathPara>
                </a14:m>
                <a:endParaRPr lang="en-US" sz="2000" b="1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731DA-5C6A-2002-DFF2-37C49F4E7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890" y="2454033"/>
                <a:ext cx="3274551" cy="9190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9A69F2A-6343-DB9E-D311-C20159EA3EBC}"/>
              </a:ext>
            </a:extLst>
          </p:cNvPr>
          <p:cNvSpPr txBox="1"/>
          <p:nvPr/>
        </p:nvSpPr>
        <p:spPr>
          <a:xfrm>
            <a:off x="1895708" y="3659662"/>
            <a:ext cx="706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</a:rPr>
              <a:t>=  Short-Term Debt + Long-Term Debt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=  230 + (690 + 550) =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1470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FE431-3245-F245-DF51-98CC51B384DC}"/>
              </a:ext>
            </a:extLst>
          </p:cNvPr>
          <p:cNvSpPr txBox="1"/>
          <p:nvPr/>
        </p:nvSpPr>
        <p:spPr>
          <a:xfrm>
            <a:off x="3824721" y="4733926"/>
            <a:ext cx="6049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mbria Math" panose="02040503050406030204" pitchFamily="18" charset="0"/>
              </a:rPr>
              <a:t>= Current Assets − Current Liabilities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=  786 – 608 =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178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9554A4-9744-37A6-3AA0-67ACB8EFA9AF}"/>
              </a:ext>
            </a:extLst>
          </p:cNvPr>
          <p:cNvSpPr txBox="1"/>
          <p:nvPr/>
        </p:nvSpPr>
        <p:spPr>
          <a:xfrm>
            <a:off x="1512485" y="5808190"/>
            <a:ext cx="1067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mbria Math" panose="02040503050406030204" pitchFamily="18" charset="0"/>
              </a:rPr>
              <a:t>= (Current Assets - excess cash) - (Current Liabilities - Short-term debt) 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=  (786 – 20) – (608-230) = </a:t>
            </a: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388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52BC65-B350-48B2-2A86-742F1B9D129C}"/>
              </a:ext>
            </a:extLst>
          </p:cNvPr>
          <p:cNvSpPr txBox="1"/>
          <p:nvPr/>
        </p:nvSpPr>
        <p:spPr>
          <a:xfrm>
            <a:off x="624469" y="447899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Question_1</a:t>
            </a:r>
          </a:p>
        </p:txBody>
      </p:sp>
    </p:spTree>
    <p:extLst>
      <p:ext uri="{BB962C8B-B14F-4D97-AF65-F5344CB8AC3E}">
        <p14:creationId xmlns:p14="http://schemas.microsoft.com/office/powerpoint/2010/main" val="9322308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E81D9-EBF3-71EC-20A2-AC9F8431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1D1C01-396C-D829-916A-981FA3F91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549C0-7439-AAA6-684F-965E4259A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51D72A8-337A-7E04-73FA-D9E0DDEAD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F45FE-A08D-E018-F233-50EE218C5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income statement reports a company’s financial performance over a period of 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73E046-6426-EDB9-AB2B-81CE0E1C0CE0}"/>
              </a:ext>
            </a:extLst>
          </p:cNvPr>
          <p:cNvSpPr txBox="1"/>
          <p:nvPr/>
        </p:nvSpPr>
        <p:spPr>
          <a:xfrm>
            <a:off x="3808475" y="3295574"/>
            <a:ext cx="4572001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statement Equation: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= Net Revenues - Costs</a:t>
            </a:r>
          </a:p>
        </p:txBody>
      </p:sp>
    </p:spTree>
    <p:extLst>
      <p:ext uri="{BB962C8B-B14F-4D97-AF65-F5344CB8AC3E}">
        <p14:creationId xmlns:p14="http://schemas.microsoft.com/office/powerpoint/2010/main" val="877373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88D10-EC6F-8895-62CD-56F0CB90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DF2B-FB09-E14F-22A2-84E43A54CC20}"/>
              </a:ext>
            </a:extLst>
          </p:cNvPr>
          <p:cNvSpPr txBox="1">
            <a:spLocks/>
          </p:cNvSpPr>
          <p:nvPr/>
        </p:nvSpPr>
        <p:spPr>
          <a:xfrm>
            <a:off x="535260" y="365125"/>
            <a:ext cx="4795024" cy="122949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form of Income statement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52C3BA5C-0C12-F237-6740-C6EE127D40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4572292"/>
              </p:ext>
            </p:extLst>
          </p:nvPr>
        </p:nvGraphicFramePr>
        <p:xfrm>
          <a:off x="5659392" y="234183"/>
          <a:ext cx="5584566" cy="64284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2242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2732324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378145"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Net Sales or Net Revenues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5325140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37814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FB48E3-A935-BEAF-2C7F-BF294092966D}"/>
              </a:ext>
            </a:extLst>
          </p:cNvPr>
          <p:cNvSpPr txBox="1"/>
          <p:nvPr/>
        </p:nvSpPr>
        <p:spPr>
          <a:xfrm>
            <a:off x="326991" y="2533638"/>
            <a:ext cx="440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Sales = Sales – Discounts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Returns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912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C53DB-97B7-FC65-E5F6-F8FB72A0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5BF5F585-3EB7-2259-26CE-858C817F83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7454677"/>
              </p:ext>
            </p:extLst>
          </p:nvPr>
        </p:nvGraphicFramePr>
        <p:xfrm>
          <a:off x="1975624" y="178233"/>
          <a:ext cx="8240751" cy="62119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5426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31D116AC-0295-86EA-3DFE-782B44756EF5}"/>
              </a:ext>
            </a:extLst>
          </p:cNvPr>
          <p:cNvSpPr/>
          <p:nvPr/>
        </p:nvSpPr>
        <p:spPr>
          <a:xfrm>
            <a:off x="2040674" y="2944439"/>
            <a:ext cx="8108795" cy="1471443"/>
          </a:xfrm>
          <a:prstGeom prst="wedgeRectCallout">
            <a:avLst>
              <a:gd name="adj1" fmla="val -25535"/>
              <a:gd name="adj2" fmla="val -430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Allocation of the cost of tangible assets.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Allocation of intangible asset costs.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for Calculating : Straight-Line and Accelerated Depreciation</a:t>
            </a:r>
          </a:p>
        </p:txBody>
      </p:sp>
    </p:spTree>
    <p:extLst>
      <p:ext uri="{BB962C8B-B14F-4D97-AF65-F5344CB8AC3E}">
        <p14:creationId xmlns:p14="http://schemas.microsoft.com/office/powerpoint/2010/main" val="2780811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5021-5457-109D-D155-570FDAD88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D57F32D-4797-FFD0-1FB3-973C6ECDBE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940119"/>
              </p:ext>
            </p:extLst>
          </p:nvPr>
        </p:nvGraphicFramePr>
        <p:xfrm>
          <a:off x="1975624" y="167082"/>
          <a:ext cx="8240751" cy="6264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564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313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BA7A0-43FD-D31B-9301-BD631F74D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4A4F070-DF15-EC9E-A370-659E2B914D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4963630"/>
              </p:ext>
            </p:extLst>
          </p:nvPr>
        </p:nvGraphicFramePr>
        <p:xfrm>
          <a:off x="1975624" y="114486"/>
          <a:ext cx="8240751" cy="64004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621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5E9F-B995-F44E-DA04-6F042EF4F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A23B0BC1-CE3D-7E8C-50E1-48C5FEC1AF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3880007"/>
              </p:ext>
            </p:extLst>
          </p:nvPr>
        </p:nvGraphicFramePr>
        <p:xfrm>
          <a:off x="1975624" y="114486"/>
          <a:ext cx="8240751" cy="6430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9E14F2C5-0496-D0AD-7100-37AE4A458B58}"/>
              </a:ext>
            </a:extLst>
          </p:cNvPr>
          <p:cNvSpPr/>
          <p:nvPr/>
        </p:nvSpPr>
        <p:spPr>
          <a:xfrm>
            <a:off x="2193071" y="4995745"/>
            <a:ext cx="7805855" cy="612648"/>
          </a:xfrm>
          <a:prstGeom prst="wedgeRectCallout">
            <a:avLst>
              <a:gd name="adj1" fmla="val -31249"/>
              <a:gd name="adj2" fmla="val -794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portion of net income distributed to shareholders.</a:t>
            </a:r>
          </a:p>
        </p:txBody>
      </p:sp>
    </p:spTree>
    <p:extLst>
      <p:ext uri="{BB962C8B-B14F-4D97-AF65-F5344CB8AC3E}">
        <p14:creationId xmlns:p14="http://schemas.microsoft.com/office/powerpoint/2010/main" val="7061671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B8AB-AC4F-92F7-5DA4-EFE829FC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DBE40575-BE28-ED7E-1E7A-BDC5C748AE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417135"/>
              </p:ext>
            </p:extLst>
          </p:nvPr>
        </p:nvGraphicFramePr>
        <p:xfrm>
          <a:off x="1975624" y="114486"/>
          <a:ext cx="8240751" cy="64309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89007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7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  <p:sp>
        <p:nvSpPr>
          <p:cNvPr id="2" name="Rectangular Callout 1">
            <a:extLst>
              <a:ext uri="{FF2B5EF4-FFF2-40B4-BE49-F238E27FC236}">
                <a16:creationId xmlns:a16="http://schemas.microsoft.com/office/drawing/2014/main" id="{00DFEC42-3E76-D8FF-E78D-291F0DEE2F20}"/>
              </a:ext>
            </a:extLst>
          </p:cNvPr>
          <p:cNvSpPr/>
          <p:nvPr/>
        </p:nvSpPr>
        <p:spPr>
          <a:xfrm>
            <a:off x="2107581" y="5397187"/>
            <a:ext cx="8006576" cy="970157"/>
          </a:xfrm>
          <a:prstGeom prst="wedgeRectCallout">
            <a:avLst>
              <a:gd name="adj1" fmla="val -31249"/>
              <a:gd name="adj2" fmla="val -794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portion of net income reinvested back into the company for growth.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to retained earnings  = Net income - Total Dividends</a:t>
            </a:r>
          </a:p>
        </p:txBody>
      </p:sp>
    </p:spTree>
    <p:extLst>
      <p:ext uri="{BB962C8B-B14F-4D97-AF65-F5344CB8AC3E}">
        <p14:creationId xmlns:p14="http://schemas.microsoft.com/office/powerpoint/2010/main" val="613070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BF116-D4BC-C5F0-8C61-BEB914CEF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20EA3AEF-3F46-7F99-F736-099D1C947A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367897"/>
              </p:ext>
            </p:extLst>
          </p:nvPr>
        </p:nvGraphicFramePr>
        <p:xfrm>
          <a:off x="1975624" y="181393"/>
          <a:ext cx="8240751" cy="64918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per share (EPS)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Dividends per share (DPS)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921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D184F-8DEA-401E-7707-5C3D829B6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3691EA-8AD9-99E0-B057-767AC4407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4D4C8-44BE-77C8-88DE-4C46173D8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 vs. DPS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71F38C0-EA88-073D-CC94-366F5A7D1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AD5CC-08CC-4BAC-3FCC-404C0DFCB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921" y="1806222"/>
                <a:ext cx="11363131" cy="488852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Earnings Per Share (EPS)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portion of a company's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 income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allocated to each outstanding share of common stock.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Often called the "bottom line" because it represents the final profitability metric on the income statement.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Earnings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Share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EPS</m:t>
                      </m:r>
                      <m:r>
                        <m:rPr>
                          <m:nor/>
                        </m:rPr>
                        <a:rPr lang="en-US" sz="1800" b="1" dirty="0" smtClean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1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Net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Income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Outstanding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Shares</m:t>
                          </m:r>
                        </m:den>
                      </m:f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Dividends Per Share (DPS) </a:t>
                </a: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DPS represents the portion of a company’s earnings distributed to shareholders as a dividend for each outstanding share of common stock. 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Dividends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Share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DPS</m:t>
                      </m:r>
                      <m:r>
                        <m:rPr>
                          <m:nor/>
                        </m:rPr>
                        <a:rPr lang="en-US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sz="1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800" b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US" sz="1800" b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Dividends</m:t>
                          </m:r>
                          <m:r>
                            <m:rPr>
                              <m:nor/>
                            </m:rPr>
                            <a:rPr lang="en-US" sz="1800" b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Paid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Outstanding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1800" b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Shares</m:t>
                          </m:r>
                        </m:den>
                      </m:f>
                    </m:oMath>
                  </m:oMathPara>
                </a14:m>
                <a:endParaRPr lang="en-US" sz="1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BAD5CC-08CC-4BAC-3FCC-404C0DFCB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921" y="1806222"/>
                <a:ext cx="11363131" cy="4888524"/>
              </a:xfrm>
              <a:blipFill>
                <a:blip r:embed="rId2"/>
                <a:stretch>
                  <a:fillRect l="-670" t="-1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6323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2F0E0-ABDE-BD7F-4D10-D8B4DCE3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4B3957-A9CA-1D06-0063-9156F598A3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E51D3-1978-D630-10C3-1955E62B4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 vs. EBITDA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AE4FF46-E27A-1E7F-1466-5E82062A1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5BB97-8321-97C8-842F-CC80E54F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Earnings Before Interest and Taxes (EBIT):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EBIT  = Net Sales – Operating costs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a company's profitability from core operations.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and amortization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non-cash expenses.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EBITDA (Earnings Before Interest and Taxes and Depreciation and amortization)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clearer picture of cash-generating ability by excluding non-cash costs. 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EBITDA = EBIT + Depreciation + Amortization</a:t>
            </a:r>
          </a:p>
        </p:txBody>
      </p:sp>
    </p:spTree>
    <p:extLst>
      <p:ext uri="{BB962C8B-B14F-4D97-AF65-F5344CB8AC3E}">
        <p14:creationId xmlns:p14="http://schemas.microsoft.com/office/powerpoint/2010/main" val="21698882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C32C7-0757-91AB-EE2D-89063CB33CBB}"/>
              </a:ext>
            </a:extLst>
          </p:cNvPr>
          <p:cNvSpPr txBox="1"/>
          <p:nvPr/>
        </p:nvSpPr>
        <p:spPr>
          <a:xfrm>
            <a:off x="593149" y="1382286"/>
            <a:ext cx="10147330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given information, fill out the income statement for Company XYZ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Data for Dec 31, 2024: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Sales: $4,500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Costs (Excl. Dep. &amp; Amort.): $3,800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&amp; Amortization: $150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Paid: $230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rate: 25%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(2023): $172</a:t>
            </a:r>
          </a:p>
          <a:p>
            <a:pPr marL="1257300" lvl="2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(2024): $234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8B7D9-B24A-9FF1-1B03-2E2E5C13ED45}"/>
              </a:ext>
            </a:extLst>
          </p:cNvPr>
          <p:cNvSpPr txBox="1"/>
          <p:nvPr/>
        </p:nvSpPr>
        <p:spPr>
          <a:xfrm>
            <a:off x="624469" y="447899"/>
            <a:ext cx="241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Question_2</a:t>
            </a:r>
          </a:p>
        </p:txBody>
      </p:sp>
    </p:spTree>
    <p:extLst>
      <p:ext uri="{BB962C8B-B14F-4D97-AF65-F5344CB8AC3E}">
        <p14:creationId xmlns:p14="http://schemas.microsoft.com/office/powerpoint/2010/main" val="3561331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EDB5-2999-5611-7F00-12923E631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84F22AEF-2FAC-6697-9094-A122C37528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8943487"/>
              </p:ext>
            </p:extLst>
          </p:nvPr>
        </p:nvGraphicFramePr>
        <p:xfrm>
          <a:off x="1975624" y="181393"/>
          <a:ext cx="8240751" cy="64918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$4500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(3800)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(150)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(230)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per share (EPS)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Dividends per share (DPS)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823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4596D-F16D-3EC4-C2D8-CC4BEA5F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198A266-57D8-4DA0-DA94-90F698F9F6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6696864"/>
              </p:ext>
            </p:extLst>
          </p:nvPr>
        </p:nvGraphicFramePr>
        <p:xfrm>
          <a:off x="1975624" y="181393"/>
          <a:ext cx="8240751" cy="65071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$4500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(3800)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(150)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$3950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(230)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$320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(80)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$240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per share (EPS)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Dividends per share (DPS)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F40A1E-ABBD-4AE7-E9F6-E60D9F25741E}"/>
              </a:ext>
            </a:extLst>
          </p:cNvPr>
          <p:cNvSpPr txBox="1"/>
          <p:nvPr/>
        </p:nvSpPr>
        <p:spPr>
          <a:xfrm>
            <a:off x="3836019" y="4739267"/>
            <a:ext cx="36018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(2023): $172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(2024): $234</a:t>
            </a:r>
            <a:endParaRPr lang="en-US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804444-BFB6-8B2E-B4A8-47508F0EE5FA}"/>
              </a:ext>
            </a:extLst>
          </p:cNvPr>
          <p:cNvCxnSpPr>
            <a:cxnSpLocks/>
          </p:cNvCxnSpPr>
          <p:nvPr/>
        </p:nvCxnSpPr>
        <p:spPr>
          <a:xfrm>
            <a:off x="7281746" y="5077821"/>
            <a:ext cx="83634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164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766F-B197-11F4-7242-B4DF5F7C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1238BED-39E5-227D-062B-03F218999C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1848900"/>
              </p:ext>
            </p:extLst>
          </p:nvPr>
        </p:nvGraphicFramePr>
        <p:xfrm>
          <a:off x="1975624" y="181393"/>
          <a:ext cx="8240751" cy="65071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$4500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(3800)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(150)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$3950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(230)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$320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(80)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$240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$178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$62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3463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per share (EPS)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Dividends per share (DPS)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3.56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64084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4D7AF66-F589-E269-C899-28F9457E3146}"/>
              </a:ext>
            </a:extLst>
          </p:cNvPr>
          <p:cNvSpPr txBox="1"/>
          <p:nvPr/>
        </p:nvSpPr>
        <p:spPr>
          <a:xfrm>
            <a:off x="3958680" y="4739267"/>
            <a:ext cx="36018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(2023): $172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Earnings (2024): $234</a:t>
            </a:r>
            <a:endParaRPr lang="en-US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4E9E0D0-3BE6-EB9C-8B5C-4481B4125817}"/>
              </a:ext>
            </a:extLst>
          </p:cNvPr>
          <p:cNvCxnSpPr>
            <a:cxnSpLocks/>
          </p:cNvCxnSpPr>
          <p:nvPr/>
        </p:nvCxnSpPr>
        <p:spPr>
          <a:xfrm>
            <a:off x="7415558" y="5077821"/>
            <a:ext cx="83634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6721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0CB30-DBA0-CC08-6B63-26C4D586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61054A-4FEC-FD13-585E-5FC76135E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CAB4F-85ED-8351-ED5D-411D4DBB3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Cash Flows: An Overview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179CD00-7A9C-AF3A-AEC5-5FD2E96FE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8BA4-E913-94D5-7DCF-C896A226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Income and Cash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income reported on the income statement is not the same as cash.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finance, “cash is king” because cash flows determine the true value of a firm.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Cash Flows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of cash flows shows how much cash the firm is generating, which is essential for investors.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Management’s Goal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management is to maximize the firm’s intrinsic value, which is based on the future cash flows the firm is expected to produce.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190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56F8F-B8D1-EB1A-F2C3-A1782ECF6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BF19B3-F5F0-D053-2BBD-CAAC464C4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EDAE4-08D0-16A4-B082-762873F04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the Cash Flow Statement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2293BE0-D009-492D-6144-32BDB9A8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5DF2-33B3-8FCC-899F-A85D3783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921" y="1806222"/>
            <a:ext cx="11363131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Activities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inflows and outflows from a company's core business operations.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Investing Activities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flows related to the acquisition and sale of long-term assets and investments.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Activities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flows from transactions with the company's investors and creditors.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Cash 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change in cash during the period, combining operating, investing, and financing activities.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Tied to the change in cash balance on the balance sheet.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615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5E561-514C-EDC3-6AC8-1F417CF9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72DE99-8EA3-6F1F-BBDC-5AC30388B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E0BC9F-15A4-4078-3987-C8E760F17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Cash Flow from Operating Activities (CFO)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2BF5C12-0E80-59AE-2490-3B65FD65B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00BD3-253E-950F-4079-76D91775E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5" y="1806222"/>
            <a:ext cx="11653024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 Method (Commonly Used):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Net Income and adjust for: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Non-Cash Items: Add back depreciation and amortization.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current assets and current liabilities: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operational assets (e.g., accounts receivable) decreases cash.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 operational liabilities (e.g., accounts payable) increases cash.</a:t>
            </a: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CFO  = Net Income + Depreciation &amp; Amortization – increase in current assets + decrease in current assets + increase in current liabilities – decrease in current liabilities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Exceptions: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debt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investments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 accounted for in this formula.</a:t>
            </a:r>
          </a:p>
        </p:txBody>
      </p:sp>
    </p:spTree>
    <p:extLst>
      <p:ext uri="{BB962C8B-B14F-4D97-AF65-F5344CB8AC3E}">
        <p14:creationId xmlns:p14="http://schemas.microsoft.com/office/powerpoint/2010/main" val="1404166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CD731-3D6D-BC67-DB4F-17B4145B2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BDC474-E8BF-A617-CF40-5F4290FDBBCF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income statement and balance sheet for Dec 31, 2024: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44C9B0F8-D4B6-250E-BFB4-525EAC332B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2165376"/>
              </p:ext>
            </p:extLst>
          </p:nvPr>
        </p:nvGraphicFramePr>
        <p:xfrm>
          <a:off x="1752599" y="818499"/>
          <a:ext cx="8240751" cy="57755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1161">
                  <a:extLst>
                    <a:ext uri="{9D8B030D-6E8A-4147-A177-3AD203B41FA5}">
                      <a16:colId xmlns:a16="http://schemas.microsoft.com/office/drawing/2014/main" val="4067771591"/>
                    </a:ext>
                  </a:extLst>
                </a:gridCol>
                <a:gridCol w="1739590">
                  <a:extLst>
                    <a:ext uri="{9D8B030D-6E8A-4147-A177-3AD203B41FA5}">
                      <a16:colId xmlns:a16="http://schemas.microsoft.com/office/drawing/2014/main" val="9717129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statement (XYZ)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979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$4500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943038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Operating costs except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(3800)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846013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Depreciation and Amortization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(150)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919569"/>
                  </a:ext>
                </a:extLst>
              </a:tr>
              <a:tr h="6430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Operating Costs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$3950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72445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income, or earnings before interest and taxes (EBIT)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314318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Less interest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(230)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88171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before taxes (EBT)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$320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90163"/>
                  </a:ext>
                </a:extLst>
              </a:tr>
              <a:tr h="3776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                 Taxes (25%)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(80)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508385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Net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$240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33371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4871329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Dividends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$178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3018806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Addition to retained earnings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$62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423499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Earnings per share (EPS)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37333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Dividends per share (DPS)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3.56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807575"/>
                  </a:ext>
                </a:extLst>
              </a:tr>
            </a:tbl>
          </a:graphicData>
        </a:graphic>
      </p:graphicFrame>
      <p:sp>
        <p:nvSpPr>
          <p:cNvPr id="4" name="5-Point Star 3">
            <a:extLst>
              <a:ext uri="{FF2B5EF4-FFF2-40B4-BE49-F238E27FC236}">
                <a16:creationId xmlns:a16="http://schemas.microsoft.com/office/drawing/2014/main" id="{CA4632DC-3FD2-28AF-8CCB-5CD5EA58B766}"/>
              </a:ext>
            </a:extLst>
          </p:cNvPr>
          <p:cNvSpPr/>
          <p:nvPr/>
        </p:nvSpPr>
        <p:spPr>
          <a:xfrm>
            <a:off x="1351155" y="4405619"/>
            <a:ext cx="401444" cy="322498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A6A8DD12-5929-3E1A-367F-AFC2E62B3408}"/>
              </a:ext>
            </a:extLst>
          </p:cNvPr>
          <p:cNvSpPr/>
          <p:nvPr/>
        </p:nvSpPr>
        <p:spPr>
          <a:xfrm>
            <a:off x="2362199" y="1915180"/>
            <a:ext cx="401444" cy="322498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965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BFC9E3-19CC-D76C-CCC6-418A24015C2E}"/>
              </a:ext>
            </a:extLst>
          </p:cNvPr>
          <p:cNvSpPr txBox="1"/>
          <p:nvPr/>
        </p:nvSpPr>
        <p:spPr>
          <a:xfrm>
            <a:off x="635618" y="178419"/>
            <a:ext cx="109118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D71564F-82AB-B31C-E2F5-25D3DA257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506944"/>
              </p:ext>
            </p:extLst>
          </p:nvPr>
        </p:nvGraphicFramePr>
        <p:xfrm>
          <a:off x="635618" y="864289"/>
          <a:ext cx="10760928" cy="5815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8188">
                  <a:extLst>
                    <a:ext uri="{9D8B030D-6E8A-4147-A177-3AD203B41FA5}">
                      <a16:colId xmlns:a16="http://schemas.microsoft.com/office/drawing/2014/main" val="2033050712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938576981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531424934"/>
                    </a:ext>
                  </a:extLst>
                </a:gridCol>
                <a:gridCol w="3398188">
                  <a:extLst>
                    <a:ext uri="{9D8B030D-6E8A-4147-A177-3AD203B41FA5}">
                      <a16:colId xmlns:a16="http://schemas.microsoft.com/office/drawing/2014/main" val="3591798817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224288223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900479267"/>
                    </a:ext>
                  </a:extLst>
                </a:gridCol>
              </a:tblGrid>
              <a:tr h="1900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620" marR="6620" marT="6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747204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1678531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Liabilities: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3127485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Cash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$159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2086504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Receivable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$266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Accruals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$160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42565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Inventory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$385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$258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Notes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3089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Prepaid Expenses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Unearned Revenue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7835845"/>
                  </a:ext>
                </a:extLst>
              </a:tr>
              <a:tr h="2723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Current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6616365"/>
                  </a:ext>
                </a:extLst>
              </a:tr>
              <a:tr h="5126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Assets: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$786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$654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$608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$802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7965994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Fixed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Long-Term 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5517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Net Plant &amp; Equipment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$1,254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$1,190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Bonds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641349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Intangible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$182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Long-Term Loans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7907612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Investments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Long-Term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$1,240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$1,050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1218323"/>
                  </a:ext>
                </a:extLst>
              </a:tr>
              <a:tr h="3861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Fixed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$1,848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$1,852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97816188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529267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Common stocks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451274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Retained Earning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4497140"/>
                  </a:ext>
                </a:extLst>
              </a:tr>
              <a:tr h="4864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Fixed Assets: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$1,896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$1,970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Equity: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$834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$772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731233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Assets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 and Equity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4874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131CB54-2465-A820-C1E2-D42396F27CE1}"/>
              </a:ext>
            </a:extLst>
          </p:cNvPr>
          <p:cNvSpPr/>
          <p:nvPr/>
        </p:nvSpPr>
        <p:spPr>
          <a:xfrm>
            <a:off x="412594" y="1338142"/>
            <a:ext cx="11143787" cy="209085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ultiply 7">
            <a:extLst>
              <a:ext uri="{FF2B5EF4-FFF2-40B4-BE49-F238E27FC236}">
                <a16:creationId xmlns:a16="http://schemas.microsoft.com/office/drawing/2014/main" id="{5FDF0F55-0ADD-9EAC-C9D0-C0354FE8B87E}"/>
              </a:ext>
            </a:extLst>
          </p:cNvPr>
          <p:cNvSpPr/>
          <p:nvPr/>
        </p:nvSpPr>
        <p:spPr>
          <a:xfrm>
            <a:off x="5999356" y="2152184"/>
            <a:ext cx="457200" cy="39029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5AFD9C59-CA8E-6454-126E-EE973B2FF885}"/>
              </a:ext>
            </a:extLst>
          </p:cNvPr>
          <p:cNvSpPr/>
          <p:nvPr/>
        </p:nvSpPr>
        <p:spPr>
          <a:xfrm>
            <a:off x="646769" y="1568603"/>
            <a:ext cx="457200" cy="390293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339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97621-7A2E-4360-F23B-0BA3DE839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189D84-FCC3-ADD3-BDA1-E2587DA16944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BD95B-220A-7338-707A-21296CFDA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53206"/>
              </p:ext>
            </p:extLst>
          </p:nvPr>
        </p:nvGraphicFramePr>
        <p:xfrm>
          <a:off x="2738505" y="1084147"/>
          <a:ext cx="6714989" cy="4657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5062">
                  <a:extLst>
                    <a:ext uri="{9D8B030D-6E8A-4147-A177-3AD203B41FA5}">
                      <a16:colId xmlns:a16="http://schemas.microsoft.com/office/drawing/2014/main" val="302425527"/>
                    </a:ext>
                  </a:extLst>
                </a:gridCol>
                <a:gridCol w="1289927">
                  <a:extLst>
                    <a:ext uri="{9D8B030D-6E8A-4147-A177-3AD203B41FA5}">
                      <a16:colId xmlns:a16="http://schemas.microsoft.com/office/drawing/2014/main" val="1860931557"/>
                    </a:ext>
                  </a:extLst>
                </a:gridCol>
              </a:tblGrid>
              <a:tr h="3703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Calculating CFO for XYZ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05533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Net income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a:t>$240</a:t>
                      </a:r>
                      <a:endParaRPr lang="en-US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793132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Depreciation and Amortization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Helvetica" pitchFamily="2" charset="0"/>
                        </a:rPr>
                        <a:t>$150</a:t>
                      </a:r>
                      <a:endParaRPr lang="en-US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50966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Decrease in Accounts Receivable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$28 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05443596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Increase in Inventory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($127) 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71354091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Increase in Prepaid Expenses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($40) 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19408937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Decrease in Other Current Assets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$15 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27907514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Increase in Accounts Payable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$41 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130619895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Decrease in Accruals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($19) 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4207044505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Decrease in Unearned Revenue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($151) 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178388734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789138443"/>
                  </a:ext>
                </a:extLst>
              </a:tr>
              <a:tr h="558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Net Cash Provided by or Used in Operation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00B050"/>
                          </a:solidFill>
                          <a:effectLst/>
                          <a:latin typeface="Helvetica" pitchFamily="2" charset="0"/>
                        </a:rPr>
                        <a:t>$137</a:t>
                      </a:r>
                      <a:endParaRPr lang="en-US" sz="1800" b="1" i="0" u="none" strike="noStrike" dirty="0">
                        <a:solidFill>
                          <a:srgbClr val="00B05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209776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12671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42C73-F332-687B-EB06-E7BA0AA69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AFE98D-0073-4618-57AC-5FEEF690E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1F3DB8-B3EA-CE31-F943-5A2D9E492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Cash Flow from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Investing Activities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(CFI)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34F7065D-DC25-1897-D351-B90EE1E58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668AB-999A-060B-B9AE-C2FE0E44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5" y="1806222"/>
            <a:ext cx="11653024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the cash inflows and outflows from acquiring or selling long-term assets and investments.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that they are linked: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property, plant, and equipment (PPE) and their Depreciations.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Investments (e.g., stocks, bonds, or other businesses).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Intangible assets (e.g., patents or software) and their Amortization.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fixed Assets.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266E2-977B-5878-E44C-4571E7BF18A5}"/>
              </a:ext>
            </a:extLst>
          </p:cNvPr>
          <p:cNvSpPr txBox="1"/>
          <p:nvPr/>
        </p:nvSpPr>
        <p:spPr>
          <a:xfrm>
            <a:off x="7968746" y="3059668"/>
            <a:ext cx="2768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net PP&amp;E + Dep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B3BA3-9186-F9A5-A05C-74B8DA3920CF}"/>
              </a:ext>
            </a:extLst>
          </p:cNvPr>
          <p:cNvSpPr txBox="1"/>
          <p:nvPr/>
        </p:nvSpPr>
        <p:spPr>
          <a:xfrm>
            <a:off x="7968746" y="4250484"/>
            <a:ext cx="3552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Intangible assets + Amort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717035-03A3-0168-DB8F-D2A3EBC28D16}"/>
              </a:ext>
            </a:extLst>
          </p:cNvPr>
          <p:cNvSpPr txBox="1"/>
          <p:nvPr/>
        </p:nvSpPr>
        <p:spPr>
          <a:xfrm>
            <a:off x="7968746" y="3655076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Investments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0B09B-99DE-8690-C1CA-9A65EA76FCC0}"/>
              </a:ext>
            </a:extLst>
          </p:cNvPr>
          <p:cNvSpPr txBox="1"/>
          <p:nvPr/>
        </p:nvSpPr>
        <p:spPr>
          <a:xfrm>
            <a:off x="7968745" y="4877207"/>
            <a:ext cx="2890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Other fixed Assets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994C9-A80C-2A8E-1163-4BD461AF6E1E}"/>
              </a:ext>
            </a:extLst>
          </p:cNvPr>
          <p:cNvSpPr txBox="1"/>
          <p:nvPr/>
        </p:nvSpPr>
        <p:spPr>
          <a:xfrm>
            <a:off x="8993866" y="33753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54AC9-5C1C-A943-A8B5-978A8D48A9D8}"/>
              </a:ext>
            </a:extLst>
          </p:cNvPr>
          <p:cNvSpPr txBox="1"/>
          <p:nvPr/>
        </p:nvSpPr>
        <p:spPr>
          <a:xfrm>
            <a:off x="8993866" y="40060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32D38-A151-25F0-C2CA-6DF5797B8D85}"/>
              </a:ext>
            </a:extLst>
          </p:cNvPr>
          <p:cNvSpPr txBox="1"/>
          <p:nvPr/>
        </p:nvSpPr>
        <p:spPr>
          <a:xfrm>
            <a:off x="8993866" y="461981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0633479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5B502-C925-CC1D-541D-044DBB40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8B46E-891A-DDDB-7B7F-C3F74FC0AC71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26D7F7-B509-C413-34D1-3D94E7E47193}"/>
              </a:ext>
            </a:extLst>
          </p:cNvPr>
          <p:cNvGraphicFramePr>
            <a:graphicFrameLocks noGrp="1"/>
          </p:cNvGraphicFramePr>
          <p:nvPr/>
        </p:nvGraphicFramePr>
        <p:xfrm>
          <a:off x="635618" y="864289"/>
          <a:ext cx="10760928" cy="5815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8188">
                  <a:extLst>
                    <a:ext uri="{9D8B030D-6E8A-4147-A177-3AD203B41FA5}">
                      <a16:colId xmlns:a16="http://schemas.microsoft.com/office/drawing/2014/main" val="2033050712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938576981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531424934"/>
                    </a:ext>
                  </a:extLst>
                </a:gridCol>
                <a:gridCol w="3398188">
                  <a:extLst>
                    <a:ext uri="{9D8B030D-6E8A-4147-A177-3AD203B41FA5}">
                      <a16:colId xmlns:a16="http://schemas.microsoft.com/office/drawing/2014/main" val="3591798817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224288223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900479267"/>
                    </a:ext>
                  </a:extLst>
                </a:gridCol>
              </a:tblGrid>
              <a:tr h="1900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620" marR="6620" marT="6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747204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1678531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Liabilities: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3127485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Cash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$159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2086504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Receivable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$266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Accruals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$160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42565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Inventory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$385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$258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Notes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3089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Prepaid Expenses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Unearned Revenue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7835845"/>
                  </a:ext>
                </a:extLst>
              </a:tr>
              <a:tr h="2723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Current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6616365"/>
                  </a:ext>
                </a:extLst>
              </a:tr>
              <a:tr h="5126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Assets: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$786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$654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$608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$802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7965994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Fixed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Long-Term 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5517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Net Plant &amp; Equipment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$1,254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$1,190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Bonds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641349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Intangible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$182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Long-Term Loans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7907612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Investments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Long-Term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$1,240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$1,050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1218323"/>
                  </a:ext>
                </a:extLst>
              </a:tr>
              <a:tr h="3861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Fixed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$1,848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$1,852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97816188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529267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Common stocks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451274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Retained Earning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4497140"/>
                  </a:ext>
                </a:extLst>
              </a:tr>
              <a:tr h="4864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Fixed Assets: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$1,896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$1,970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Equity: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$834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$772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731233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Assets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 and Equity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4874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037B97BE-96C6-BBD9-013C-F729C2DDB262}"/>
              </a:ext>
            </a:extLst>
          </p:cNvPr>
          <p:cNvSpPr/>
          <p:nvPr/>
        </p:nvSpPr>
        <p:spPr>
          <a:xfrm>
            <a:off x="546409" y="3456878"/>
            <a:ext cx="5408342" cy="2090858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E17EC258-E3AA-3E46-BE9E-AB6242D49179}"/>
              </a:ext>
            </a:extLst>
          </p:cNvPr>
          <p:cNvSpPr/>
          <p:nvPr/>
        </p:nvSpPr>
        <p:spPr>
          <a:xfrm>
            <a:off x="635618" y="3894598"/>
            <a:ext cx="501805" cy="289932"/>
          </a:xfrm>
          <a:prstGeom prst="star4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6986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0BEC2-5525-9500-9326-88EC510D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A99109-B366-CF0E-8807-2D619D1E8AD2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F65895-D22B-9875-7546-80EF27E80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004482"/>
              </p:ext>
            </p:extLst>
          </p:nvPr>
        </p:nvGraphicFramePr>
        <p:xfrm>
          <a:off x="691374" y="3116035"/>
          <a:ext cx="6714989" cy="2775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5062">
                  <a:extLst>
                    <a:ext uri="{9D8B030D-6E8A-4147-A177-3AD203B41FA5}">
                      <a16:colId xmlns:a16="http://schemas.microsoft.com/office/drawing/2014/main" val="302425527"/>
                    </a:ext>
                  </a:extLst>
                </a:gridCol>
                <a:gridCol w="1289927">
                  <a:extLst>
                    <a:ext uri="{9D8B030D-6E8A-4147-A177-3AD203B41FA5}">
                      <a16:colId xmlns:a16="http://schemas.microsoft.com/office/drawing/2014/main" val="1860931557"/>
                    </a:ext>
                  </a:extLst>
                </a:gridCol>
              </a:tblGrid>
              <a:tr h="32921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Helvetica" pitchFamily="2" charset="0"/>
                        </a:rPr>
                        <a:t>Calculating CFI for XYZ</a:t>
                      </a:r>
                      <a:endParaRPr lang="en-US" sz="1800" b="1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05533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Increase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Plant &amp; Equipment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($184) 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05443596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Increase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Intangible Assets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($42)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71354091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Decrease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Investments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$90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19408937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Decrease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Other Fixed Assets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$60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27907514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789138443"/>
                  </a:ext>
                </a:extLst>
              </a:tr>
              <a:tr h="558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Net Cash Provided by or Used in Investment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($76)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2097763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CA7774-1120-C62B-2DBC-BD41FA80B734}"/>
              </a:ext>
            </a:extLst>
          </p:cNvPr>
          <p:cNvSpPr txBox="1"/>
          <p:nvPr/>
        </p:nvSpPr>
        <p:spPr>
          <a:xfrm>
            <a:off x="747130" y="935822"/>
            <a:ext cx="4637808" cy="1421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information: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for </a:t>
            </a:r>
            <a:r>
              <a:rPr lang="en-US" sz="20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Plant &amp; Equipment = $120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Amortization for  </a:t>
            </a:r>
            <a:r>
              <a:rPr lang="en-US" sz="20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Intangible Assets = $30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7472F-D153-B303-C725-DEF59013EC66}"/>
              </a:ext>
            </a:extLst>
          </p:cNvPr>
          <p:cNvSpPr txBox="1"/>
          <p:nvPr/>
        </p:nvSpPr>
        <p:spPr>
          <a:xfrm>
            <a:off x="8162692" y="3429000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$1,254 - $1,190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$120 = $184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BC2FC-0C3D-9617-8A58-D2EAB4D5C0E0}"/>
              </a:ext>
            </a:extLst>
          </p:cNvPr>
          <p:cNvSpPr txBox="1"/>
          <p:nvPr/>
        </p:nvSpPr>
        <p:spPr>
          <a:xfrm>
            <a:off x="8162692" y="3882483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$182 - $170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$30 = $42</a:t>
            </a:r>
            <a:r>
              <a:rPr lang="en-US" sz="18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3529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2D5434-9796-04CC-A488-C6186E323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0DCE7E1-84C6-A5C7-47D5-C2FF65BD8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3DA86-439E-48A3-D513-C0402C60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Cash Flow from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Financing Activities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(CFF)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2CC2FD9-D9E0-B3CE-6E49-B14EAA34C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C678-CAA9-AB72-A679-F6C773BF3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5" y="1806222"/>
            <a:ext cx="11653024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cash inflows and outflows related to transactions with the company's owners and creditors to fund its operations or growth. </a:t>
            </a: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that they are linked: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Debt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Debt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Equity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Dividend Paid.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7324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01CC-6088-B91E-B668-1C79DDF0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7493AD-CE17-5295-450D-A72A9081755A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AF508E-131E-8D1E-633A-E1EF7DC13774}"/>
              </a:ext>
            </a:extLst>
          </p:cNvPr>
          <p:cNvGraphicFramePr>
            <a:graphicFrameLocks noGrp="1"/>
          </p:cNvGraphicFramePr>
          <p:nvPr/>
        </p:nvGraphicFramePr>
        <p:xfrm>
          <a:off x="635618" y="864289"/>
          <a:ext cx="10760928" cy="5815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8188">
                  <a:extLst>
                    <a:ext uri="{9D8B030D-6E8A-4147-A177-3AD203B41FA5}">
                      <a16:colId xmlns:a16="http://schemas.microsoft.com/office/drawing/2014/main" val="2033050712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938576981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531424934"/>
                    </a:ext>
                  </a:extLst>
                </a:gridCol>
                <a:gridCol w="3398188">
                  <a:extLst>
                    <a:ext uri="{9D8B030D-6E8A-4147-A177-3AD203B41FA5}">
                      <a16:colId xmlns:a16="http://schemas.microsoft.com/office/drawing/2014/main" val="3591798817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224288223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900479267"/>
                    </a:ext>
                  </a:extLst>
                </a:gridCol>
              </a:tblGrid>
              <a:tr h="1900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620" marR="6620" marT="6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747204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rtl="0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1678531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Liabilities: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3127485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Cash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$159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2086504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Receivable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$266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Accruals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$160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42565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Inventory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$385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$258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Notes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3089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Prepaid Expenses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Unearned Revenue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7835845"/>
                  </a:ext>
                </a:extLst>
              </a:tr>
              <a:tr h="2723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Current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96616365"/>
                  </a:ext>
                </a:extLst>
              </a:tr>
              <a:tr h="5126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Assets: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$786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$654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Current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$608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$802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907965994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Fixed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Long-Term Liabilities: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75517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Net Plant &amp; Equipment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$1,254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$1,190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Bonds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$690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6413496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Intangible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$182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Long-Term Loans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07907612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Investments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Long-Term Liabilities:        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$1,240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$1,050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61218323"/>
                  </a:ext>
                </a:extLst>
              </a:tr>
              <a:tr h="3861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Fixed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$110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$1,848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$1,852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97816188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Equity: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5292679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Common stocks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$600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24512743"/>
                  </a:ext>
                </a:extLst>
              </a:tr>
              <a:tr h="22998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Retained Earning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$172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64497140"/>
                  </a:ext>
                </a:extLst>
              </a:tr>
              <a:tr h="4864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Total Fixed Assets: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$1,896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$1,970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Equity: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$834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$772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517312338"/>
                  </a:ext>
                </a:extLst>
              </a:tr>
              <a:tr h="3506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Assets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Liabilities and Equity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$2,682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$2,624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14874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A11D26B-0EF1-4E5A-C98C-807FC67FBA6F}"/>
              </a:ext>
            </a:extLst>
          </p:cNvPr>
          <p:cNvSpPr/>
          <p:nvPr/>
        </p:nvSpPr>
        <p:spPr>
          <a:xfrm>
            <a:off x="5898995" y="3428999"/>
            <a:ext cx="5600914" cy="246999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3F93A0-35B0-F850-1949-C7FE16132230}"/>
              </a:ext>
            </a:extLst>
          </p:cNvPr>
          <p:cNvSpPr/>
          <p:nvPr/>
        </p:nvSpPr>
        <p:spPr>
          <a:xfrm>
            <a:off x="5898995" y="2163336"/>
            <a:ext cx="5600914" cy="312235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4-Point Star 3">
            <a:extLst>
              <a:ext uri="{FF2B5EF4-FFF2-40B4-BE49-F238E27FC236}">
                <a16:creationId xmlns:a16="http://schemas.microsoft.com/office/drawing/2014/main" id="{85093528-555C-F1A7-EEC8-DDF2CDFB1023}"/>
              </a:ext>
            </a:extLst>
          </p:cNvPr>
          <p:cNvSpPr/>
          <p:nvPr/>
        </p:nvSpPr>
        <p:spPr>
          <a:xfrm>
            <a:off x="6016082" y="5597911"/>
            <a:ext cx="364990" cy="301083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030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8D8D8-3ECF-9385-A896-04B18554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59DD7-5943-F223-5D37-389706A6FEE3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6EA2C3-586D-1847-A506-14ED23D4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38862"/>
              </p:ext>
            </p:extLst>
          </p:nvPr>
        </p:nvGraphicFramePr>
        <p:xfrm>
          <a:off x="747130" y="2725742"/>
          <a:ext cx="6714989" cy="2775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5062">
                  <a:extLst>
                    <a:ext uri="{9D8B030D-6E8A-4147-A177-3AD203B41FA5}">
                      <a16:colId xmlns:a16="http://schemas.microsoft.com/office/drawing/2014/main" val="302425527"/>
                    </a:ext>
                  </a:extLst>
                </a:gridCol>
                <a:gridCol w="1289927">
                  <a:extLst>
                    <a:ext uri="{9D8B030D-6E8A-4147-A177-3AD203B41FA5}">
                      <a16:colId xmlns:a16="http://schemas.microsoft.com/office/drawing/2014/main" val="1860931557"/>
                    </a:ext>
                  </a:extLst>
                </a:gridCol>
              </a:tblGrid>
              <a:tr h="32921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Helvetica" pitchFamily="2" charset="0"/>
                        </a:rPr>
                        <a:t>Calculating CFF for XYZ</a:t>
                      </a:r>
                      <a:endParaRPr lang="en-US" sz="1800" b="1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05533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Decrease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Notes Payable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($65)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05443596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Increase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Bonds Payable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$140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71354091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Increase in 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Long-Term Loans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$50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194089379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Helvetica" pitchFamily="2" charset="0"/>
                          <a:cs typeface="Times New Roman" panose="02020603050405020304" pitchFamily="18" charset="0"/>
                        </a:rPr>
                        <a:t> Total Dividends Paid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  <a:latin typeface="Helvetica" pitchFamily="2" charset="0"/>
                        </a:rPr>
                        <a:t>($178)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279075141"/>
                  </a:ext>
                </a:extLst>
              </a:tr>
              <a:tr h="3703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789138443"/>
                  </a:ext>
                </a:extLst>
              </a:tr>
              <a:tr h="558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Net Cash Provided by or Used in Investment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rgbClr val="FF0000"/>
                          </a:solidFill>
                          <a:effectLst/>
                          <a:latin typeface="Helvetica" pitchFamily="2" charset="0"/>
                        </a:rPr>
                        <a:t>($53)</a:t>
                      </a:r>
                      <a:endParaRPr lang="en-US" sz="1800" b="1" i="0" u="none" strike="noStrike" dirty="0">
                        <a:solidFill>
                          <a:srgbClr val="FF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20977636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DBD20B1-8B96-CDB1-A838-858D4114888E}"/>
              </a:ext>
            </a:extLst>
          </p:cNvPr>
          <p:cNvSpPr txBox="1"/>
          <p:nvPr/>
        </p:nvSpPr>
        <p:spPr>
          <a:xfrm>
            <a:off x="747130" y="935822"/>
            <a:ext cx="3065006" cy="96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information: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Dividends Paid</a:t>
            </a:r>
            <a:r>
              <a:rPr lang="en-US" sz="200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 $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224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0CE8-7D74-D5E6-3DD1-44CEE2BD9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C66E1-7B20-88B6-89E8-38B1D6A7E073}"/>
              </a:ext>
            </a:extLst>
          </p:cNvPr>
          <p:cNvSpPr txBox="1"/>
          <p:nvPr/>
        </p:nvSpPr>
        <p:spPr>
          <a:xfrm>
            <a:off x="635618" y="178419"/>
            <a:ext cx="10671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XYZ balance sheet and income statement for Dec 31, 2024: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A55A5A-3B9F-64E9-0CD5-DCA8263A5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275151"/>
              </p:ext>
            </p:extLst>
          </p:nvPr>
        </p:nvGraphicFramePr>
        <p:xfrm>
          <a:off x="1611006" y="3429000"/>
          <a:ext cx="89611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302425527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1860931557"/>
                    </a:ext>
                  </a:extLst>
                </a:gridCol>
              </a:tblGrid>
              <a:tr h="5486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Helvetica" pitchFamily="2" charset="0"/>
                        </a:rPr>
                        <a:t>Summary of cash flow statement for XYZ</a:t>
                      </a:r>
                      <a:endParaRPr lang="en-US" sz="2400" b="1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0553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Net Increase in cash</a:t>
                      </a:r>
                      <a:endParaRPr lang="en-US" sz="2400" b="0" kern="1200" dirty="0">
                        <a:solidFill>
                          <a:schemeClr val="tx1"/>
                        </a:solidFill>
                        <a:effectLst/>
                        <a:latin typeface="Helvetica" pitchFamily="2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$8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05443596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Cash at the beginning of period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Helvetica" pitchFamily="2" charset="0"/>
                        </a:rPr>
                        <a:t>$12</a:t>
                      </a:r>
                      <a:endParaRPr lang="en-US" sz="24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2713540919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 Cash at the end of year</a:t>
                      </a: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b="1" i="0" u="none" strike="noStrike" dirty="0">
                          <a:solidFill>
                            <a:srgbClr val="00B050"/>
                          </a:solidFill>
                          <a:effectLst/>
                          <a:latin typeface="Helvetica" pitchFamily="2" charset="0"/>
                          <a:cs typeface="Times New Roman" panose="02020603050405020304" pitchFamily="18" charset="0"/>
                        </a:rPr>
                        <a:t>$20</a:t>
                      </a:r>
                    </a:p>
                  </a:txBody>
                  <a:tcPr marL="6620" marR="6620" marT="6620" marB="0" anchor="ctr"/>
                </a:tc>
                <a:extLst>
                  <a:ext uri="{0D108BD9-81ED-4DB2-BD59-A6C34878D82A}">
                    <a16:rowId xmlns:a16="http://schemas.microsoft.com/office/drawing/2014/main" val="31940893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B9E4E7-5299-4393-FCB2-E8C11E1FF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211983"/>
              </p:ext>
            </p:extLst>
          </p:nvPr>
        </p:nvGraphicFramePr>
        <p:xfrm>
          <a:off x="4079886" y="1490402"/>
          <a:ext cx="402336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7059497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8462012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800" b="1" u="none" strike="noStrike" dirty="0">
                          <a:effectLst/>
                        </a:rPr>
                        <a:t>CFO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$137</a:t>
                      </a:r>
                      <a:endParaRPr lang="en-US" sz="1800" b="1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6673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CFI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($76)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291297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effectLst/>
                        </a:rPr>
                        <a:t>CFF 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($53)</a:t>
                      </a:r>
                      <a:endParaRPr lang="en-US" sz="1800" b="1" i="0" u="none" strike="noStrike" dirty="0">
                        <a:solidFill>
                          <a:srgbClr val="C00000"/>
                        </a:solidFill>
                        <a:effectLst/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05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6287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1E949-59CC-4ECD-8600-B1AB1FA2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6D1060-7B0B-6ACE-723A-53F9E46A4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96E57-0CF9-A802-253D-A3C45732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of Stockholders’ Equity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F0588B41-3161-7F36-F69B-6BF8ADA25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7A3D-3C04-7F24-BEDB-757F89C07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5" y="1806222"/>
            <a:ext cx="11653024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Summarizes the changes in equity accounts during a specific period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3DBD0F-4918-042F-44F1-1F06C7D1D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152939"/>
              </p:ext>
            </p:extLst>
          </p:nvPr>
        </p:nvGraphicFramePr>
        <p:xfrm>
          <a:off x="615510" y="2599858"/>
          <a:ext cx="10957931" cy="2966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2171">
                  <a:extLst>
                    <a:ext uri="{9D8B030D-6E8A-4147-A177-3AD203B41FA5}">
                      <a16:colId xmlns:a16="http://schemas.microsoft.com/office/drawing/2014/main" val="774178839"/>
                    </a:ext>
                  </a:extLst>
                </a:gridCol>
                <a:gridCol w="1834823">
                  <a:extLst>
                    <a:ext uri="{9D8B030D-6E8A-4147-A177-3AD203B41FA5}">
                      <a16:colId xmlns:a16="http://schemas.microsoft.com/office/drawing/2014/main" val="2456365525"/>
                    </a:ext>
                  </a:extLst>
                </a:gridCol>
                <a:gridCol w="1102971">
                  <a:extLst>
                    <a:ext uri="{9D8B030D-6E8A-4147-A177-3AD203B41FA5}">
                      <a16:colId xmlns:a16="http://schemas.microsoft.com/office/drawing/2014/main" val="3615679117"/>
                    </a:ext>
                  </a:extLst>
                </a:gridCol>
                <a:gridCol w="1885556">
                  <a:extLst>
                    <a:ext uri="{9D8B030D-6E8A-4147-A177-3AD203B41FA5}">
                      <a16:colId xmlns:a16="http://schemas.microsoft.com/office/drawing/2014/main" val="607570313"/>
                    </a:ext>
                  </a:extLst>
                </a:gridCol>
                <a:gridCol w="2832410">
                  <a:extLst>
                    <a:ext uri="{9D8B030D-6E8A-4147-A177-3AD203B41FA5}">
                      <a16:colId xmlns:a16="http://schemas.microsoft.com/office/drawing/2014/main" val="108649626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Statement of Stockholders’ Equity for XYZ 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282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Common Stocks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Amount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Retained Earning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Total Stockholders’ Equity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3070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Balances, Dec 31, 2023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50,000,000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$600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$172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$772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578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Net Income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$240</a:t>
                      </a:r>
                      <a:endPara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705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Cash Dividend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C00000"/>
                          </a:solidFill>
                        </a:rPr>
                        <a:t>($178)</a:t>
                      </a:r>
                      <a:endParaRPr lang="en-US" b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69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New Stocks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$0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$0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27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Addition to Retained Earnings</a:t>
                      </a:r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$62</a:t>
                      </a:r>
                      <a:endParaRPr lang="en-US" b="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683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Balances, Dec 31, 2024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50,000,000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$600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$234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$834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270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9969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28F58-55FC-EC44-F4A2-2B8B64C63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E55EE7-FB09-CC91-C6CE-BAB41A13A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9B1AB-72CD-EB37-204D-848A38B5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Free Cash Flow (FCF)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1B4F8BD-0870-D405-AFE0-C297C6281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C81D1-32C2-A8F5-5983-AA6514652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0950535" cy="488852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Free Cash Flow (FCF)?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is the amount of cash that can be withdrawn without harming the firm’s ability to operate or generate future cash flows.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marL="742950" lvl="1" indent="-28575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financial statements are tailored for creditors and tax authorities, FCF is crucial for managers and stock analysts to evaluate a firm’s financial flexibility.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focuses on cash available for investment decisions and shareholder returns rather than just accounting profits.</a:t>
            </a:r>
          </a:p>
        </p:txBody>
      </p:sp>
    </p:spTree>
    <p:extLst>
      <p:ext uri="{BB962C8B-B14F-4D97-AF65-F5344CB8AC3E}">
        <p14:creationId xmlns:p14="http://schemas.microsoft.com/office/powerpoint/2010/main" val="31410145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91B74-4056-9A34-6427-CAF30864A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2F3E97-9725-1948-2F29-5309A2FF2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C9188-D7D8-B28D-409B-23A8B5B8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and Components of FCF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0DF4592-3241-320B-EDE5-EE0A63F38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042A7-CCB5-0AC3-279B-00CC5748F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" y="1806222"/>
            <a:ext cx="11296223" cy="488852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FCF = EBIT(1−T) + Dep &amp; Amort − (Capital Expenditures + </a:t>
            </a:r>
            <a:r>
              <a:rPr lang="el-GR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 Operating Working Capital)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Terms: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EBIT (1 − T):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 Operating Profit After Taxes (NOPAT)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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Cash generated from operations after Taxes.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and Amortization: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Non-cash expenses added back to reflect actual cash availability.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Expenditures </a:t>
            </a: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invested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PP&amp;E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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Capital Expenditures </a:t>
            </a: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PP&amp;E +  Depreciation*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Working Capital: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invested in working capital to sustain operations.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5352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6F1C9-4DAB-BDCE-C92C-51767610C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D80B66-EB84-5B85-EBD7-B0025D3F2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C30B3-D31C-E857-43E3-750ECA7D8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Free Cash Flow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29BC46E-FD38-0813-50A7-F9AA56497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99EEA-00F7-69A1-1754-1EBB2D2F5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81" y="1806222"/>
            <a:ext cx="11296223" cy="48885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FCF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the firm generates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cash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fund its investments in fixed assets and working capital.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cash can be used for: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Paying dividends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buybacks</a:t>
            </a:r>
          </a:p>
          <a:p>
            <a:pPr marL="1200150" lvl="2" indent="-28575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repayment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FCF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the firm needs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capital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through debt or equity) to fund its investments.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is a critical metric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a company’s financial health, investment capacity, and shareholder value creation.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978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A182A5-673F-9C9C-C89E-0F2D6B47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E911B35-10D7-DAA4-B8EB-F7F758957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D4881-84E8-11D0-41A1-D3C1F6969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Cash Flow is Beyond Profit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498592F-2B12-B290-B396-7C5C4CF1A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3D00B-7E72-1652-270A-693FE72BE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281" y="1806222"/>
            <a:ext cx="11296223" cy="48885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vs. Cash Flow: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Cash Flow (FCF):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Focuses on the actual cash available after meeting operational and investment needs, offering a clearer picture of financial flexibility and value creation.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Cash Flow as Value Creation: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reflects the company's ability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funding: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Opportunities: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Investing in profitable projects.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 Returns: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Paying dividends or repurchasing shares.</a:t>
            </a:r>
          </a:p>
          <a:p>
            <a:pPr lvl="2">
              <a:spcBef>
                <a:spcPts val="600"/>
              </a:spcBef>
              <a:spcAft>
                <a:spcPts val="600"/>
              </a:spcAf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Stability: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Reducing debt or maintaining cash reserves.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FCF Matters: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with high profits but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FCF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might struggle to sustain operations without external funding.</a:t>
            </a:r>
          </a:p>
        </p:txBody>
      </p:sp>
    </p:spTree>
    <p:extLst>
      <p:ext uri="{BB962C8B-B14F-4D97-AF65-F5344CB8AC3E}">
        <p14:creationId xmlns:p14="http://schemas.microsoft.com/office/powerpoint/2010/main" val="2108454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01D7A-7C52-ADD2-1DFA-8FCF61B6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36C25A-2E67-BD49-794A-046975314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42070"/>
              </p:ext>
            </p:extLst>
          </p:nvPr>
        </p:nvGraphicFramePr>
        <p:xfrm>
          <a:off x="715536" y="4771768"/>
          <a:ext cx="10760928" cy="18465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98188">
                  <a:extLst>
                    <a:ext uri="{9D8B030D-6E8A-4147-A177-3AD203B41FA5}">
                      <a16:colId xmlns:a16="http://schemas.microsoft.com/office/drawing/2014/main" val="2033050712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938576981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531424934"/>
                    </a:ext>
                  </a:extLst>
                </a:gridCol>
                <a:gridCol w="3398188">
                  <a:extLst>
                    <a:ext uri="{9D8B030D-6E8A-4147-A177-3AD203B41FA5}">
                      <a16:colId xmlns:a16="http://schemas.microsoft.com/office/drawing/2014/main" val="3591798817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1224288223"/>
                    </a:ext>
                  </a:extLst>
                </a:gridCol>
                <a:gridCol w="991138">
                  <a:extLst>
                    <a:ext uri="{9D8B030D-6E8A-4147-A177-3AD203B41FA5}">
                      <a16:colId xmlns:a16="http://schemas.microsoft.com/office/drawing/2014/main" val="2900479267"/>
                    </a:ext>
                  </a:extLst>
                </a:gridCol>
              </a:tblGrid>
              <a:tr h="18940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u="none" strike="noStrik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6620" marR="6620" marT="6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97472049"/>
                  </a:ext>
                </a:extLst>
              </a:tr>
              <a:tr h="2389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Assets: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Current Liabilities:        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93127485"/>
                  </a:ext>
                </a:extLst>
              </a:tr>
              <a:tr h="2389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Cash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$159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82086504"/>
                  </a:ext>
                </a:extLst>
              </a:tr>
              <a:tr h="334482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Accounts Receivable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$266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Accruals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$141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$160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4425656"/>
                  </a:ext>
                </a:extLst>
              </a:tr>
              <a:tr h="2389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Inventory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$385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$258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Notes Payable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$230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9430893"/>
                  </a:ext>
                </a:extLst>
              </a:tr>
              <a:tr h="2389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Prepaid Expenses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Unearned Revenue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$188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17835845"/>
                  </a:ext>
                </a:extLst>
              </a:tr>
              <a:tr h="25975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Other Current Assets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$35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620" marR="6620" marT="662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66163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30E658-84F2-1D5E-C417-52DBFE907870}"/>
              </a:ext>
            </a:extLst>
          </p:cNvPr>
          <p:cNvSpPr txBox="1"/>
          <p:nvPr/>
        </p:nvSpPr>
        <p:spPr>
          <a:xfrm>
            <a:off x="717395" y="317751"/>
            <a:ext cx="1076092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Question_3</a:t>
            </a:r>
          </a:p>
          <a:p>
            <a:pPr>
              <a:spcBef>
                <a:spcPts val="600"/>
              </a:spcBef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provided information, calculate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Cash Flow (FCF)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Plant &amp; Equipment (Net PPE):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2023: $1,190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2024: $1,254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Depreciation (for 2024): $120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Amortization (for 2024): $30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Sales (for 2024): $4,500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Costs (excluding depreciation and amortization) for 2024: $3,800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Rate: 25%</a:t>
            </a:r>
          </a:p>
          <a:p>
            <a:pPr>
              <a:spcBef>
                <a:spcPts val="600"/>
              </a:spcBef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information about current assets and current liabilities is provided in the table below.</a:t>
            </a:r>
          </a:p>
        </p:txBody>
      </p:sp>
    </p:spTree>
    <p:extLst>
      <p:ext uri="{BB962C8B-B14F-4D97-AF65-F5344CB8AC3E}">
        <p14:creationId xmlns:p14="http://schemas.microsoft.com/office/powerpoint/2010/main" val="12090781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29F5-13FF-C1D1-7B50-6A2EAC22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DF80C7-0874-372B-F2BF-67C741E13AE3}"/>
              </a:ext>
            </a:extLst>
          </p:cNvPr>
          <p:cNvSpPr txBox="1"/>
          <p:nvPr/>
        </p:nvSpPr>
        <p:spPr>
          <a:xfrm>
            <a:off x="717395" y="317751"/>
            <a:ext cx="1076092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Question_3</a:t>
            </a:r>
          </a:p>
          <a:p>
            <a:pPr>
              <a:spcBef>
                <a:spcPts val="600"/>
              </a:spcBef>
            </a:pPr>
            <a:br>
              <a:rPr lang="en-US" sz="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0EFBB-7294-97E9-0AAA-BB250DDBB1A3}"/>
              </a:ext>
            </a:extLst>
          </p:cNvPr>
          <p:cNvSpPr txBox="1"/>
          <p:nvPr/>
        </p:nvSpPr>
        <p:spPr>
          <a:xfrm>
            <a:off x="147064" y="1512001"/>
            <a:ext cx="1056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EBIT 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Net Sales – (Operating Costs + Depreciation + Amortization) </a:t>
            </a:r>
            <a:r>
              <a:rPr lang="en-US" dirty="0"/>
              <a:t>=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$4500 – ($3800 + $130 + $20) = $550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5C999E-8308-DAAC-2896-630D60822FE6}"/>
              </a:ext>
            </a:extLst>
          </p:cNvPr>
          <p:cNvSpPr txBox="1"/>
          <p:nvPr/>
        </p:nvSpPr>
        <p:spPr>
          <a:xfrm>
            <a:off x="147064" y="2220456"/>
            <a:ext cx="817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Capital Expenditures = </a:t>
            </a:r>
            <a:r>
              <a:rPr lang="el-GR" dirty="0">
                <a:solidFill>
                  <a:schemeClr val="accent4">
                    <a:lumMod val="50000"/>
                  </a:schemeClr>
                </a:solidFill>
              </a:rPr>
              <a:t>Δ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PP&amp;E +  Depreciation </a:t>
            </a:r>
            <a:r>
              <a:rPr lang="en-US" dirty="0"/>
              <a:t>=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($1,254 - $1,190) + $120 = $184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3DB80B-D808-2BE3-0496-CD063BF3672C}"/>
              </a:ext>
            </a:extLst>
          </p:cNvPr>
          <p:cNvSpPr txBox="1"/>
          <p:nvPr/>
        </p:nvSpPr>
        <p:spPr>
          <a:xfrm>
            <a:off x="147064" y="2896548"/>
            <a:ext cx="11897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NOWC 2024=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(Current Assets - excess cash) - (Current Liabilities - Short-term debt)</a:t>
            </a:r>
            <a:r>
              <a:rPr lang="en-US" dirty="0"/>
              <a:t>  =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(786 – 20) – (608 - 230) = 388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AF10B-255C-8CB6-2E80-9552BBFF5168}"/>
              </a:ext>
            </a:extLst>
          </p:cNvPr>
          <p:cNvSpPr txBox="1"/>
          <p:nvPr/>
        </p:nvSpPr>
        <p:spPr>
          <a:xfrm>
            <a:off x="147064" y="3291686"/>
            <a:ext cx="11810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NOWC 2023=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(Current Assets - excess cash) - (Current Liabilities - Short-term debt)  </a:t>
            </a:r>
            <a:r>
              <a:rPr lang="en-US" dirty="0"/>
              <a:t>= 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(654 – 12) – (802 - 295) = 135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BC3DE1-2E7E-1BF4-2066-C42A7E17329C}"/>
              </a:ext>
            </a:extLst>
          </p:cNvPr>
          <p:cNvSpPr txBox="1"/>
          <p:nvPr/>
        </p:nvSpPr>
        <p:spPr>
          <a:xfrm>
            <a:off x="147064" y="3686824"/>
            <a:ext cx="8615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Δ</a:t>
            </a:r>
            <a:r>
              <a:rPr lang="en-US" dirty="0"/>
              <a:t> Net</a:t>
            </a:r>
            <a:r>
              <a:rPr lang="el-GR" dirty="0"/>
              <a:t> </a:t>
            </a:r>
            <a:r>
              <a:rPr lang="en-US" dirty="0"/>
              <a:t>Operating Working Capital =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NOWC 2024 - NOWC 2023 </a:t>
            </a:r>
            <a:r>
              <a:rPr lang="en-US" dirty="0"/>
              <a:t>=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$388 – $135 = $235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9795EF-D74D-0C78-E71D-42CBDBE9C5E9}"/>
                  </a:ext>
                </a:extLst>
              </p:cNvPr>
              <p:cNvSpPr txBox="1"/>
              <p:nvPr/>
            </p:nvSpPr>
            <p:spPr>
              <a:xfrm>
                <a:off x="1236382" y="4605453"/>
                <a:ext cx="9632124" cy="8735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FCF = </a:t>
                </a:r>
                <a:r>
                  <a:rPr lang="en-US" sz="1800" b="1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EBIT(1−T) + Dep &amp; Amort − (Capital Expenditures + </a:t>
                </a:r>
                <a:r>
                  <a:rPr lang="el-GR" sz="1800" b="1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sz="1800" b="1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Net Operating Working Capital)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FCF =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$550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(1 - 0.25) + $150 – ($184 + $235) = 562.5 – 419  = 143.5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39795EF-D74D-0C78-E71D-42CBDBE9C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382" y="4605453"/>
                <a:ext cx="9632124" cy="873572"/>
              </a:xfrm>
              <a:prstGeom prst="rect">
                <a:avLst/>
              </a:prstGeom>
              <a:blipFill>
                <a:blip r:embed="rId2"/>
                <a:stretch>
                  <a:fillRect l="-132" r="-132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3901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F0745-2F9A-58DF-0B3D-49472A632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6556B0-6CA4-7E2D-08B9-4D514DC72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FC09D1-1AA2-20C3-2220-E3294AB0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Question_4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E22025D-7EA9-E614-EF52-F8C708C5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FA4F8-8940-1FF5-91BE-60B18688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company has EBIT of $30 million, depreciation of $5 million, and a 25% tax rate. It needs to spend $10 million on new fixed assets and $15 million to increase its operating current assets. It expects its accounts payable to increase by $2 millions, its accruals to increase by $3 millions, and its notes payable to increase by $8 millions. The firm’s current liabilities consist of only accounts payable, accruals, and notes payable. What is its free cash flow?</a:t>
            </a:r>
          </a:p>
        </p:txBody>
      </p:sp>
    </p:spTree>
    <p:extLst>
      <p:ext uri="{BB962C8B-B14F-4D97-AF65-F5344CB8AC3E}">
        <p14:creationId xmlns:p14="http://schemas.microsoft.com/office/powerpoint/2010/main" val="33380385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67F17-2E2D-938B-429D-44ACF77A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4E821C-98F8-A23A-571B-BD6EE3DD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1FA065-A4D1-B003-EEAF-135A7625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Question_4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818E4A6-7651-977E-FD3A-CF5E655B2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A3A00-AC26-0F63-C506-46398619DD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78414" y="2055813"/>
            <a:ext cx="9632124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= EBIT(1−T) + Dep &amp; Amort − (Capital Expenditures + </a:t>
            </a:r>
            <a:r>
              <a:rPr lang="el-G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 Operating Working Capital)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BDA2B-E1E7-D96A-8922-E283C631C7A0}"/>
              </a:ext>
            </a:extLst>
          </p:cNvPr>
          <p:cNvSpPr txBox="1"/>
          <p:nvPr/>
        </p:nvSpPr>
        <p:spPr>
          <a:xfrm>
            <a:off x="669036" y="2757597"/>
            <a:ext cx="10320646" cy="21200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NOWC = (Operating Current Assets) - (Operating Current Liabilities)</a:t>
            </a:r>
          </a:p>
          <a:p>
            <a:pPr>
              <a:lnSpc>
                <a:spcPct val="150000"/>
              </a:lnSpc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NOWC = (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Current Assets) - (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Current Liabilities)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 Operating Working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= (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Operating Current Assets) - (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 Liabilities -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Short-term Debt)</a:t>
            </a:r>
          </a:p>
          <a:p>
            <a:pPr>
              <a:lnSpc>
                <a:spcPct val="150000"/>
              </a:lnSpc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 Liabilities =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accounts payable +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accruals +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 </a:t>
            </a:r>
            <a:r>
              <a:rPr lang="en-US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notes payable 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$2 + $3 + $8 = $13</a:t>
            </a:r>
          </a:p>
          <a:p>
            <a:pPr>
              <a:lnSpc>
                <a:spcPct val="150000"/>
              </a:lnSpc>
            </a:pP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 Operating Working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= $15 – ($13 – $8) = $10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C0CF9-D618-C2B5-EBA5-135D60BBBE97}"/>
              </a:ext>
            </a:extLst>
          </p:cNvPr>
          <p:cNvSpPr txBox="1"/>
          <p:nvPr/>
        </p:nvSpPr>
        <p:spPr>
          <a:xfrm>
            <a:off x="3733381" y="5320965"/>
            <a:ext cx="490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 = $30 × (1−0.25) + $5 − ( $10 + $10 ) = $7.5 </a:t>
            </a:r>
          </a:p>
        </p:txBody>
      </p:sp>
    </p:spTree>
    <p:extLst>
      <p:ext uri="{BB962C8B-B14F-4D97-AF65-F5344CB8AC3E}">
        <p14:creationId xmlns:p14="http://schemas.microsoft.com/office/powerpoint/2010/main" val="1887437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C73D8-BDB3-0534-D21B-48BE20A2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04943A-4C67-549C-BECF-9795A7997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97F0F-2105-B24E-018C-2902B7A8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 (Market Value Added)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902A769-540E-77AA-8682-273063E3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6EA6D-4AFC-5A2B-3E43-EF34B1A26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MVA represents the difference between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firm’s equity and its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MVA = Market Value of Equity − Book Value of Equity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Value of Equity is calculated as: Stock Price × Shares Outstanding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 Value of Equity is the total Equity on the balance sheet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MVA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that management is creating value for shareholders.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 of directors often use MVA to evaluate management performance and determine compensation.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MVA is not solely attributable to management, as it may also reflect market conditions.</a:t>
            </a:r>
          </a:p>
        </p:txBody>
      </p:sp>
    </p:spTree>
    <p:extLst>
      <p:ext uri="{BB962C8B-B14F-4D97-AF65-F5344CB8AC3E}">
        <p14:creationId xmlns:p14="http://schemas.microsoft.com/office/powerpoint/2010/main" val="3333848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38434-16F0-BCBB-6D8C-B8CA4EA5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484537-D65F-46B4-096E-A1005A99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F1FF2-B4FF-AD03-0237-FAD5909BC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Should Individuals Pay Taxes?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C8E693A-C601-AA2E-6A51-77CB30737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E7B1-5753-F0B9-9022-86D086B34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Funding Public Services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Taxes finance essential services like education, healthcare, infrastructure, and national defense.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Programs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programs like Social Security, Medicare, and unemployment benefits.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Stability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Taxes enable governments to regulate the economy and invest in public goods.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Civic Responsibility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Paying taxes contributes to societal development and equitable resource distribution.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4282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4EDD7-D2A3-6B0C-64FA-0C990E2E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B0CCD5-C1EA-7EB9-1B7D-60E5F4757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10A92-7E0D-5FB3-FE8C-79DE30AE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Taxable Income?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A5C20F9-9AF6-6EC7-ACC4-7C4DA0D82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A02EE-391E-6023-5524-2905406A2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Taxable income = Gross income – Deductions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Gross Income: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 and salaries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income (dividends, interest, capital gains)</a:t>
            </a:r>
          </a:p>
          <a:p>
            <a:pPr marL="74295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profits (proprietorships and partnerships)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Exclusions: Some forms of income, like gifts or certain inheritances, may not be taxable.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172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220C2B-81C7-5E83-EF36-A1A835002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30C46A-35DA-347B-2C16-990C05DB1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1F05AC-020A-469F-8CB8-B9D16312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Deductions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84E1066-C4B2-FA72-4AED-7F27E9365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AC9EF-0ECE-0457-F2A4-F7D1C974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Deductions: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Deductions reduce your taxable income and can vary based on: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Deduction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fixed amount based on filing status.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Itemized Deductions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Expenses like mortgage interest, medical expenses, or charitable contributions.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417B42-F2B8-98DF-CA1E-0E4F4B12C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57797"/>
              </p:ext>
            </p:extLst>
          </p:nvPr>
        </p:nvGraphicFramePr>
        <p:xfrm>
          <a:off x="1261661" y="3897764"/>
          <a:ext cx="96656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721">
                  <a:extLst>
                    <a:ext uri="{9D8B030D-6E8A-4147-A177-3AD203B41FA5}">
                      <a16:colId xmlns:a16="http://schemas.microsoft.com/office/drawing/2014/main" val="596520563"/>
                    </a:ext>
                  </a:extLst>
                </a:gridCol>
                <a:gridCol w="3010195">
                  <a:extLst>
                    <a:ext uri="{9D8B030D-6E8A-4147-A177-3AD203B41FA5}">
                      <a16:colId xmlns:a16="http://schemas.microsoft.com/office/drawing/2014/main" val="3985114933"/>
                    </a:ext>
                  </a:extLst>
                </a:gridCol>
                <a:gridCol w="2759713">
                  <a:extLst>
                    <a:ext uri="{9D8B030D-6E8A-4147-A177-3AD203B41FA5}">
                      <a16:colId xmlns:a16="http://schemas.microsoft.com/office/drawing/2014/main" val="3334962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Filing Status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 Standard Deduction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 Standard Deduction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176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034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Married Filing Jointly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$24,800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$29,200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471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of Household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$18,650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$21,900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0010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Married Filing Separately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$12,400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$14,600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050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6400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80437-68FB-EE7B-014B-D2BC8F34C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247219-5ABD-E17C-BB4B-43CE8EBC4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153BFC-B688-55A7-1C5F-4F7A14935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Tax Structure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B9DB32B2-995A-AD02-6468-1DFE91B0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C356-547C-F19B-9F0C-3DD8090D9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Progressive Tax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U.S. uses a progressive tax system, where tax rates increase as income rises.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Progressive Tax System: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Higher earners pay a larger percentage of their income in taxes.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those with greater ability to pay contribute more.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Brackets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Divides income into ranges, each taxed at a specific rate.</a:t>
            </a:r>
          </a:p>
        </p:txBody>
      </p:sp>
    </p:spTree>
    <p:extLst>
      <p:ext uri="{BB962C8B-B14F-4D97-AF65-F5344CB8AC3E}">
        <p14:creationId xmlns:p14="http://schemas.microsoft.com/office/powerpoint/2010/main" val="37133054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032B3D49-C4A8-1DD1-DFA9-732E3EAC3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713" y="206065"/>
            <a:ext cx="8330154" cy="644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2728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E64D9-0428-741E-BB15-03B6C38B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6DE1889-1574-ECD2-6FF1-4A1DCBE1F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90D72-ADDF-27E8-1451-1995A3B6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Calculate Tax from the Tax Table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55A7EEE-2C7C-134F-E600-1B48514ED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3B33E-D10C-D172-4826-5E829A94F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66" y="1806222"/>
            <a:ext cx="11296223" cy="488852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Calculate Taxable Income: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Gross Income and subtract Deductions to find Taxable Income.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 Identify the Tax Bracket: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tax table to locate the bracket where your taxable income falls.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 Determine the Tax Base: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base tax amount for the identified bracket.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 Calculate Excess Income: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 the bracket floor from your taxable income to find the excess amount.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 Apply Marginal Tax Rate: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Multiply the excess amount by the bracket’s marginal tax rate.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 Add to Tax Base: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calculated Marginal tax to the tax base amount for your total tax owed.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715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59329-CE50-EDCA-99EF-36375635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C29B59A-1B0B-4058-24D4-812548005C06}"/>
              </a:ext>
            </a:extLst>
          </p:cNvPr>
          <p:cNvSpPr txBox="1"/>
          <p:nvPr/>
        </p:nvSpPr>
        <p:spPr>
          <a:xfrm>
            <a:off x="211873" y="120402"/>
            <a:ext cx="11079907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your Gross income is $ 70,000 (salary), and your Deductible is $12,400.  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Taxable Income =  $70,000 - $12,400 =  $57,600</a:t>
            </a: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amount on the base is: $4617.5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 Taxable Income = $57,600 – $40,125 = $17,475</a:t>
            </a: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Marginal Tax = $17,475 × 0.22 = $3,844.5</a:t>
            </a:r>
          </a:p>
          <a:p>
            <a:pPr marL="457200" indent="-457200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Tax = $4617.5 + $3,844.5 = $8462</a:t>
            </a:r>
            <a:endParaRPr lang="en-US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7E2FC-148A-C298-CEB1-7AF942CEF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643" y="3390352"/>
            <a:ext cx="6843941" cy="28535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987C748-186B-0EA6-F1A3-2C34D3042F30}"/>
              </a:ext>
            </a:extLst>
          </p:cNvPr>
          <p:cNvSpPr/>
          <p:nvPr/>
        </p:nvSpPr>
        <p:spPr>
          <a:xfrm>
            <a:off x="5069076" y="4858062"/>
            <a:ext cx="7080181" cy="31223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613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EEA0D-59BB-08DA-93BC-22A5EB0BF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1BF56D-77B7-74D3-AC62-B76470F7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80C587-A570-C968-AAA4-417910C5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Treating Different Sources of Income in Taxation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1FE20A14-F74B-AEEF-79C5-4C74BE425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F0B2E-0520-ACE5-4DBA-B88E7971A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7" y="1806222"/>
            <a:ext cx="10853928" cy="488852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Income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Wages, salaries, bonuses: Taxed at ordinary income rates.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income (dividends, interest, capital gains)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Interest: Taxed at ordinary income rates.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Dividends:</a:t>
            </a:r>
          </a:p>
          <a:p>
            <a:pPr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Dividends: Taxed at preferential rates (0%, 15%, or 20%).</a:t>
            </a:r>
          </a:p>
          <a:p>
            <a:pPr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Dividends: Taxed at ordinary income rates.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gains:</a:t>
            </a:r>
          </a:p>
          <a:p>
            <a:pPr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(held ≤1 year): Taxed at ordinary rates.</a:t>
            </a:r>
          </a:p>
          <a:p>
            <a:pPr lvl="2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(held &gt;1 year): Taxed at preferential rates (0%, 15%, or 20%).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Income (sole proprietorships, partnerships):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Taxed as ordinary income.</a:t>
            </a:r>
          </a:p>
          <a:p>
            <a:pPr lvl="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51458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339159-0DA2-91BA-F89E-E23844F1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3F2671B-07DD-776E-ADB4-C545D3A8B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196761-D7AC-1AE2-8ACA-CC91C46C6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Treating Different Sources of Income in Taxation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5B96230-EF5B-7E03-0EC1-28C39EDDC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429BD-6335-A54E-A6E2-FBEDB2CB1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7" y="1806222"/>
            <a:ext cx="10853928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DBFD32-6989-31BB-3FB1-978860ACE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531213"/>
              </p:ext>
            </p:extLst>
          </p:nvPr>
        </p:nvGraphicFramePr>
        <p:xfrm>
          <a:off x="6096001" y="1906859"/>
          <a:ext cx="5300548" cy="458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6374">
                  <a:extLst>
                    <a:ext uri="{9D8B030D-6E8A-4147-A177-3AD203B41FA5}">
                      <a16:colId xmlns:a16="http://schemas.microsoft.com/office/drawing/2014/main" val="1805461504"/>
                    </a:ext>
                  </a:extLst>
                </a:gridCol>
                <a:gridCol w="1704174">
                  <a:extLst>
                    <a:ext uri="{9D8B030D-6E8A-4147-A177-3AD203B41FA5}">
                      <a16:colId xmlns:a16="http://schemas.microsoft.com/office/drawing/2014/main" val="2507734381"/>
                    </a:ext>
                  </a:extLst>
                </a:gridCol>
              </a:tblGrid>
              <a:tr h="4586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taxpayers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18567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bracket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rate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550993735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 to $40,000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31556342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$40,000 to $441,450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55920613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than $441,450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2374019"/>
                  </a:ext>
                </a:extLst>
              </a:tr>
              <a:tr h="45860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Married couples filing jointly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434640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Income bracket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 rate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77347322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$0 to $80,000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61644677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$80,000 to $496,600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24681478"/>
                  </a:ext>
                </a:extLst>
              </a:tr>
              <a:tr h="458601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than $496,600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0770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0E0D38-AC83-DA18-338F-7E095D42B30D}"/>
              </a:ext>
            </a:extLst>
          </p:cNvPr>
          <p:cNvSpPr txBox="1"/>
          <p:nvPr/>
        </p:nvSpPr>
        <p:spPr>
          <a:xfrm>
            <a:off x="453195" y="3404190"/>
            <a:ext cx="5641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Qualified Dividends and Long-term capital gain we will use this table. </a:t>
            </a:r>
          </a:p>
        </p:txBody>
      </p:sp>
    </p:spTree>
    <p:extLst>
      <p:ext uri="{BB962C8B-B14F-4D97-AF65-F5344CB8AC3E}">
        <p14:creationId xmlns:p14="http://schemas.microsoft.com/office/powerpoint/2010/main" val="21209647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0FA6E-157C-344E-A147-4C6029E6C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BB13D64-F131-B47A-5A1F-7AB357D77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3892B-7066-50BA-FD9A-74C5D4D6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Question_5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D57DE88-A589-5258-0B0E-C39AF8958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EF8D-09B7-3D32-1B93-3051CA83B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7" y="1806222"/>
            <a:ext cx="10853928" cy="488852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has the following types of income for the year 2020: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income (wages, salaries, and bonuses): $80,000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income: $5,000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dividends: $3,000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dividends: $12,000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capital gains (held for less than 1 year): $6,000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capital gains (held for more than 1 year): $14,000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income from a sole proprietorship: $10,000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 is eligible for the standard deduction of $12,400 (for a single filer).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John’s total tax liability for the year 2020.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3964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CAAB98-94C4-5C81-E59C-E17F8D7ACD2B}"/>
              </a:ext>
            </a:extLst>
          </p:cNvPr>
          <p:cNvSpPr txBox="1"/>
          <p:nvPr/>
        </p:nvSpPr>
        <p:spPr>
          <a:xfrm>
            <a:off x="551986" y="166597"/>
            <a:ext cx="6099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Question_5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1147A-A3AB-92AE-8F9B-395D92AAAD77}"/>
              </a:ext>
            </a:extLst>
          </p:cNvPr>
          <p:cNvSpPr txBox="1"/>
          <p:nvPr/>
        </p:nvSpPr>
        <p:spPr>
          <a:xfrm>
            <a:off x="174627" y="891183"/>
            <a:ext cx="5746669" cy="38590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income: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Earned income: $80,000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income: $5,000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dividends: $12,000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capital gains: $6,000</a:t>
            </a:r>
          </a:p>
          <a:p>
            <a:pPr marL="742950" lvl="1" indent="-2857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income: $10,000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Ordinary income = $113,000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Taxable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Ordinary income  = $113,000 - $12,400 = $100,600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 for ordinaries = 14,605.5 + (100,600 - 85,525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lang="en-US" sz="1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0.24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 for ordinaries = 14,605.5 + 3,618 = 18,223.5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AC7C40-697C-52FA-81D3-E2DC12CCA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960" y="891183"/>
            <a:ext cx="5499491" cy="26772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0FE4CA-AA3A-133D-4051-FFC093E2F959}"/>
              </a:ext>
            </a:extLst>
          </p:cNvPr>
          <p:cNvSpPr/>
          <p:nvPr/>
        </p:nvSpPr>
        <p:spPr>
          <a:xfrm>
            <a:off x="6467600" y="2509025"/>
            <a:ext cx="5383973" cy="289932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C9EA8-C015-510F-59A8-5D8C6F5A7A8E}"/>
              </a:ext>
            </a:extLst>
          </p:cNvPr>
          <p:cNvSpPr txBox="1"/>
          <p:nvPr/>
        </p:nvSpPr>
        <p:spPr>
          <a:xfrm>
            <a:off x="174627" y="5013109"/>
            <a:ext cx="6257162" cy="14311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types of income: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Qualified dividends: $3,000</a:t>
            </a:r>
          </a:p>
          <a:p>
            <a:pPr marL="800100" lvl="1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capital gains: $14,000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 for non-ordinary income = (3,000 + 14,000) × 0.15 = 2,550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4AF62-26D0-5AC4-307D-1E9636CB6BA4}"/>
              </a:ext>
            </a:extLst>
          </p:cNvPr>
          <p:cNvSpPr txBox="1"/>
          <p:nvPr/>
        </p:nvSpPr>
        <p:spPr>
          <a:xfrm>
            <a:off x="7219248" y="4813054"/>
            <a:ext cx="4409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tax = 18,223.5 + 2,550 = 20,773.5 </a:t>
            </a:r>
          </a:p>
        </p:txBody>
      </p:sp>
    </p:spTree>
    <p:extLst>
      <p:ext uri="{BB962C8B-B14F-4D97-AF65-F5344CB8AC3E}">
        <p14:creationId xmlns:p14="http://schemas.microsoft.com/office/powerpoint/2010/main" val="1228256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31D94-7553-388C-074B-4459E2F73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0FFC90-FCDE-AFFB-DD72-E88DA7999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8D4F9-71BB-907F-66D8-6ED026DBA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Tax Structure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8A706FE3-378E-95F2-0506-0AE36DF49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D283E-7EB7-9269-BDF1-6C95AC5C5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7" y="1806222"/>
            <a:ext cx="10853928" cy="4888524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10000"/>
              </a:lnSpc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corporate tax rate of 25 %.</a:t>
            </a:r>
          </a:p>
          <a:p>
            <a:pPr marL="742950" lvl="1" indent="-28575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$65,000 of taxable income → Tax bill = $16,250.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Taxation of Interest and Dividends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Income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Taxed as ordinary income at the corporate tax rate (25%). </a:t>
            </a:r>
          </a:p>
          <a:p>
            <a:pPr marL="1200150" lvl="2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company earns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bonds (interest), it will pay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$2,000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taxes, leaving it with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$6,000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tax.</a:t>
            </a:r>
          </a:p>
          <a:p>
            <a:pPr marL="1200150" lvl="2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earned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municipal bonds is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exempt from federal income tax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Dividend Income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00150" lvl="2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that receive dividends from stocks can exclude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dividend income from taxes.</a:t>
            </a:r>
          </a:p>
          <a:p>
            <a:pPr marL="1200150" lvl="2" indent="-2857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If a company receives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$8,000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dividends, only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taxed, meaning its tax bill is reduced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(25% of $4,000). The company gets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$7,000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tax.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6379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D4167-3B13-4048-46A4-596ABA681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2A3CCD-C0AE-7383-877C-8D1BB5C87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C3294-88AD-F0BC-6907-FAA08F71F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Capital Gains and Loss Carryforward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0679033A-C001-516D-BAF1-94DDE0A77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58173-C386-B1F2-272E-ED06A118C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7" y="1806222"/>
            <a:ext cx="10853928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Capital Gains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capital gains (selling a business asset after 1 year) are taxed at the same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flat corporate 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(25%).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 tax break for long-term capital gains as in individual taxation.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Carryforward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company loses money one year, it can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forward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loss to offset future profits.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If a company loses $100,000 in 2021 and earns $200,000 in 2022, it can reduce its taxable income by the loss carried forward, lowering its 2022 taxes.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loss can offset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to 80%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future taxable income for years after 2020.</a:t>
            </a:r>
          </a:p>
        </p:txBody>
      </p:sp>
    </p:spTree>
    <p:extLst>
      <p:ext uri="{BB962C8B-B14F-4D97-AF65-F5344CB8AC3E}">
        <p14:creationId xmlns:p14="http://schemas.microsoft.com/office/powerpoint/2010/main" val="359257077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29FAF-259A-2870-4719-EFFD1586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4890F3-3082-0A4C-CA19-CEDE7E29B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5E99A-C658-4684-A3E3-DD197023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E6598473-F7B8-1648-5D99-F2FED4EF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7236-4D8D-AC4D-F250-4222422E6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4" y="1806222"/>
            <a:ext cx="11463454" cy="488852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year, Martyn Company had $300,000 in taxable income from its operations, $45,000 in interest income, and $70,000 in dividend income. Its corporate tax rate is 25%. What was the company's tax liability for the year? Assume a 50% dividend exclusion for tax on dividends.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6943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C1731E-87EC-3BC8-B95D-1EF035A9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011E20-5AE6-4D50-AD65-123A8988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83D85-D46C-E43E-E80F-B653CDC7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Question_6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6B3452C9-AD78-DE5D-85B9-1AF2C953E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951CB-ECFE-9F59-69B9-BB6406F90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4" y="1806222"/>
            <a:ext cx="11463454" cy="488852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year, Martyn Company had $300,000 in taxable income from its operations, $45,000 in interest income, and $70,000 in dividend income. Its corporate tax rate is 25%. What was the company's tax liability for the year? Assume a 50% dividend exclusion for tax on dividends.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Taxable Income = Income from operations + interest income + dividend income * 50%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$300,000 + $45,000 + $70,000 * 50% = $380,000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Tax Liability = Taxable Income * 25%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$380,000* 25% = $95,000</a:t>
            </a: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474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5752F2-0CFE-B59C-74E4-4FF577C6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F404A2-EEBE-3351-2C4F-A7045EB6F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6BF0E-6D18-D366-6365-2F71B7D72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6" y="365125"/>
            <a:ext cx="10853928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Corporations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FD76CD3-4F55-A09C-6EFD-A975AAAE5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14907-1DED-EEFA-5BC5-D86E0C6AE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44" y="1806222"/>
            <a:ext cx="11463454" cy="488852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Corporations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or fewer shareholders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Shareholders must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U.S. citizens or residents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class of stock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allowed.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have corporate or foreign shareholders.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that elect to be treated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corporations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avoid double taxation.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income to shareholders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who report it on their personal taxes and pay at individual rates.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business’s income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taxed once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(at the shareholder’s rate).</a:t>
            </a:r>
          </a:p>
          <a:p>
            <a:pPr marL="742950" lvl="1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488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13BCF54F-58E4-EB2E-ABBA-D7C1CFE425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49" t="28491" b="2395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20D83-4A93-3E47-647E-246708F4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6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5189</TotalTime>
  <Words>7230</Words>
  <Application>Microsoft Macintosh PowerPoint</Application>
  <PresentationFormat>Widescreen</PresentationFormat>
  <Paragraphs>1404</Paragraphs>
  <Slides>81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9" baseType="lpstr">
      <vt:lpstr>Aptos</vt:lpstr>
      <vt:lpstr>Aptos Display</vt:lpstr>
      <vt:lpstr>Arial</vt:lpstr>
      <vt:lpstr>Calibri</vt:lpstr>
      <vt:lpstr>Cambria Math</vt:lpstr>
      <vt:lpstr>Helvetica</vt:lpstr>
      <vt:lpstr>Times New Roman</vt:lpstr>
      <vt:lpstr>Office Theme</vt:lpstr>
      <vt:lpstr>Chapter-3 Financial Statements, Cash Flow, and Taxes</vt:lpstr>
      <vt:lpstr>Building on What We’ve Learned</vt:lpstr>
      <vt:lpstr>Overview of the Annual Report</vt:lpstr>
      <vt:lpstr>What is a Balance Sheet?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Current Assets</vt:lpstr>
      <vt:lpstr>PowerPoint Presentation</vt:lpstr>
      <vt:lpstr>Fixed Assets</vt:lpstr>
      <vt:lpstr>PowerPoint Presentation</vt:lpstr>
      <vt:lpstr>Current Liabilities</vt:lpstr>
      <vt:lpstr>PowerPoint Presentation</vt:lpstr>
      <vt:lpstr>PowerPoint Presentation</vt:lpstr>
      <vt:lpstr>Equity or Common Equity</vt:lpstr>
      <vt:lpstr>PowerPoint Presentation</vt:lpstr>
      <vt:lpstr>PowerPoint Presentation</vt:lpstr>
      <vt:lpstr>Book Values vs. Market Values</vt:lpstr>
      <vt:lpstr>Total Debt vs. Total Liabilities</vt:lpstr>
      <vt:lpstr>Working Capital</vt:lpstr>
      <vt:lpstr>Net Operating Working Capital (NOWC)</vt:lpstr>
      <vt:lpstr>PowerPoint Presentation</vt:lpstr>
      <vt:lpstr>PowerPoint Presentation</vt:lpstr>
      <vt:lpstr>PowerPoint Presentation</vt:lpstr>
      <vt:lpstr>PowerPoint Presentation</vt:lpstr>
      <vt:lpstr>Income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EPS vs. DPS</vt:lpstr>
      <vt:lpstr>EBIT vs. EBITDA</vt:lpstr>
      <vt:lpstr>PowerPoint Presentation</vt:lpstr>
      <vt:lpstr>PowerPoint Presentation</vt:lpstr>
      <vt:lpstr>PowerPoint Presentation</vt:lpstr>
      <vt:lpstr>PowerPoint Presentation</vt:lpstr>
      <vt:lpstr>Statement of Cash Flows: An Overview</vt:lpstr>
      <vt:lpstr>Components of the Cash Flow Statement</vt:lpstr>
      <vt:lpstr>Calculating Cash Flow from Operating Activities (CFO)</vt:lpstr>
      <vt:lpstr>PowerPoint Presentation</vt:lpstr>
      <vt:lpstr>PowerPoint Presentation</vt:lpstr>
      <vt:lpstr>PowerPoint Presentation</vt:lpstr>
      <vt:lpstr>Calculating Cash Flow from Investing Activities (CFI)</vt:lpstr>
      <vt:lpstr>PowerPoint Presentation</vt:lpstr>
      <vt:lpstr>PowerPoint Presentation</vt:lpstr>
      <vt:lpstr>Calculating Cash Flow from Financing Activities (CFF)</vt:lpstr>
      <vt:lpstr>PowerPoint Presentation</vt:lpstr>
      <vt:lpstr>PowerPoint Presentation</vt:lpstr>
      <vt:lpstr>PowerPoint Presentation</vt:lpstr>
      <vt:lpstr>Statement of Stockholders’ Equity</vt:lpstr>
      <vt:lpstr>Introduction to Free Cash Flow (FCF)</vt:lpstr>
      <vt:lpstr>Formula and Components of FCF</vt:lpstr>
      <vt:lpstr>Significance of Free Cash Flow</vt:lpstr>
      <vt:lpstr>Free Cash Flow is Beyond Profit</vt:lpstr>
      <vt:lpstr>PowerPoint Presentation</vt:lpstr>
      <vt:lpstr>PowerPoint Presentation</vt:lpstr>
      <vt:lpstr>Question_4</vt:lpstr>
      <vt:lpstr>Question_4</vt:lpstr>
      <vt:lpstr>MVA (Market Value Added)</vt:lpstr>
      <vt:lpstr>Why Should Individuals Pay Taxes?</vt:lpstr>
      <vt:lpstr>What is Taxable Income?</vt:lpstr>
      <vt:lpstr>Deductions</vt:lpstr>
      <vt:lpstr>Understanding the Tax Structure</vt:lpstr>
      <vt:lpstr>PowerPoint Presentation</vt:lpstr>
      <vt:lpstr>Steps to Calculate Tax from the Tax Table</vt:lpstr>
      <vt:lpstr>PowerPoint Presentation</vt:lpstr>
      <vt:lpstr>Treating Different Sources of Income in Taxation</vt:lpstr>
      <vt:lpstr>Treating Different Sources of Income in Taxation</vt:lpstr>
      <vt:lpstr>Question_5</vt:lpstr>
      <vt:lpstr>PowerPoint Presentation</vt:lpstr>
      <vt:lpstr>Corporate Tax Structure</vt:lpstr>
      <vt:lpstr>Corporate Capital Gains and Loss Carryforward</vt:lpstr>
      <vt:lpstr>Question_6</vt:lpstr>
      <vt:lpstr>Question_6</vt:lpstr>
      <vt:lpstr>S Corporations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reza bavili</dc:creator>
  <cp:lastModifiedBy>reza bavili</cp:lastModifiedBy>
  <cp:revision>21</cp:revision>
  <dcterms:created xsi:type="dcterms:W3CDTF">2025-01-15T20:12:49Z</dcterms:created>
  <dcterms:modified xsi:type="dcterms:W3CDTF">2025-01-30T03:56:30Z</dcterms:modified>
</cp:coreProperties>
</file>