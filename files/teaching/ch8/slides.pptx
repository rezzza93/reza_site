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8" r:id="rId2"/>
    <p:sldId id="263" r:id="rId3"/>
    <p:sldId id="283" r:id="rId4"/>
    <p:sldId id="286" r:id="rId5"/>
    <p:sldId id="284" r:id="rId6"/>
    <p:sldId id="285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2" r:id="rId22"/>
    <p:sldId id="301" r:id="rId23"/>
    <p:sldId id="30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81E4"/>
    <a:srgbClr val="0032FF"/>
    <a:srgbClr val="820700"/>
    <a:srgbClr val="171D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20"/>
    <p:restoredTop sz="96087"/>
  </p:normalViewPr>
  <p:slideViewPr>
    <p:cSldViewPr snapToGrid="0">
      <p:cViewPr varScale="1">
        <p:scale>
          <a:sx n="115" d="100"/>
          <a:sy n="115" d="100"/>
        </p:scale>
        <p:origin x="52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Sheet1!$B$2</c:f>
              <c:strCache>
                <c:ptCount val="1"/>
                <c:pt idx="0">
                  <c:v>Stock A</c:v>
                </c:pt>
              </c:strCache>
            </c:strRef>
          </c:tx>
          <c:spPr>
            <a:ln w="28575" cap="rnd">
              <a:solidFill>
                <a:schemeClr val="accent4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Sheet1!$B$3:$B$28</c:f>
              <c:numCache>
                <c:formatCode>General</c:formatCode>
                <c:ptCount val="26"/>
                <c:pt idx="0">
                  <c:v>0.45</c:v>
                </c:pt>
                <c:pt idx="1">
                  <c:v>0.35</c:v>
                </c:pt>
                <c:pt idx="2">
                  <c:v>0.25</c:v>
                </c:pt>
                <c:pt idx="3">
                  <c:v>0.15</c:v>
                </c:pt>
                <c:pt idx="4">
                  <c:v>0.05</c:v>
                </c:pt>
                <c:pt idx="5">
                  <c:v>-0.05</c:v>
                </c:pt>
                <c:pt idx="6">
                  <c:v>0.05</c:v>
                </c:pt>
                <c:pt idx="7">
                  <c:v>0.15</c:v>
                </c:pt>
                <c:pt idx="8">
                  <c:v>0.25</c:v>
                </c:pt>
                <c:pt idx="9">
                  <c:v>0.35</c:v>
                </c:pt>
                <c:pt idx="10">
                  <c:v>0.45</c:v>
                </c:pt>
                <c:pt idx="11">
                  <c:v>0.35</c:v>
                </c:pt>
                <c:pt idx="12">
                  <c:v>0.25</c:v>
                </c:pt>
                <c:pt idx="13">
                  <c:v>0.15</c:v>
                </c:pt>
                <c:pt idx="14">
                  <c:v>0.05</c:v>
                </c:pt>
                <c:pt idx="15">
                  <c:v>-0.05</c:v>
                </c:pt>
                <c:pt idx="16">
                  <c:v>0.05</c:v>
                </c:pt>
                <c:pt idx="17">
                  <c:v>0.15</c:v>
                </c:pt>
                <c:pt idx="18">
                  <c:v>0.25</c:v>
                </c:pt>
                <c:pt idx="19">
                  <c:v>0.35</c:v>
                </c:pt>
                <c:pt idx="20">
                  <c:v>0.45</c:v>
                </c:pt>
                <c:pt idx="21">
                  <c:v>0.35</c:v>
                </c:pt>
                <c:pt idx="22">
                  <c:v>0.25</c:v>
                </c:pt>
                <c:pt idx="23">
                  <c:v>0.15</c:v>
                </c:pt>
                <c:pt idx="24">
                  <c:v>0.05</c:v>
                </c:pt>
                <c:pt idx="25">
                  <c:v>-0.05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107-CA41-91FB-F1356781B81E}"/>
            </c:ext>
          </c:extLst>
        </c:ser>
        <c:ser>
          <c:idx val="2"/>
          <c:order val="1"/>
          <c:tx>
            <c:strRef>
              <c:f>Sheet1!$C$2</c:f>
              <c:strCache>
                <c:ptCount val="1"/>
                <c:pt idx="0">
                  <c:v>Stock B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val>
            <c:numRef>
              <c:f>Sheet1!$C$3:$C$28</c:f>
              <c:numCache>
                <c:formatCode>General</c:formatCode>
                <c:ptCount val="26"/>
                <c:pt idx="0">
                  <c:v>-0.1</c:v>
                </c:pt>
                <c:pt idx="1">
                  <c:v>0</c:v>
                </c:pt>
                <c:pt idx="2">
                  <c:v>0.1</c:v>
                </c:pt>
                <c:pt idx="3">
                  <c:v>0.2</c:v>
                </c:pt>
                <c:pt idx="4">
                  <c:v>0.3</c:v>
                </c:pt>
                <c:pt idx="5">
                  <c:v>0.4</c:v>
                </c:pt>
                <c:pt idx="6">
                  <c:v>0.3</c:v>
                </c:pt>
                <c:pt idx="7">
                  <c:v>0.2</c:v>
                </c:pt>
                <c:pt idx="8">
                  <c:v>0.1</c:v>
                </c:pt>
                <c:pt idx="9">
                  <c:v>0</c:v>
                </c:pt>
                <c:pt idx="10">
                  <c:v>-0.1</c:v>
                </c:pt>
                <c:pt idx="11">
                  <c:v>0</c:v>
                </c:pt>
                <c:pt idx="12">
                  <c:v>0.1</c:v>
                </c:pt>
                <c:pt idx="13">
                  <c:v>0.2</c:v>
                </c:pt>
                <c:pt idx="14">
                  <c:v>0.3</c:v>
                </c:pt>
                <c:pt idx="15">
                  <c:v>0.4</c:v>
                </c:pt>
                <c:pt idx="16">
                  <c:v>0.3</c:v>
                </c:pt>
                <c:pt idx="17">
                  <c:v>0.2</c:v>
                </c:pt>
                <c:pt idx="18">
                  <c:v>0.1</c:v>
                </c:pt>
                <c:pt idx="19">
                  <c:v>0</c:v>
                </c:pt>
                <c:pt idx="20">
                  <c:v>-0.1</c:v>
                </c:pt>
                <c:pt idx="21">
                  <c:v>0</c:v>
                </c:pt>
                <c:pt idx="22">
                  <c:v>0.1</c:v>
                </c:pt>
                <c:pt idx="23">
                  <c:v>0.2</c:v>
                </c:pt>
                <c:pt idx="24">
                  <c:v>0.3</c:v>
                </c:pt>
                <c:pt idx="25">
                  <c:v>0.4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107-CA41-91FB-F1356781B81E}"/>
            </c:ext>
          </c:extLst>
        </c:ser>
        <c:ser>
          <c:idx val="0"/>
          <c:order val="2"/>
          <c:tx>
            <c:strRef>
              <c:f>Sheet1!$D$2</c:f>
              <c:strCache>
                <c:ptCount val="1"/>
                <c:pt idx="0">
                  <c:v>Avg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Sheet1!$D$3:$D$28</c:f>
              <c:numCache>
                <c:formatCode>General</c:formatCode>
                <c:ptCount val="26"/>
                <c:pt idx="0">
                  <c:v>0.17499999999999999</c:v>
                </c:pt>
                <c:pt idx="1">
                  <c:v>0.17499999999999999</c:v>
                </c:pt>
                <c:pt idx="2">
                  <c:v>0.17499999999999999</c:v>
                </c:pt>
                <c:pt idx="3">
                  <c:v>0.17499999999999999</c:v>
                </c:pt>
                <c:pt idx="4">
                  <c:v>0.17499999999999999</c:v>
                </c:pt>
                <c:pt idx="5">
                  <c:v>0.17500000000000002</c:v>
                </c:pt>
                <c:pt idx="6">
                  <c:v>0.17499999999999999</c:v>
                </c:pt>
                <c:pt idx="7">
                  <c:v>0.17499999999999999</c:v>
                </c:pt>
                <c:pt idx="8">
                  <c:v>0.17499999999999999</c:v>
                </c:pt>
                <c:pt idx="9">
                  <c:v>0.17499999999999999</c:v>
                </c:pt>
                <c:pt idx="10">
                  <c:v>0.17499999999999999</c:v>
                </c:pt>
                <c:pt idx="11">
                  <c:v>0.17499999999999999</c:v>
                </c:pt>
                <c:pt idx="12">
                  <c:v>0.17499999999999999</c:v>
                </c:pt>
                <c:pt idx="13">
                  <c:v>0.17499999999999999</c:v>
                </c:pt>
                <c:pt idx="14">
                  <c:v>0.17499999999999999</c:v>
                </c:pt>
                <c:pt idx="15">
                  <c:v>0.17500000000000002</c:v>
                </c:pt>
                <c:pt idx="16">
                  <c:v>0.17499999999999999</c:v>
                </c:pt>
                <c:pt idx="17">
                  <c:v>0.17499999999999999</c:v>
                </c:pt>
                <c:pt idx="18">
                  <c:v>0.17499999999999999</c:v>
                </c:pt>
                <c:pt idx="19">
                  <c:v>0.17499999999999999</c:v>
                </c:pt>
                <c:pt idx="20">
                  <c:v>0.17499999999999999</c:v>
                </c:pt>
                <c:pt idx="21">
                  <c:v>0.17499999999999999</c:v>
                </c:pt>
                <c:pt idx="22">
                  <c:v>0.17499999999999999</c:v>
                </c:pt>
                <c:pt idx="23">
                  <c:v>0.17499999999999999</c:v>
                </c:pt>
                <c:pt idx="24">
                  <c:v>0.17499999999999999</c:v>
                </c:pt>
                <c:pt idx="25">
                  <c:v>0.17500000000000002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107-CA41-91FB-F1356781B8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69984928"/>
        <c:axId val="469986640"/>
      </c:lineChart>
      <c:catAx>
        <c:axId val="46998492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9986640"/>
        <c:crosses val="autoZero"/>
        <c:auto val="1"/>
        <c:lblAlgn val="ctr"/>
        <c:lblOffset val="100"/>
        <c:noMultiLvlLbl val="0"/>
      </c:catAx>
      <c:valAx>
        <c:axId val="4699866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9984928"/>
        <c:crosses val="autoZero"/>
        <c:crossBetween val="between"/>
      </c:valAx>
      <c:spPr>
        <a:solidFill>
          <a:schemeClr val="lt1"/>
        </a:solidFill>
        <a:ln w="19050" cap="flat" cmpd="sng" algn="ctr">
          <a:solidFill>
            <a:schemeClr val="accent5"/>
          </a:solidFill>
          <a:prstDash val="solid"/>
          <a:miter lim="800000"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elvetica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Sheet1!$B$2</c:f>
              <c:strCache>
                <c:ptCount val="1"/>
                <c:pt idx="0">
                  <c:v>Stock A</c:v>
                </c:pt>
              </c:strCache>
            </c:strRef>
          </c:tx>
          <c:spPr>
            <a:ln w="28575" cap="rnd">
              <a:solidFill>
                <a:schemeClr val="accent4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Sheet1!$B$3:$B$28</c:f>
              <c:numCache>
                <c:formatCode>General</c:formatCode>
                <c:ptCount val="26"/>
                <c:pt idx="0">
                  <c:v>0.45</c:v>
                </c:pt>
                <c:pt idx="1">
                  <c:v>0.35</c:v>
                </c:pt>
                <c:pt idx="2">
                  <c:v>0.25</c:v>
                </c:pt>
                <c:pt idx="3">
                  <c:v>0.15</c:v>
                </c:pt>
                <c:pt idx="4">
                  <c:v>0.05</c:v>
                </c:pt>
                <c:pt idx="5">
                  <c:v>-0.05</c:v>
                </c:pt>
                <c:pt idx="6">
                  <c:v>0.05</c:v>
                </c:pt>
                <c:pt idx="7">
                  <c:v>0.15</c:v>
                </c:pt>
                <c:pt idx="8">
                  <c:v>0.25</c:v>
                </c:pt>
                <c:pt idx="9">
                  <c:v>0.35</c:v>
                </c:pt>
                <c:pt idx="10">
                  <c:v>0.45</c:v>
                </c:pt>
                <c:pt idx="11">
                  <c:v>0.35</c:v>
                </c:pt>
                <c:pt idx="12">
                  <c:v>0.25</c:v>
                </c:pt>
                <c:pt idx="13">
                  <c:v>0.15</c:v>
                </c:pt>
                <c:pt idx="14">
                  <c:v>0.05</c:v>
                </c:pt>
                <c:pt idx="15">
                  <c:v>-0.05</c:v>
                </c:pt>
                <c:pt idx="16">
                  <c:v>0.05</c:v>
                </c:pt>
                <c:pt idx="17">
                  <c:v>0.15</c:v>
                </c:pt>
                <c:pt idx="18">
                  <c:v>0.25</c:v>
                </c:pt>
                <c:pt idx="19">
                  <c:v>0.35</c:v>
                </c:pt>
                <c:pt idx="20">
                  <c:v>0.45</c:v>
                </c:pt>
                <c:pt idx="21">
                  <c:v>0.35</c:v>
                </c:pt>
                <c:pt idx="22">
                  <c:v>0.25</c:v>
                </c:pt>
                <c:pt idx="23">
                  <c:v>0.15</c:v>
                </c:pt>
                <c:pt idx="24">
                  <c:v>0.05</c:v>
                </c:pt>
                <c:pt idx="25">
                  <c:v>-0.05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7D3-C44A-9F2D-D7E728F9B891}"/>
            </c:ext>
          </c:extLst>
        </c:ser>
        <c:ser>
          <c:idx val="2"/>
          <c:order val="1"/>
          <c:tx>
            <c:strRef>
              <c:f>Sheet1!$C$2</c:f>
              <c:strCache>
                <c:ptCount val="1"/>
                <c:pt idx="0">
                  <c:v>Stock B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val>
            <c:numRef>
              <c:f>Sheet1!$C$3:$C$28</c:f>
              <c:numCache>
                <c:formatCode>General</c:formatCode>
                <c:ptCount val="26"/>
                <c:pt idx="0">
                  <c:v>-0.1</c:v>
                </c:pt>
                <c:pt idx="1">
                  <c:v>0</c:v>
                </c:pt>
                <c:pt idx="2">
                  <c:v>0.1</c:v>
                </c:pt>
                <c:pt idx="3">
                  <c:v>0.2</c:v>
                </c:pt>
                <c:pt idx="4">
                  <c:v>0.3</c:v>
                </c:pt>
                <c:pt idx="5">
                  <c:v>0.4</c:v>
                </c:pt>
                <c:pt idx="6">
                  <c:v>0.3</c:v>
                </c:pt>
                <c:pt idx="7">
                  <c:v>0.2</c:v>
                </c:pt>
                <c:pt idx="8">
                  <c:v>0.1</c:v>
                </c:pt>
                <c:pt idx="9">
                  <c:v>0</c:v>
                </c:pt>
                <c:pt idx="10">
                  <c:v>-0.1</c:v>
                </c:pt>
                <c:pt idx="11">
                  <c:v>0</c:v>
                </c:pt>
                <c:pt idx="12">
                  <c:v>0.1</c:v>
                </c:pt>
                <c:pt idx="13">
                  <c:v>0.2</c:v>
                </c:pt>
                <c:pt idx="14">
                  <c:v>0.3</c:v>
                </c:pt>
                <c:pt idx="15">
                  <c:v>0.4</c:v>
                </c:pt>
                <c:pt idx="16">
                  <c:v>0.3</c:v>
                </c:pt>
                <c:pt idx="17">
                  <c:v>0.2</c:v>
                </c:pt>
                <c:pt idx="18">
                  <c:v>0.1</c:v>
                </c:pt>
                <c:pt idx="19">
                  <c:v>0</c:v>
                </c:pt>
                <c:pt idx="20">
                  <c:v>-0.1</c:v>
                </c:pt>
                <c:pt idx="21">
                  <c:v>0</c:v>
                </c:pt>
                <c:pt idx="22">
                  <c:v>0.1</c:v>
                </c:pt>
                <c:pt idx="23">
                  <c:v>0.2</c:v>
                </c:pt>
                <c:pt idx="24">
                  <c:v>0.3</c:v>
                </c:pt>
                <c:pt idx="25">
                  <c:v>0.4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7D3-C44A-9F2D-D7E728F9B891}"/>
            </c:ext>
          </c:extLst>
        </c:ser>
        <c:ser>
          <c:idx val="0"/>
          <c:order val="2"/>
          <c:tx>
            <c:strRef>
              <c:f>Sheet1!$D$2</c:f>
              <c:strCache>
                <c:ptCount val="1"/>
                <c:pt idx="0">
                  <c:v>Avg</c:v>
                </c:pt>
              </c:strCache>
            </c:strRef>
          </c:tx>
          <c:spPr>
            <a:ln w="508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Sheet1!$D$3:$D$28</c:f>
              <c:numCache>
                <c:formatCode>General</c:formatCode>
                <c:ptCount val="26"/>
                <c:pt idx="0">
                  <c:v>0.17499999999999999</c:v>
                </c:pt>
                <c:pt idx="1">
                  <c:v>0.17499999999999999</c:v>
                </c:pt>
                <c:pt idx="2">
                  <c:v>0.17499999999999999</c:v>
                </c:pt>
                <c:pt idx="3">
                  <c:v>0.17499999999999999</c:v>
                </c:pt>
                <c:pt idx="4">
                  <c:v>0.17499999999999999</c:v>
                </c:pt>
                <c:pt idx="5">
                  <c:v>0.17500000000000002</c:v>
                </c:pt>
                <c:pt idx="6">
                  <c:v>0.17499999999999999</c:v>
                </c:pt>
                <c:pt idx="7">
                  <c:v>0.17499999999999999</c:v>
                </c:pt>
                <c:pt idx="8">
                  <c:v>0.17499999999999999</c:v>
                </c:pt>
                <c:pt idx="9">
                  <c:v>0.17499999999999999</c:v>
                </c:pt>
                <c:pt idx="10">
                  <c:v>0.17499999999999999</c:v>
                </c:pt>
                <c:pt idx="11">
                  <c:v>0.17499999999999999</c:v>
                </c:pt>
                <c:pt idx="12">
                  <c:v>0.17499999999999999</c:v>
                </c:pt>
                <c:pt idx="13">
                  <c:v>0.17499999999999999</c:v>
                </c:pt>
                <c:pt idx="14">
                  <c:v>0.17499999999999999</c:v>
                </c:pt>
                <c:pt idx="15">
                  <c:v>0.17500000000000002</c:v>
                </c:pt>
                <c:pt idx="16">
                  <c:v>0.17499999999999999</c:v>
                </c:pt>
                <c:pt idx="17">
                  <c:v>0.17499999999999999</c:v>
                </c:pt>
                <c:pt idx="18">
                  <c:v>0.17499999999999999</c:v>
                </c:pt>
                <c:pt idx="19">
                  <c:v>0.17499999999999999</c:v>
                </c:pt>
                <c:pt idx="20">
                  <c:v>0.17499999999999999</c:v>
                </c:pt>
                <c:pt idx="21">
                  <c:v>0.17499999999999999</c:v>
                </c:pt>
                <c:pt idx="22">
                  <c:v>0.17499999999999999</c:v>
                </c:pt>
                <c:pt idx="23">
                  <c:v>0.17499999999999999</c:v>
                </c:pt>
                <c:pt idx="24">
                  <c:v>0.17499999999999999</c:v>
                </c:pt>
                <c:pt idx="25">
                  <c:v>0.17500000000000002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7D3-C44A-9F2D-D7E728F9B8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69984928"/>
        <c:axId val="469986640"/>
      </c:lineChart>
      <c:catAx>
        <c:axId val="46998492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9986640"/>
        <c:crosses val="autoZero"/>
        <c:auto val="1"/>
        <c:lblAlgn val="ctr"/>
        <c:lblOffset val="100"/>
        <c:noMultiLvlLbl val="0"/>
      </c:catAx>
      <c:valAx>
        <c:axId val="4699866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9984928"/>
        <c:crosses val="autoZero"/>
        <c:crossBetween val="between"/>
      </c:valAx>
      <c:spPr>
        <a:solidFill>
          <a:schemeClr val="lt1"/>
        </a:solidFill>
        <a:ln w="19050" cap="flat" cmpd="sng" algn="ctr">
          <a:solidFill>
            <a:schemeClr val="accent5"/>
          </a:solidFill>
          <a:prstDash val="solid"/>
          <a:miter lim="800000"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Sheet1!$W$2</c:f>
              <c:strCache>
                <c:ptCount val="1"/>
                <c:pt idx="0">
                  <c:v>Stock A</c:v>
                </c:pt>
              </c:strCache>
            </c:strRef>
          </c:tx>
          <c:spPr>
            <a:ln w="28575" cap="rnd">
              <a:solidFill>
                <a:schemeClr val="accent4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Sheet1!$W$3:$W$32</c:f>
              <c:numCache>
                <c:formatCode>General</c:formatCode>
                <c:ptCount val="30"/>
                <c:pt idx="0">
                  <c:v>0.45</c:v>
                </c:pt>
                <c:pt idx="1">
                  <c:v>0.35</c:v>
                </c:pt>
                <c:pt idx="2">
                  <c:v>0.25</c:v>
                </c:pt>
                <c:pt idx="3">
                  <c:v>0.15</c:v>
                </c:pt>
                <c:pt idx="4">
                  <c:v>0.05</c:v>
                </c:pt>
                <c:pt idx="5">
                  <c:v>-0.05</c:v>
                </c:pt>
                <c:pt idx="6">
                  <c:v>0.05</c:v>
                </c:pt>
                <c:pt idx="7">
                  <c:v>0.15</c:v>
                </c:pt>
                <c:pt idx="8">
                  <c:v>0.25</c:v>
                </c:pt>
                <c:pt idx="9">
                  <c:v>0.35</c:v>
                </c:pt>
                <c:pt idx="10">
                  <c:v>0.45</c:v>
                </c:pt>
                <c:pt idx="11">
                  <c:v>0.35</c:v>
                </c:pt>
                <c:pt idx="12">
                  <c:v>0.25</c:v>
                </c:pt>
                <c:pt idx="13">
                  <c:v>0.15</c:v>
                </c:pt>
                <c:pt idx="14">
                  <c:v>0.05</c:v>
                </c:pt>
                <c:pt idx="15">
                  <c:v>-0.05</c:v>
                </c:pt>
                <c:pt idx="16">
                  <c:v>0.05</c:v>
                </c:pt>
                <c:pt idx="17">
                  <c:v>0.15</c:v>
                </c:pt>
                <c:pt idx="18">
                  <c:v>0.25</c:v>
                </c:pt>
                <c:pt idx="19">
                  <c:v>0.35</c:v>
                </c:pt>
                <c:pt idx="20">
                  <c:v>0.45</c:v>
                </c:pt>
                <c:pt idx="21">
                  <c:v>0.35</c:v>
                </c:pt>
                <c:pt idx="22">
                  <c:v>0.25</c:v>
                </c:pt>
                <c:pt idx="23">
                  <c:v>0.15</c:v>
                </c:pt>
                <c:pt idx="24">
                  <c:v>0.05</c:v>
                </c:pt>
                <c:pt idx="25">
                  <c:v>-0.05</c:v>
                </c:pt>
                <c:pt idx="26">
                  <c:v>0.05</c:v>
                </c:pt>
                <c:pt idx="27">
                  <c:v>0.15</c:v>
                </c:pt>
                <c:pt idx="28">
                  <c:v>0.25</c:v>
                </c:pt>
                <c:pt idx="29">
                  <c:v>0.35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5EC-C645-ACDD-6E7145E57E4A}"/>
            </c:ext>
          </c:extLst>
        </c:ser>
        <c:ser>
          <c:idx val="2"/>
          <c:order val="1"/>
          <c:tx>
            <c:strRef>
              <c:f>Sheet1!$X$2</c:f>
              <c:strCache>
                <c:ptCount val="1"/>
                <c:pt idx="0">
                  <c:v>Stock B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val>
            <c:numRef>
              <c:f>Sheet1!$X$3:$X$32</c:f>
              <c:numCache>
                <c:formatCode>General</c:formatCode>
                <c:ptCount val="30"/>
                <c:pt idx="0">
                  <c:v>0.05</c:v>
                </c:pt>
                <c:pt idx="1">
                  <c:v>0.05</c:v>
                </c:pt>
                <c:pt idx="2">
                  <c:v>0.05</c:v>
                </c:pt>
                <c:pt idx="3">
                  <c:v>0.05</c:v>
                </c:pt>
                <c:pt idx="4">
                  <c:v>0.05</c:v>
                </c:pt>
                <c:pt idx="5">
                  <c:v>0.05</c:v>
                </c:pt>
                <c:pt idx="6">
                  <c:v>0.05</c:v>
                </c:pt>
                <c:pt idx="7">
                  <c:v>0.05</c:v>
                </c:pt>
                <c:pt idx="8">
                  <c:v>0.05</c:v>
                </c:pt>
                <c:pt idx="9">
                  <c:v>0.05</c:v>
                </c:pt>
                <c:pt idx="10">
                  <c:v>0.05</c:v>
                </c:pt>
                <c:pt idx="11">
                  <c:v>0.05</c:v>
                </c:pt>
                <c:pt idx="12">
                  <c:v>0.05</c:v>
                </c:pt>
                <c:pt idx="13">
                  <c:v>0.05</c:v>
                </c:pt>
                <c:pt idx="14">
                  <c:v>0.05</c:v>
                </c:pt>
                <c:pt idx="15">
                  <c:v>0.05</c:v>
                </c:pt>
                <c:pt idx="16">
                  <c:v>0.05</c:v>
                </c:pt>
                <c:pt idx="17">
                  <c:v>0.05</c:v>
                </c:pt>
                <c:pt idx="18">
                  <c:v>0.05</c:v>
                </c:pt>
                <c:pt idx="19">
                  <c:v>0.05</c:v>
                </c:pt>
                <c:pt idx="20">
                  <c:v>0.05</c:v>
                </c:pt>
                <c:pt idx="21">
                  <c:v>0.05</c:v>
                </c:pt>
                <c:pt idx="22">
                  <c:v>0.05</c:v>
                </c:pt>
                <c:pt idx="23">
                  <c:v>0.05</c:v>
                </c:pt>
                <c:pt idx="24">
                  <c:v>0.05</c:v>
                </c:pt>
                <c:pt idx="25">
                  <c:v>0.05</c:v>
                </c:pt>
                <c:pt idx="26">
                  <c:v>0.05</c:v>
                </c:pt>
                <c:pt idx="27">
                  <c:v>0.05</c:v>
                </c:pt>
                <c:pt idx="28">
                  <c:v>0.05</c:v>
                </c:pt>
                <c:pt idx="29">
                  <c:v>0.05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5EC-C645-ACDD-6E7145E57E4A}"/>
            </c:ext>
          </c:extLst>
        </c:ser>
        <c:ser>
          <c:idx val="0"/>
          <c:order val="2"/>
          <c:tx>
            <c:strRef>
              <c:f>Sheet1!$Y$2</c:f>
              <c:strCache>
                <c:ptCount val="1"/>
                <c:pt idx="0">
                  <c:v>Avg</c:v>
                </c:pt>
              </c:strCache>
            </c:strRef>
          </c:tx>
          <c:spPr>
            <a:ln w="508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Sheet1!$Y$3:$Y$32</c:f>
              <c:numCache>
                <c:formatCode>General</c:formatCode>
                <c:ptCount val="30"/>
                <c:pt idx="0">
                  <c:v>0.25</c:v>
                </c:pt>
                <c:pt idx="1">
                  <c:v>0.19999999999999998</c:v>
                </c:pt>
                <c:pt idx="2">
                  <c:v>0.15</c:v>
                </c:pt>
                <c:pt idx="3">
                  <c:v>0.1</c:v>
                </c:pt>
                <c:pt idx="4">
                  <c:v>0.05</c:v>
                </c:pt>
                <c:pt idx="5">
                  <c:v>0</c:v>
                </c:pt>
                <c:pt idx="6">
                  <c:v>0.05</c:v>
                </c:pt>
                <c:pt idx="7">
                  <c:v>0.1</c:v>
                </c:pt>
                <c:pt idx="8">
                  <c:v>0.15</c:v>
                </c:pt>
                <c:pt idx="9">
                  <c:v>0.19999999999999998</c:v>
                </c:pt>
                <c:pt idx="10">
                  <c:v>0.25</c:v>
                </c:pt>
                <c:pt idx="11">
                  <c:v>0.19999999999999998</c:v>
                </c:pt>
                <c:pt idx="12">
                  <c:v>0.15</c:v>
                </c:pt>
                <c:pt idx="13">
                  <c:v>0.1</c:v>
                </c:pt>
                <c:pt idx="14">
                  <c:v>0.05</c:v>
                </c:pt>
                <c:pt idx="15">
                  <c:v>0</c:v>
                </c:pt>
                <c:pt idx="16">
                  <c:v>0.05</c:v>
                </c:pt>
                <c:pt idx="17">
                  <c:v>0.1</c:v>
                </c:pt>
                <c:pt idx="18">
                  <c:v>0.15</c:v>
                </c:pt>
                <c:pt idx="19">
                  <c:v>0.19999999999999998</c:v>
                </c:pt>
                <c:pt idx="20">
                  <c:v>0.25</c:v>
                </c:pt>
                <c:pt idx="21">
                  <c:v>0.19999999999999998</c:v>
                </c:pt>
                <c:pt idx="22">
                  <c:v>0.15</c:v>
                </c:pt>
                <c:pt idx="23">
                  <c:v>0.1</c:v>
                </c:pt>
                <c:pt idx="24">
                  <c:v>0.05</c:v>
                </c:pt>
                <c:pt idx="25">
                  <c:v>0</c:v>
                </c:pt>
                <c:pt idx="26">
                  <c:v>0.05</c:v>
                </c:pt>
                <c:pt idx="27">
                  <c:v>0.1</c:v>
                </c:pt>
                <c:pt idx="28">
                  <c:v>0.15</c:v>
                </c:pt>
                <c:pt idx="29">
                  <c:v>0.19999999999999998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5EC-C645-ACDD-6E7145E57E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69984928"/>
        <c:axId val="469986640"/>
      </c:lineChart>
      <c:catAx>
        <c:axId val="46998492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9986640"/>
        <c:crosses val="autoZero"/>
        <c:auto val="1"/>
        <c:lblAlgn val="ctr"/>
        <c:lblOffset val="100"/>
        <c:noMultiLvlLbl val="0"/>
      </c:catAx>
      <c:valAx>
        <c:axId val="4699866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9984928"/>
        <c:crosses val="autoZero"/>
        <c:crossBetween val="between"/>
      </c:valAx>
      <c:spPr>
        <a:solidFill>
          <a:schemeClr val="lt1"/>
        </a:solidFill>
        <a:ln w="19050" cap="flat" cmpd="sng" algn="ctr">
          <a:solidFill>
            <a:schemeClr val="accent4"/>
          </a:solidFill>
          <a:prstDash val="solid"/>
          <a:miter lim="800000"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Sheet1!$AS$2</c:f>
              <c:strCache>
                <c:ptCount val="1"/>
                <c:pt idx="0">
                  <c:v>Stock A</c:v>
                </c:pt>
              </c:strCache>
            </c:strRef>
          </c:tx>
          <c:spPr>
            <a:ln w="28575" cap="rnd">
              <a:solidFill>
                <a:schemeClr val="accent4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Sheet1!$AS$3:$AS$32</c:f>
              <c:numCache>
                <c:formatCode>General</c:formatCode>
                <c:ptCount val="30"/>
                <c:pt idx="0">
                  <c:v>0.45</c:v>
                </c:pt>
                <c:pt idx="1">
                  <c:v>0.35</c:v>
                </c:pt>
                <c:pt idx="2">
                  <c:v>0.25</c:v>
                </c:pt>
                <c:pt idx="3">
                  <c:v>0.15</c:v>
                </c:pt>
                <c:pt idx="4">
                  <c:v>0.05</c:v>
                </c:pt>
                <c:pt idx="5">
                  <c:v>-0.05</c:v>
                </c:pt>
                <c:pt idx="6">
                  <c:v>0.05</c:v>
                </c:pt>
                <c:pt idx="7">
                  <c:v>0.15</c:v>
                </c:pt>
                <c:pt idx="8">
                  <c:v>0.25</c:v>
                </c:pt>
                <c:pt idx="9">
                  <c:v>0.35</c:v>
                </c:pt>
                <c:pt idx="10">
                  <c:v>0.45</c:v>
                </c:pt>
                <c:pt idx="11">
                  <c:v>0.35</c:v>
                </c:pt>
                <c:pt idx="12">
                  <c:v>0.25</c:v>
                </c:pt>
                <c:pt idx="13">
                  <c:v>0.15</c:v>
                </c:pt>
                <c:pt idx="14">
                  <c:v>0.05</c:v>
                </c:pt>
                <c:pt idx="15">
                  <c:v>-0.05</c:v>
                </c:pt>
                <c:pt idx="16">
                  <c:v>0.05</c:v>
                </c:pt>
                <c:pt idx="17">
                  <c:v>0.15</c:v>
                </c:pt>
                <c:pt idx="18">
                  <c:v>0.25</c:v>
                </c:pt>
                <c:pt idx="19">
                  <c:v>0.35</c:v>
                </c:pt>
                <c:pt idx="20">
                  <c:v>0.45</c:v>
                </c:pt>
                <c:pt idx="21">
                  <c:v>0.35</c:v>
                </c:pt>
                <c:pt idx="22">
                  <c:v>0.25</c:v>
                </c:pt>
                <c:pt idx="23">
                  <c:v>0.15</c:v>
                </c:pt>
                <c:pt idx="24">
                  <c:v>0.05</c:v>
                </c:pt>
                <c:pt idx="25">
                  <c:v>-0.05</c:v>
                </c:pt>
                <c:pt idx="26">
                  <c:v>0.05</c:v>
                </c:pt>
                <c:pt idx="27">
                  <c:v>0.15</c:v>
                </c:pt>
                <c:pt idx="28">
                  <c:v>0.25</c:v>
                </c:pt>
                <c:pt idx="29">
                  <c:v>0.35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1C1-4342-A3C5-83E2F2085A4B}"/>
            </c:ext>
          </c:extLst>
        </c:ser>
        <c:ser>
          <c:idx val="2"/>
          <c:order val="1"/>
          <c:tx>
            <c:strRef>
              <c:f>Sheet1!$AT$2</c:f>
              <c:strCache>
                <c:ptCount val="1"/>
                <c:pt idx="0">
                  <c:v>Stock B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val>
            <c:numRef>
              <c:f>Sheet1!$AT$3:$AT$32</c:f>
              <c:numCache>
                <c:formatCode>General</c:formatCode>
                <c:ptCount val="30"/>
                <c:pt idx="0">
                  <c:v>0.25</c:v>
                </c:pt>
                <c:pt idx="1">
                  <c:v>0.14999999999999997</c:v>
                </c:pt>
                <c:pt idx="2">
                  <c:v>4.9999999999999989E-2</c:v>
                </c:pt>
                <c:pt idx="3">
                  <c:v>-5.0000000000000017E-2</c:v>
                </c:pt>
                <c:pt idx="4">
                  <c:v>-0.15000000000000002</c:v>
                </c:pt>
                <c:pt idx="5">
                  <c:v>-0.25</c:v>
                </c:pt>
                <c:pt idx="6">
                  <c:v>-0.15000000000000002</c:v>
                </c:pt>
                <c:pt idx="7">
                  <c:v>-5.0000000000000017E-2</c:v>
                </c:pt>
                <c:pt idx="8">
                  <c:v>4.9999999999999989E-2</c:v>
                </c:pt>
                <c:pt idx="9">
                  <c:v>0.14999999999999997</c:v>
                </c:pt>
                <c:pt idx="10">
                  <c:v>0.25</c:v>
                </c:pt>
                <c:pt idx="11">
                  <c:v>0.14999999999999997</c:v>
                </c:pt>
                <c:pt idx="12">
                  <c:v>4.9999999999999989E-2</c:v>
                </c:pt>
                <c:pt idx="13">
                  <c:v>-5.0000000000000017E-2</c:v>
                </c:pt>
                <c:pt idx="14">
                  <c:v>-0.15000000000000002</c:v>
                </c:pt>
                <c:pt idx="15">
                  <c:v>-0.25</c:v>
                </c:pt>
                <c:pt idx="16">
                  <c:v>-0.15000000000000002</c:v>
                </c:pt>
                <c:pt idx="17">
                  <c:v>-5.0000000000000017E-2</c:v>
                </c:pt>
                <c:pt idx="18">
                  <c:v>4.9999999999999989E-2</c:v>
                </c:pt>
                <c:pt idx="19">
                  <c:v>0.14999999999999997</c:v>
                </c:pt>
                <c:pt idx="20">
                  <c:v>0.25</c:v>
                </c:pt>
                <c:pt idx="21">
                  <c:v>0.14999999999999997</c:v>
                </c:pt>
                <c:pt idx="22">
                  <c:v>4.9999999999999989E-2</c:v>
                </c:pt>
                <c:pt idx="23">
                  <c:v>-5.0000000000000017E-2</c:v>
                </c:pt>
                <c:pt idx="24">
                  <c:v>-0.15000000000000002</c:v>
                </c:pt>
                <c:pt idx="25">
                  <c:v>-0.25</c:v>
                </c:pt>
                <c:pt idx="26">
                  <c:v>-0.15000000000000002</c:v>
                </c:pt>
                <c:pt idx="27">
                  <c:v>-5.0000000000000017E-2</c:v>
                </c:pt>
                <c:pt idx="28">
                  <c:v>4.9999999999999989E-2</c:v>
                </c:pt>
                <c:pt idx="29">
                  <c:v>0.14999999999999997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1C1-4342-A3C5-83E2F2085A4B}"/>
            </c:ext>
          </c:extLst>
        </c:ser>
        <c:ser>
          <c:idx val="0"/>
          <c:order val="2"/>
          <c:tx>
            <c:strRef>
              <c:f>Sheet1!$AU$2</c:f>
              <c:strCache>
                <c:ptCount val="1"/>
                <c:pt idx="0">
                  <c:v>Avg</c:v>
                </c:pt>
              </c:strCache>
            </c:strRef>
          </c:tx>
          <c:spPr>
            <a:ln w="508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Sheet1!$AU$3:$AU$32</c:f>
              <c:numCache>
                <c:formatCode>General</c:formatCode>
                <c:ptCount val="30"/>
                <c:pt idx="0">
                  <c:v>0.35</c:v>
                </c:pt>
                <c:pt idx="1">
                  <c:v>0.24999999999999997</c:v>
                </c:pt>
                <c:pt idx="2">
                  <c:v>0.15</c:v>
                </c:pt>
                <c:pt idx="3">
                  <c:v>4.9999999999999989E-2</c:v>
                </c:pt>
                <c:pt idx="4">
                  <c:v>-5.000000000000001E-2</c:v>
                </c:pt>
                <c:pt idx="5">
                  <c:v>-0.15</c:v>
                </c:pt>
                <c:pt idx="6">
                  <c:v>-5.000000000000001E-2</c:v>
                </c:pt>
                <c:pt idx="7">
                  <c:v>4.9999999999999989E-2</c:v>
                </c:pt>
                <c:pt idx="8">
                  <c:v>0.15</c:v>
                </c:pt>
                <c:pt idx="9">
                  <c:v>0.24999999999999997</c:v>
                </c:pt>
                <c:pt idx="10">
                  <c:v>0.35</c:v>
                </c:pt>
                <c:pt idx="11">
                  <c:v>0.24999999999999997</c:v>
                </c:pt>
                <c:pt idx="12">
                  <c:v>0.15</c:v>
                </c:pt>
                <c:pt idx="13">
                  <c:v>4.9999999999999989E-2</c:v>
                </c:pt>
                <c:pt idx="14">
                  <c:v>-5.000000000000001E-2</c:v>
                </c:pt>
                <c:pt idx="15">
                  <c:v>-0.15</c:v>
                </c:pt>
                <c:pt idx="16">
                  <c:v>-5.000000000000001E-2</c:v>
                </c:pt>
                <c:pt idx="17">
                  <c:v>4.9999999999999989E-2</c:v>
                </c:pt>
                <c:pt idx="18">
                  <c:v>0.15</c:v>
                </c:pt>
                <c:pt idx="19">
                  <c:v>0.24999999999999997</c:v>
                </c:pt>
                <c:pt idx="20">
                  <c:v>0.35</c:v>
                </c:pt>
                <c:pt idx="21">
                  <c:v>0.24999999999999997</c:v>
                </c:pt>
                <c:pt idx="22">
                  <c:v>0.15</c:v>
                </c:pt>
                <c:pt idx="23">
                  <c:v>4.9999999999999989E-2</c:v>
                </c:pt>
                <c:pt idx="24">
                  <c:v>-5.000000000000001E-2</c:v>
                </c:pt>
                <c:pt idx="25">
                  <c:v>-0.15</c:v>
                </c:pt>
                <c:pt idx="26">
                  <c:v>-5.000000000000001E-2</c:v>
                </c:pt>
                <c:pt idx="27">
                  <c:v>4.9999999999999989E-2</c:v>
                </c:pt>
                <c:pt idx="28">
                  <c:v>0.15</c:v>
                </c:pt>
                <c:pt idx="29">
                  <c:v>0.24999999999999997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1C1-4342-A3C5-83E2F2085A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69984928"/>
        <c:axId val="469986640"/>
      </c:lineChart>
      <c:catAx>
        <c:axId val="46998492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9986640"/>
        <c:crosses val="autoZero"/>
        <c:auto val="1"/>
        <c:lblAlgn val="ctr"/>
        <c:lblOffset val="100"/>
        <c:noMultiLvlLbl val="0"/>
      </c:catAx>
      <c:valAx>
        <c:axId val="4699866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9984928"/>
        <c:crosses val="autoZero"/>
        <c:crossBetween val="between"/>
      </c:valAx>
      <c:spPr>
        <a:solidFill>
          <a:schemeClr val="lt1"/>
        </a:solidFill>
        <a:ln w="19050" cap="flat" cmpd="sng" algn="ctr">
          <a:solidFill>
            <a:schemeClr val="accent6"/>
          </a:solidFill>
          <a:prstDash val="solid"/>
          <a:miter lim="800000"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4B6570-999A-DC42-8E66-F3D58899C2B7}" type="datetimeFigureOut">
              <a:rPr lang="en-US" smtClean="0"/>
              <a:t>4/14/25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249C8-EEFF-0D43-99AE-419F2E819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889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5FB6C-482D-0CA6-0DE7-A1A454DF8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BB1028-71D8-5431-C858-18A13E212E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D1E4A-C709-833E-8BD5-AB357ED3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E4701-E60B-FACF-D008-D6973077D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45F21-F310-25D3-E67C-F367F2C88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499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59575-D8E5-4A66-CADA-E482F1441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C6E56-9AC0-66AD-C7DA-859101091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A363D-B7C6-7735-2FDD-08180DD60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D0FD0-7E51-D047-6E3E-6637F26BD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EC9BB-7E26-F3B6-D943-BC8B533D8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976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69BF2-11A0-FD24-CE3F-086326F82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F59D0-8E25-45D1-541F-EDC02B15B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98559-E522-D16F-4CAC-3D25F8FAE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D839E-DE62-2C49-49CA-9764CD2E6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CB57B-61F5-5150-2D2C-5DD8EB004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172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55D95-82B1-D51C-FC84-DEDAF8F05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C9C2F-C4D3-4114-08A3-C63246E1FC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42FEC3-2E6A-634C-C36E-31960FBB4D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948A8-F8A0-43CE-61CB-23D8EEA88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AF85D-0A8C-EF4C-0BBB-781FE0AD2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85E45-8598-93A6-A975-39200CEF2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052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28E9C-41D5-756E-2210-73BE51675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5B8B5E-F5F4-C12D-6E69-79E7DC6C8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93AF9-BAAB-7C0C-2A9F-EE277C72A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C1E2C7-77F5-0CC3-0DB1-C603AD9D81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5B85B7-C95B-6EB7-30B0-D7970DF9EF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EA31BD-258A-FF61-A40F-2AECE6728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26FAEC-491C-9FBC-DD4F-E38CDBB96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7BF88-4C03-9D43-A69E-20C380CB3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92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34D1B-1BCD-9A2B-3972-2543F411F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1FBEE9-22E7-9DCE-1FD7-6524DA6A7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CA0769-0478-F802-85F4-44852F876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8E0EE1-A079-CFE1-AE9C-918642736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954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2EF334-4B8C-D680-9553-CA10C9D73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F99754-111E-6272-2C89-0F3EDA698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59B71-4C50-D2A2-020D-5DD0FA05E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354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0A0B8-477D-35B0-7412-32F428B91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A6865-2165-7C1C-940B-053992395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33155-0BFB-86F7-059B-EEF97ABF1E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F4A07E-E050-ABCF-9243-A6FBB2589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3DD39-1D14-5AB7-1A69-8027B38A3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5BDE8-698B-2C4D-D21E-BE3EBD399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571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BFCD6-1E57-B4FB-9408-566E35923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37DE9-1135-AA14-17F4-548BBF1F42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C50764-D82B-D75E-993F-B9CCD1F07C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3F2CD-FEBD-1ECF-8F44-D4F81977B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C2630-7380-E112-5F8B-043D986B8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8E5B24-DC64-AB0B-30EC-52DD0365F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17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5E52A-1FE4-B6B8-F089-5384E314D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48E456-17A9-C6A9-2755-A45D7F4530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DBDF4-6082-1290-3E8E-57A5ABAA4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0894A-2F3C-4B8E-8810-AEE573267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AAF87-8AE7-BC2E-A207-358D87DC8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788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81805F-BB64-2EB1-35DB-4E7F78E8E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FF093D-B18C-38A6-A275-E4007CFDD1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4F3AC-A7FB-2BA1-986B-83976C2CB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EEA69-29F0-C94B-C22B-5F9A5A22A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F7028-1573-C1DF-F272-C3A0F373E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06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8212E9-93E5-CDD1-498F-A39B259D5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83DC2-F13F-F521-C0E4-4F54796FC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F7B16-78AF-C336-F905-BF1D852AFD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425B35-3F3A-CD41-9377-C81DC4A252A0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E59BC-03CD-E536-A6BF-FA28D0ACB2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283CA-4F84-65CA-AA42-4F0F2A5F03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475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0">
              <a:schemeClr val="accent1">
                <a:alpha val="84000"/>
                <a:lumMod val="76000"/>
              </a:schemeClr>
            </a:gs>
            <a:gs pos="52000">
              <a:schemeClr val="accent1">
                <a:lumMod val="45000"/>
                <a:lumOff val="55000"/>
              </a:schemeClr>
            </a:gs>
            <a:gs pos="72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30000"/>
                <a:lumOff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4CBDF4-8170-E480-75D3-55CE01005CD1}"/>
              </a:ext>
            </a:extLst>
          </p:cNvPr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AB0839-5E9D-30E7-D14B-C47804BA44F4}"/>
              </a:ext>
            </a:extLst>
          </p:cNvPr>
          <p:cNvSpPr txBox="1"/>
          <p:nvPr/>
        </p:nvSpPr>
        <p:spPr>
          <a:xfrm>
            <a:off x="4903845" y="523501"/>
            <a:ext cx="23843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8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6018FE9-10AD-02C4-78B7-8B7EED8F1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099" y="1628353"/>
            <a:ext cx="5963797" cy="39758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01586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F6F0F-6DA7-76FD-EC05-B5048D474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0BB7291-95BA-C571-70CC-82605DFE1495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1DE40-E457-30D5-0E6F-73DE68689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161" y="340399"/>
            <a:ext cx="11109960" cy="98266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The Risk–Return Trade-Off: Investor Perspective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50040F-DDAE-7F89-EDD9-73B9DED7E5F6}"/>
              </a:ext>
            </a:extLst>
          </p:cNvPr>
          <p:cNvSpPr txBox="1"/>
          <p:nvPr/>
        </p:nvSpPr>
        <p:spPr>
          <a:xfrm>
            <a:off x="248529" y="1562859"/>
            <a:ext cx="1169494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6032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Investors prefer higher returns and dislike risk.</a:t>
            </a:r>
          </a:p>
          <a:p>
            <a:pPr marL="256032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To attract investors to riskier assets, higher expected returns are needed.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60A721-726F-6443-3B8E-2EF2D346390C}"/>
              </a:ext>
            </a:extLst>
          </p:cNvPr>
          <p:cNvSpPr txBox="1"/>
          <p:nvPr/>
        </p:nvSpPr>
        <p:spPr>
          <a:xfrm>
            <a:off x="248529" y="6082916"/>
            <a:ext cx="96567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56032" indent="-256032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The slope of the risk–return line reflects an investor’s risk tolerance.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7AA6328-DE6D-BE1E-F56B-0153360DE821}"/>
              </a:ext>
            </a:extLst>
          </p:cNvPr>
          <p:cNvGrpSpPr/>
          <p:nvPr/>
        </p:nvGrpSpPr>
        <p:grpSpPr>
          <a:xfrm>
            <a:off x="1066569" y="2558617"/>
            <a:ext cx="4307449" cy="3276535"/>
            <a:chOff x="312688" y="2264656"/>
            <a:chExt cx="4307449" cy="3276535"/>
          </a:xfrm>
        </p:grpSpPr>
        <p:sp>
          <p:nvSpPr>
            <p:cNvPr id="5" name="Left-Up Arrow 4">
              <a:extLst>
                <a:ext uri="{FF2B5EF4-FFF2-40B4-BE49-F238E27FC236}">
                  <a16:creationId xmlns:a16="http://schemas.microsoft.com/office/drawing/2014/main" id="{1479642B-F133-A802-B15C-B1C2A7D208E1}"/>
                </a:ext>
              </a:extLst>
            </p:cNvPr>
            <p:cNvSpPr/>
            <p:nvPr/>
          </p:nvSpPr>
          <p:spPr>
            <a:xfrm rot="5400000">
              <a:off x="1223259" y="2059766"/>
              <a:ext cx="2522088" cy="3668618"/>
            </a:xfrm>
            <a:prstGeom prst="leftUpArrow">
              <a:avLst>
                <a:gd name="adj1" fmla="val 0"/>
                <a:gd name="adj2" fmla="val 3033"/>
                <a:gd name="adj3" fmla="val 5106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689F21C-2AD0-8488-F02A-FA1DEE13A536}"/>
                </a:ext>
              </a:extLst>
            </p:cNvPr>
            <p:cNvSpPr txBox="1"/>
            <p:nvPr/>
          </p:nvSpPr>
          <p:spPr>
            <a:xfrm>
              <a:off x="4017087" y="5171859"/>
              <a:ext cx="6030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Risk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F57576F-D2D2-6701-36EB-2562CE82111D}"/>
                </a:ext>
              </a:extLst>
            </p:cNvPr>
            <p:cNvSpPr txBox="1"/>
            <p:nvPr/>
          </p:nvSpPr>
          <p:spPr>
            <a:xfrm>
              <a:off x="312688" y="2264656"/>
              <a:ext cx="8531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Return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D240312-8232-5AED-4D22-BF91EDD067A1}"/>
                </a:ext>
              </a:extLst>
            </p:cNvPr>
            <p:cNvSpPr txBox="1"/>
            <p:nvPr/>
          </p:nvSpPr>
          <p:spPr>
            <a:xfrm>
              <a:off x="585199" y="508702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E6FE329-FDD5-E502-8C25-3CA771FFAB51}"/>
              </a:ext>
            </a:extLst>
          </p:cNvPr>
          <p:cNvCxnSpPr>
            <a:cxnSpLocks/>
          </p:cNvCxnSpPr>
          <p:nvPr/>
        </p:nvCxnSpPr>
        <p:spPr>
          <a:xfrm flipV="1">
            <a:off x="1493944" y="3669177"/>
            <a:ext cx="3265449" cy="11120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A6529A-7BA7-DB88-0241-B103705A58EC}"/>
              </a:ext>
            </a:extLst>
          </p:cNvPr>
          <p:cNvGrpSpPr/>
          <p:nvPr/>
        </p:nvGrpSpPr>
        <p:grpSpPr>
          <a:xfrm>
            <a:off x="941869" y="3942583"/>
            <a:ext cx="2752554" cy="1892569"/>
            <a:chOff x="941869" y="4127776"/>
            <a:chExt cx="2752554" cy="189256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8FE876E-88DE-DDC7-1B9C-4B14A0C045C4}"/>
                </a:ext>
              </a:extLst>
            </p:cNvPr>
            <p:cNvSpPr txBox="1"/>
            <p:nvPr/>
          </p:nvSpPr>
          <p:spPr>
            <a:xfrm>
              <a:off x="941869" y="4127776"/>
              <a:ext cx="4988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6">
                      <a:lumMod val="75000"/>
                    </a:schemeClr>
                  </a:solidFill>
                </a:rPr>
                <a:t>6%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B3E20C7-06BC-AD4C-B9DE-4A82C3C62047}"/>
                </a:ext>
              </a:extLst>
            </p:cNvPr>
            <p:cNvSpPr txBox="1"/>
            <p:nvPr/>
          </p:nvSpPr>
          <p:spPr>
            <a:xfrm>
              <a:off x="3072137" y="5651013"/>
              <a:ext cx="6222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6">
                      <a:lumMod val="75000"/>
                    </a:schemeClr>
                  </a:solidFill>
                </a:rPr>
                <a:t>10%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EF8A0693-EC2D-7858-0AC4-3C1F4DB3CAE3}"/>
                </a:ext>
              </a:extLst>
            </p:cNvPr>
            <p:cNvGrpSpPr/>
            <p:nvPr/>
          </p:nvGrpSpPr>
          <p:grpSpPr>
            <a:xfrm>
              <a:off x="1484661" y="4258619"/>
              <a:ext cx="1936908" cy="1307563"/>
              <a:chOff x="1484661" y="4258619"/>
              <a:chExt cx="1936908" cy="1307563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34587161-704D-8F12-AA2B-3BCC467E77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83280" y="4341585"/>
                <a:ext cx="0" cy="1224597"/>
              </a:xfrm>
              <a:prstGeom prst="line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E31F8797-DACD-6A7F-A666-F0B8694EC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84661" y="4309694"/>
                <a:ext cx="1893176" cy="0"/>
              </a:xfrm>
              <a:prstGeom prst="line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C8EECD55-166C-F631-1396-59DDC3FA5062}"/>
                  </a:ext>
                </a:extLst>
              </p:cNvPr>
              <p:cNvSpPr/>
              <p:nvPr/>
            </p:nvSpPr>
            <p:spPr>
              <a:xfrm rot="8892270">
                <a:off x="3334104" y="4258619"/>
                <a:ext cx="87465" cy="107008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BE7942F-8629-D6B7-AA55-A231B26841E0}"/>
              </a:ext>
            </a:extLst>
          </p:cNvPr>
          <p:cNvGrpSpPr/>
          <p:nvPr/>
        </p:nvGrpSpPr>
        <p:grpSpPr>
          <a:xfrm>
            <a:off x="941869" y="4278015"/>
            <a:ext cx="1654518" cy="1557137"/>
            <a:chOff x="941869" y="4463208"/>
            <a:chExt cx="1654518" cy="155713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D9DA971-D2B5-07E9-C211-86A5D54D5EA9}"/>
                </a:ext>
              </a:extLst>
            </p:cNvPr>
            <p:cNvSpPr txBox="1"/>
            <p:nvPr/>
          </p:nvSpPr>
          <p:spPr>
            <a:xfrm>
              <a:off x="941869" y="4463208"/>
              <a:ext cx="4988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1F81E4"/>
                  </a:solidFill>
                </a:rPr>
                <a:t>5%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8B2D193-27D4-D3BB-2562-566B2928198A}"/>
                </a:ext>
              </a:extLst>
            </p:cNvPr>
            <p:cNvSpPr txBox="1"/>
            <p:nvPr/>
          </p:nvSpPr>
          <p:spPr>
            <a:xfrm>
              <a:off x="2097532" y="5651013"/>
              <a:ext cx="4988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1F81E4"/>
                  </a:solidFill>
                </a:rPr>
                <a:t>5%</a:t>
              </a:r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33400A9B-EE61-4998-2D90-233030BC70C5}"/>
                </a:ext>
              </a:extLst>
            </p:cNvPr>
            <p:cNvGrpSpPr/>
            <p:nvPr/>
          </p:nvGrpSpPr>
          <p:grpSpPr>
            <a:xfrm>
              <a:off x="1484661" y="4640058"/>
              <a:ext cx="891092" cy="926124"/>
              <a:chOff x="1484661" y="4640058"/>
              <a:chExt cx="891092" cy="926124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070246F3-0A21-8ED9-5F91-40A79B9BC2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46960" y="4678735"/>
                <a:ext cx="0" cy="887447"/>
              </a:xfrm>
              <a:prstGeom prst="lin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CE276EFD-D777-11AA-B8C0-AA1ABCB8F6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484661" y="4678735"/>
                <a:ext cx="862299" cy="1818"/>
              </a:xfrm>
              <a:prstGeom prst="lin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F4CA89DB-EF22-88B9-8DB0-FA2F6CC80040}"/>
                  </a:ext>
                </a:extLst>
              </p:cNvPr>
              <p:cNvSpPr/>
              <p:nvPr/>
            </p:nvSpPr>
            <p:spPr>
              <a:xfrm rot="8892270">
                <a:off x="2288288" y="4640058"/>
                <a:ext cx="87465" cy="107008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EFDD152-5BB2-91AB-74DE-6E0F157A1203}"/>
              </a:ext>
            </a:extLst>
          </p:cNvPr>
          <p:cNvGrpSpPr/>
          <p:nvPr/>
        </p:nvGrpSpPr>
        <p:grpSpPr>
          <a:xfrm>
            <a:off x="6173141" y="2553569"/>
            <a:ext cx="4307449" cy="3276535"/>
            <a:chOff x="312688" y="2264656"/>
            <a:chExt cx="4307449" cy="3276535"/>
          </a:xfrm>
        </p:grpSpPr>
        <p:sp>
          <p:nvSpPr>
            <p:cNvPr id="50" name="Left-Up Arrow 49">
              <a:extLst>
                <a:ext uri="{FF2B5EF4-FFF2-40B4-BE49-F238E27FC236}">
                  <a16:creationId xmlns:a16="http://schemas.microsoft.com/office/drawing/2014/main" id="{923D246F-21D0-F5F0-7AEE-FC6F57C4CBCF}"/>
                </a:ext>
              </a:extLst>
            </p:cNvPr>
            <p:cNvSpPr/>
            <p:nvPr/>
          </p:nvSpPr>
          <p:spPr>
            <a:xfrm rot="5400000">
              <a:off x="1223259" y="2059766"/>
              <a:ext cx="2522088" cy="3668618"/>
            </a:xfrm>
            <a:prstGeom prst="leftUpArrow">
              <a:avLst>
                <a:gd name="adj1" fmla="val 0"/>
                <a:gd name="adj2" fmla="val 3033"/>
                <a:gd name="adj3" fmla="val 5106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C9E1519-819F-954F-F985-CD7F18C10B5C}"/>
                </a:ext>
              </a:extLst>
            </p:cNvPr>
            <p:cNvSpPr txBox="1"/>
            <p:nvPr/>
          </p:nvSpPr>
          <p:spPr>
            <a:xfrm>
              <a:off x="4017087" y="5171859"/>
              <a:ext cx="6030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Risk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49721BE-E83C-64E0-7146-C1E3F5287A7B}"/>
                </a:ext>
              </a:extLst>
            </p:cNvPr>
            <p:cNvSpPr txBox="1"/>
            <p:nvPr/>
          </p:nvSpPr>
          <p:spPr>
            <a:xfrm>
              <a:off x="312688" y="2264656"/>
              <a:ext cx="8531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Return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DC18C35-DA7E-431F-0DF4-02DFBA7240CD}"/>
                </a:ext>
              </a:extLst>
            </p:cNvPr>
            <p:cNvSpPr txBox="1"/>
            <p:nvPr/>
          </p:nvSpPr>
          <p:spPr>
            <a:xfrm>
              <a:off x="585199" y="508702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</p:grp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95455AB-8F49-04D6-DD22-232ED3F3359F}"/>
              </a:ext>
            </a:extLst>
          </p:cNvPr>
          <p:cNvCxnSpPr>
            <a:cxnSpLocks/>
          </p:cNvCxnSpPr>
          <p:nvPr/>
        </p:nvCxnSpPr>
        <p:spPr>
          <a:xfrm flipV="1">
            <a:off x="6591233" y="3102017"/>
            <a:ext cx="2402296" cy="211816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E3E502F-F13C-E383-B29C-78C8FDD56230}"/>
              </a:ext>
            </a:extLst>
          </p:cNvPr>
          <p:cNvGrpSpPr/>
          <p:nvPr/>
        </p:nvGrpSpPr>
        <p:grpSpPr>
          <a:xfrm>
            <a:off x="5977414" y="3402679"/>
            <a:ext cx="2823581" cy="2427425"/>
            <a:chOff x="870842" y="3592920"/>
            <a:chExt cx="2823581" cy="2427425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ACE29C7-2FFD-92AB-92C8-12E1CE9158F0}"/>
                </a:ext>
              </a:extLst>
            </p:cNvPr>
            <p:cNvSpPr txBox="1"/>
            <p:nvPr/>
          </p:nvSpPr>
          <p:spPr>
            <a:xfrm>
              <a:off x="870842" y="3592920"/>
              <a:ext cx="6222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6">
                      <a:lumMod val="75000"/>
                    </a:schemeClr>
                  </a:solidFill>
                </a:rPr>
                <a:t>10%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C19431A-F518-73CA-D246-0997CA93F548}"/>
                </a:ext>
              </a:extLst>
            </p:cNvPr>
            <p:cNvSpPr txBox="1"/>
            <p:nvPr/>
          </p:nvSpPr>
          <p:spPr>
            <a:xfrm>
              <a:off x="3072137" y="5651013"/>
              <a:ext cx="6222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6">
                      <a:lumMod val="75000"/>
                    </a:schemeClr>
                  </a:solidFill>
                </a:rPr>
                <a:t>10%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79E0A233-3D14-1AE5-BED9-7CBE1DD5D2E4}"/>
                </a:ext>
              </a:extLst>
            </p:cNvPr>
            <p:cNvGrpSpPr/>
            <p:nvPr/>
          </p:nvGrpSpPr>
          <p:grpSpPr>
            <a:xfrm>
              <a:off x="1452299" y="3724732"/>
              <a:ext cx="1947847" cy="1841450"/>
              <a:chOff x="1452299" y="3724732"/>
              <a:chExt cx="1947847" cy="1841450"/>
            </a:xfrm>
          </p:grpSpPr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35F62E89-7649-5FBD-D9F2-BCD0652C6966}"/>
                  </a:ext>
                </a:extLst>
              </p:cNvPr>
              <p:cNvCxnSpPr>
                <a:cxnSpLocks/>
                <a:stCxn id="61" idx="0"/>
              </p:cNvCxnSpPr>
              <p:nvPr/>
            </p:nvCxnSpPr>
            <p:spPr>
              <a:xfrm flipH="1">
                <a:off x="3383280" y="3823711"/>
                <a:ext cx="1324" cy="1742471"/>
              </a:xfrm>
              <a:prstGeom prst="line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479A343C-0580-5931-319C-4AD10B27CD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52299" y="3779168"/>
                <a:ext cx="1893176" cy="0"/>
              </a:xfrm>
              <a:prstGeom prst="line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59764C73-D899-2864-66B7-840DF121CFE2}"/>
                  </a:ext>
                </a:extLst>
              </p:cNvPr>
              <p:cNvSpPr/>
              <p:nvPr/>
            </p:nvSpPr>
            <p:spPr>
              <a:xfrm rot="8892270">
                <a:off x="3312681" y="3724732"/>
                <a:ext cx="87465" cy="107008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F266957-FD54-EE1E-86C5-AF0A651F68E5}"/>
              </a:ext>
            </a:extLst>
          </p:cNvPr>
          <p:cNvGrpSpPr/>
          <p:nvPr/>
        </p:nvGrpSpPr>
        <p:grpSpPr>
          <a:xfrm>
            <a:off x="6048441" y="4272967"/>
            <a:ext cx="1654518" cy="1557137"/>
            <a:chOff x="941869" y="4463208"/>
            <a:chExt cx="1654518" cy="1557137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A11CA6E-F2B6-5E07-D88F-2874ED01C8CA}"/>
                </a:ext>
              </a:extLst>
            </p:cNvPr>
            <p:cNvSpPr txBox="1"/>
            <p:nvPr/>
          </p:nvSpPr>
          <p:spPr>
            <a:xfrm>
              <a:off x="941869" y="4463208"/>
              <a:ext cx="4988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1F81E4"/>
                  </a:solidFill>
                </a:rPr>
                <a:t>5%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B3D7C584-7598-2B6D-00A6-B01C22CC90E9}"/>
                </a:ext>
              </a:extLst>
            </p:cNvPr>
            <p:cNvSpPr txBox="1"/>
            <p:nvPr/>
          </p:nvSpPr>
          <p:spPr>
            <a:xfrm>
              <a:off x="2097532" y="5651013"/>
              <a:ext cx="4988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1F81E4"/>
                  </a:solidFill>
                </a:rPr>
                <a:t>5%</a:t>
              </a:r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5D6E853-77BD-702C-D17C-E1546D56F012}"/>
                </a:ext>
              </a:extLst>
            </p:cNvPr>
            <p:cNvGrpSpPr/>
            <p:nvPr/>
          </p:nvGrpSpPr>
          <p:grpSpPr>
            <a:xfrm>
              <a:off x="1484661" y="4640058"/>
              <a:ext cx="891092" cy="926124"/>
              <a:chOff x="1484661" y="4640058"/>
              <a:chExt cx="891092" cy="926124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404DE2DF-4355-25F5-1AAC-45DE514577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46960" y="4678735"/>
                <a:ext cx="0" cy="887447"/>
              </a:xfrm>
              <a:prstGeom prst="lin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FCADFD9F-7810-2AC3-9889-C64B122DA96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484661" y="4678735"/>
                <a:ext cx="862299" cy="1818"/>
              </a:xfrm>
              <a:prstGeom prst="lin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31795F2B-5380-F766-332F-D685243A547F}"/>
                  </a:ext>
                </a:extLst>
              </p:cNvPr>
              <p:cNvSpPr/>
              <p:nvPr/>
            </p:nvSpPr>
            <p:spPr>
              <a:xfrm rot="8892270">
                <a:off x="2288288" y="4640058"/>
                <a:ext cx="87465" cy="107008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B7315F50-2944-5B59-9C43-6B8896A96356}"/>
              </a:ext>
            </a:extLst>
          </p:cNvPr>
          <p:cNvSpPr txBox="1"/>
          <p:nvPr/>
        </p:nvSpPr>
        <p:spPr>
          <a:xfrm>
            <a:off x="1714120" y="2944689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latin typeface="Helvetica" pitchFamily="2" charset="0"/>
              </a:rPr>
              <a:t>Flat slope</a:t>
            </a:r>
            <a:r>
              <a:rPr lang="en-US" sz="1800" dirty="0">
                <a:latin typeface="Helvetica" pitchFamily="2" charset="0"/>
              </a:rPr>
              <a:t> → More comfort with risk</a:t>
            </a:r>
            <a:endParaRPr 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6EE879E-C04A-B706-64A9-BA3F90F16AED}"/>
              </a:ext>
            </a:extLst>
          </p:cNvPr>
          <p:cNvSpPr txBox="1"/>
          <p:nvPr/>
        </p:nvSpPr>
        <p:spPr>
          <a:xfrm>
            <a:off x="7237915" y="2939689"/>
            <a:ext cx="3672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latin typeface="Helvetica" pitchFamily="2" charset="0"/>
              </a:rPr>
              <a:t>Steep slope</a:t>
            </a:r>
            <a:r>
              <a:rPr lang="en-US" sz="1800" dirty="0">
                <a:latin typeface="Helvetica" pitchFamily="2" charset="0"/>
              </a:rPr>
              <a:t> → High risk aversion</a:t>
            </a:r>
          </a:p>
        </p:txBody>
      </p:sp>
    </p:spTree>
    <p:extLst>
      <p:ext uri="{BB962C8B-B14F-4D97-AF65-F5344CB8AC3E}">
        <p14:creationId xmlns:p14="http://schemas.microsoft.com/office/powerpoint/2010/main" val="563111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8" grpId="0"/>
      <p:bldP spid="7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2C08C-286C-B8A5-5E77-4EDFF9953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F8E1BF2-1530-14EA-0E85-F4C45CE2F63D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C246E7-E7C5-80AC-6FC7-856916C9D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The Risk–Return Trade-Off: Company Perspective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39355B-1107-1507-4164-67F3B6C4E622}"/>
              </a:ext>
            </a:extLst>
          </p:cNvPr>
          <p:cNvSpPr txBox="1"/>
          <p:nvPr/>
        </p:nvSpPr>
        <p:spPr>
          <a:xfrm>
            <a:off x="248529" y="1586306"/>
            <a:ext cx="11694941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6032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Companies must offer higher returns on riskier projects to attract capital.</a:t>
            </a:r>
          </a:p>
          <a:p>
            <a:pPr marL="256032" indent="-25146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Riskier companies:</a:t>
            </a:r>
          </a:p>
          <a:p>
            <a:pPr marL="713232" lvl="2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Pay higher yields to bondholders (default risk).</a:t>
            </a:r>
          </a:p>
          <a:p>
            <a:pPr marL="713232" lvl="2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Must generate higher stock returns (equity risk).</a:t>
            </a:r>
          </a:p>
          <a:p>
            <a:pPr marL="256032" indent="-25146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The risk–return line shows the </a:t>
            </a:r>
            <a:r>
              <a:rPr lang="en-US" sz="2400" b="1" dirty="0">
                <a:latin typeface="Helvetica" pitchFamily="2" charset="0"/>
              </a:rPr>
              <a:t>company’s cost of capital</a:t>
            </a:r>
            <a:r>
              <a:rPr lang="en-US" sz="2400" dirty="0">
                <a:latin typeface="Helvetica" pitchFamily="2" charset="0"/>
              </a:rPr>
              <a:t>.</a:t>
            </a:r>
          </a:p>
          <a:p>
            <a:pPr marL="256032" indent="-25146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Firms </a:t>
            </a:r>
            <a:r>
              <a:rPr lang="en-US" sz="2400" b="1" dirty="0">
                <a:latin typeface="Helvetica" pitchFamily="2" charset="0"/>
              </a:rPr>
              <a:t>create value</a:t>
            </a:r>
            <a:r>
              <a:rPr lang="en-US" sz="2400" dirty="0">
                <a:latin typeface="Helvetica" pitchFamily="2" charset="0"/>
              </a:rPr>
              <a:t> by investing in projects that yield returns </a:t>
            </a:r>
            <a:r>
              <a:rPr lang="en-US" sz="2400" b="1" dirty="0">
                <a:latin typeface="Helvetica" pitchFamily="2" charset="0"/>
              </a:rPr>
              <a:t>above their cost of capital</a:t>
            </a:r>
            <a:r>
              <a:rPr lang="en-US" sz="2400" dirty="0">
                <a:latin typeface="Helvetica" pitchFamily="2" charset="0"/>
              </a:rPr>
              <a:t>.</a:t>
            </a:r>
          </a:p>
          <a:p>
            <a:pPr marL="256032" indent="-25146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Firms </a:t>
            </a:r>
            <a:r>
              <a:rPr lang="en-US" sz="2400" b="1" dirty="0">
                <a:latin typeface="Helvetica" pitchFamily="2" charset="0"/>
              </a:rPr>
              <a:t>destroy value</a:t>
            </a:r>
            <a:r>
              <a:rPr lang="en-US" sz="2400" dirty="0">
                <a:latin typeface="Helvetica" pitchFamily="2" charset="0"/>
              </a:rPr>
              <a:t> by investing in projects that yield returns </a:t>
            </a:r>
            <a:r>
              <a:rPr lang="en-US" sz="2400" b="1" dirty="0">
                <a:latin typeface="Helvetica" pitchFamily="2" charset="0"/>
              </a:rPr>
              <a:t>below their cost of capital</a:t>
            </a:r>
            <a:r>
              <a:rPr lang="en-US" sz="2400" dirty="0">
                <a:latin typeface="Helvetica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7908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45B3D-8F5C-0F88-59BB-DE0C28AFA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C85D39E-C147-B651-2E42-65E3EF04A706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D757B4-4CD2-2ACF-F8C3-4B03FBB8A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What is Return?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E62A41-04C4-A08E-EBD5-AA92B149E7F1}"/>
              </a:ext>
            </a:extLst>
          </p:cNvPr>
          <p:cNvSpPr txBox="1"/>
          <p:nvPr/>
        </p:nvSpPr>
        <p:spPr>
          <a:xfrm>
            <a:off x="248529" y="1586306"/>
            <a:ext cx="1169494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1460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Return</a:t>
            </a:r>
            <a:r>
              <a:rPr lang="en-US" sz="2400" dirty="0">
                <a:latin typeface="Helvetica" pitchFamily="2" charset="0"/>
              </a:rPr>
              <a:t> is the gain or loss made on an investment over a period of time, usually expressed as a </a:t>
            </a:r>
            <a:r>
              <a:rPr lang="en-US" sz="2400" b="1" dirty="0">
                <a:latin typeface="Helvetica" pitchFamily="2" charset="0"/>
              </a:rPr>
              <a:t>percentage</a:t>
            </a:r>
            <a:r>
              <a:rPr lang="en-US" sz="2400" dirty="0">
                <a:latin typeface="Helvetica" pitchFamily="2" charset="0"/>
              </a:rPr>
              <a:t> of the original investment.</a:t>
            </a:r>
          </a:p>
          <a:p>
            <a:pPr marL="1165860" lvl="2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It answers: </a:t>
            </a:r>
            <a:r>
              <a:rPr lang="en-US" sz="2400" i="1" dirty="0">
                <a:latin typeface="Helvetica" pitchFamily="2" charset="0"/>
              </a:rPr>
              <a:t>"How much did I earn (or lose) from this investment?”</a:t>
            </a:r>
          </a:p>
          <a:p>
            <a:pPr marL="251460" indent="-251460">
              <a:spcBef>
                <a:spcPts val="18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Ways to Calculate Return:</a:t>
            </a:r>
          </a:p>
          <a:p>
            <a:pPr marL="1165860" lvl="2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Helvetica" pitchFamily="2" charset="0"/>
              </a:rPr>
              <a:t>Basic (Total) Return</a:t>
            </a:r>
          </a:p>
          <a:p>
            <a:pPr marL="2080260" lvl="4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Used for a one-period investment (e.g., buying a stock and selling it later).</a:t>
            </a:r>
          </a:p>
          <a:p>
            <a:pPr marL="1165860" lvl="2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Helvetica" pitchFamily="2" charset="0"/>
              </a:rPr>
              <a:t>Expected Return (r̂)</a:t>
            </a:r>
          </a:p>
          <a:p>
            <a:pPr marL="2080260" lvl="4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Used when there are </a:t>
            </a:r>
            <a:r>
              <a:rPr lang="en-US" sz="2000" b="1" dirty="0">
                <a:latin typeface="Helvetica" pitchFamily="2" charset="0"/>
              </a:rPr>
              <a:t>multiple possible outcomes</a:t>
            </a:r>
            <a:r>
              <a:rPr lang="en-US" sz="2000" dirty="0">
                <a:latin typeface="Helvetica" pitchFamily="2" charset="0"/>
              </a:rPr>
              <a:t> and </a:t>
            </a:r>
            <a:r>
              <a:rPr lang="en-US" sz="2000" b="1" dirty="0">
                <a:latin typeface="Helvetica" pitchFamily="2" charset="0"/>
              </a:rPr>
              <a:t>probabilities</a:t>
            </a:r>
            <a:r>
              <a:rPr lang="en-US" sz="2000" dirty="0">
                <a:latin typeface="Helvetica" pitchFamily="2" charset="0"/>
              </a:rPr>
              <a:t>.</a:t>
            </a:r>
          </a:p>
          <a:p>
            <a:pPr marL="1165860" lvl="2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Helvetica" pitchFamily="2" charset="0"/>
              </a:rPr>
              <a:t>Historical (Average) Return (r̄)</a:t>
            </a:r>
          </a:p>
          <a:p>
            <a:pPr marL="2080260" lvl="4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Used when looking at </a:t>
            </a:r>
            <a:r>
              <a:rPr lang="en-US" sz="2000" b="1" dirty="0">
                <a:latin typeface="Helvetica" pitchFamily="2" charset="0"/>
              </a:rPr>
              <a:t>past data</a:t>
            </a:r>
            <a:r>
              <a:rPr lang="en-US" sz="2000" dirty="0">
                <a:latin typeface="Helvetica" pitchFamily="2" charset="0"/>
              </a:rPr>
              <a:t> over several periods.</a:t>
            </a:r>
          </a:p>
        </p:txBody>
      </p:sp>
    </p:spTree>
    <p:extLst>
      <p:ext uri="{BB962C8B-B14F-4D97-AF65-F5344CB8AC3E}">
        <p14:creationId xmlns:p14="http://schemas.microsoft.com/office/powerpoint/2010/main" val="1685416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B3F2C-E0BE-EA47-320A-8473FF587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3336992-9882-1EA3-670F-C4D1AB2BD015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811A9E-982A-9BB9-5C16-F2572AB53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Expected Return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7DB2F1-C929-16E0-2B25-599F4E66541F}"/>
              </a:ext>
            </a:extLst>
          </p:cNvPr>
          <p:cNvSpPr txBox="1"/>
          <p:nvPr/>
        </p:nvSpPr>
        <p:spPr>
          <a:xfrm>
            <a:off x="248529" y="1586306"/>
            <a:ext cx="116949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1460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Expected Return</a:t>
            </a:r>
            <a:r>
              <a:rPr lang="en-US" sz="2400" dirty="0">
                <a:latin typeface="Helvetica" pitchFamily="2" charset="0"/>
              </a:rPr>
              <a:t> is the weighted average of possible returns from an investment, based on their probabilities.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5CA014-3256-3C18-A92D-9C50D0929743}"/>
              </a:ext>
            </a:extLst>
          </p:cNvPr>
          <p:cNvSpPr txBox="1"/>
          <p:nvPr/>
        </p:nvSpPr>
        <p:spPr>
          <a:xfrm>
            <a:off x="1529841" y="2605061"/>
            <a:ext cx="913230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400" dirty="0">
                <a:latin typeface="Helvetica" pitchFamily="2" charset="0"/>
              </a:rPr>
              <a:t>Expected Return = ∑(Probability of Outcome × Return of Outcome)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1A648CD-1D26-409D-EF67-D75B9E3F50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838197"/>
              </p:ext>
            </p:extLst>
          </p:nvPr>
        </p:nvGraphicFramePr>
        <p:xfrm>
          <a:off x="2031995" y="3408447"/>
          <a:ext cx="8127999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74677802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0275057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254903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Probability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Return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0928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Boom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40%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30%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50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Normal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20%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20%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620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Recession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40%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-15%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63496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B738D85-2FF4-55CE-4E90-54088B6A85A3}"/>
                  </a:ext>
                </a:extLst>
              </p:cNvPr>
              <p:cNvSpPr txBox="1"/>
              <p:nvPr/>
            </p:nvSpPr>
            <p:spPr>
              <a:xfrm>
                <a:off x="2069411" y="5271694"/>
                <a:ext cx="8277587" cy="6047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Expected</m:t>
                      </m:r>
                      <m:r>
                        <m:rPr>
                          <m:nor/>
                        </m:rPr>
                        <a:rPr lang="en-US" sz="2000" b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Return</m:t>
                      </m:r>
                      <m:r>
                        <m:rPr>
                          <m:nor/>
                        </m:rPr>
                        <a:rPr lang="en-US" sz="2000" b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(40% </m:t>
                      </m:r>
                      <m:r>
                        <a:rPr lang="en-US" sz="2000" b="1" i="0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r>
                        <a:rPr lang="en-US" sz="2000" b="1" i="0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𝟑𝟎</m:t>
                      </m:r>
                      <m:r>
                        <a:rPr lang="en-US" sz="2000" b="1" i="0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%)+</m:t>
                      </m:r>
                      <m:d>
                        <m:dPr>
                          <m:ctrlPr>
                            <a:rPr lang="en-US" sz="20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0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000" b="1" i="0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000" b="1" i="0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% × </m:t>
                          </m:r>
                          <m:r>
                            <a:rPr lang="en-US" sz="2000" b="1" i="0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𝟐𝟎</m:t>
                          </m:r>
                          <m:r>
                            <a:rPr lang="en-US" sz="2000" b="1" i="0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%</m:t>
                          </m:r>
                        </m:e>
                      </m:d>
                      <m:r>
                        <a:rPr lang="en-US" sz="2000" b="1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1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0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sz="2000" b="1" i="0" dirty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000" b="1" i="0" dirty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% × </m:t>
                          </m:r>
                          <m:d>
                            <m:dPr>
                              <m:ctrlPr>
                                <a:rPr lang="en-US" sz="2000" b="1" i="1" dirty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0" dirty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 i="0" dirty="0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𝟏𝟓</m:t>
                              </m:r>
                              <m:r>
                                <a:rPr lang="en-US" sz="2000" b="1" i="0" dirty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%</m:t>
                              </m:r>
                            </m:e>
                          </m:d>
                        </m:e>
                      </m:d>
                      <m:r>
                        <a:rPr lang="en-US" sz="2000" b="1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sz="20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B738D85-2FF4-55CE-4E90-54088B6A8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9411" y="5271694"/>
                <a:ext cx="8277587" cy="6047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9E757DB-0685-3AEA-E0C7-D23AC7F2EA4A}"/>
                  </a:ext>
                </a:extLst>
              </p:cNvPr>
              <p:cNvSpPr txBox="1"/>
              <p:nvPr/>
            </p:nvSpPr>
            <p:spPr>
              <a:xfrm>
                <a:off x="3971055" y="5876475"/>
                <a:ext cx="4249881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b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Expected</m:t>
                      </m:r>
                      <m:r>
                        <m:rPr>
                          <m:nor/>
                        </m:rPr>
                        <a:rPr lang="en-US" sz="1800" b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 b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Return</m:t>
                      </m:r>
                      <m:r>
                        <m:rPr>
                          <m:nor/>
                        </m:rPr>
                        <a:rPr lang="en-US" sz="1800" b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</m:t>
                      </m:r>
                      <m:r>
                        <a:rPr lang="en-US" sz="1800" b="1" i="0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𝟏𝟐</m:t>
                      </m:r>
                      <m:r>
                        <a:rPr lang="en-US" sz="1800" b="1" i="0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 + </m:t>
                      </m:r>
                      <m:r>
                        <a:rPr lang="en-US" sz="1800" b="1" i="0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en-US" sz="1800" b="1" i="0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 − </m:t>
                      </m:r>
                      <m:r>
                        <a:rPr lang="en-US" sz="1800" b="1" i="0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</m:t>
                      </m:r>
                      <m:r>
                        <a:rPr lang="en-US" sz="1800" b="1" i="0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 ;</m:t>
                      </m:r>
                    </m:oMath>
                  </m:oMathPara>
                </a14:m>
                <a:endParaRPr lang="en-US" sz="1800" b="1" dirty="0">
                  <a:solidFill>
                    <a:srgbClr val="FFC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Expected</m:t>
                      </m:r>
                      <m:r>
                        <m:rPr>
                          <m:nor/>
                        </m:rPr>
                        <a:rPr lang="en-US" sz="18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Return</m:t>
                      </m:r>
                      <m:r>
                        <m:rPr>
                          <m:nor/>
                        </m:rPr>
                        <a:rPr lang="en-US" sz="18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r>
                        <a:rPr lang="en-US" sz="1800" b="1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</m:t>
                      </m:r>
                      <m:r>
                        <a:rPr lang="en-US" sz="1800" b="1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 </m:t>
                      </m:r>
                    </m:oMath>
                  </m:oMathPara>
                </a14:m>
                <a:endParaRPr lang="en-US" sz="18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9E757DB-0685-3AEA-E0C7-D23AC7F2E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055" y="5876475"/>
                <a:ext cx="4249881" cy="9541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9896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7968B-10ED-F3EB-EE65-972783EC7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471B8B9-FB63-81B1-F22D-F8E7D5A214F1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2F726C-DE40-40BC-2E73-3ED485072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Understanding Stand-Alone Risk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BA8D9A-A84B-5E25-2AF7-AAF57A62AD85}"/>
              </a:ext>
            </a:extLst>
          </p:cNvPr>
          <p:cNvSpPr txBox="1"/>
          <p:nvPr/>
        </p:nvSpPr>
        <p:spPr>
          <a:xfrm>
            <a:off x="248529" y="1586306"/>
            <a:ext cx="11694941" cy="5186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6032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Risk = the chance of an unfavorable outcome.</a:t>
            </a:r>
          </a:p>
          <a:p>
            <a:pPr marL="256032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Stand-alone risk</a:t>
            </a:r>
            <a:r>
              <a:rPr lang="en-US" sz="2200" dirty="0">
                <a:latin typeface="Helvetica" pitchFamily="2" charset="0"/>
              </a:rPr>
              <a:t>: Risk of holding a single asset by itself.</a:t>
            </a:r>
          </a:p>
          <a:p>
            <a:pPr marL="256032" indent="-25146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Concepts to Understand or Measure Risk:</a:t>
            </a:r>
          </a:p>
          <a:p>
            <a:pPr marL="918972" lvl="1" indent="-256032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b="1" dirty="0">
                <a:latin typeface="Helvetica" pitchFamily="2" charset="0"/>
              </a:rPr>
              <a:t>Probability Distributions </a:t>
            </a:r>
            <a:r>
              <a:rPr lang="en-US" sz="1400" b="1" dirty="0">
                <a:latin typeface="Helvetica" pitchFamily="2" charset="0"/>
              </a:rPr>
              <a:t>(Understand)</a:t>
            </a:r>
            <a:endParaRPr lang="en-US" sz="1400" dirty="0">
              <a:latin typeface="Helvetica" pitchFamily="2" charset="0"/>
            </a:endParaRPr>
          </a:p>
          <a:p>
            <a:pPr marL="1376172" lvl="2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Framework to describe uncertainty in possible returns.</a:t>
            </a:r>
          </a:p>
          <a:p>
            <a:pPr marL="918972" lvl="1" indent="-256032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b="1" dirty="0">
                <a:latin typeface="Helvetica" pitchFamily="2" charset="0"/>
              </a:rPr>
              <a:t>Standard Deviation (</a:t>
            </a:r>
            <a:r>
              <a:rPr lang="el-GR" sz="2000" b="1" dirty="0">
                <a:latin typeface="Helvetica" pitchFamily="2" charset="0"/>
              </a:rPr>
              <a:t>σ)</a:t>
            </a:r>
            <a:r>
              <a:rPr lang="en-US" sz="2000" b="1" dirty="0">
                <a:latin typeface="Helvetica" pitchFamily="2" charset="0"/>
              </a:rPr>
              <a:t> </a:t>
            </a:r>
            <a:r>
              <a:rPr lang="en-US" sz="1400" b="1" dirty="0">
                <a:latin typeface="Helvetica" pitchFamily="2" charset="0"/>
              </a:rPr>
              <a:t>(Measure)</a:t>
            </a:r>
            <a:endParaRPr lang="el-GR" sz="1400" dirty="0">
              <a:latin typeface="Helvetica" pitchFamily="2" charset="0"/>
            </a:endParaRPr>
          </a:p>
          <a:p>
            <a:pPr marL="1376172" lvl="2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How spread out the returns are (volatility).</a:t>
            </a:r>
          </a:p>
          <a:p>
            <a:pPr marL="918972" lvl="1" indent="-256032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b="1" dirty="0">
                <a:latin typeface="Helvetica" pitchFamily="2" charset="0"/>
              </a:rPr>
              <a:t>Coefficient of Variation (CV) </a:t>
            </a:r>
            <a:r>
              <a:rPr lang="en-US" sz="1400" b="1" dirty="0">
                <a:latin typeface="Helvetica" pitchFamily="2" charset="0"/>
              </a:rPr>
              <a:t>(Measure)</a:t>
            </a:r>
            <a:endParaRPr lang="en-US" sz="1400" dirty="0">
              <a:latin typeface="Helvetica" pitchFamily="2" charset="0"/>
            </a:endParaRPr>
          </a:p>
          <a:p>
            <a:pPr marL="1376172" lvl="2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Risk per unit of return. Useful when comparing assets with different expected returns.</a:t>
            </a:r>
          </a:p>
          <a:p>
            <a:pPr marL="918972" lvl="1" indent="-256032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b="1" dirty="0">
                <a:latin typeface="Helvetica" pitchFamily="2" charset="0"/>
              </a:rPr>
              <a:t>Sharpe Ratio </a:t>
            </a:r>
            <a:r>
              <a:rPr lang="en-US" sz="1400" b="1" dirty="0">
                <a:latin typeface="Helvetica" pitchFamily="2" charset="0"/>
              </a:rPr>
              <a:t>(Measure)</a:t>
            </a:r>
            <a:endParaRPr lang="en-US" sz="1400" dirty="0">
              <a:latin typeface="Helvetica" pitchFamily="2" charset="0"/>
            </a:endParaRPr>
          </a:p>
          <a:p>
            <a:pPr marL="1376172" lvl="2" indent="-25603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How much </a:t>
            </a:r>
            <a:r>
              <a:rPr lang="en-US" sz="2000" b="1" dirty="0">
                <a:latin typeface="Helvetica" pitchFamily="2" charset="0"/>
              </a:rPr>
              <a:t>excess return</a:t>
            </a:r>
            <a:r>
              <a:rPr lang="en-US" sz="2000" dirty="0">
                <a:latin typeface="Helvetica" pitchFamily="2" charset="0"/>
              </a:rPr>
              <a:t> (over the risk-free rate) you earn per unit of risk.</a:t>
            </a:r>
          </a:p>
        </p:txBody>
      </p:sp>
    </p:spTree>
    <p:extLst>
      <p:ext uri="{BB962C8B-B14F-4D97-AF65-F5344CB8AC3E}">
        <p14:creationId xmlns:p14="http://schemas.microsoft.com/office/powerpoint/2010/main" val="3566220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060F9-7B38-9783-52C3-29DA84BE9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49D9669-CA05-C83A-B9B5-ED11F1618711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4F6048-9C3B-C343-48F8-09349EA15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Drawing Probability Distributions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7874B6-3F5C-4D2C-E523-8F803F625F1E}"/>
              </a:ext>
            </a:extLst>
          </p:cNvPr>
          <p:cNvSpPr txBox="1"/>
          <p:nvPr/>
        </p:nvSpPr>
        <p:spPr>
          <a:xfrm>
            <a:off x="248529" y="1516857"/>
            <a:ext cx="11694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</a:t>
            </a:r>
            <a:r>
              <a:rPr lang="en-US" sz="2400" b="1" dirty="0"/>
              <a:t>probability distribution</a:t>
            </a:r>
            <a:r>
              <a:rPr lang="en-US" sz="2400" dirty="0"/>
              <a:t> shows possible outcomes and their likelihood.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AE7FFD0-0BAB-7154-7A4A-79F44AC8C7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558793"/>
              </p:ext>
            </p:extLst>
          </p:nvPr>
        </p:nvGraphicFramePr>
        <p:xfrm>
          <a:off x="670688" y="2141478"/>
          <a:ext cx="4792563" cy="1463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97521">
                  <a:extLst>
                    <a:ext uri="{9D8B030D-6E8A-4147-A177-3AD203B41FA5}">
                      <a16:colId xmlns:a16="http://schemas.microsoft.com/office/drawing/2014/main" val="746778023"/>
                    </a:ext>
                  </a:extLst>
                </a:gridCol>
                <a:gridCol w="1597521">
                  <a:extLst>
                    <a:ext uri="{9D8B030D-6E8A-4147-A177-3AD203B41FA5}">
                      <a16:colId xmlns:a16="http://schemas.microsoft.com/office/drawing/2014/main" val="602750575"/>
                    </a:ext>
                  </a:extLst>
                </a:gridCol>
                <a:gridCol w="1597521">
                  <a:extLst>
                    <a:ext uri="{9D8B030D-6E8A-4147-A177-3AD203B41FA5}">
                      <a16:colId xmlns:a16="http://schemas.microsoft.com/office/drawing/2014/main" val="22549032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Outcome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Probability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Return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92857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Boom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40%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30%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5078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Normal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20%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20%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6203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Recession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40%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-15%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63496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318572-D9E2-9045-4A7D-A9A51FBD6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494946"/>
              </p:ext>
            </p:extLst>
          </p:nvPr>
        </p:nvGraphicFramePr>
        <p:xfrm>
          <a:off x="6728749" y="2141478"/>
          <a:ext cx="4792563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97521">
                  <a:extLst>
                    <a:ext uri="{9D8B030D-6E8A-4147-A177-3AD203B41FA5}">
                      <a16:colId xmlns:a16="http://schemas.microsoft.com/office/drawing/2014/main" val="746778023"/>
                    </a:ext>
                  </a:extLst>
                </a:gridCol>
                <a:gridCol w="1597521">
                  <a:extLst>
                    <a:ext uri="{9D8B030D-6E8A-4147-A177-3AD203B41FA5}">
                      <a16:colId xmlns:a16="http://schemas.microsoft.com/office/drawing/2014/main" val="602750575"/>
                    </a:ext>
                  </a:extLst>
                </a:gridCol>
                <a:gridCol w="1597521">
                  <a:extLst>
                    <a:ext uri="{9D8B030D-6E8A-4147-A177-3AD203B41FA5}">
                      <a16:colId xmlns:a16="http://schemas.microsoft.com/office/drawing/2014/main" val="2254903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Outcome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Probability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Return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928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Boom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40%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20%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50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Normal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20%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6%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620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Recession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40%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2%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63496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49C5EF-016A-CA10-9ED4-0AA4251F1722}"/>
                  </a:ext>
                </a:extLst>
              </p:cNvPr>
              <p:cNvSpPr txBox="1"/>
              <p:nvPr/>
            </p:nvSpPr>
            <p:spPr>
              <a:xfrm>
                <a:off x="1516707" y="3766101"/>
                <a:ext cx="30973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b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Expected</m:t>
                      </m:r>
                      <m:r>
                        <m:rPr>
                          <m:nor/>
                        </m:rPr>
                        <a:rPr lang="en-US" sz="1800" b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 b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Return</m:t>
                      </m:r>
                      <m:r>
                        <m:rPr>
                          <m:nor/>
                        </m:rPr>
                        <a:rPr lang="en-US" sz="1800" b="1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en-US" sz="1800" b="1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sz="1800" b="1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=</m:t>
                      </m:r>
                      <m:r>
                        <a:rPr lang="en-US" sz="1800" b="1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</m:t>
                      </m:r>
                      <m:r>
                        <a:rPr lang="en-US" sz="1800" b="1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 </m:t>
                      </m:r>
                    </m:oMath>
                  </m:oMathPara>
                </a14:m>
                <a:endParaRPr lang="en-US" sz="18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49C5EF-016A-CA10-9ED4-0AA4251F17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6707" y="3766101"/>
                <a:ext cx="3097323" cy="369332"/>
              </a:xfrm>
              <a:prstGeom prst="rect">
                <a:avLst/>
              </a:prstGeom>
              <a:blipFill>
                <a:blip r:embed="rId2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3F7E97-3A0D-3661-53B1-D66FD14E627D}"/>
                  </a:ext>
                </a:extLst>
              </p:cNvPr>
              <p:cNvSpPr txBox="1"/>
              <p:nvPr/>
            </p:nvSpPr>
            <p:spPr>
              <a:xfrm>
                <a:off x="7577971" y="3766101"/>
                <a:ext cx="30941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b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Expected</m:t>
                      </m:r>
                      <m:r>
                        <m:rPr>
                          <m:nor/>
                        </m:rPr>
                        <a:rPr lang="en-US" sz="1800" b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 b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Return</m:t>
                      </m:r>
                      <m:r>
                        <m:rPr>
                          <m:nor/>
                        </m:rPr>
                        <a:rPr lang="en-US" sz="1800" b="1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en-US" sz="1800" b="1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en-US" sz="1800" b="1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=</m:t>
                      </m:r>
                      <m:r>
                        <a:rPr lang="en-US" sz="1800" b="1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</m:t>
                      </m:r>
                      <m:r>
                        <a:rPr lang="en-US" sz="1800" b="1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 </m:t>
                      </m:r>
                    </m:oMath>
                  </m:oMathPara>
                </a14:m>
                <a:endParaRPr lang="en-US" sz="18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3F7E97-3A0D-3661-53B1-D66FD14E62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7971" y="3766101"/>
                <a:ext cx="3094117" cy="369332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0F6D6C3D-B0E3-A6D8-CB4E-D00D3CF308C8}"/>
              </a:ext>
            </a:extLst>
          </p:cNvPr>
          <p:cNvSpPr/>
          <p:nvPr/>
        </p:nvSpPr>
        <p:spPr>
          <a:xfrm>
            <a:off x="4916775" y="4856812"/>
            <a:ext cx="284808" cy="146302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21D2133-2DD5-4E05-2885-2BC4D6E4AC8A}"/>
              </a:ext>
            </a:extLst>
          </p:cNvPr>
          <p:cNvSpPr/>
          <p:nvPr/>
        </p:nvSpPr>
        <p:spPr>
          <a:xfrm>
            <a:off x="3915697" y="5502626"/>
            <a:ext cx="280210" cy="81845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B3AB90C-731D-723B-3AD5-00534313F120}"/>
              </a:ext>
            </a:extLst>
          </p:cNvPr>
          <p:cNvSpPr/>
          <p:nvPr/>
        </p:nvSpPr>
        <p:spPr>
          <a:xfrm>
            <a:off x="1176731" y="4856811"/>
            <a:ext cx="284808" cy="146302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0BDF0EF-48DD-E7EE-F34B-D18810C61FFE}"/>
              </a:ext>
            </a:extLst>
          </p:cNvPr>
          <p:cNvGrpSpPr/>
          <p:nvPr/>
        </p:nvGrpSpPr>
        <p:grpSpPr>
          <a:xfrm>
            <a:off x="670688" y="4193054"/>
            <a:ext cx="5669726" cy="2565510"/>
            <a:chOff x="670688" y="4193054"/>
            <a:chExt cx="5669726" cy="2565510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84CC18A-C2E4-1022-CC21-849175263248}"/>
                </a:ext>
              </a:extLst>
            </p:cNvPr>
            <p:cNvCxnSpPr>
              <a:cxnSpLocks/>
            </p:cNvCxnSpPr>
            <p:nvPr/>
          </p:nvCxnSpPr>
          <p:spPr>
            <a:xfrm>
              <a:off x="670688" y="6325849"/>
              <a:ext cx="514281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35CB2BE-AFC6-5D7D-6426-4FDDE353CE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8348" y="4467069"/>
              <a:ext cx="0" cy="185878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85DB59E-FCCB-495C-F754-C0A346B116B7}"/>
                </a:ext>
              </a:extLst>
            </p:cNvPr>
            <p:cNvSpPr txBox="1"/>
            <p:nvPr/>
          </p:nvSpPr>
          <p:spPr>
            <a:xfrm>
              <a:off x="5463251" y="6389232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Helvetica" pitchFamily="2" charset="0"/>
                </a:rPr>
                <a:t>Return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4B17E87-7F85-D030-D8CB-21A2DDDE786E}"/>
                </a:ext>
              </a:extLst>
            </p:cNvPr>
            <p:cNvSpPr txBox="1"/>
            <p:nvPr/>
          </p:nvSpPr>
          <p:spPr>
            <a:xfrm>
              <a:off x="2195471" y="4193054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Helvetica" pitchFamily="2" charset="0"/>
                </a:rPr>
                <a:t>Prob</a:t>
              </a:r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FBDEFF58-2698-9A3A-9ACE-8AC5D0DE3997}"/>
              </a:ext>
            </a:extLst>
          </p:cNvPr>
          <p:cNvSpPr/>
          <p:nvPr/>
        </p:nvSpPr>
        <p:spPr>
          <a:xfrm>
            <a:off x="10210394" y="4865320"/>
            <a:ext cx="284808" cy="146302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D46E0B6-4A74-E448-EC1D-A4D0B63FE234}"/>
              </a:ext>
            </a:extLst>
          </p:cNvPr>
          <p:cNvSpPr/>
          <p:nvPr/>
        </p:nvSpPr>
        <p:spPr>
          <a:xfrm>
            <a:off x="8693168" y="5509898"/>
            <a:ext cx="280210" cy="81845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FCD4B65-C7B2-90B2-90C5-2EDFE1B3359D}"/>
              </a:ext>
            </a:extLst>
          </p:cNvPr>
          <p:cNvSpPr/>
          <p:nvPr/>
        </p:nvSpPr>
        <p:spPr>
          <a:xfrm>
            <a:off x="8077199" y="4856811"/>
            <a:ext cx="284808" cy="146302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19BD149-869F-5EA0-81A0-7FD3AC9B2983}"/>
              </a:ext>
            </a:extLst>
          </p:cNvPr>
          <p:cNvGrpSpPr/>
          <p:nvPr/>
        </p:nvGrpSpPr>
        <p:grpSpPr>
          <a:xfrm>
            <a:off x="7579440" y="4195554"/>
            <a:ext cx="4144943" cy="2565510"/>
            <a:chOff x="7579440" y="4195554"/>
            <a:chExt cx="4144943" cy="2565510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C77FA5E0-E131-0416-6728-BB5DF07E056D}"/>
                </a:ext>
              </a:extLst>
            </p:cNvPr>
            <p:cNvCxnSpPr>
              <a:cxnSpLocks/>
            </p:cNvCxnSpPr>
            <p:nvPr/>
          </p:nvCxnSpPr>
          <p:spPr>
            <a:xfrm>
              <a:off x="7579440" y="6328349"/>
              <a:ext cx="3618034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3E23BC4-582E-2474-F8B2-9A5CFC60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02317" y="4469569"/>
              <a:ext cx="0" cy="185878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6CF0FD4-B7AB-5A67-6D87-17EC586B6103}"/>
                </a:ext>
              </a:extLst>
            </p:cNvPr>
            <p:cNvSpPr txBox="1"/>
            <p:nvPr/>
          </p:nvSpPr>
          <p:spPr>
            <a:xfrm>
              <a:off x="10847220" y="6391732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Helvetica" pitchFamily="2" charset="0"/>
                </a:rPr>
                <a:t>Return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BB14A72-95B7-4159-3D75-50CC9F08A3C7}"/>
                </a:ext>
              </a:extLst>
            </p:cNvPr>
            <p:cNvSpPr txBox="1"/>
            <p:nvPr/>
          </p:nvSpPr>
          <p:spPr>
            <a:xfrm>
              <a:off x="7579440" y="4195554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Helvetica" pitchFamily="2" charset="0"/>
                </a:rPr>
                <a:t>Prob</a:t>
              </a:r>
            </a:p>
          </p:txBody>
        </p:sp>
      </p:grp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A77EB46-043D-29C3-322D-DFD334311294}"/>
              </a:ext>
            </a:extLst>
          </p:cNvPr>
          <p:cNvCxnSpPr>
            <a:cxnSpLocks/>
          </p:cNvCxnSpPr>
          <p:nvPr/>
        </p:nvCxnSpPr>
        <p:spPr>
          <a:xfrm>
            <a:off x="3362017" y="4459824"/>
            <a:ext cx="0" cy="1860016"/>
          </a:xfrm>
          <a:prstGeom prst="line">
            <a:avLst/>
          </a:prstGeom>
          <a:ln w="76200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5EBBA2F-AF14-3099-24CF-0093559A5D34}"/>
              </a:ext>
            </a:extLst>
          </p:cNvPr>
          <p:cNvCxnSpPr>
            <a:cxnSpLocks/>
          </p:cNvCxnSpPr>
          <p:nvPr/>
        </p:nvCxnSpPr>
        <p:spPr>
          <a:xfrm>
            <a:off x="9240660" y="4459824"/>
            <a:ext cx="0" cy="1860016"/>
          </a:xfrm>
          <a:prstGeom prst="line">
            <a:avLst/>
          </a:prstGeom>
          <a:ln w="76200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511E44C8-7741-E3B6-199F-86A83BE47EC5}"/>
              </a:ext>
            </a:extLst>
          </p:cNvPr>
          <p:cNvSpPr txBox="1"/>
          <p:nvPr/>
        </p:nvSpPr>
        <p:spPr>
          <a:xfrm>
            <a:off x="4809187" y="6371319"/>
            <a:ext cx="735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30%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9A8219E-6C30-612D-9B1D-433A92510380}"/>
              </a:ext>
            </a:extLst>
          </p:cNvPr>
          <p:cNvSpPr txBox="1"/>
          <p:nvPr/>
        </p:nvSpPr>
        <p:spPr>
          <a:xfrm>
            <a:off x="956445" y="6371319"/>
            <a:ext cx="735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-15%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DC48EF2-4791-64B0-C1DA-40D8D1DAB250}"/>
              </a:ext>
            </a:extLst>
          </p:cNvPr>
          <p:cNvSpPr txBox="1"/>
          <p:nvPr/>
        </p:nvSpPr>
        <p:spPr>
          <a:xfrm>
            <a:off x="10111374" y="6371319"/>
            <a:ext cx="735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20%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789990C-A567-CB7B-2BAA-78710CD4D6CA}"/>
              </a:ext>
            </a:extLst>
          </p:cNvPr>
          <p:cNvSpPr txBox="1"/>
          <p:nvPr/>
        </p:nvSpPr>
        <p:spPr>
          <a:xfrm>
            <a:off x="8077199" y="6359888"/>
            <a:ext cx="735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2%</a:t>
            </a:r>
          </a:p>
        </p:txBody>
      </p:sp>
    </p:spTree>
    <p:extLst>
      <p:ext uri="{BB962C8B-B14F-4D97-AF65-F5344CB8AC3E}">
        <p14:creationId xmlns:p14="http://schemas.microsoft.com/office/powerpoint/2010/main" val="3636215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28" grpId="0" animBg="1"/>
      <p:bldP spid="29" grpId="0" animBg="1"/>
      <p:bldP spid="31" grpId="0" animBg="1"/>
      <p:bldP spid="37" grpId="0" animBg="1"/>
      <p:bldP spid="38" grpId="0" animBg="1"/>
      <p:bldP spid="39" grpId="0" animBg="1"/>
      <p:bldP spid="55" grpId="0"/>
      <p:bldP spid="56" grpId="0"/>
      <p:bldP spid="58" grpId="0"/>
      <p:bldP spid="5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32F27-C796-6A2D-56D2-E996339D5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491B6B-710D-2D76-36D9-2DDE3877070F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D9FF5A-3BB0-8737-1912-40F731CE7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Probability Distributions &amp; Risk</a:t>
            </a:r>
            <a:endParaRPr lang="en-US" sz="4000" b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EA00D6-6210-A09F-C37C-E65035A67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009" y="1550869"/>
            <a:ext cx="9173980" cy="515964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Down Arrow Callout 8">
            <a:extLst>
              <a:ext uri="{FF2B5EF4-FFF2-40B4-BE49-F238E27FC236}">
                <a16:creationId xmlns:a16="http://schemas.microsoft.com/office/drawing/2014/main" id="{E96CD16A-FF52-1B77-8B65-B0D5B74E72D9}"/>
              </a:ext>
            </a:extLst>
          </p:cNvPr>
          <p:cNvSpPr/>
          <p:nvPr/>
        </p:nvSpPr>
        <p:spPr>
          <a:xfrm>
            <a:off x="2383436" y="4009580"/>
            <a:ext cx="2563319" cy="1417472"/>
          </a:xfrm>
          <a:prstGeom prst="downArrowCallout">
            <a:avLst>
              <a:gd name="adj1" fmla="val 21721"/>
              <a:gd name="adj2" fmla="val 21721"/>
              <a:gd name="adj3" fmla="val 25000"/>
              <a:gd name="adj4" fmla="val 6497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Helvetica" pitchFamily="2" charset="0"/>
              </a:rPr>
              <a:t>Extreme Outcomes with Higher Prob </a:t>
            </a:r>
          </a:p>
        </p:txBody>
      </p:sp>
    </p:spTree>
    <p:extLst>
      <p:ext uri="{BB962C8B-B14F-4D97-AF65-F5344CB8AC3E}">
        <p14:creationId xmlns:p14="http://schemas.microsoft.com/office/powerpoint/2010/main" val="252895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6AE8A-5578-EFA1-CCC2-59C8A2B69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F4D6239-5B7A-336A-E1AE-3A0D038AB81F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3C2501-BAE6-E8FF-6E97-D037F96C3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Understanding Standard Deviation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574E08-835B-6252-7373-E7B63FDBB59E}"/>
              </a:ext>
            </a:extLst>
          </p:cNvPr>
          <p:cNvSpPr txBox="1"/>
          <p:nvPr/>
        </p:nvSpPr>
        <p:spPr>
          <a:xfrm>
            <a:off x="248529" y="1586306"/>
            <a:ext cx="11694941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Standard Deviation (</a:t>
            </a:r>
            <a:r>
              <a:rPr lang="el-GR" sz="2400" dirty="0"/>
              <a:t>σ) </a:t>
            </a:r>
            <a:r>
              <a:rPr lang="en-US" sz="2400" dirty="0"/>
              <a:t>measures how </a:t>
            </a:r>
            <a:r>
              <a:rPr lang="en-US" sz="2400" b="1" dirty="0"/>
              <a:t>spread out</a:t>
            </a:r>
            <a:r>
              <a:rPr lang="en-US" sz="2400" dirty="0"/>
              <a:t> or </a:t>
            </a:r>
            <a:r>
              <a:rPr lang="en-US" sz="2400" b="1" dirty="0"/>
              <a:t>volatile</a:t>
            </a:r>
            <a:r>
              <a:rPr lang="en-US" sz="2400" dirty="0"/>
              <a:t> returns are around the </a:t>
            </a:r>
            <a:r>
              <a:rPr lang="en-US" sz="2400" b="1" dirty="0"/>
              <a:t>average (mean)</a:t>
            </a:r>
            <a:r>
              <a:rPr lang="en-US" sz="2400" dirty="0"/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It shows how much actual returns deviate from the expected return.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0B70565-F002-18C9-83A4-0EFCD85E49D7}"/>
              </a:ext>
            </a:extLst>
          </p:cNvPr>
          <p:cNvGrpSpPr/>
          <p:nvPr/>
        </p:nvGrpSpPr>
        <p:grpSpPr>
          <a:xfrm>
            <a:off x="820467" y="3491703"/>
            <a:ext cx="4877645" cy="2174986"/>
            <a:chOff x="370402" y="3379810"/>
            <a:chExt cx="4877645" cy="217498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3F1A061-8605-C562-78BB-1D3286851A6C}"/>
                </a:ext>
              </a:extLst>
            </p:cNvPr>
            <p:cNvGrpSpPr/>
            <p:nvPr/>
          </p:nvGrpSpPr>
          <p:grpSpPr>
            <a:xfrm>
              <a:off x="370402" y="5091587"/>
              <a:ext cx="4877645" cy="432431"/>
              <a:chOff x="7083707" y="6328349"/>
              <a:chExt cx="4527208" cy="432431"/>
            </a:xfrm>
          </p:grpSpPr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6B2A4791-F85B-EF2F-D885-224AA09642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83707" y="6328349"/>
                <a:ext cx="4113767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F09165-E523-C255-0017-995E35F45D6F}"/>
                  </a:ext>
                </a:extLst>
              </p:cNvPr>
              <p:cNvSpPr txBox="1"/>
              <p:nvPr/>
            </p:nvSpPr>
            <p:spPr>
              <a:xfrm>
                <a:off x="10868188" y="6422226"/>
                <a:ext cx="74272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Helvetica" pitchFamily="2" charset="0"/>
                  </a:rPr>
                  <a:t>Return</a:t>
                </a:r>
              </a:p>
            </p:txBody>
          </p:sp>
        </p:grp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3AD78ED-E56B-7EFF-EA34-9948251B1C2B}"/>
                </a:ext>
              </a:extLst>
            </p:cNvPr>
            <p:cNvSpPr/>
            <p:nvPr/>
          </p:nvSpPr>
          <p:spPr>
            <a:xfrm>
              <a:off x="2539087" y="4374535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944CA4-0A94-80DD-5629-12CF68A07FD9}"/>
                </a:ext>
              </a:extLst>
            </p:cNvPr>
            <p:cNvSpPr/>
            <p:nvPr/>
          </p:nvSpPr>
          <p:spPr>
            <a:xfrm>
              <a:off x="2752447" y="4668030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7DF3A45-72D6-8A4F-BB94-7733890CA602}"/>
                </a:ext>
              </a:extLst>
            </p:cNvPr>
            <p:cNvSpPr/>
            <p:nvPr/>
          </p:nvSpPr>
          <p:spPr>
            <a:xfrm>
              <a:off x="2935327" y="4414233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B948867-87D3-9235-F41A-9AB7F8677CCF}"/>
                </a:ext>
              </a:extLst>
            </p:cNvPr>
            <p:cNvSpPr/>
            <p:nvPr/>
          </p:nvSpPr>
          <p:spPr>
            <a:xfrm>
              <a:off x="2768651" y="4159749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EE2A51F-A807-5E09-7A2E-A13707B1AD75}"/>
                </a:ext>
              </a:extLst>
            </p:cNvPr>
            <p:cNvSpPr/>
            <p:nvPr/>
          </p:nvSpPr>
          <p:spPr>
            <a:xfrm>
              <a:off x="3044900" y="4165092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7AAE28F-02A5-8801-8062-03849914306E}"/>
                </a:ext>
              </a:extLst>
            </p:cNvPr>
            <p:cNvSpPr/>
            <p:nvPr/>
          </p:nvSpPr>
          <p:spPr>
            <a:xfrm>
              <a:off x="2539087" y="4018815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27E4A2C-CAC1-3A60-AB64-167763A29319}"/>
                </a:ext>
              </a:extLst>
            </p:cNvPr>
            <p:cNvSpPr/>
            <p:nvPr/>
          </p:nvSpPr>
          <p:spPr>
            <a:xfrm>
              <a:off x="3044900" y="4650641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F8283B9-82F2-D6F8-B775-EB09312750ED}"/>
                </a:ext>
              </a:extLst>
            </p:cNvPr>
            <p:cNvSpPr/>
            <p:nvPr/>
          </p:nvSpPr>
          <p:spPr>
            <a:xfrm>
              <a:off x="1890133" y="4431845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CE9A206-2AFD-A875-F4BD-0E7826BE263D}"/>
                </a:ext>
              </a:extLst>
            </p:cNvPr>
            <p:cNvSpPr/>
            <p:nvPr/>
          </p:nvSpPr>
          <p:spPr>
            <a:xfrm>
              <a:off x="2029801" y="4701145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898908A-2FE6-DBB7-0CF5-A5B5D1B2B295}"/>
                </a:ext>
              </a:extLst>
            </p:cNvPr>
            <p:cNvSpPr/>
            <p:nvPr/>
          </p:nvSpPr>
          <p:spPr>
            <a:xfrm>
              <a:off x="2196477" y="4358287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F3A28A4-CB69-24DD-4956-346BF81780ED}"/>
                </a:ext>
              </a:extLst>
            </p:cNvPr>
            <p:cNvSpPr/>
            <p:nvPr/>
          </p:nvSpPr>
          <p:spPr>
            <a:xfrm>
              <a:off x="2029801" y="4103803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AB80B61-8BC7-C729-67AE-CC9982570FB4}"/>
                </a:ext>
              </a:extLst>
            </p:cNvPr>
            <p:cNvSpPr/>
            <p:nvPr/>
          </p:nvSpPr>
          <p:spPr>
            <a:xfrm>
              <a:off x="2306050" y="4109146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397B19C-0498-E68B-697E-2741BF22A1C5}"/>
                </a:ext>
              </a:extLst>
            </p:cNvPr>
            <p:cNvSpPr/>
            <p:nvPr/>
          </p:nvSpPr>
          <p:spPr>
            <a:xfrm>
              <a:off x="1800237" y="4150879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99328F5-63BA-E4D3-360B-494E08B40766}"/>
                </a:ext>
              </a:extLst>
            </p:cNvPr>
            <p:cNvSpPr/>
            <p:nvPr/>
          </p:nvSpPr>
          <p:spPr>
            <a:xfrm>
              <a:off x="2306050" y="4594695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50DF407-DD43-7254-11FF-B11FBD9386AE}"/>
                </a:ext>
              </a:extLst>
            </p:cNvPr>
            <p:cNvSpPr/>
            <p:nvPr/>
          </p:nvSpPr>
          <p:spPr>
            <a:xfrm>
              <a:off x="1922157" y="3785643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ED1E090-DE34-01BF-4557-148679D64ECE}"/>
                </a:ext>
              </a:extLst>
            </p:cNvPr>
            <p:cNvSpPr/>
            <p:nvPr/>
          </p:nvSpPr>
          <p:spPr>
            <a:xfrm>
              <a:off x="2447647" y="3663095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E2CFB131-20A9-D899-D180-454979C14AE8}"/>
                </a:ext>
              </a:extLst>
            </p:cNvPr>
            <p:cNvSpPr/>
            <p:nvPr/>
          </p:nvSpPr>
          <p:spPr>
            <a:xfrm>
              <a:off x="2682612" y="3733256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4018035-D549-1671-5271-A35DFF88E2D7}"/>
                </a:ext>
              </a:extLst>
            </p:cNvPr>
            <p:cNvSpPr/>
            <p:nvPr/>
          </p:nvSpPr>
          <p:spPr>
            <a:xfrm>
              <a:off x="2502818" y="4750720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CA031AB-1F43-481D-FFD8-59F390EA43A2}"/>
                </a:ext>
              </a:extLst>
            </p:cNvPr>
            <p:cNvSpPr/>
            <p:nvPr/>
          </p:nvSpPr>
          <p:spPr>
            <a:xfrm>
              <a:off x="2121241" y="3613488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4F596A2-5BC7-789E-C53A-D09C3D454EF1}"/>
                </a:ext>
              </a:extLst>
            </p:cNvPr>
            <p:cNvSpPr/>
            <p:nvPr/>
          </p:nvSpPr>
          <p:spPr>
            <a:xfrm>
              <a:off x="2273641" y="3839706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A4147AD-5361-ABF9-D627-61F3BDDFF81C}"/>
                </a:ext>
              </a:extLst>
            </p:cNvPr>
            <p:cNvSpPr/>
            <p:nvPr/>
          </p:nvSpPr>
          <p:spPr>
            <a:xfrm>
              <a:off x="2941499" y="3959137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2F9F3CD-12AB-7E49-E523-A081099E29E5}"/>
                </a:ext>
              </a:extLst>
            </p:cNvPr>
            <p:cNvCxnSpPr>
              <a:cxnSpLocks/>
            </p:cNvCxnSpPr>
            <p:nvPr/>
          </p:nvCxnSpPr>
          <p:spPr>
            <a:xfrm>
              <a:off x="2549119" y="3379810"/>
              <a:ext cx="0" cy="1706691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E879109-3EAB-0F0A-315F-CEC2366FD747}"/>
                </a:ext>
              </a:extLst>
            </p:cNvPr>
            <p:cNvSpPr txBox="1"/>
            <p:nvPr/>
          </p:nvSpPr>
          <p:spPr>
            <a:xfrm>
              <a:off x="2105037" y="5116364"/>
              <a:ext cx="9683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Average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C2812E7-3AAF-AC8E-953C-BFD54AF2B395}"/>
                </a:ext>
              </a:extLst>
            </p:cNvPr>
            <p:cNvSpPr txBox="1"/>
            <p:nvPr/>
          </p:nvSpPr>
          <p:spPr>
            <a:xfrm>
              <a:off x="1021445" y="5185464"/>
              <a:ext cx="4988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0%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2DF5E72-2621-A26D-E117-AAC06DBAA343}"/>
                </a:ext>
              </a:extLst>
            </p:cNvPr>
            <p:cNvSpPr txBox="1"/>
            <p:nvPr/>
          </p:nvSpPr>
          <p:spPr>
            <a:xfrm>
              <a:off x="3416025" y="5185464"/>
              <a:ext cx="6222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20%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688774A-AB0F-8A86-08CF-C1AC6C4C6D30}"/>
                </a:ext>
              </a:extLst>
            </p:cNvPr>
            <p:cNvCxnSpPr>
              <a:cxnSpLocks/>
            </p:cNvCxnSpPr>
            <p:nvPr/>
          </p:nvCxnSpPr>
          <p:spPr>
            <a:xfrm>
              <a:off x="1270872" y="3393313"/>
              <a:ext cx="0" cy="1706691"/>
            </a:xfrm>
            <a:prstGeom prst="line">
              <a:avLst/>
            </a:prstGeom>
            <a:ln w="19050">
              <a:solidFill>
                <a:srgbClr val="FF0000"/>
              </a:solidFill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7933568-1202-02CF-F982-60F47ADEEDBE}"/>
                </a:ext>
              </a:extLst>
            </p:cNvPr>
            <p:cNvCxnSpPr>
              <a:cxnSpLocks/>
            </p:cNvCxnSpPr>
            <p:nvPr/>
          </p:nvCxnSpPr>
          <p:spPr>
            <a:xfrm>
              <a:off x="3727168" y="3407335"/>
              <a:ext cx="0" cy="1706691"/>
            </a:xfrm>
            <a:prstGeom prst="line">
              <a:avLst/>
            </a:prstGeom>
            <a:ln w="19050">
              <a:solidFill>
                <a:srgbClr val="FF0000"/>
              </a:solidFill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4D34EE3D-86CA-A1E5-41F5-01CD7979E63C}"/>
              </a:ext>
            </a:extLst>
          </p:cNvPr>
          <p:cNvGrpSpPr/>
          <p:nvPr/>
        </p:nvGrpSpPr>
        <p:grpSpPr>
          <a:xfrm>
            <a:off x="6576474" y="3487629"/>
            <a:ext cx="4795059" cy="2147981"/>
            <a:chOff x="6204039" y="3383665"/>
            <a:chExt cx="4795059" cy="2147981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7516FE1-D776-AD69-2995-B4027FBA293D}"/>
                </a:ext>
              </a:extLst>
            </p:cNvPr>
            <p:cNvGrpSpPr/>
            <p:nvPr/>
          </p:nvGrpSpPr>
          <p:grpSpPr>
            <a:xfrm>
              <a:off x="6204039" y="5105090"/>
              <a:ext cx="4795059" cy="403539"/>
              <a:chOff x="7083707" y="6328349"/>
              <a:chExt cx="4493800" cy="403539"/>
            </a:xfrm>
          </p:grpSpPr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49FA637C-8E11-F158-A7E3-F2D17C132D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83707" y="6328349"/>
                <a:ext cx="4113767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9178AAA-A205-C11B-66F0-1FDC35EC28AF}"/>
                  </a:ext>
                </a:extLst>
              </p:cNvPr>
              <p:cNvSpPr txBox="1"/>
              <p:nvPr/>
            </p:nvSpPr>
            <p:spPr>
              <a:xfrm>
                <a:off x="10827563" y="6393334"/>
                <a:ext cx="74994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Helvetica" pitchFamily="2" charset="0"/>
                  </a:rPr>
                  <a:t>Return</a:t>
                </a:r>
              </a:p>
            </p:txBody>
          </p:sp>
        </p:grp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9A54FF9-826A-13B7-6544-CD2C8E898446}"/>
                </a:ext>
              </a:extLst>
            </p:cNvPr>
            <p:cNvSpPr/>
            <p:nvPr/>
          </p:nvSpPr>
          <p:spPr>
            <a:xfrm>
              <a:off x="9445302" y="3926266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77DDE85-46D6-DB57-E865-0486EDE5551D}"/>
                </a:ext>
              </a:extLst>
            </p:cNvPr>
            <p:cNvSpPr/>
            <p:nvPr/>
          </p:nvSpPr>
          <p:spPr>
            <a:xfrm>
              <a:off x="8669037" y="4375841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B137F38C-53E6-BE75-917B-D86BE738CEE3}"/>
                </a:ext>
              </a:extLst>
            </p:cNvPr>
            <p:cNvSpPr/>
            <p:nvPr/>
          </p:nvSpPr>
          <p:spPr>
            <a:xfrm>
              <a:off x="8772436" y="4659280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678CF0BD-5408-A918-DF8B-DF7ECF12B809}"/>
                </a:ext>
              </a:extLst>
            </p:cNvPr>
            <p:cNvSpPr/>
            <p:nvPr/>
          </p:nvSpPr>
          <p:spPr>
            <a:xfrm>
              <a:off x="8742583" y="4020875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15350DF6-8AE5-5AB0-44DE-4734D66D4BA1}"/>
                </a:ext>
              </a:extLst>
            </p:cNvPr>
            <p:cNvSpPr/>
            <p:nvPr/>
          </p:nvSpPr>
          <p:spPr>
            <a:xfrm>
              <a:off x="9229961" y="4177123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3333C31A-7319-8276-7793-153C1208CF74}"/>
                </a:ext>
              </a:extLst>
            </p:cNvPr>
            <p:cNvSpPr/>
            <p:nvPr/>
          </p:nvSpPr>
          <p:spPr>
            <a:xfrm>
              <a:off x="8335474" y="4002188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9E9BE505-4A09-6A1A-FEDB-7D38B5AFD022}"/>
                </a:ext>
              </a:extLst>
            </p:cNvPr>
            <p:cNvSpPr/>
            <p:nvPr/>
          </p:nvSpPr>
          <p:spPr>
            <a:xfrm>
              <a:off x="9146000" y="4597113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6A5D19D-9EF5-AE5B-D125-F657278A4F94}"/>
                </a:ext>
              </a:extLst>
            </p:cNvPr>
            <p:cNvSpPr/>
            <p:nvPr/>
          </p:nvSpPr>
          <p:spPr>
            <a:xfrm>
              <a:off x="7067505" y="4559730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C5696A4C-33D2-F868-20D9-68820C0418F6}"/>
                </a:ext>
              </a:extLst>
            </p:cNvPr>
            <p:cNvSpPr/>
            <p:nvPr/>
          </p:nvSpPr>
          <p:spPr>
            <a:xfrm>
              <a:off x="7484187" y="4760639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CCA8FBB1-DDAE-E089-797E-F6858CC0BE9A}"/>
                </a:ext>
              </a:extLst>
            </p:cNvPr>
            <p:cNvSpPr/>
            <p:nvPr/>
          </p:nvSpPr>
          <p:spPr>
            <a:xfrm>
              <a:off x="7520456" y="4358287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327B8A38-E50C-696D-2D3C-F6E421FA51F2}"/>
                </a:ext>
              </a:extLst>
            </p:cNvPr>
            <p:cNvSpPr/>
            <p:nvPr/>
          </p:nvSpPr>
          <p:spPr>
            <a:xfrm>
              <a:off x="7508978" y="3943856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BB1EFBB-854F-C66E-02EA-47FC98009382}"/>
                </a:ext>
              </a:extLst>
            </p:cNvPr>
            <p:cNvSpPr/>
            <p:nvPr/>
          </p:nvSpPr>
          <p:spPr>
            <a:xfrm>
              <a:off x="7933282" y="4122649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578166E-AEFF-3CF0-4F25-C305948A2D16}"/>
                </a:ext>
              </a:extLst>
            </p:cNvPr>
            <p:cNvSpPr/>
            <p:nvPr/>
          </p:nvSpPr>
          <p:spPr>
            <a:xfrm>
              <a:off x="7110578" y="4069632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31A2FB51-084B-F009-73BE-C6AB05C6FC08}"/>
                </a:ext>
              </a:extLst>
            </p:cNvPr>
            <p:cNvSpPr/>
            <p:nvPr/>
          </p:nvSpPr>
          <p:spPr>
            <a:xfrm>
              <a:off x="7852248" y="4645077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6C11C1B9-6315-D915-2E4C-850C5B71ECC7}"/>
                </a:ext>
              </a:extLst>
            </p:cNvPr>
            <p:cNvSpPr/>
            <p:nvPr/>
          </p:nvSpPr>
          <p:spPr>
            <a:xfrm>
              <a:off x="6896578" y="3613814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9EBA2592-2408-04EF-4622-A6E287D17630}"/>
                </a:ext>
              </a:extLst>
            </p:cNvPr>
            <p:cNvSpPr/>
            <p:nvPr/>
          </p:nvSpPr>
          <p:spPr>
            <a:xfrm>
              <a:off x="8074879" y="3676598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600B70B8-338B-6D57-096A-E6DD2D8D8B64}"/>
                </a:ext>
              </a:extLst>
            </p:cNvPr>
            <p:cNvSpPr/>
            <p:nvPr/>
          </p:nvSpPr>
          <p:spPr>
            <a:xfrm>
              <a:off x="8507380" y="3563506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E69CB16-D1FB-F78E-3F7F-D0EAAE7CCF0E}"/>
                </a:ext>
              </a:extLst>
            </p:cNvPr>
            <p:cNvSpPr/>
            <p:nvPr/>
          </p:nvSpPr>
          <p:spPr>
            <a:xfrm>
              <a:off x="8361160" y="4725826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AA3401CE-1F9E-038E-9443-74DCCE83C8DE}"/>
                </a:ext>
              </a:extLst>
            </p:cNvPr>
            <p:cNvSpPr/>
            <p:nvPr/>
          </p:nvSpPr>
          <p:spPr>
            <a:xfrm>
              <a:off x="7528941" y="3544096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76F62289-B21B-DA1B-BEE1-8F814A232320}"/>
                </a:ext>
              </a:extLst>
            </p:cNvPr>
            <p:cNvSpPr/>
            <p:nvPr/>
          </p:nvSpPr>
          <p:spPr>
            <a:xfrm>
              <a:off x="6756620" y="4120196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2FBDD17D-DD98-B79E-A9AC-707BC8059EF0}"/>
                </a:ext>
              </a:extLst>
            </p:cNvPr>
            <p:cNvSpPr/>
            <p:nvPr/>
          </p:nvSpPr>
          <p:spPr>
            <a:xfrm>
              <a:off x="8987734" y="3704928"/>
              <a:ext cx="182880" cy="18288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EBBE538-E514-6195-7491-E0B276FD123E}"/>
                </a:ext>
              </a:extLst>
            </p:cNvPr>
            <p:cNvCxnSpPr>
              <a:cxnSpLocks/>
            </p:cNvCxnSpPr>
            <p:nvPr/>
          </p:nvCxnSpPr>
          <p:spPr>
            <a:xfrm>
              <a:off x="8176351" y="3393313"/>
              <a:ext cx="0" cy="1706691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DEB85FB-E2DD-E459-470D-98D6DBB10165}"/>
                </a:ext>
              </a:extLst>
            </p:cNvPr>
            <p:cNvSpPr txBox="1"/>
            <p:nvPr/>
          </p:nvSpPr>
          <p:spPr>
            <a:xfrm>
              <a:off x="7732269" y="5129867"/>
              <a:ext cx="9683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Average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26067AD-7B9D-04E5-DB9C-C4CE96105986}"/>
                </a:ext>
              </a:extLst>
            </p:cNvPr>
            <p:cNvSpPr txBox="1"/>
            <p:nvPr/>
          </p:nvSpPr>
          <p:spPr>
            <a:xfrm>
              <a:off x="9137049" y="5162314"/>
              <a:ext cx="6222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20%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5DBA197-402A-CFD4-462F-C9CAC722480B}"/>
                </a:ext>
              </a:extLst>
            </p:cNvPr>
            <p:cNvSpPr txBox="1"/>
            <p:nvPr/>
          </p:nvSpPr>
          <p:spPr>
            <a:xfrm>
              <a:off x="6789543" y="5162314"/>
              <a:ext cx="4988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0%</a:t>
              </a: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C764416-C53B-7431-C81D-7B06967CFA46}"/>
                </a:ext>
              </a:extLst>
            </p:cNvPr>
            <p:cNvCxnSpPr>
              <a:cxnSpLocks/>
            </p:cNvCxnSpPr>
            <p:nvPr/>
          </p:nvCxnSpPr>
          <p:spPr>
            <a:xfrm>
              <a:off x="6979122" y="3383665"/>
              <a:ext cx="0" cy="1706691"/>
            </a:xfrm>
            <a:prstGeom prst="line">
              <a:avLst/>
            </a:prstGeom>
            <a:ln w="19050">
              <a:solidFill>
                <a:srgbClr val="FF0000"/>
              </a:solidFill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16FE65FF-D67F-6D0E-7964-27060A6C5848}"/>
                </a:ext>
              </a:extLst>
            </p:cNvPr>
            <p:cNvCxnSpPr>
              <a:cxnSpLocks/>
            </p:cNvCxnSpPr>
            <p:nvPr/>
          </p:nvCxnSpPr>
          <p:spPr>
            <a:xfrm>
              <a:off x="9435418" y="3397687"/>
              <a:ext cx="0" cy="1706691"/>
            </a:xfrm>
            <a:prstGeom prst="line">
              <a:avLst/>
            </a:prstGeom>
            <a:ln w="19050">
              <a:solidFill>
                <a:srgbClr val="FF0000"/>
              </a:solidFill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A00E4094-B375-6FC9-97CC-73AD3F16FD5C}"/>
              </a:ext>
            </a:extLst>
          </p:cNvPr>
          <p:cNvSpPr txBox="1"/>
          <p:nvPr/>
        </p:nvSpPr>
        <p:spPr>
          <a:xfrm>
            <a:off x="2479866" y="6131723"/>
            <a:ext cx="72263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A higher </a:t>
            </a:r>
            <a:r>
              <a:rPr lang="el-GR" sz="2400" b="1" dirty="0">
                <a:latin typeface="Helvetica" pitchFamily="2" charset="0"/>
              </a:rPr>
              <a:t>σ = </a:t>
            </a:r>
            <a:r>
              <a:rPr lang="en-US" sz="2400" b="1" dirty="0">
                <a:latin typeface="Helvetica" pitchFamily="2" charset="0"/>
              </a:rPr>
              <a:t>more variability = more uncertainty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F595269-B3BF-0268-BEC1-0C1A8C196AF0}"/>
              </a:ext>
            </a:extLst>
          </p:cNvPr>
          <p:cNvSpPr txBox="1"/>
          <p:nvPr/>
        </p:nvSpPr>
        <p:spPr>
          <a:xfrm>
            <a:off x="8090085" y="2962193"/>
            <a:ext cx="9829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Helvetica" pitchFamily="2" charset="0"/>
              </a:rPr>
              <a:t>High </a:t>
            </a:r>
            <a:r>
              <a:rPr lang="el-GR" sz="2000" b="1" dirty="0">
                <a:latin typeface="Helvetica" pitchFamily="2" charset="0"/>
              </a:rPr>
              <a:t>σ</a:t>
            </a:r>
            <a:endParaRPr lang="en-US" sz="2000" b="1" dirty="0">
              <a:latin typeface="Helvetica" pitchFamily="2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D0F559E-28B8-9F1F-BA6D-D9E35275D389}"/>
              </a:ext>
            </a:extLst>
          </p:cNvPr>
          <p:cNvSpPr txBox="1"/>
          <p:nvPr/>
        </p:nvSpPr>
        <p:spPr>
          <a:xfrm>
            <a:off x="2607191" y="2952896"/>
            <a:ext cx="925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Helvetica" pitchFamily="2" charset="0"/>
              </a:rPr>
              <a:t>Low </a:t>
            </a:r>
            <a:r>
              <a:rPr lang="el-GR" sz="2000" b="1" dirty="0">
                <a:latin typeface="Helvetica" pitchFamily="2" charset="0"/>
              </a:rPr>
              <a:t>σ</a:t>
            </a:r>
            <a:endParaRPr lang="en-US" sz="2000" b="1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612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  <p:bldP spid="7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C97BF-0320-D4AA-F4B5-AB8B207AD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710DC0E-6CDE-E514-5DAF-1FB8F160953C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DE4BF4-8A7A-95CA-4F5C-ADD1BA711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Calculating Risk with Standard Deviation (1)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FB8707-4A9C-2FAB-CE82-4A65B5909FED}"/>
              </a:ext>
            </a:extLst>
          </p:cNvPr>
          <p:cNvSpPr txBox="1"/>
          <p:nvPr/>
        </p:nvSpPr>
        <p:spPr>
          <a:xfrm>
            <a:off x="248529" y="1586306"/>
            <a:ext cx="11694941" cy="974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2200" dirty="0">
                <a:latin typeface="Helvetica" pitchFamily="2" charset="0"/>
              </a:rPr>
              <a:t>We can measure risk using standard deviation in </a:t>
            </a:r>
            <a:r>
              <a:rPr lang="en-US" sz="2200" b="1" dirty="0">
                <a:latin typeface="Helvetica" pitchFamily="2" charset="0"/>
              </a:rPr>
              <a:t>two ways</a:t>
            </a:r>
            <a:r>
              <a:rPr lang="en-US" sz="2200" dirty="0">
                <a:latin typeface="Helvetica" pitchFamily="2" charset="0"/>
              </a:rPr>
              <a:t>:</a:t>
            </a:r>
          </a:p>
          <a:p>
            <a:pPr marL="342900" indent="-342900">
              <a:spcBef>
                <a:spcPts val="14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en-US" sz="2200" dirty="0">
              <a:latin typeface="Helvetica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A80F2EA-1E92-44B6-C3C0-7630BD2C68C5}"/>
                  </a:ext>
                </a:extLst>
              </p:cNvPr>
              <p:cNvSpPr txBox="1"/>
              <p:nvPr/>
            </p:nvSpPr>
            <p:spPr>
              <a:xfrm>
                <a:off x="8732724" y="4347828"/>
                <a:ext cx="2245038" cy="10016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𝝈</m:t>
                      </m:r>
                      <m:r>
                        <a:rPr lang="en-US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US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000" b="1" i="1">
                                          <a:solidFill>
                                            <a:schemeClr val="accent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2000" b="1" i="1">
                                              <a:solidFill>
                                                <a:schemeClr val="accent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1" i="1">
                                              <a:solidFill>
                                                <a:schemeClr val="accent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2000" b="1" i="1">
                                              <a:solidFill>
                                                <a:schemeClr val="accent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𝒓</m:t>
                                          </m:r>
                                        </m:e>
                                        <m:sub>
                                          <m:r>
                                            <a:rPr lang="en-US" sz="2000" b="1" i="1">
                                              <a:solidFill>
                                                <a:schemeClr val="accent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en-US" sz="2000" b="1" i="1">
                                          <a:solidFill>
                                            <a:schemeClr val="accent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000" b="1" i="1">
                                              <a:solidFill>
                                                <a:schemeClr val="accent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000" b="1" i="1">
                                              <a:solidFill>
                                                <a:schemeClr val="accent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𝒓</m:t>
                                          </m:r>
                                        </m:e>
                                      </m:acc>
                                      <m:r>
                                        <a:rPr lang="en-US" sz="2000" b="1" i="1">
                                          <a:solidFill>
                                            <a:schemeClr val="accent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2000" b="1" i="1">
                                          <a:solidFill>
                                            <a:schemeClr val="accent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</m:den>
                              </m:f>
                            </m:e>
                          </m:nary>
                        </m:e>
                      </m:rad>
                    </m:oMath>
                  </m:oMathPara>
                </a14:m>
                <a:endParaRPr lang="en-US" b="1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A80F2EA-1E92-44B6-C3C0-7630BD2C68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2724" y="4347828"/>
                <a:ext cx="2245038" cy="1001684"/>
              </a:xfrm>
              <a:prstGeom prst="rect">
                <a:avLst/>
              </a:prstGeom>
              <a:blipFill>
                <a:blip r:embed="rId2"/>
                <a:stretch>
                  <a:fillRect l="-6742" t="-93750" b="-14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78D2A93-2E2C-2429-7F83-B70598F07315}"/>
              </a:ext>
            </a:extLst>
          </p:cNvPr>
          <p:cNvSpPr txBox="1"/>
          <p:nvPr/>
        </p:nvSpPr>
        <p:spPr>
          <a:xfrm>
            <a:off x="780963" y="4246301"/>
            <a:ext cx="10196797" cy="1415772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56032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accent2">
                    <a:lumMod val="50000"/>
                  </a:schemeClr>
                </a:solidFill>
                <a:latin typeface="Helvetica" pitchFamily="2" charset="0"/>
              </a:rPr>
              <a:t>From Historical Data</a:t>
            </a:r>
            <a:endParaRPr lang="en-US" sz="2200" dirty="0">
              <a:solidFill>
                <a:schemeClr val="accent2">
                  <a:lumMod val="50000"/>
                </a:schemeClr>
              </a:solidFill>
              <a:latin typeface="Helvetica" pitchFamily="2" charset="0"/>
            </a:endParaRPr>
          </a:p>
          <a:p>
            <a:pPr marL="713232" lvl="2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2">
                    <a:lumMod val="50000"/>
                  </a:schemeClr>
                </a:solidFill>
                <a:latin typeface="Helvetica" pitchFamily="2" charset="0"/>
              </a:rPr>
              <a:t>Based on actual past returns</a:t>
            </a:r>
          </a:p>
          <a:p>
            <a:pPr marL="713232" lvl="2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2">
                    <a:lumMod val="50000"/>
                  </a:schemeClr>
                </a:solidFill>
                <a:latin typeface="Helvetica" pitchFamily="2" charset="0"/>
              </a:rPr>
              <a:t>Use sample standard deviation formula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09E0F3-BBFC-E9E1-5E67-CACDD6B5CDF5}"/>
              </a:ext>
            </a:extLst>
          </p:cNvPr>
          <p:cNvSpPr txBox="1"/>
          <p:nvPr/>
        </p:nvSpPr>
        <p:spPr>
          <a:xfrm>
            <a:off x="1829446" y="6112233"/>
            <a:ext cx="85331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" pitchFamily="2" charset="0"/>
              </a:rPr>
              <a:t>Both methods give a numerical estimate of </a:t>
            </a:r>
            <a:r>
              <a:rPr lang="en-US" sz="2400" b="1" dirty="0">
                <a:latin typeface="Helvetica" pitchFamily="2" charset="0"/>
              </a:rPr>
              <a:t>stand-alone risk</a:t>
            </a:r>
            <a:r>
              <a:rPr lang="en-US" sz="2400" dirty="0">
                <a:latin typeface="Helvetica" pitchFamily="2" charset="0"/>
              </a:rPr>
              <a:t>.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0A383A-823A-473A-BB40-5D758E600DD8}"/>
                  </a:ext>
                </a:extLst>
              </p:cNvPr>
              <p:cNvSpPr txBox="1"/>
              <p:nvPr/>
            </p:nvSpPr>
            <p:spPr>
              <a:xfrm>
                <a:off x="8132558" y="2481896"/>
                <a:ext cx="2770759" cy="10016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𝝈</m:t>
                      </m:r>
                      <m:r>
                        <a:rPr lang="en-US" sz="20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000" b="1" i="1" smtClean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b="1" i="1" smtClean="0">
                                      <a:solidFill>
                                        <a:schemeClr val="accent4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1" i="1" smtClean="0">
                                          <a:solidFill>
                                            <a:schemeClr val="accent4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 smtClean="0">
                                          <a:solidFill>
                                            <a:schemeClr val="accent4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𝑷</m:t>
                                      </m:r>
                                    </m:e>
                                    <m:sub>
                                      <m:r>
                                        <a:rPr lang="en-US" sz="2000" b="1" i="1" smtClean="0">
                                          <a:solidFill>
                                            <a:schemeClr val="accent4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sz="2000" b="1" i="1" smtClean="0">
                                      <a:solidFill>
                                        <a:schemeClr val="accent4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2000" b="1" i="1" smtClean="0">
                                          <a:solidFill>
                                            <a:schemeClr val="accent4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2000" b="1" i="1" smtClean="0">
                                              <a:solidFill>
                                                <a:schemeClr val="accent4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1" i="1" smtClean="0">
                                              <a:solidFill>
                                                <a:schemeClr val="accent4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2000" b="1" i="1" smtClean="0">
                                              <a:solidFill>
                                                <a:schemeClr val="accent4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𝒓</m:t>
                                          </m:r>
                                        </m:e>
                                        <m:sub>
                                          <m:r>
                                            <a:rPr lang="en-US" sz="2000" b="1" i="1" smtClean="0">
                                              <a:solidFill>
                                                <a:schemeClr val="accent4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en-US" sz="2000" b="1" i="1" smtClean="0">
                                          <a:solidFill>
                                            <a:schemeClr val="accent4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000" b="1" i="1" smtClean="0">
                                              <a:solidFill>
                                                <a:schemeClr val="accent4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000" b="1" i="1" smtClean="0">
                                              <a:solidFill>
                                                <a:schemeClr val="accent4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𝒓</m:t>
                                          </m:r>
                                        </m:e>
                                      </m:acc>
                                      <m:r>
                                        <a:rPr lang="en-US" sz="2000" b="1" i="1" smtClean="0">
                                          <a:solidFill>
                                            <a:schemeClr val="accent4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2000" b="1" i="1" smtClean="0">
                                          <a:solidFill>
                                            <a:schemeClr val="accent4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e>
                      </m:ra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0A383A-823A-473A-BB40-5D758E600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2558" y="2481896"/>
                <a:ext cx="2770759" cy="1001684"/>
              </a:xfrm>
              <a:prstGeom prst="rect">
                <a:avLst/>
              </a:prstGeom>
              <a:blipFill>
                <a:blip r:embed="rId3"/>
                <a:stretch>
                  <a:fillRect l="-5479" t="-93750" b="-1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814C345-FAA4-86C8-4CB4-72F05960DB30}"/>
              </a:ext>
            </a:extLst>
          </p:cNvPr>
          <p:cNvSpPr txBox="1"/>
          <p:nvPr/>
        </p:nvSpPr>
        <p:spPr>
          <a:xfrm>
            <a:off x="780963" y="2268831"/>
            <a:ext cx="10196798" cy="1769715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56032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accent4">
                    <a:lumMod val="50000"/>
                  </a:schemeClr>
                </a:solidFill>
                <a:latin typeface="Helvetica" pitchFamily="2" charset="0"/>
              </a:rPr>
              <a:t>From a Probability Distribution</a:t>
            </a:r>
            <a:endParaRPr lang="en-US" sz="2200" dirty="0">
              <a:solidFill>
                <a:schemeClr val="accent4">
                  <a:lumMod val="50000"/>
                </a:schemeClr>
              </a:solidFill>
              <a:latin typeface="Helvetica" pitchFamily="2" charset="0"/>
            </a:endParaRPr>
          </a:p>
          <a:p>
            <a:pPr marL="713232" lvl="2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4">
                    <a:lumMod val="50000"/>
                  </a:schemeClr>
                </a:solidFill>
                <a:latin typeface="Helvetica" pitchFamily="2" charset="0"/>
              </a:rPr>
              <a:t>When future scenarios and probabilities are known</a:t>
            </a:r>
          </a:p>
          <a:p>
            <a:pPr marL="713232" lvl="2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4">
                    <a:lumMod val="50000"/>
                  </a:schemeClr>
                </a:solidFill>
                <a:latin typeface="Helvetica" pitchFamily="2" charset="0"/>
              </a:rPr>
              <a:t>Use weighted formula to calculate </a:t>
            </a:r>
            <a:r>
              <a:rPr lang="el-GR" sz="2200" dirty="0">
                <a:solidFill>
                  <a:schemeClr val="accent4">
                    <a:lumMod val="50000"/>
                  </a:schemeClr>
                </a:solidFill>
                <a:latin typeface="Helvetica" pitchFamily="2" charset="0"/>
              </a:rPr>
              <a:t>σ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915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23333-B435-DBBA-2E76-BDE5B74C1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FDC8C1-C39A-0B18-A27B-D5C6059779F6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46F805-D510-7368-2217-029B38CC6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Calculating Risk with Standard Deviation (2)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82E0313-A3EA-5469-98F4-FBE7540D5A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752835"/>
              </p:ext>
            </p:extLst>
          </p:nvPr>
        </p:nvGraphicFramePr>
        <p:xfrm>
          <a:off x="974843" y="2181530"/>
          <a:ext cx="5121156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707052">
                  <a:extLst>
                    <a:ext uri="{9D8B030D-6E8A-4147-A177-3AD203B41FA5}">
                      <a16:colId xmlns:a16="http://schemas.microsoft.com/office/drawing/2014/main" val="746778023"/>
                    </a:ext>
                  </a:extLst>
                </a:gridCol>
                <a:gridCol w="1707052">
                  <a:extLst>
                    <a:ext uri="{9D8B030D-6E8A-4147-A177-3AD203B41FA5}">
                      <a16:colId xmlns:a16="http://schemas.microsoft.com/office/drawing/2014/main" val="602750575"/>
                    </a:ext>
                  </a:extLst>
                </a:gridCol>
                <a:gridCol w="1707052">
                  <a:extLst>
                    <a:ext uri="{9D8B030D-6E8A-4147-A177-3AD203B41FA5}">
                      <a16:colId xmlns:a16="http://schemas.microsoft.com/office/drawing/2014/main" val="2254903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Outcome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Probability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Return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0928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Boom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40%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30%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50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Normal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20%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20%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620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Recession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40%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-15%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63496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052D706-9981-37CC-52E9-78C3B4230714}"/>
              </a:ext>
            </a:extLst>
          </p:cNvPr>
          <p:cNvSpPr txBox="1"/>
          <p:nvPr/>
        </p:nvSpPr>
        <p:spPr>
          <a:xfrm>
            <a:off x="370389" y="1543329"/>
            <a:ext cx="10333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Helvetica" pitchFamily="2" charset="0"/>
              </a:rPr>
              <a:t>Measure risk using standard deviation from a probability distribution.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6A5EDE4-5760-83D7-1677-F729BFE9EF6E}"/>
                  </a:ext>
                </a:extLst>
              </p:cNvPr>
              <p:cNvSpPr txBox="1"/>
              <p:nvPr/>
            </p:nvSpPr>
            <p:spPr>
              <a:xfrm>
                <a:off x="7002682" y="2251504"/>
                <a:ext cx="3161122" cy="14605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𝛔</m:t>
                      </m:r>
                      <m:r>
                        <a:rPr lang="en-US" sz="2400" b="1" i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400" b="1" i="1" smtClean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1" i="1" smtClean="0">
                                      <a:solidFill>
                                        <a:schemeClr val="accent4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1" i="1" smtClean="0">
                                          <a:solidFill>
                                            <a:schemeClr val="accent4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0" smtClean="0">
                                          <a:solidFill>
                                            <a:schemeClr val="accent4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𝐏</m:t>
                                      </m:r>
                                    </m:e>
                                    <m:sub>
                                      <m:r>
                                        <a:rPr lang="en-US" sz="2400" b="1" i="0" smtClean="0">
                                          <a:solidFill>
                                            <a:schemeClr val="accent4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𝐢</m:t>
                                      </m:r>
                                    </m:sub>
                                  </m:sSub>
                                  <m:r>
                                    <a:rPr lang="en-US" sz="2400" b="1" i="0" smtClean="0">
                                      <a:solidFill>
                                        <a:schemeClr val="accent4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2400" b="1" i="1" smtClean="0">
                                          <a:solidFill>
                                            <a:schemeClr val="accent4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2400" b="1" i="1" smtClean="0">
                                              <a:solidFill>
                                                <a:schemeClr val="accent4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1" i="0" smtClean="0">
                                              <a:solidFill>
                                                <a:schemeClr val="accent4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2400" b="1" i="0" smtClean="0">
                                              <a:solidFill>
                                                <a:schemeClr val="accent4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𝐫</m:t>
                                          </m:r>
                                        </m:e>
                                        <m:sub>
                                          <m:r>
                                            <a:rPr lang="en-US" sz="2400" b="1" i="0" smtClean="0">
                                              <a:solidFill>
                                                <a:schemeClr val="accent4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  <m:r>
                                        <a:rPr lang="en-US" sz="2400" b="1" i="0" smtClean="0">
                                          <a:solidFill>
                                            <a:schemeClr val="accent4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400" b="1" i="1" smtClean="0">
                                              <a:solidFill>
                                                <a:schemeClr val="accent4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b="1" i="0" smtClean="0">
                                              <a:solidFill>
                                                <a:schemeClr val="accent4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𝐫</m:t>
                                          </m:r>
                                        </m:e>
                                      </m:acc>
                                      <m:r>
                                        <a:rPr lang="en-US" sz="2400" b="1" i="0" smtClean="0">
                                          <a:solidFill>
                                            <a:schemeClr val="accent4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2400" b="1" i="0" smtClean="0">
                                          <a:solidFill>
                                            <a:schemeClr val="accent4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e>
                      </m:rad>
                    </m:oMath>
                  </m:oMathPara>
                </a14:m>
                <a:endParaRPr lang="en-US" sz="2400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6A5EDE4-5760-83D7-1677-F729BFE9E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2682" y="2251504"/>
                <a:ext cx="3161122" cy="1460528"/>
              </a:xfrm>
              <a:prstGeom prst="rect">
                <a:avLst/>
              </a:prstGeom>
              <a:blipFill>
                <a:blip r:embed="rId2"/>
                <a:stretch>
                  <a:fillRect l="-6800" t="-80172" b="-99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99E635-A027-EC65-48CA-4C3DE17AD31D}"/>
                  </a:ext>
                </a:extLst>
              </p:cNvPr>
              <p:cNvSpPr txBox="1"/>
              <p:nvPr/>
            </p:nvSpPr>
            <p:spPr>
              <a:xfrm>
                <a:off x="395760" y="3958542"/>
                <a:ext cx="9891426" cy="4744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2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200" b="1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200" b="1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1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  <m:sub>
                                <m:r>
                                  <a:rPr lang="en-US" sz="2200" b="1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sz="2200" b="1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p>
                              <m:sSupPr>
                                <m:ctrlPr>
                                  <a:rPr lang="en-US" sz="2200" b="1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2200" b="1" i="1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1" i="1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200" b="1" i="1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sz="2200" b="1" i="1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2200" b="1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sz="2200" b="1" i="1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200" b="1" i="1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</m:acc>
                                <m:r>
                                  <a:rPr lang="en-US" sz="2200" b="1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2200" b="1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d>
                        <m:r>
                          <a:rPr lang="en-US" sz="22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22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40% </m:t>
                        </m:r>
                        <m:r>
                          <a:rPr lang="en-US" sz="2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22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𝟑𝟎</m:t>
                            </m:r>
                            <m:r>
                              <a:rPr lang="en-US" sz="22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𝟏𝟎</m:t>
                            </m:r>
                            <m:r>
                              <a:rPr lang="en-US" sz="22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2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22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+</m:t>
                        </m:r>
                      </m:e>
                    </m:nary>
                  </m:oMath>
                </a14:m>
                <a:r>
                  <a:rPr lang="en-US" sz="2200" b="1" i="1" dirty="0">
                    <a:solidFill>
                      <a:schemeClr val="accent4">
                        <a:lumMod val="5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200" b="1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20% </m:t>
                    </m:r>
                    <m:r>
                      <a:rPr lang="en-US" sz="2200" b="1" i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200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200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𝟐𝟎</m:t>
                        </m:r>
                        <m:r>
                          <a:rPr lang="en-US" sz="2200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200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𝟏𝟎</m:t>
                        </m:r>
                        <m:r>
                          <a:rPr lang="en-US" sz="2200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200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2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2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200" b="1" i="1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40% </m:t>
                    </m:r>
                    <m:r>
                      <a:rPr lang="en-US" sz="2200" b="1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2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</m:t>
                        </m:r>
                        <m:r>
                          <a:rPr lang="en-US" sz="22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𝟏𝟓</m:t>
                        </m:r>
                        <m:r>
                          <a:rPr lang="en-US" sz="22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2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𝟏𝟎</m:t>
                        </m:r>
                        <m:r>
                          <a:rPr lang="en-US" sz="22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2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sz="2200" b="1" i="1" dirty="0">
                  <a:solidFill>
                    <a:schemeClr val="accent4">
                      <a:lumMod val="5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99E635-A027-EC65-48CA-4C3DE17AD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60" y="3958542"/>
                <a:ext cx="9891426" cy="474489"/>
              </a:xfrm>
              <a:prstGeom prst="rect">
                <a:avLst/>
              </a:prstGeom>
              <a:blipFill>
                <a:blip r:embed="rId3"/>
                <a:stretch>
                  <a:fillRect l="-4231" t="-102632" b="-16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25CA6E8-79A6-7AF0-1DD5-96D1AB0FB717}"/>
                  </a:ext>
                </a:extLst>
              </p:cNvPr>
              <p:cNvSpPr txBox="1"/>
              <p:nvPr/>
            </p:nvSpPr>
            <p:spPr>
              <a:xfrm>
                <a:off x="395760" y="4542245"/>
                <a:ext cx="7429213" cy="4744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2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200" b="1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200" b="1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1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  <m:sub>
                                <m:r>
                                  <a:rPr lang="en-US" sz="2200" b="1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sz="2200" b="1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p>
                              <m:sSupPr>
                                <m:ctrlPr>
                                  <a:rPr lang="en-US" sz="2200" b="1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2200" b="1" i="1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1" i="1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200" b="1" i="1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sz="2200" b="1" i="1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2200" b="1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sz="2200" b="1" i="1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200" b="1" i="1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</m:acc>
                                <m:r>
                                  <a:rPr lang="en-US" sz="2200" b="1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2200" b="1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d>
                        <m:r>
                          <a:rPr lang="en-US" sz="22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2200" b="1" i="1" dirty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40% </m:t>
                        </m:r>
                        <m:r>
                          <a:rPr lang="en-US" sz="22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2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𝟒𝟎𝟎</m:t>
                        </m:r>
                        <m:r>
                          <a:rPr lang="en-US" sz="22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+</m:t>
                        </m:r>
                      </m:e>
                    </m:nary>
                  </m:oMath>
                </a14:m>
                <a:r>
                  <a:rPr lang="en-US" sz="2200" b="1" i="1" dirty="0">
                    <a:solidFill>
                      <a:schemeClr val="accent4">
                        <a:lumMod val="5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200" b="1" i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20% </m:t>
                    </m:r>
                    <m:r>
                      <a:rPr lang="en-US" sz="22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2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𝟏𝟎𝟎</m:t>
                    </m:r>
                    <m:r>
                      <a:rPr lang="en-US" sz="22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2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200" b="1" i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40% </m:t>
                    </m:r>
                    <m:r>
                      <a:rPr lang="en-US" sz="22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2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𝟔𝟐𝟓</m:t>
                    </m:r>
                    <m:r>
                      <a:rPr lang="en-US" sz="22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endParaRPr lang="en-US" sz="2200" b="1" i="1" dirty="0">
                  <a:solidFill>
                    <a:schemeClr val="accent4">
                      <a:lumMod val="5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25CA6E8-79A6-7AF0-1DD5-96D1AB0FB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60" y="4542245"/>
                <a:ext cx="7429213" cy="474489"/>
              </a:xfrm>
              <a:prstGeom prst="rect">
                <a:avLst/>
              </a:prstGeom>
              <a:blipFill>
                <a:blip r:embed="rId4"/>
                <a:stretch>
                  <a:fillRect l="-5631" t="-100000" b="-16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B9B156-B88E-49EC-DA48-9A1D9171AB55}"/>
                  </a:ext>
                </a:extLst>
              </p:cNvPr>
              <p:cNvSpPr txBox="1"/>
              <p:nvPr/>
            </p:nvSpPr>
            <p:spPr>
              <a:xfrm>
                <a:off x="395760" y="5127075"/>
                <a:ext cx="6238118" cy="4744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2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200" b="1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200" b="1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1" i="0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𝐏</m:t>
                                </m:r>
                              </m:e>
                              <m:sub>
                                <m:r>
                                  <a:rPr lang="en-US" sz="2200" b="1" i="0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𝐢</m:t>
                                </m:r>
                              </m:sub>
                            </m:sSub>
                            <m:r>
                              <a:rPr lang="en-US" sz="2200" b="1" i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p>
                              <m:sSupPr>
                                <m:ctrlPr>
                                  <a:rPr lang="en-US" sz="2200" b="1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2200" b="1" i="1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1" i="0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200" b="1" i="0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𝐫</m:t>
                                    </m:r>
                                  </m:e>
                                  <m:sub>
                                    <m:r>
                                      <a:rPr lang="en-US" sz="2200" b="1" i="0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𝐢</m:t>
                                    </m:r>
                                  </m:sub>
                                </m:sSub>
                                <m:r>
                                  <a:rPr lang="en-US" sz="2200" b="1" i="0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sz="2200" b="1" i="1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200" b="1" i="0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𝐫</m:t>
                                    </m:r>
                                  </m:e>
                                </m:acc>
                                <m:r>
                                  <a:rPr lang="en-US" sz="2200" b="1" i="0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2200" b="1" i="0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d>
                        <m:r>
                          <a:rPr lang="en-US" sz="2200" b="1" i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200" b="1" i="0" dirty="0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𝟏𝟔𝟎</m:t>
                        </m:r>
                        <m:r>
                          <a:rPr lang="en-US" sz="2200" b="1" i="0" dirty="0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e>
                    </m:nary>
                  </m:oMath>
                </a14:m>
                <a:r>
                  <a:rPr lang="en-US" sz="2200" b="1" dirty="0">
                    <a:solidFill>
                      <a:schemeClr val="accent4">
                        <a:lumMod val="5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200" b="1" dirty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sz="2200" b="1" i="0" dirty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en-US" sz="2200" b="1" dirty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 </m:t>
                    </m:r>
                    <m:r>
                      <a:rPr lang="en-US" sz="2200" b="1" i="0" dirty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𝟐𝟓𝟎</m:t>
                    </m:r>
                    <m:r>
                      <a:rPr lang="en-US" sz="2200" b="1" i="0" dirty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200" b="1" i="0" dirty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𝟒𝟑𝟎</m:t>
                    </m:r>
                  </m:oMath>
                </a14:m>
                <a:endParaRPr lang="en-US" sz="2200" b="1" dirty="0">
                  <a:solidFill>
                    <a:schemeClr val="accent4">
                      <a:lumMod val="5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B9B156-B88E-49EC-DA48-9A1D9171AB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60" y="5127075"/>
                <a:ext cx="6238118" cy="474489"/>
              </a:xfrm>
              <a:prstGeom prst="rect">
                <a:avLst/>
              </a:prstGeom>
              <a:blipFill>
                <a:blip r:embed="rId5"/>
                <a:stretch>
                  <a:fillRect l="-6707" t="-100000" b="-16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5908FAF-D931-2ABA-D0DE-D2341DBFE85C}"/>
                  </a:ext>
                </a:extLst>
              </p:cNvPr>
              <p:cNvSpPr txBox="1"/>
              <p:nvPr/>
            </p:nvSpPr>
            <p:spPr>
              <a:xfrm>
                <a:off x="395760" y="5601564"/>
                <a:ext cx="2870401" cy="4708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𝛔</m:t>
                      </m:r>
                      <m:r>
                        <a:rPr lang="en-US" sz="2200" b="1" i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2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200" b="1" i="1" dirty="0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𝟒𝟑𝟎</m:t>
                          </m:r>
                        </m:e>
                      </m:rad>
                      <m:r>
                        <a:rPr lang="en-US" sz="22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2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𝟐𝟎</m:t>
                      </m:r>
                      <m:r>
                        <a:rPr lang="en-US" sz="22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2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𝟕𝟑</m:t>
                      </m:r>
                      <m:r>
                        <a:rPr lang="en-US" sz="22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sz="2200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5908FAF-D931-2ABA-D0DE-D2341DBFE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60" y="5601564"/>
                <a:ext cx="2870401" cy="47083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4568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0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181AF-59DA-95A0-DB2C-8C13B186E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E6793DA-131E-300F-CD97-9F714B676A63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E9B952-54BC-CBAB-B0A7-98A5F842B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Calculating Risk with Standard Deviation (3)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C5D9AC1-DFDE-DF7F-FD8C-D461C10241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127980"/>
              </p:ext>
            </p:extLst>
          </p:nvPr>
        </p:nvGraphicFramePr>
        <p:xfrm>
          <a:off x="1827169" y="2087017"/>
          <a:ext cx="3414104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707052">
                  <a:extLst>
                    <a:ext uri="{9D8B030D-6E8A-4147-A177-3AD203B41FA5}">
                      <a16:colId xmlns:a16="http://schemas.microsoft.com/office/drawing/2014/main" val="746778023"/>
                    </a:ext>
                  </a:extLst>
                </a:gridCol>
                <a:gridCol w="1707052">
                  <a:extLst>
                    <a:ext uri="{9D8B030D-6E8A-4147-A177-3AD203B41FA5}">
                      <a16:colId xmlns:a16="http://schemas.microsoft.com/office/drawing/2014/main" val="2254903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Return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0928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2021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30%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50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2022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20%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620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2023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-15%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63496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1DC031C-F005-DFB2-9908-41BFF96DB573}"/>
              </a:ext>
            </a:extLst>
          </p:cNvPr>
          <p:cNvSpPr txBox="1"/>
          <p:nvPr/>
        </p:nvSpPr>
        <p:spPr>
          <a:xfrm>
            <a:off x="370389" y="1543329"/>
            <a:ext cx="9741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Helvetica" pitchFamily="2" charset="0"/>
              </a:rPr>
              <a:t>Measure risk using standard deviation from From Historical Data.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4468A7-8AAE-99E4-6150-F0B49D750864}"/>
                  </a:ext>
                </a:extLst>
              </p:cNvPr>
              <p:cNvSpPr txBox="1"/>
              <p:nvPr/>
            </p:nvSpPr>
            <p:spPr>
              <a:xfrm>
                <a:off x="7002682" y="2251504"/>
                <a:ext cx="2455479" cy="10926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𝝈</m:t>
                      </m:r>
                      <m:r>
                        <a:rPr lang="en-US" sz="22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2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2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22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US" sz="2200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200" b="1" i="1">
                                          <a:solidFill>
                                            <a:schemeClr val="accent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2200" b="1" i="1">
                                              <a:solidFill>
                                                <a:schemeClr val="accent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 b="1" i="1">
                                              <a:solidFill>
                                                <a:schemeClr val="accent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2200" b="1" i="1">
                                              <a:solidFill>
                                                <a:schemeClr val="accent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𝒓</m:t>
                                          </m:r>
                                        </m:e>
                                        <m:sub>
                                          <m:r>
                                            <a:rPr lang="en-US" sz="2200" b="1" i="1">
                                              <a:solidFill>
                                                <a:schemeClr val="accent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en-US" sz="2200" b="1" i="1">
                                          <a:solidFill>
                                            <a:schemeClr val="accent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200" b="1" i="1">
                                              <a:solidFill>
                                                <a:schemeClr val="accent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200" b="1" i="1">
                                              <a:solidFill>
                                                <a:schemeClr val="accent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𝒓</m:t>
                                          </m:r>
                                        </m:e>
                                      </m:acc>
                                      <m:r>
                                        <a:rPr lang="en-US" sz="2200" b="1" i="1">
                                          <a:solidFill>
                                            <a:schemeClr val="accent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2200" b="1" i="1">
                                          <a:solidFill>
                                            <a:schemeClr val="accent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200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</m:den>
                              </m:f>
                            </m:e>
                          </m:nary>
                        </m:e>
                      </m:rad>
                    </m:oMath>
                  </m:oMathPara>
                </a14:m>
                <a:endParaRPr lang="en-US" sz="22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4468A7-8AAE-99E4-6150-F0B49D7508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2682" y="2251504"/>
                <a:ext cx="2455479" cy="1092671"/>
              </a:xfrm>
              <a:prstGeom prst="rect">
                <a:avLst/>
              </a:prstGeom>
              <a:blipFill>
                <a:blip r:embed="rId2"/>
                <a:stretch>
                  <a:fillRect l="-7732" t="-95402" b="-144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8EEFD0-3561-D83D-5CD9-651D02550755}"/>
                  </a:ext>
                </a:extLst>
              </p:cNvPr>
              <p:cNvSpPr txBox="1"/>
              <p:nvPr/>
            </p:nvSpPr>
            <p:spPr>
              <a:xfrm>
                <a:off x="370389" y="4397870"/>
                <a:ext cx="7700762" cy="438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2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2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2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lang="en-US" sz="22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sz="22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sz="22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2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</m:acc>
                            <m:r>
                              <a:rPr lang="en-US" sz="22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2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22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2200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𝟑𝟎</m:t>
                            </m:r>
                            <m:r>
                              <a:rPr lang="en-US" sz="22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11.67</m:t>
                            </m:r>
                            <m:r>
                              <a:rPr lang="en-US" sz="22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2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22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+</m:t>
                        </m:r>
                      </m:e>
                    </m:nary>
                  </m:oMath>
                </a14:m>
                <a:r>
                  <a:rPr lang="en-US" sz="2200" b="1" i="1" dirty="0">
                    <a:solidFill>
                      <a:schemeClr val="accent4">
                        <a:lumMod val="5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200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𝟐𝟎</m:t>
                        </m:r>
                        <m:r>
                          <a:rPr lang="en-US" sz="2200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20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11.67</m:t>
                        </m:r>
                        <m:r>
                          <a:rPr lang="en-US" sz="2200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200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2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2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</m:t>
                        </m:r>
                        <m:r>
                          <a:rPr lang="en-US" sz="22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𝟏𝟓</m:t>
                        </m:r>
                        <m:r>
                          <a:rPr lang="en-US" sz="22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20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11.67</m:t>
                        </m:r>
                        <m:r>
                          <a:rPr lang="en-US" sz="22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2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sz="2200" b="1" i="1" dirty="0">
                  <a:solidFill>
                    <a:schemeClr val="accent4">
                      <a:lumMod val="5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8EEFD0-3561-D83D-5CD9-651D025507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89" y="4397870"/>
                <a:ext cx="7700762" cy="438582"/>
              </a:xfrm>
              <a:prstGeom prst="rect">
                <a:avLst/>
              </a:prstGeom>
              <a:blipFill>
                <a:blip r:embed="rId3"/>
                <a:stretch>
                  <a:fillRect l="-5437" t="-120000" b="-18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D5E59CE-F3FF-77C7-AC2D-E0CAF1B9D3A0}"/>
                  </a:ext>
                </a:extLst>
              </p:cNvPr>
              <p:cNvSpPr txBox="1"/>
              <p:nvPr/>
            </p:nvSpPr>
            <p:spPr>
              <a:xfrm>
                <a:off x="370389" y="5517444"/>
                <a:ext cx="5590505" cy="11637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𝝈</m:t>
                      </m:r>
                      <m:r>
                        <a:rPr lang="en-US" sz="2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2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2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22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US" sz="2200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200" b="1" i="1">
                                          <a:solidFill>
                                            <a:schemeClr val="accent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2200" b="1" i="1">
                                              <a:solidFill>
                                                <a:schemeClr val="accent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 b="1" i="1">
                                              <a:solidFill>
                                                <a:schemeClr val="accent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2200" b="1" i="1">
                                              <a:solidFill>
                                                <a:schemeClr val="accent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𝒓</m:t>
                                          </m:r>
                                        </m:e>
                                        <m:sub>
                                          <m:r>
                                            <a:rPr lang="en-US" sz="2200" b="1" i="1">
                                              <a:solidFill>
                                                <a:schemeClr val="accent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en-US" sz="2200" b="1" i="1">
                                          <a:solidFill>
                                            <a:schemeClr val="accent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200" b="1" i="1">
                                              <a:solidFill>
                                                <a:schemeClr val="accent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200" b="1" i="1">
                                              <a:solidFill>
                                                <a:schemeClr val="accent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𝒓</m:t>
                                          </m:r>
                                        </m:e>
                                      </m:acc>
                                      <m:r>
                                        <a:rPr lang="en-US" sz="2200" b="1" i="1">
                                          <a:solidFill>
                                            <a:schemeClr val="accent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2200" b="1" i="1">
                                          <a:solidFill>
                                            <a:schemeClr val="accent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200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</m:den>
                              </m:f>
                            </m:e>
                          </m:nary>
                        </m:e>
                      </m:rad>
                      <m:r>
                        <a:rPr lang="en-US" sz="22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2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𝟏𝟏𝟏𝟔</m:t>
                              </m:r>
                              <m:r>
                                <a:rPr lang="en-US" sz="22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2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𝟓𝟔</m:t>
                              </m:r>
                            </m:num>
                            <m:den>
                              <m:r>
                                <a:rPr lang="en-US" sz="2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</m:e>
                      </m:rad>
                      <m:r>
                        <a:rPr lang="en-US" sz="2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𝟏𝟗</m:t>
                      </m:r>
                      <m:r>
                        <a:rPr lang="en-US" sz="2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𝟐𝟗</m:t>
                      </m:r>
                      <m:r>
                        <a:rPr lang="en-US" sz="2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sz="2200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D5E59CE-F3FF-77C7-AC2D-E0CAF1B9D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89" y="5517444"/>
                <a:ext cx="5590505" cy="1163717"/>
              </a:xfrm>
              <a:prstGeom prst="rect">
                <a:avLst/>
              </a:prstGeom>
              <a:blipFill>
                <a:blip r:embed="rId4"/>
                <a:stretch>
                  <a:fillRect l="-2721" t="-83871" b="-1344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0B50589-5FEB-13DA-93AE-6B29B91AAC87}"/>
                  </a:ext>
                </a:extLst>
              </p:cNvPr>
              <p:cNvSpPr txBox="1"/>
              <p:nvPr/>
            </p:nvSpPr>
            <p:spPr>
              <a:xfrm>
                <a:off x="507638" y="3726503"/>
                <a:ext cx="3713132" cy="5966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</m:e>
                    </m:acc>
                    <m:r>
                      <a:rPr lang="en-US" sz="2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𝟑𝟎</m:t>
                        </m:r>
                        <m: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%+</m:t>
                        </m:r>
                        <m: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𝟐𝟎</m:t>
                        </m:r>
                        <m: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%+</m:t>
                        </m:r>
                        <m:d>
                          <m:dPr>
                            <m:ctrlPr>
                              <a:rPr lang="en-US" sz="2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𝟏𝟓</m:t>
                            </m:r>
                            <m:r>
                              <a:rPr lang="en-US" sz="2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%</m:t>
                            </m:r>
                          </m:e>
                        </m:d>
                      </m:num>
                      <m:den>
                        <m: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n-US" sz="2200" b="0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=11.67</m:t>
                    </m:r>
                  </m:oMath>
                </a14:m>
                <a:r>
                  <a:rPr lang="en-US" sz="2200" dirty="0"/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0B50589-5FEB-13DA-93AE-6B29B91AA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38" y="3726503"/>
                <a:ext cx="3713132" cy="596638"/>
              </a:xfrm>
              <a:prstGeom prst="rect">
                <a:avLst/>
              </a:prstGeom>
              <a:blipFill>
                <a:blip r:embed="rId5"/>
                <a:stretch>
                  <a:fillRect b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9373D0-28B7-3450-7A88-B82F24303B86}"/>
                  </a:ext>
                </a:extLst>
              </p:cNvPr>
              <p:cNvSpPr txBox="1"/>
              <p:nvPr/>
            </p:nvSpPr>
            <p:spPr>
              <a:xfrm>
                <a:off x="370389" y="4985910"/>
                <a:ext cx="6476325" cy="438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2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2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2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lang="en-US" sz="22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sz="22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sz="22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2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</m:acc>
                            <m:r>
                              <a:rPr lang="en-US" sz="22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2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22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𝟑𝟑𝟔</m:t>
                        </m:r>
                        <m: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𝟎𝟔</m:t>
                        </m:r>
                        <m: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e>
                    </m:nary>
                  </m:oMath>
                </a14:m>
                <a:r>
                  <a:rPr lang="en-US" sz="2200" b="1" i="1" dirty="0">
                    <a:solidFill>
                      <a:schemeClr val="accent2">
                        <a:lumMod val="5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69.39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2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𝟕𝟏𝟏</m:t>
                    </m:r>
                    <m:r>
                      <a:rPr lang="en-US" sz="2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𝟏𝟏</m:t>
                    </m:r>
                    <m:r>
                      <a:rPr lang="en-US" sz="2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𝟏𝟏𝟏𝟔</m:t>
                    </m:r>
                    <m:r>
                      <a:rPr lang="en-US" sz="2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𝟓𝟔</m:t>
                    </m:r>
                  </m:oMath>
                </a14:m>
                <a:endParaRPr lang="en-US" sz="2200" b="1" i="1" dirty="0">
                  <a:solidFill>
                    <a:schemeClr val="accent4">
                      <a:lumMod val="5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9373D0-28B7-3450-7A88-B82F24303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89" y="4985910"/>
                <a:ext cx="6476325" cy="438582"/>
              </a:xfrm>
              <a:prstGeom prst="rect">
                <a:avLst/>
              </a:prstGeom>
              <a:blipFill>
                <a:blip r:embed="rId6"/>
                <a:stretch>
                  <a:fillRect l="-6458" t="-116667" b="-17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6419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1" grpId="0"/>
      <p:bldP spid="9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54B71-8EBE-112E-94C0-841340505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D670DC9-AA83-A795-F745-603956F3E641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D25C6C-D4BA-78DF-FD46-074D24627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Selecting the Best Investment Opportunity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0F58E1-BAB5-D9A6-BAEE-8336AC3E5DB5}"/>
              </a:ext>
            </a:extLst>
          </p:cNvPr>
          <p:cNvSpPr txBox="1"/>
          <p:nvPr/>
        </p:nvSpPr>
        <p:spPr>
          <a:xfrm>
            <a:off x="248529" y="1586306"/>
            <a:ext cx="11694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6032" indent="-25146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Three Scenarios to Consider: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9D6FB3-3004-FDE3-90EE-FEC209C6A855}"/>
              </a:ext>
            </a:extLst>
          </p:cNvPr>
          <p:cNvSpPr txBox="1"/>
          <p:nvPr/>
        </p:nvSpPr>
        <p:spPr>
          <a:xfrm>
            <a:off x="960698" y="2267484"/>
            <a:ext cx="4810579" cy="1231106"/>
          </a:xfrm>
          <a:prstGeom prst="rect">
            <a:avLst/>
          </a:prstGeom>
          <a:noFill/>
          <a:ln w="19050"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b="1" dirty="0">
                <a:latin typeface="Helvetica" pitchFamily="2" charset="0"/>
              </a:rPr>
              <a:t>Scenario 1: Same Risk, Different Return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Helvetica" pitchFamily="2" charset="0"/>
              </a:rPr>
              <a:t>Option A</a:t>
            </a:r>
            <a:r>
              <a:rPr lang="en-US" dirty="0">
                <a:latin typeface="Helvetica" pitchFamily="2" charset="0"/>
              </a:rPr>
              <a:t>: Risk = 10%, Return = 20%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Helvetica" pitchFamily="2" charset="0"/>
              </a:rPr>
              <a:t>Option B</a:t>
            </a:r>
            <a:r>
              <a:rPr lang="en-US" dirty="0">
                <a:latin typeface="Helvetica" pitchFamily="2" charset="0"/>
              </a:rPr>
              <a:t>: Risk = 10%, Return = 30%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D8FD40-7065-87A7-6A4D-35FA8890D851}"/>
              </a:ext>
            </a:extLst>
          </p:cNvPr>
          <p:cNvSpPr txBox="1"/>
          <p:nvPr/>
        </p:nvSpPr>
        <p:spPr>
          <a:xfrm>
            <a:off x="6686466" y="2267484"/>
            <a:ext cx="4810579" cy="1231106"/>
          </a:xfrm>
          <a:prstGeom prst="rect">
            <a:avLst/>
          </a:prstGeom>
          <a:noFill/>
          <a:ln w="19050"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b="1" dirty="0">
                <a:latin typeface="Helvetica" pitchFamily="2" charset="0"/>
              </a:rPr>
              <a:t>Scenario 2: Same Return, Different Risk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Helvetica" pitchFamily="2" charset="0"/>
              </a:rPr>
              <a:t>Option A</a:t>
            </a:r>
            <a:r>
              <a:rPr lang="en-US" dirty="0">
                <a:latin typeface="Helvetica" pitchFamily="2" charset="0"/>
              </a:rPr>
              <a:t>: Risk = 10%, Return = 20%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Helvetica" pitchFamily="2" charset="0"/>
              </a:rPr>
              <a:t>Option B</a:t>
            </a:r>
            <a:r>
              <a:rPr lang="en-US" dirty="0">
                <a:latin typeface="Helvetica" pitchFamily="2" charset="0"/>
              </a:rPr>
              <a:t>: Risk = 30%, Return = 20%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6CC40A-B69E-B4ED-09C4-8361320A86A9}"/>
              </a:ext>
            </a:extLst>
          </p:cNvPr>
          <p:cNvSpPr txBox="1"/>
          <p:nvPr/>
        </p:nvSpPr>
        <p:spPr>
          <a:xfrm>
            <a:off x="310554" y="4563541"/>
            <a:ext cx="4810578" cy="1231106"/>
          </a:xfrm>
          <a:prstGeom prst="rect">
            <a:avLst/>
          </a:prstGeom>
          <a:noFill/>
          <a:ln w="12700"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b="1" dirty="0">
                <a:latin typeface="Helvetica" pitchFamily="2" charset="0"/>
              </a:rPr>
              <a:t>Scenario 3: Higher Return, Higher Risk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Helvetica" pitchFamily="2" charset="0"/>
              </a:rPr>
              <a:t>Option A</a:t>
            </a:r>
            <a:r>
              <a:rPr lang="en-US" dirty="0">
                <a:latin typeface="Helvetica" pitchFamily="2" charset="0"/>
              </a:rPr>
              <a:t>: Risk = 10%, Return = 20%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Helvetica" pitchFamily="2" charset="0"/>
              </a:rPr>
              <a:t>Option B</a:t>
            </a:r>
            <a:r>
              <a:rPr lang="en-US" dirty="0">
                <a:latin typeface="Helvetica" pitchFamily="2" charset="0"/>
              </a:rPr>
              <a:t>: Risk = 20%, Return = 30%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F7FB3B-555F-A011-5F46-09E476D4D0DC}"/>
              </a:ext>
            </a:extLst>
          </p:cNvPr>
          <p:cNvSpPr txBox="1"/>
          <p:nvPr/>
        </p:nvSpPr>
        <p:spPr>
          <a:xfrm>
            <a:off x="5298376" y="4137404"/>
            <a:ext cx="3088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Coefficient of Variation (CV)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B81FC2-9A89-FEDB-DD6F-2FF0EAAFCCD1}"/>
              </a:ext>
            </a:extLst>
          </p:cNvPr>
          <p:cNvSpPr txBox="1"/>
          <p:nvPr/>
        </p:nvSpPr>
        <p:spPr>
          <a:xfrm>
            <a:off x="5295861" y="5794647"/>
            <a:ext cx="1526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Sharpe Ratio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94A992C-2098-AA25-CB1B-EDD0F56BEAA5}"/>
              </a:ext>
            </a:extLst>
          </p:cNvPr>
          <p:cNvGrpSpPr/>
          <p:nvPr/>
        </p:nvGrpSpPr>
        <p:grpSpPr>
          <a:xfrm>
            <a:off x="4951366" y="3159520"/>
            <a:ext cx="819912" cy="315920"/>
            <a:chOff x="140787" y="3136230"/>
            <a:chExt cx="819912" cy="3159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8694A99-7A64-A9DC-5BE5-22FF2069ADE4}"/>
                    </a:ext>
                  </a:extLst>
                </p:cNvPr>
                <p:cNvSpPr txBox="1"/>
                <p:nvPr/>
              </p:nvSpPr>
              <p:spPr>
                <a:xfrm>
                  <a:off x="683379" y="3136230"/>
                  <a:ext cx="277320" cy="31592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✅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8694A99-7A64-A9DC-5BE5-22FF2069AD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379" y="3136230"/>
                  <a:ext cx="277320" cy="315920"/>
                </a:xfrm>
                <a:prstGeom prst="rect">
                  <a:avLst/>
                </a:prstGeom>
                <a:blipFill>
                  <a:blip r:embed="rId2"/>
                  <a:stretch>
                    <a:fillRect l="-30435" t="-7692" r="-30435" b="-153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3C54DD0-23FB-2971-E714-FBBEDBA8E68A}"/>
                    </a:ext>
                  </a:extLst>
                </p:cNvPr>
                <p:cNvSpPr txBox="1"/>
                <p:nvPr/>
              </p:nvSpPr>
              <p:spPr>
                <a:xfrm>
                  <a:off x="417634" y="3136230"/>
                  <a:ext cx="277320" cy="31592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✅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3C54DD0-23FB-2971-E714-FBBEDBA8E6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634" y="3136230"/>
                  <a:ext cx="277320" cy="315920"/>
                </a:xfrm>
                <a:prstGeom prst="rect">
                  <a:avLst/>
                </a:prstGeom>
                <a:blipFill>
                  <a:blip r:embed="rId3"/>
                  <a:stretch>
                    <a:fillRect l="-30435" t="-7692" r="-30435" b="-153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1FF5A6A-B127-889D-94F6-A75FED5BC3E9}"/>
                    </a:ext>
                  </a:extLst>
                </p:cNvPr>
                <p:cNvSpPr txBox="1"/>
                <p:nvPr/>
              </p:nvSpPr>
              <p:spPr>
                <a:xfrm>
                  <a:off x="140787" y="3136230"/>
                  <a:ext cx="277320" cy="31592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✅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1FF5A6A-B127-889D-94F6-A75FED5BC3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787" y="3136230"/>
                  <a:ext cx="277320" cy="315920"/>
                </a:xfrm>
                <a:prstGeom prst="rect">
                  <a:avLst/>
                </a:prstGeom>
                <a:blipFill>
                  <a:blip r:embed="rId4"/>
                  <a:stretch>
                    <a:fillRect l="-30435" t="-7692" r="-34783" b="-153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8769F30-C545-073A-5B5E-CFCBD371AA3E}"/>
              </a:ext>
            </a:extLst>
          </p:cNvPr>
          <p:cNvGrpSpPr/>
          <p:nvPr/>
        </p:nvGrpSpPr>
        <p:grpSpPr>
          <a:xfrm>
            <a:off x="10681624" y="2756415"/>
            <a:ext cx="819912" cy="315920"/>
            <a:chOff x="140787" y="3136230"/>
            <a:chExt cx="819912" cy="3159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C3416AF-9148-9349-62A2-D5D56F74B622}"/>
                    </a:ext>
                  </a:extLst>
                </p:cNvPr>
                <p:cNvSpPr txBox="1"/>
                <p:nvPr/>
              </p:nvSpPr>
              <p:spPr>
                <a:xfrm>
                  <a:off x="683379" y="3136230"/>
                  <a:ext cx="277320" cy="31592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✅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C3416AF-9148-9349-62A2-D5D56F74B6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379" y="3136230"/>
                  <a:ext cx="277320" cy="315920"/>
                </a:xfrm>
                <a:prstGeom prst="rect">
                  <a:avLst/>
                </a:prstGeom>
                <a:blipFill>
                  <a:blip r:embed="rId5"/>
                  <a:stretch>
                    <a:fillRect l="-30435" t="-7692" r="-30435" b="-192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037E2D1-98BC-0ABC-B733-A6B72B3739DF}"/>
                    </a:ext>
                  </a:extLst>
                </p:cNvPr>
                <p:cNvSpPr txBox="1"/>
                <p:nvPr/>
              </p:nvSpPr>
              <p:spPr>
                <a:xfrm>
                  <a:off x="417634" y="3136230"/>
                  <a:ext cx="277320" cy="31592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✅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037E2D1-98BC-0ABC-B733-A6B72B3739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634" y="3136230"/>
                  <a:ext cx="277320" cy="315920"/>
                </a:xfrm>
                <a:prstGeom prst="rect">
                  <a:avLst/>
                </a:prstGeom>
                <a:blipFill>
                  <a:blip r:embed="rId6"/>
                  <a:stretch>
                    <a:fillRect l="-36364" t="-7692" r="-31818" b="-192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20CDE1F-7C2D-9DAB-8EEC-2BF5A7103DFD}"/>
                    </a:ext>
                  </a:extLst>
                </p:cNvPr>
                <p:cNvSpPr txBox="1"/>
                <p:nvPr/>
              </p:nvSpPr>
              <p:spPr>
                <a:xfrm>
                  <a:off x="140787" y="3136230"/>
                  <a:ext cx="277320" cy="31592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✅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20CDE1F-7C2D-9DAB-8EEC-2BF5A7103D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787" y="3136230"/>
                  <a:ext cx="277320" cy="315920"/>
                </a:xfrm>
                <a:prstGeom prst="rect">
                  <a:avLst/>
                </a:prstGeom>
                <a:blipFill>
                  <a:blip r:embed="rId7"/>
                  <a:stretch>
                    <a:fillRect l="-29167" t="-7692" r="-29167" b="-192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Left Brace 23">
            <a:extLst>
              <a:ext uri="{FF2B5EF4-FFF2-40B4-BE49-F238E27FC236}">
                <a16:creationId xmlns:a16="http://schemas.microsoft.com/office/drawing/2014/main" id="{153AE766-FE5E-2122-56E2-5D3D1DDE9C1A}"/>
              </a:ext>
            </a:extLst>
          </p:cNvPr>
          <p:cNvSpPr/>
          <p:nvPr/>
        </p:nvSpPr>
        <p:spPr>
          <a:xfrm>
            <a:off x="5054428" y="4098145"/>
            <a:ext cx="361804" cy="216429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1F55937-1A3A-4589-E966-E258D77564DA}"/>
                  </a:ext>
                </a:extLst>
              </p:cNvPr>
              <p:cNvSpPr txBox="1"/>
              <p:nvPr/>
            </p:nvSpPr>
            <p:spPr>
              <a:xfrm>
                <a:off x="8345720" y="4005573"/>
                <a:ext cx="571182" cy="6329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num>
                        <m:den>
                          <m:acc>
                            <m:accPr>
                              <m:chr m:val="̂"/>
                              <m:ctrlPr>
                                <a:rPr lang="en-US" sz="2400" b="1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den>
                      </m:f>
                    </m:oMath>
                  </m:oMathPara>
                </a14:m>
                <a:endParaRPr lang="en-US" sz="2400" b="1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1F55937-1A3A-4589-E966-E258D77564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5720" y="4005573"/>
                <a:ext cx="571182" cy="632994"/>
              </a:xfrm>
              <a:prstGeom prst="rect">
                <a:avLst/>
              </a:prstGeom>
              <a:blipFill>
                <a:blip r:embed="rId8"/>
                <a:stretch>
                  <a:fillRect l="-6522" r="-6522"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357DECF-F6B8-FE24-B9E9-1F86320B38B2}"/>
                  </a:ext>
                </a:extLst>
              </p:cNvPr>
              <p:cNvSpPr txBox="1"/>
              <p:nvPr/>
            </p:nvSpPr>
            <p:spPr>
              <a:xfrm>
                <a:off x="6702317" y="5535838"/>
                <a:ext cx="1520142" cy="8161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en-US" sz="24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  <m:r>
                            <a:rPr lang="en-US" sz="2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𝒇</m:t>
                              </m:r>
                            </m:sub>
                          </m:sSub>
                        </m:num>
                        <m:den>
                          <m:r>
                            <a:rPr lang="en-US" sz="2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357DECF-F6B8-FE24-B9E9-1F86320B3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2317" y="5535838"/>
                <a:ext cx="1520142" cy="816121"/>
              </a:xfrm>
              <a:prstGeom prst="rect">
                <a:avLst/>
              </a:prstGeom>
              <a:blipFill>
                <a:blip r:embed="rId9"/>
                <a:stretch>
                  <a:fillRect t="-4545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10E0BBA8-F24C-C902-3E58-3258C1AB6940}"/>
              </a:ext>
            </a:extLst>
          </p:cNvPr>
          <p:cNvSpPr txBox="1"/>
          <p:nvPr/>
        </p:nvSpPr>
        <p:spPr>
          <a:xfrm>
            <a:off x="7468016" y="4728524"/>
            <a:ext cx="3498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Lower CV =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better risk efficiency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64EEBC-2BBB-7F79-8DE0-F33D4E3641DB}"/>
              </a:ext>
            </a:extLst>
          </p:cNvPr>
          <p:cNvSpPr txBox="1"/>
          <p:nvPr/>
        </p:nvSpPr>
        <p:spPr>
          <a:xfrm>
            <a:off x="7462388" y="6337672"/>
            <a:ext cx="4574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Higher Sharpe =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better risk-adjusted return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5DF6997-CE39-B5BC-D43D-57BAD8F45C39}"/>
              </a:ext>
            </a:extLst>
          </p:cNvPr>
          <p:cNvGrpSpPr/>
          <p:nvPr/>
        </p:nvGrpSpPr>
        <p:grpSpPr>
          <a:xfrm>
            <a:off x="4278893" y="5021134"/>
            <a:ext cx="819912" cy="315920"/>
            <a:chOff x="140787" y="3136230"/>
            <a:chExt cx="819912" cy="3159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E1E944D8-F2FB-844C-BE3B-219541DEF212}"/>
                    </a:ext>
                  </a:extLst>
                </p:cNvPr>
                <p:cNvSpPr txBox="1"/>
                <p:nvPr/>
              </p:nvSpPr>
              <p:spPr>
                <a:xfrm>
                  <a:off x="683379" y="3136230"/>
                  <a:ext cx="277320" cy="31592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✅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E1E944D8-F2FB-844C-BE3B-219541DEF2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379" y="3136230"/>
                  <a:ext cx="277320" cy="315920"/>
                </a:xfrm>
                <a:prstGeom prst="rect">
                  <a:avLst/>
                </a:prstGeom>
                <a:blipFill>
                  <a:blip r:embed="rId10"/>
                  <a:stretch>
                    <a:fillRect l="-30435" t="-11538" r="-30435" b="-153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344191F7-38D2-D53A-68D7-754023A3F0A0}"/>
                    </a:ext>
                  </a:extLst>
                </p:cNvPr>
                <p:cNvSpPr txBox="1"/>
                <p:nvPr/>
              </p:nvSpPr>
              <p:spPr>
                <a:xfrm>
                  <a:off x="417634" y="3136230"/>
                  <a:ext cx="277320" cy="31592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✅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344191F7-38D2-D53A-68D7-754023A3F0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634" y="3136230"/>
                  <a:ext cx="277320" cy="315920"/>
                </a:xfrm>
                <a:prstGeom prst="rect">
                  <a:avLst/>
                </a:prstGeom>
                <a:blipFill>
                  <a:blip r:embed="rId11"/>
                  <a:stretch>
                    <a:fillRect l="-30435" t="-11538" r="-30435" b="-153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E723925-1D3D-9EAE-6DD5-0DAA4BA0BE8F}"/>
                    </a:ext>
                  </a:extLst>
                </p:cNvPr>
                <p:cNvSpPr txBox="1"/>
                <p:nvPr/>
              </p:nvSpPr>
              <p:spPr>
                <a:xfrm>
                  <a:off x="140787" y="3136230"/>
                  <a:ext cx="277320" cy="31592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✅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E723925-1D3D-9EAE-6DD5-0DAA4BA0BE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787" y="3136230"/>
                  <a:ext cx="277320" cy="315920"/>
                </a:xfrm>
                <a:prstGeom prst="rect">
                  <a:avLst/>
                </a:prstGeom>
                <a:blipFill>
                  <a:blip r:embed="rId12"/>
                  <a:stretch>
                    <a:fillRect l="-30435" t="-11538" r="-34783" b="-153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57630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9" grpId="0" animBg="1"/>
      <p:bldP spid="10" grpId="0"/>
      <p:bldP spid="11" grpId="0"/>
      <p:bldP spid="24" grpId="0" animBg="1"/>
      <p:bldP spid="25" grpId="0"/>
      <p:bldP spid="27" grpId="0"/>
      <p:bldP spid="28" grpId="0"/>
      <p:bldP spid="2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732A1-B478-1112-89F8-A25C2A749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F5E2AAB-C412-3013-CEF0-40A0AAC0D2D2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B686BF-CB89-6CED-161A-7462C0EE9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Question-1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7F0D40-7B57-0475-6011-B4FA3BD4D3E9}"/>
              </a:ext>
            </a:extLst>
          </p:cNvPr>
          <p:cNvSpPr txBox="1"/>
          <p:nvPr/>
        </p:nvSpPr>
        <p:spPr>
          <a:xfrm>
            <a:off x="214751" y="1446094"/>
            <a:ext cx="1176249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">
              <a:spcBef>
                <a:spcPts val="600"/>
              </a:spcBef>
              <a:spcAft>
                <a:spcPts val="600"/>
              </a:spcAft>
            </a:pPr>
            <a:r>
              <a:rPr lang="en-US" sz="2200" i="0" dirty="0">
                <a:effectLst/>
                <a:latin typeface="Helvetica" pitchFamily="2" charset="0"/>
                <a:cs typeface="Times New Roman" panose="02020603050405020304" pitchFamily="18" charset="0"/>
              </a:rPr>
              <a:t>An investment has a 30% chance of producing a 30% return, a 20% chance of producing an 15% return, a 10% chance of producing a 5% return, and a 40% chance of producing a -15% return. What is its expected return?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02A51BF-BD60-6ED1-BAA6-6208A6BB59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523218"/>
              </p:ext>
            </p:extLst>
          </p:nvPr>
        </p:nvGraphicFramePr>
        <p:xfrm>
          <a:off x="3535421" y="2568106"/>
          <a:ext cx="5121156" cy="185420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1707052">
                  <a:extLst>
                    <a:ext uri="{9D8B030D-6E8A-4147-A177-3AD203B41FA5}">
                      <a16:colId xmlns:a16="http://schemas.microsoft.com/office/drawing/2014/main" val="746778023"/>
                    </a:ext>
                  </a:extLst>
                </a:gridCol>
                <a:gridCol w="1707052">
                  <a:extLst>
                    <a:ext uri="{9D8B030D-6E8A-4147-A177-3AD203B41FA5}">
                      <a16:colId xmlns:a16="http://schemas.microsoft.com/office/drawing/2014/main" val="602750575"/>
                    </a:ext>
                  </a:extLst>
                </a:gridCol>
                <a:gridCol w="1707052">
                  <a:extLst>
                    <a:ext uri="{9D8B030D-6E8A-4147-A177-3AD203B41FA5}">
                      <a16:colId xmlns:a16="http://schemas.microsoft.com/office/drawing/2014/main" val="2254903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Scenario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Probability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Return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928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30%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30%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50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20%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10%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620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10%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0%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634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40%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-15%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2859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5565C81-E2AC-ED92-AFE3-D975E2473073}"/>
              </a:ext>
            </a:extLst>
          </p:cNvPr>
          <p:cNvSpPr txBox="1"/>
          <p:nvPr/>
        </p:nvSpPr>
        <p:spPr>
          <a:xfrm>
            <a:off x="2388393" y="4541097"/>
            <a:ext cx="7415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Helvetica" pitchFamily="2" charset="0"/>
              </a:rPr>
              <a:t>Expected Return = ∑(Probability of Outcome × Return of Outcome)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5856DF8-CA34-E7E1-8C41-17A48A7AC54F}"/>
                  </a:ext>
                </a:extLst>
              </p:cNvPr>
              <p:cNvSpPr txBox="1"/>
              <p:nvPr/>
            </p:nvSpPr>
            <p:spPr>
              <a:xfrm>
                <a:off x="899475" y="5053801"/>
                <a:ext cx="10393037" cy="5936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Expected</m:t>
                      </m:r>
                      <m:r>
                        <m:rPr>
                          <m:nor/>
                        </m:rPr>
                        <a:rPr lang="en-US" sz="2000" b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Return</m:t>
                      </m:r>
                      <m:r>
                        <m:rPr>
                          <m:nor/>
                        </m:rPr>
                        <a:rPr lang="en-US" sz="2000" b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(30% </m:t>
                      </m:r>
                      <m:r>
                        <a:rPr lang="en-US" sz="20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r>
                        <a:rPr lang="en-US" sz="20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𝟑𝟎</m:t>
                      </m:r>
                      <m:r>
                        <a:rPr lang="en-US" sz="20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%)+</m:t>
                      </m:r>
                      <m:d>
                        <m:dPr>
                          <m:ctrlPr>
                            <a:rPr lang="en-US" sz="2000" b="1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0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000" b="1" i="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000" b="1" i="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% × </m:t>
                          </m:r>
                          <m:r>
                            <a:rPr lang="en-US" sz="2000" b="1" i="0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US" sz="2000" b="1" i="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%</m:t>
                          </m:r>
                        </m:e>
                      </m:d>
                      <m:r>
                        <a:rPr lang="en-US" sz="20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1" i="1" dirty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0" dirty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US" sz="2000" b="1" i="0" dirty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% × </m:t>
                          </m:r>
                          <m:d>
                            <m:dPr>
                              <m:ctrlPr>
                                <a:rPr lang="en-US" sz="2000" b="1" i="1" dirty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0" dirty="0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2000" b="1" i="0" dirty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%</m:t>
                              </m:r>
                            </m:e>
                          </m:d>
                        </m:e>
                      </m:d>
                      <m:r>
                        <a:rPr lang="en-US" sz="2000" b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1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0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sz="2000" b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000" b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% × </m:t>
                          </m:r>
                          <m:d>
                            <m:dPr>
                              <m:ctrlPr>
                                <a:rPr lang="en-US" sz="20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0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 i="0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𝟏𝟓</m:t>
                              </m:r>
                              <m:r>
                                <a:rPr lang="en-US" sz="2000" b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%</m:t>
                              </m:r>
                            </m:e>
                          </m:d>
                        </m:e>
                      </m:d>
                      <m:r>
                        <a:rPr lang="en-US" sz="2000" b="1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sz="20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5856DF8-CA34-E7E1-8C41-17A48A7AC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475" y="5053801"/>
                <a:ext cx="10393037" cy="59362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B10C5CA-404A-127E-DFE3-113BB7CD447E}"/>
                  </a:ext>
                </a:extLst>
              </p:cNvPr>
              <p:cNvSpPr txBox="1"/>
              <p:nvPr/>
            </p:nvSpPr>
            <p:spPr>
              <a:xfrm>
                <a:off x="3764266" y="5647875"/>
                <a:ext cx="466345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b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Expected</m:t>
                      </m:r>
                      <m:r>
                        <m:rPr>
                          <m:nor/>
                        </m:rPr>
                        <a:rPr lang="en-US" sz="1800" b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 b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Return</m:t>
                      </m:r>
                      <m:r>
                        <m:rPr>
                          <m:nor/>
                        </m:rPr>
                        <a:rPr lang="en-US" sz="1800" b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</m:t>
                      </m:r>
                      <m:r>
                        <a:rPr lang="en-US" sz="1800" b="1" i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𝟗</m:t>
                      </m:r>
                      <m:r>
                        <a:rPr lang="en-US" sz="1800" b="1" i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 +</m:t>
                      </m:r>
                      <m:r>
                        <a:rPr lang="en-US" sz="1800" b="1" i="0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US" sz="1800" b="1" i="0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%+</m:t>
                      </m:r>
                      <m:r>
                        <a:rPr lang="en-US" sz="1800" b="1" i="0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sz="1800" b="1" i="0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%−</m:t>
                      </m:r>
                      <m:r>
                        <a:rPr lang="en-US" sz="1800" b="1" i="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</m:t>
                      </m:r>
                      <m:r>
                        <a:rPr lang="en-US" sz="1800" b="1" i="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 ;</m:t>
                      </m:r>
                    </m:oMath>
                  </m:oMathPara>
                </a14:m>
                <a:endParaRPr lang="en-US" sz="1800" b="1" dirty="0">
                  <a:solidFill>
                    <a:srgbClr val="FFC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B10C5CA-404A-127E-DFE3-113BB7CD4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4266" y="5647875"/>
                <a:ext cx="466345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2E223DD-E3C7-8E87-FE00-DEFE883C987A}"/>
                  </a:ext>
                </a:extLst>
              </p:cNvPr>
              <p:cNvSpPr txBox="1"/>
              <p:nvPr/>
            </p:nvSpPr>
            <p:spPr>
              <a:xfrm>
                <a:off x="3043232" y="6171095"/>
                <a:ext cx="61055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b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Expected</m:t>
                      </m:r>
                      <m:r>
                        <m:rPr>
                          <m:nor/>
                        </m:rPr>
                        <a:rPr lang="en-US" sz="1800" b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 b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Return</m:t>
                      </m:r>
                      <m:r>
                        <m:rPr>
                          <m:nor/>
                        </m:rPr>
                        <a:rPr lang="en-US" sz="1800" b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r>
                        <a:rPr lang="en-US" sz="1800" b="1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800" b="1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  <m:r>
                        <a:rPr lang="en-US" sz="1800" b="1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 </m:t>
                      </m:r>
                    </m:oMath>
                  </m:oMathPara>
                </a14:m>
                <a:endParaRPr lang="en-US" sz="18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2E223DD-E3C7-8E87-FE00-DEFE883C9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3232" y="6171095"/>
                <a:ext cx="610552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3280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C270E-0211-6DE2-579C-191C78A2D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CFEE9DA-18A3-A827-EBE0-65A874916DCD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92E627-34F8-1EA5-D6A1-4576E6646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Question-2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0604DB-CE7D-74DC-AB1F-B5822811840A}"/>
              </a:ext>
            </a:extLst>
          </p:cNvPr>
          <p:cNvSpPr txBox="1"/>
          <p:nvPr/>
        </p:nvSpPr>
        <p:spPr>
          <a:xfrm>
            <a:off x="214751" y="1446094"/>
            <a:ext cx="1176249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">
              <a:spcBef>
                <a:spcPts val="600"/>
              </a:spcBef>
              <a:spcAft>
                <a:spcPts val="600"/>
              </a:spcAft>
            </a:pPr>
            <a:r>
              <a:rPr lang="en-US" sz="2200" i="0" dirty="0">
                <a:effectLst/>
                <a:latin typeface="Helvetica" pitchFamily="2" charset="0"/>
                <a:cs typeface="Times New Roman" panose="02020603050405020304" pitchFamily="18" charset="0"/>
              </a:rPr>
              <a:t>An investment has a 30% chance of producing a 30% return, a 20% chance of producing an 15% return, a 10% chance of producing a 5% return, and a 40% chance of producing a -15% return</a:t>
            </a:r>
            <a:r>
              <a:rPr lang="en-US" sz="2200" dirty="0">
                <a:latin typeface="Helvetica" pitchFamily="2" charset="0"/>
                <a:cs typeface="Times New Roman" panose="02020603050405020304" pitchFamily="18" charset="0"/>
              </a:rPr>
              <a:t>. Calculate the risk of this investment?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CB525A2-903F-6DCB-A069-D1A2201B6C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357535"/>
              </p:ext>
            </p:extLst>
          </p:nvPr>
        </p:nvGraphicFramePr>
        <p:xfrm>
          <a:off x="6527478" y="2316903"/>
          <a:ext cx="5121156" cy="185420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1707052">
                  <a:extLst>
                    <a:ext uri="{9D8B030D-6E8A-4147-A177-3AD203B41FA5}">
                      <a16:colId xmlns:a16="http://schemas.microsoft.com/office/drawing/2014/main" val="746778023"/>
                    </a:ext>
                  </a:extLst>
                </a:gridCol>
                <a:gridCol w="1707052">
                  <a:extLst>
                    <a:ext uri="{9D8B030D-6E8A-4147-A177-3AD203B41FA5}">
                      <a16:colId xmlns:a16="http://schemas.microsoft.com/office/drawing/2014/main" val="602750575"/>
                    </a:ext>
                  </a:extLst>
                </a:gridCol>
                <a:gridCol w="1707052">
                  <a:extLst>
                    <a:ext uri="{9D8B030D-6E8A-4147-A177-3AD203B41FA5}">
                      <a16:colId xmlns:a16="http://schemas.microsoft.com/office/drawing/2014/main" val="2254903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Scenario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Probability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Return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928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30%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30%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50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20%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10%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620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10%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0%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634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40%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-15%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28596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loud 10">
                <a:extLst>
                  <a:ext uri="{FF2B5EF4-FFF2-40B4-BE49-F238E27FC236}">
                    <a16:creationId xmlns:a16="http://schemas.microsoft.com/office/drawing/2014/main" id="{1DC5EF3F-B1D2-D849-553A-2B73E1DB0999}"/>
                  </a:ext>
                </a:extLst>
              </p:cNvPr>
              <p:cNvSpPr/>
              <p:nvPr/>
            </p:nvSpPr>
            <p:spPr>
              <a:xfrm>
                <a:off x="1354872" y="2534852"/>
                <a:ext cx="4032485" cy="1376285"/>
              </a:xfrm>
              <a:prstGeom prst="cloud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𝛔</m:t>
                      </m:r>
                      <m:r>
                        <a:rPr lang="en-US" sz="20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1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0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𝐏</m:t>
                                      </m:r>
                                    </m:e>
                                    <m:sub>
                                      <m:r>
                                        <a:rPr lang="en-US" sz="2000" b="1" i="0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𝐢</m:t>
                                      </m:r>
                                    </m:sub>
                                  </m:sSub>
                                  <m:r>
                                    <a:rPr lang="en-US" sz="2000" b="1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n-US" sz="2000" b="1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2000" b="1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1" i="0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2000" b="1" i="0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𝐫</m:t>
                                          </m:r>
                                        </m:e>
                                        <m:sub>
                                          <m:r>
                                            <a:rPr lang="en-US" sz="2000" b="1" i="0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𝐢</m:t>
                                          </m:r>
                                        </m:sub>
                                      </m:sSub>
                                      <m:r>
                                        <a:rPr lang="en-US" sz="2000" b="1" i="0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000" b="1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000" b="1" i="0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𝐫</m:t>
                                          </m:r>
                                        </m:e>
                                      </m:acc>
                                      <m:r>
                                        <a:rPr lang="en-US" sz="2000" b="1" i="0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2000" b="1" i="0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e>
                      </m:rad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Cloud 10">
                <a:extLst>
                  <a:ext uri="{FF2B5EF4-FFF2-40B4-BE49-F238E27FC236}">
                    <a16:creationId xmlns:a16="http://schemas.microsoft.com/office/drawing/2014/main" id="{1DC5EF3F-B1D2-D849-553A-2B73E1DB09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872" y="2534852"/>
                <a:ext cx="4032485" cy="1376285"/>
              </a:xfrm>
              <a:prstGeom prst="cloud">
                <a:avLst/>
              </a:prstGeom>
              <a:blipFill>
                <a:blip r:embed="rId2"/>
                <a:stretch>
                  <a:fillRect t="-56757" b="-846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35023AF-96F9-0345-975B-0A59B072DB50}"/>
                  </a:ext>
                </a:extLst>
              </p:cNvPr>
              <p:cNvSpPr txBox="1"/>
              <p:nvPr/>
            </p:nvSpPr>
            <p:spPr>
              <a:xfrm>
                <a:off x="205828" y="4426505"/>
                <a:ext cx="10265503" cy="4223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19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900" b="1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900" b="1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900" b="1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  <m:sub>
                                <m:r>
                                  <a:rPr lang="en-US" sz="1900" b="1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sz="1900" b="1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p>
                              <m:sSupPr>
                                <m:ctrlPr>
                                  <a:rPr lang="en-US" sz="1900" b="1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1900" b="1" i="1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900" b="1" i="1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900" b="1" i="1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sz="1900" b="1" i="1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1900" b="1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sz="1900" b="1" i="1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900" b="1" i="1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</m:acc>
                                <m:r>
                                  <a:rPr lang="en-US" sz="1900" b="1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1900" b="1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d>
                        <m:r>
                          <a:rPr lang="en-US" sz="19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1900" b="1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30% </m:t>
                        </m:r>
                        <m:r>
                          <a:rPr lang="en-US" sz="19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900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900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900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𝟑𝟎</m:t>
                            </m:r>
                            <m:r>
                              <a:rPr lang="en-US" sz="1900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900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𝟓</m:t>
                            </m:r>
                            <m:r>
                              <a:rPr lang="en-US" sz="1900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1900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19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+</m:t>
                        </m:r>
                      </m:e>
                    </m:nary>
                  </m:oMath>
                </a14:m>
                <a:r>
                  <a:rPr lang="en-US" sz="1900" b="1" i="1" dirty="0">
                    <a:solidFill>
                      <a:schemeClr val="accent4">
                        <a:lumMod val="5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900" b="1" i="1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20% </m:t>
                    </m:r>
                    <m:r>
                      <a:rPr lang="en-US" sz="1900" b="1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9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900" b="1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19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  <m:r>
                          <a:rPr lang="en-US" sz="19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1900" b="1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𝟓</m:t>
                        </m:r>
                        <m:r>
                          <a:rPr lang="en-US" sz="19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900" b="1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19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19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900" b="1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sz="1900" b="1" i="1" dirty="0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0% </m:t>
                    </m:r>
                    <m:r>
                      <a:rPr lang="en-US" sz="1900" b="1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900" b="1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00" b="1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900" b="1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  <m:r>
                          <a:rPr lang="en-US" sz="1900" b="1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1900" b="1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𝟓</m:t>
                        </m:r>
                        <m:r>
                          <a:rPr lang="en-US" sz="1900" b="1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900" b="1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900" b="1" dirty="0">
                    <a:solidFill>
                      <a:schemeClr val="accent4">
                        <a:lumMod val="5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9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19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900" b="1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m:rPr>
                        <m:nor/>
                      </m:rPr>
                      <a:rPr lang="en-US" sz="1900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0% </m:t>
                    </m:r>
                    <m:r>
                      <a:rPr lang="en-US" sz="1900" b="1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900" b="1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00" b="1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9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19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𝟏𝟓</m:t>
                        </m:r>
                        <m:r>
                          <a:rPr lang="en-US" sz="1900" b="1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1900" b="1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𝟓</m:t>
                        </m:r>
                        <m:r>
                          <a:rPr lang="en-US" sz="1900" b="1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900" b="1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sz="1900" b="1" i="1" dirty="0">
                  <a:solidFill>
                    <a:schemeClr val="accent4">
                      <a:lumMod val="5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35023AF-96F9-0345-975B-0A59B072D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828" y="4426505"/>
                <a:ext cx="10265503" cy="422360"/>
              </a:xfrm>
              <a:prstGeom prst="rect">
                <a:avLst/>
              </a:prstGeom>
              <a:blipFill>
                <a:blip r:embed="rId3"/>
                <a:stretch>
                  <a:fillRect l="-3461" t="-94118" b="-15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37AF78E-E12E-37E9-F10D-5C4C6F74E0A8}"/>
                  </a:ext>
                </a:extLst>
              </p:cNvPr>
              <p:cNvSpPr txBox="1"/>
              <p:nvPr/>
            </p:nvSpPr>
            <p:spPr>
              <a:xfrm>
                <a:off x="1714638" y="4972170"/>
                <a:ext cx="7968656" cy="4397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b="1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1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  <m:sub>
                                <m:r>
                                  <a:rPr lang="en-US" sz="2000" b="1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sz="2000" b="1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p>
                              <m:sSupPr>
                                <m:ctrlPr>
                                  <a:rPr lang="en-US" sz="2000" b="1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2000" b="1" i="1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000" b="1" i="1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sz="2000" b="1" i="1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2000" b="1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sz="2000" b="1" i="1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1" i="1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</m:acc>
                                <m:r>
                                  <a:rPr lang="en-US" sz="2000" b="1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2000" b="1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d>
                        <m:r>
                          <a:rPr lang="en-US" sz="20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20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nor/>
                          </m:rPr>
                          <a:rPr lang="en-US" sz="2000" b="1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0% </m:t>
                        </m:r>
                        <m:r>
                          <a:rPr lang="en-US" sz="20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0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𝟔𝟐𝟓</m:t>
                        </m:r>
                        <m:r>
                          <a:rPr lang="en-US" sz="20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+</m:t>
                        </m:r>
                      </m:e>
                    </m:nary>
                  </m:oMath>
                </a14:m>
                <a:r>
                  <a:rPr lang="en-US" sz="2000" b="1" i="1" dirty="0">
                    <a:solidFill>
                      <a:schemeClr val="accent4">
                        <a:lumMod val="5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i="1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20% </m:t>
                    </m:r>
                    <m:r>
                      <a:rPr lang="en-US" sz="2000" b="1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000" b="1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𝟐𝟓</m:t>
                    </m:r>
                    <m:r>
                      <a:rPr lang="en-US" sz="20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0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1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sz="2000" b="1" i="1" dirty="0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0% </m:t>
                    </m:r>
                    <m:r>
                      <a:rPr lang="en-US" sz="2000" b="1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000" b="1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𝟐𝟓</m:t>
                    </m:r>
                    <m:r>
                      <a:rPr lang="en-US" sz="2000" b="1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</m:t>
                    </m:r>
                    <m:r>
                      <m:rPr>
                        <m:nor/>
                      </m:rPr>
                      <a:rPr lang="en-US" sz="2000" b="1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m:rPr>
                        <m:nor/>
                      </m:rPr>
                      <a:rPr lang="en-US" sz="2000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0% </m:t>
                    </m:r>
                    <m:r>
                      <a:rPr lang="en-US" sz="2000" b="1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000" b="1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𝟒𝟎𝟎</m:t>
                    </m:r>
                    <m:r>
                      <a:rPr lang="en-US" sz="2000" b="1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endParaRPr lang="en-US" sz="2000" b="1" i="1" dirty="0">
                  <a:solidFill>
                    <a:schemeClr val="accent4">
                      <a:lumMod val="5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37AF78E-E12E-37E9-F10D-5C4C6F74E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638" y="4972170"/>
                <a:ext cx="7968656" cy="439736"/>
              </a:xfrm>
              <a:prstGeom prst="rect">
                <a:avLst/>
              </a:prstGeom>
              <a:blipFill>
                <a:blip r:embed="rId4"/>
                <a:stretch>
                  <a:fillRect l="-4452" t="-97222" b="-15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6D29114-92E8-C871-9FD0-DFC8FBE827D1}"/>
                  </a:ext>
                </a:extLst>
              </p:cNvPr>
              <p:cNvSpPr txBox="1"/>
              <p:nvPr/>
            </p:nvSpPr>
            <p:spPr>
              <a:xfrm>
                <a:off x="2732599" y="5486198"/>
                <a:ext cx="6726797" cy="4397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000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b="1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1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0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𝐏</m:t>
                                </m:r>
                              </m:e>
                              <m:sub>
                                <m:r>
                                  <a:rPr lang="en-US" sz="2000" b="1" i="0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𝐢</m:t>
                                </m:r>
                              </m:sub>
                            </m:sSub>
                            <m:r>
                              <a:rPr lang="en-US" sz="2000" b="1" i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p>
                              <m:sSupPr>
                                <m:ctrlPr>
                                  <a:rPr lang="en-US" sz="2000" b="1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2000" b="1" i="1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0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000" b="1" i="0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𝐫</m:t>
                                    </m:r>
                                  </m:e>
                                  <m:sub>
                                    <m:r>
                                      <a:rPr lang="en-US" sz="2000" b="1" i="0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𝐢</m:t>
                                    </m:r>
                                  </m:sub>
                                </m:sSub>
                                <m:r>
                                  <a:rPr lang="en-US" sz="2000" b="1" i="0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sz="2000" b="1" i="1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1" i="0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𝐫</m:t>
                                    </m:r>
                                  </m:e>
                                </m:acc>
                                <m:r>
                                  <a:rPr lang="en-US" sz="2000" b="1" i="0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2000" b="1" i="0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d>
                        <m:r>
                          <a:rPr lang="en-US" sz="2000" b="1" i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𝟏𝟖𝟕</m:t>
                        </m:r>
                        <m:r>
                          <a:rPr lang="en-US" sz="2000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2000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𝟓</m:t>
                        </m:r>
                        <m:r>
                          <a:rPr lang="en-US" sz="2000" b="1" i="0" dirty="0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e>
                    </m:nary>
                  </m:oMath>
                </a14:m>
                <a:r>
                  <a:rPr lang="en-US" sz="2000" b="1" dirty="0">
                    <a:solidFill>
                      <a:schemeClr val="accent4">
                        <a:lumMod val="5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i="0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m:rPr>
                        <m:nor/>
                      </m:rPr>
                      <a:rPr lang="en-US" sz="2000" b="1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1" dirty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r>
                      <a:rPr lang="en-US" sz="2000" b="1" i="0" dirty="0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US" sz="2000" b="1" i="0" dirty="0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000" b="1" i="0" dirty="0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</m:t>
                    </m:r>
                    <m:r>
                      <a:rPr lang="en-US" sz="2000" b="1" i="0" dirty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</m:t>
                    </m:r>
                    <m:r>
                      <a:rPr lang="en-US" sz="2000" b="1" i="0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𝟏𝟔𝟎</m:t>
                    </m:r>
                    <m:r>
                      <a:rPr lang="en-US" sz="2000" b="1" i="0" dirty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1" i="0" dirty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𝟑𝟓𝟓</m:t>
                    </m:r>
                  </m:oMath>
                </a14:m>
                <a:endParaRPr lang="en-US" sz="2000" b="1" dirty="0">
                  <a:solidFill>
                    <a:schemeClr val="accent4">
                      <a:lumMod val="5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6D29114-92E8-C871-9FD0-DFC8FBE827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2599" y="5486198"/>
                <a:ext cx="6726797" cy="439736"/>
              </a:xfrm>
              <a:prstGeom prst="rect">
                <a:avLst/>
              </a:prstGeom>
              <a:blipFill>
                <a:blip r:embed="rId5"/>
                <a:stretch>
                  <a:fillRect l="-5472" t="-102857" b="-16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606A0FC-E2E9-3B70-FE32-A5A671610DC2}"/>
                  </a:ext>
                </a:extLst>
              </p:cNvPr>
              <p:cNvSpPr txBox="1"/>
              <p:nvPr/>
            </p:nvSpPr>
            <p:spPr>
              <a:xfrm>
                <a:off x="4554645" y="6188186"/>
                <a:ext cx="2942729" cy="5145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𝛔</m:t>
                      </m:r>
                      <m:r>
                        <a:rPr lang="en-US" sz="2200" b="1" i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2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1" dirty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𝟑𝟓𝟓</m:t>
                          </m:r>
                        </m:e>
                      </m:rad>
                      <m:r>
                        <a:rPr lang="en-US" sz="22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2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𝟏𝟖</m:t>
                      </m:r>
                      <m:r>
                        <a:rPr lang="en-US" sz="22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2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𝟖𝟒</m:t>
                      </m:r>
                      <m:r>
                        <a:rPr lang="en-US" sz="22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sz="22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606A0FC-E2E9-3B70-FE32-A5A671610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4645" y="6188186"/>
                <a:ext cx="2942729" cy="5145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9A7C2AF-DD6B-E97B-46F1-2F0C59B341CB}"/>
                  </a:ext>
                </a:extLst>
              </p:cNvPr>
              <p:cNvSpPr txBox="1"/>
              <p:nvPr/>
            </p:nvSpPr>
            <p:spPr>
              <a:xfrm>
                <a:off x="1714638" y="3917742"/>
                <a:ext cx="323964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1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1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</m:e>
                    </m:acc>
                  </m:oMath>
                </a14:m>
                <a:r>
                  <a:rPr lang="en-US" sz="2000" b="1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Expected</m:t>
                    </m:r>
                    <m:r>
                      <m:rPr>
                        <m:nor/>
                      </m:rPr>
                      <a:rPr lang="en-US" sz="2000" b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Return</m:t>
                    </m:r>
                    <m:r>
                      <m:rPr>
                        <m:nor/>
                      </m:rPr>
                      <a:rPr lang="en-US" sz="2000" b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1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 5%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9A7C2AF-DD6B-E97B-46F1-2F0C59B34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638" y="3917742"/>
                <a:ext cx="3239649" cy="400110"/>
              </a:xfrm>
              <a:prstGeom prst="rect">
                <a:avLst/>
              </a:prstGeom>
              <a:blipFill>
                <a:blip r:embed="rId7"/>
                <a:stretch>
                  <a:fillRect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4352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/>
      <p:bldP spid="15" grpId="0"/>
      <p:bldP spid="16" grpId="0"/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CCC4A-4935-120B-B4CE-2293C9C93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967D26-86F9-A2F4-1567-BE62B906B448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73F539-3CA7-C780-8532-EAA42FAA9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Question-3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6BCD70-3036-038A-74F3-34AC761D24C8}"/>
              </a:ext>
            </a:extLst>
          </p:cNvPr>
          <p:cNvSpPr txBox="1"/>
          <p:nvPr/>
        </p:nvSpPr>
        <p:spPr>
          <a:xfrm>
            <a:off x="214751" y="1446094"/>
            <a:ext cx="117624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125"/>
              </a:spcAft>
            </a:pPr>
            <a:r>
              <a:rPr lang="en-US" sz="2000" dirty="0">
                <a:effectLst/>
                <a:latin typeface="Helvetica" pitchFamily="2" charset="0"/>
              </a:rPr>
              <a:t>Historical returns for Stock A over the past 5 years is listed here. </a:t>
            </a:r>
            <a:r>
              <a:rPr lang="en-US" sz="2000" b="0" i="0" dirty="0">
                <a:effectLst/>
                <a:latin typeface="Helvetica" pitchFamily="2" charset="0"/>
              </a:rPr>
              <a:t>What are the </a:t>
            </a:r>
            <a:r>
              <a:rPr lang="en-US" sz="2000" b="1" i="0" dirty="0">
                <a:effectLst/>
                <a:latin typeface="Helvetica" pitchFamily="2" charset="0"/>
              </a:rPr>
              <a:t>coefficient of variation </a:t>
            </a:r>
            <a:r>
              <a:rPr lang="en-US" sz="2000" b="0" i="0" dirty="0">
                <a:effectLst/>
                <a:latin typeface="Helvetica" pitchFamily="2" charset="0"/>
              </a:rPr>
              <a:t>for Stock A ?</a:t>
            </a:r>
            <a:r>
              <a:rPr lang="en-US" sz="2000" dirty="0">
                <a:effectLst/>
                <a:latin typeface="Helvetica" pitchFamily="2" charset="0"/>
              </a:rPr>
              <a:t>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EDB0A60-B7E9-270C-B441-7911E8C32D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01035"/>
              </p:ext>
            </p:extLst>
          </p:nvPr>
        </p:nvGraphicFramePr>
        <p:xfrm>
          <a:off x="418844" y="2216692"/>
          <a:ext cx="3414104" cy="222504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1707052">
                  <a:extLst>
                    <a:ext uri="{9D8B030D-6E8A-4147-A177-3AD203B41FA5}">
                      <a16:colId xmlns:a16="http://schemas.microsoft.com/office/drawing/2014/main" val="746778023"/>
                    </a:ext>
                  </a:extLst>
                </a:gridCol>
                <a:gridCol w="1707052">
                  <a:extLst>
                    <a:ext uri="{9D8B030D-6E8A-4147-A177-3AD203B41FA5}">
                      <a16:colId xmlns:a16="http://schemas.microsoft.com/office/drawing/2014/main" val="2254903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Return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928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50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620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634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285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79082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loud 10">
                <a:extLst>
                  <a:ext uri="{FF2B5EF4-FFF2-40B4-BE49-F238E27FC236}">
                    <a16:creationId xmlns:a16="http://schemas.microsoft.com/office/drawing/2014/main" id="{A324CF55-3360-E542-27EF-71148F0187BF}"/>
                  </a:ext>
                </a:extLst>
              </p:cNvPr>
              <p:cNvSpPr/>
              <p:nvPr/>
            </p:nvSpPr>
            <p:spPr>
              <a:xfrm>
                <a:off x="4167748" y="1852281"/>
                <a:ext cx="7428410" cy="1376285"/>
              </a:xfrm>
              <a:prstGeom prst="cloud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1" dirty="0" smtClean="0">
                          <a:solidFill>
                            <a:srgbClr val="C00000"/>
                          </a:solidFill>
                        </a:rPr>
                        <m:t>Coefficient</m:t>
                      </m:r>
                      <m:r>
                        <m:rPr>
                          <m:nor/>
                        </m:rPr>
                        <a:rPr lang="en-US" sz="2400" b="1" dirty="0" smtClean="0">
                          <a:solidFill>
                            <a:srgbClr val="C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1" dirty="0" smtClean="0">
                          <a:solidFill>
                            <a:srgbClr val="C00000"/>
                          </a:solidFill>
                        </a:rPr>
                        <m:t>of</m:t>
                      </m:r>
                      <m:r>
                        <m:rPr>
                          <m:nor/>
                        </m:rPr>
                        <a:rPr lang="en-US" sz="2400" b="1" dirty="0" smtClean="0">
                          <a:solidFill>
                            <a:srgbClr val="C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1" dirty="0" smtClean="0">
                          <a:solidFill>
                            <a:srgbClr val="C00000"/>
                          </a:solidFill>
                        </a:rPr>
                        <m:t>Variation</m:t>
                      </m:r>
                      <m:r>
                        <m:rPr>
                          <m:nor/>
                        </m:rPr>
                        <a:rPr lang="en-US" sz="2400" b="1" dirty="0" smtClean="0">
                          <a:solidFill>
                            <a:srgbClr val="C00000"/>
                          </a:solidFill>
                        </a:rPr>
                        <m:t> (</m:t>
                      </m:r>
                      <m:r>
                        <m:rPr>
                          <m:nor/>
                        </m:rPr>
                        <a:rPr lang="en-US" sz="2400" b="1" dirty="0" smtClean="0">
                          <a:solidFill>
                            <a:srgbClr val="C00000"/>
                          </a:solidFill>
                        </a:rPr>
                        <m:t>CV</m:t>
                      </m:r>
                      <m:r>
                        <m:rPr>
                          <m:nor/>
                        </m:rPr>
                        <a:rPr lang="en-US" sz="2400" b="1" dirty="0" smtClean="0">
                          <a:solidFill>
                            <a:srgbClr val="C00000"/>
                          </a:solidFill>
                        </a:rPr>
                        <m:t>)  </m:t>
                      </m:r>
                      <m:r>
                        <a:rPr lang="en-US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num>
                        <m:den>
                          <m:acc>
                            <m:accPr>
                              <m:chr m:val="̂"/>
                              <m:ctrlPr>
                                <a:rPr lang="en-US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den>
                      </m:f>
                    </m:oMath>
                  </m:oMathPara>
                </a14:m>
                <a:endParaRPr 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Cloud 10">
                <a:extLst>
                  <a:ext uri="{FF2B5EF4-FFF2-40B4-BE49-F238E27FC236}">
                    <a16:creationId xmlns:a16="http://schemas.microsoft.com/office/drawing/2014/main" id="{A324CF55-3360-E542-27EF-71148F0187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7748" y="1852281"/>
                <a:ext cx="7428410" cy="1376285"/>
              </a:xfrm>
              <a:prstGeom prst="cloud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A2F540A-537E-81E1-1AD0-AE4C3FA95F4D}"/>
                  </a:ext>
                </a:extLst>
              </p:cNvPr>
              <p:cNvSpPr txBox="1"/>
              <p:nvPr/>
            </p:nvSpPr>
            <p:spPr>
              <a:xfrm>
                <a:off x="4457700" y="3484131"/>
                <a:ext cx="4433458" cy="5863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</m:e>
                    </m:acc>
                    <m:r>
                      <a:rPr lang="en-US" sz="2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𝟐𝟓</m:t>
                        </m:r>
                        <m: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%+</m:t>
                        </m:r>
                        <m: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𝟏𝟓</m:t>
                        </m:r>
                        <m: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%+</m:t>
                        </m:r>
                        <m: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𝟏𝟎</m:t>
                        </m:r>
                        <m: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%+</m:t>
                        </m:r>
                        <m: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𝟐𝟎</m:t>
                        </m:r>
                        <m: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%+</m:t>
                        </m:r>
                        <m: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𝟑𝟎</m:t>
                        </m:r>
                        <m: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%</m:t>
                        </m:r>
                      </m:num>
                      <m:den>
                        <m: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𝟓</m:t>
                        </m:r>
                      </m:den>
                    </m:f>
                    <m:r>
                      <a:rPr lang="en-US" sz="2200" b="0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=20%</m:t>
                    </m:r>
                  </m:oMath>
                </a14:m>
                <a:r>
                  <a:rPr lang="en-US" sz="2200" dirty="0"/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A2F540A-537E-81E1-1AD0-AE4C3FA95F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700" y="3484131"/>
                <a:ext cx="4433458" cy="586379"/>
              </a:xfrm>
              <a:prstGeom prst="rect">
                <a:avLst/>
              </a:prstGeom>
              <a:blipFill>
                <a:blip r:embed="rId3"/>
                <a:stretch>
                  <a:fillRect b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E2A7EC6-1035-3416-DC29-4053EF47E012}"/>
                  </a:ext>
                </a:extLst>
              </p:cNvPr>
              <p:cNvSpPr txBox="1"/>
              <p:nvPr/>
            </p:nvSpPr>
            <p:spPr>
              <a:xfrm>
                <a:off x="9177776" y="3321972"/>
                <a:ext cx="2004574" cy="910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𝝈</m:t>
                      </m:r>
                      <m:r>
                        <a:rPr lang="en-US" sz="18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8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8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8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US" sz="1800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800" b="1" i="1">
                                          <a:solidFill>
                                            <a:schemeClr val="accent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1800" b="1" i="1">
                                              <a:solidFill>
                                                <a:schemeClr val="accent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1" i="1">
                                              <a:solidFill>
                                                <a:schemeClr val="accent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1800" b="1" i="1">
                                              <a:solidFill>
                                                <a:schemeClr val="accent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𝒓</m:t>
                                          </m:r>
                                        </m:e>
                                        <m:sub>
                                          <m:r>
                                            <a:rPr lang="en-US" sz="1800" b="1" i="1">
                                              <a:solidFill>
                                                <a:schemeClr val="accent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en-US" sz="1800" b="1" i="1">
                                          <a:solidFill>
                                            <a:schemeClr val="accent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800" b="1" i="1">
                                              <a:solidFill>
                                                <a:schemeClr val="accent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800" b="1" i="1">
                                              <a:solidFill>
                                                <a:schemeClr val="accent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𝒓</m:t>
                                          </m:r>
                                        </m:e>
                                      </m:acc>
                                      <m:r>
                                        <a:rPr lang="en-US" sz="1800" b="1" i="1">
                                          <a:solidFill>
                                            <a:schemeClr val="accent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1800" b="1" i="1">
                                          <a:solidFill>
                                            <a:schemeClr val="accent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1800" b="1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</m:den>
                              </m:f>
                            </m:e>
                          </m:nary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E2A7EC6-1035-3416-DC29-4053EF47E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7776" y="3321972"/>
                <a:ext cx="2004574" cy="910699"/>
              </a:xfrm>
              <a:prstGeom prst="rect">
                <a:avLst/>
              </a:prstGeom>
              <a:blipFill>
                <a:blip r:embed="rId4"/>
                <a:stretch>
                  <a:fillRect l="-6918" t="-91781" b="-136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1343894-61B8-7B07-FBC9-1F091D17EEDE}"/>
                  </a:ext>
                </a:extLst>
              </p:cNvPr>
              <p:cNvSpPr txBox="1"/>
              <p:nvPr/>
            </p:nvSpPr>
            <p:spPr>
              <a:xfrm>
                <a:off x="370389" y="4650220"/>
                <a:ext cx="9043373" cy="4070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lang="en-US" sz="2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sz="2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</m:acc>
                            <m: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𝟐𝟓</m:t>
                            </m:r>
                            <m: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𝟐𝟎</m:t>
                            </m:r>
                            <m: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+</m:t>
                        </m:r>
                      </m:e>
                    </m:nary>
                  </m:oMath>
                </a14:m>
                <a:r>
                  <a:rPr lang="en-US" sz="2000" b="1" i="1" dirty="0">
                    <a:solidFill>
                      <a:schemeClr val="tx1"/>
                    </a:solidFill>
                    <a:latin typeface="Helvetica" pitchFamily="2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𝟏𝟓</m:t>
                        </m:r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𝟐𝟎</m:t>
                        </m:r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000" b="1" i="1">
                        <a:solidFill>
                          <a:schemeClr val="tx1"/>
                        </a:solidFill>
                        <a:latin typeface="Helvetica" pitchFamily="2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𝟏𝟎</m:t>
                        </m:r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𝟐𝟎</m:t>
                        </m:r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000" b="1" i="1">
                        <a:solidFill>
                          <a:schemeClr val="tx1"/>
                        </a:solidFill>
                        <a:latin typeface="Helvetica" pitchFamily="2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𝟐𝟎</m:t>
                        </m:r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000" b="1" dirty="0">
                    <a:solidFill>
                      <a:schemeClr val="tx1"/>
                    </a:solidFill>
                    <a:latin typeface="Helvetica" pitchFamily="2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000" b="1" i="1">
                        <a:solidFill>
                          <a:schemeClr val="tx1"/>
                        </a:solidFill>
                        <a:latin typeface="Helvetica" pitchFamily="2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𝟑𝟎</m:t>
                        </m:r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sz="2000" b="1" i="1" dirty="0">
                  <a:solidFill>
                    <a:schemeClr val="tx1"/>
                  </a:solidFill>
                  <a:latin typeface="Helvetica" pitchFamily="2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1343894-61B8-7B07-FBC9-1F091D17EE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89" y="4650220"/>
                <a:ext cx="9043373" cy="407099"/>
              </a:xfrm>
              <a:prstGeom prst="rect">
                <a:avLst/>
              </a:prstGeom>
              <a:blipFill>
                <a:blip r:embed="rId5"/>
                <a:stretch>
                  <a:fillRect l="-4067" t="-115152" b="-17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2268E8C-344E-AD11-A2DB-211F15DDEB36}"/>
                  </a:ext>
                </a:extLst>
              </p:cNvPr>
              <p:cNvSpPr txBox="1"/>
              <p:nvPr/>
            </p:nvSpPr>
            <p:spPr>
              <a:xfrm>
                <a:off x="370389" y="5146222"/>
                <a:ext cx="5353260" cy="4070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lang="en-US" sz="2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sz="2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</m:acc>
                            <m: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𝟐𝟓</m:t>
                        </m:r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e>
                    </m:nary>
                  </m:oMath>
                </a14:m>
                <a:r>
                  <a:rPr lang="en-US" sz="2000" b="1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𝟐𝟓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𝟏𝟎𝟎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𝟏𝟎𝟎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𝟐𝟓𝟎</m:t>
                    </m:r>
                  </m:oMath>
                </a14:m>
                <a:endParaRPr lang="en-US" sz="2000" b="1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2268E8C-344E-AD11-A2DB-211F15DDE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89" y="5146222"/>
                <a:ext cx="5353260" cy="407099"/>
              </a:xfrm>
              <a:prstGeom prst="rect">
                <a:avLst/>
              </a:prstGeom>
              <a:blipFill>
                <a:blip r:embed="rId6"/>
                <a:stretch>
                  <a:fillRect l="-6872" t="-115152" b="-17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6161615-415A-1444-8E6D-047BF6362BCE}"/>
                  </a:ext>
                </a:extLst>
              </p:cNvPr>
              <p:cNvSpPr txBox="1"/>
              <p:nvPr/>
            </p:nvSpPr>
            <p:spPr>
              <a:xfrm>
                <a:off x="370389" y="5517444"/>
                <a:ext cx="2511906" cy="10016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𝝈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𝟐𝟓𝟎</m:t>
                              </m:r>
                            </m:num>
                            <m:den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</m:den>
                          </m:f>
                        </m:e>
                      </m:rad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𝟕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𝟎𝟕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6161615-415A-1444-8E6D-047BF6362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89" y="5517444"/>
                <a:ext cx="2511906" cy="100168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A5D4A6A-DD47-B668-60D7-9E4746957690}"/>
                  </a:ext>
                </a:extLst>
              </p:cNvPr>
              <p:cNvSpPr txBox="1"/>
              <p:nvPr/>
            </p:nvSpPr>
            <p:spPr>
              <a:xfrm>
                <a:off x="4387378" y="5749815"/>
                <a:ext cx="7354899" cy="5369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dirty="0" smtClean="0">
                        <a:solidFill>
                          <a:srgbClr val="C00000"/>
                        </a:solidFill>
                      </a:rPr>
                      <m:t>Coefficient</m:t>
                    </m:r>
                    <m:r>
                      <m:rPr>
                        <m:nor/>
                      </m:rPr>
                      <a:rPr lang="en-US" sz="2000" b="1" dirty="0" smtClean="0">
                        <a:solidFill>
                          <a:srgbClr val="C0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 b="1" dirty="0" smtClean="0">
                        <a:solidFill>
                          <a:srgbClr val="C00000"/>
                        </a:solidFill>
                      </a:rPr>
                      <m:t>of</m:t>
                    </m:r>
                    <m:r>
                      <m:rPr>
                        <m:nor/>
                      </m:rPr>
                      <a:rPr lang="en-US" sz="2000" b="1" dirty="0" smtClean="0">
                        <a:solidFill>
                          <a:srgbClr val="C0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 b="1" dirty="0" smtClean="0">
                        <a:solidFill>
                          <a:srgbClr val="C00000"/>
                        </a:solidFill>
                      </a:rPr>
                      <m:t>Variation</m:t>
                    </m:r>
                    <m:r>
                      <m:rPr>
                        <m:nor/>
                      </m:rPr>
                      <a:rPr lang="en-US" sz="2000" b="1" dirty="0" smtClean="0">
                        <a:solidFill>
                          <a:srgbClr val="C00000"/>
                        </a:solidFill>
                      </a:rPr>
                      <m:t> (</m:t>
                    </m:r>
                    <m:r>
                      <m:rPr>
                        <m:nor/>
                      </m:rPr>
                      <a:rPr lang="en-US" sz="2000" b="1" dirty="0" smtClean="0">
                        <a:solidFill>
                          <a:srgbClr val="C00000"/>
                        </a:solidFill>
                      </a:rPr>
                      <m:t>CV</m:t>
                    </m:r>
                    <m:r>
                      <m:rPr>
                        <m:nor/>
                      </m:rPr>
                      <a:rPr lang="en-US" sz="2000" b="1" dirty="0" smtClean="0">
                        <a:solidFill>
                          <a:srgbClr val="C00000"/>
                        </a:solidFill>
                      </a:rPr>
                      <m:t>) </m:t>
                    </m:r>
                    <m:r>
                      <a:rPr lang="en-US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</m:num>
                      <m:den>
                        <m:acc>
                          <m:accPr>
                            <m:chr m:val="̂"/>
                            <m:ctrlPr>
                              <a:rPr lang="en-US" sz="20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𝒓</m:t>
                            </m:r>
                          </m:e>
                        </m:acc>
                      </m:den>
                    </m:f>
                    <m:r>
                      <a:rPr lang="en-US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𝟕</m:t>
                        </m:r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𝟎𝟕</m:t>
                        </m:r>
                      </m:num>
                      <m:den>
                        <m: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𝟐𝟎</m:t>
                        </m:r>
                      </m:den>
                    </m:f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𝟑𝟓𝟑𝟔</m:t>
                    </m:r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𝒐𝒓</m:t>
                    </m:r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𝟑𝟓</m:t>
                    </m:r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𝟑𝟔</m:t>
                    </m:r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000" b="1" dirty="0">
                    <a:solidFill>
                      <a:srgbClr val="C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A5D4A6A-DD47-B668-60D7-9E4746957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378" y="5749815"/>
                <a:ext cx="7354899" cy="536942"/>
              </a:xfrm>
              <a:prstGeom prst="rect">
                <a:avLst/>
              </a:prstGeom>
              <a:blipFill>
                <a:blip r:embed="rId8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7527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/>
      <p:bldP spid="16" grpId="0"/>
      <p:bldP spid="17" grpId="0"/>
      <p:bldP spid="18" grpId="0"/>
      <p:bldP spid="19" grpId="0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34C6E-D4D3-B5EA-5149-EFD01BDF0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E79EC7D-55AD-DD47-B907-64A0E0EB9262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9A7685-65AF-2CC8-71AB-2B0B8260B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Question-4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01C186-0210-9479-92AF-04D794D8E488}"/>
              </a:ext>
            </a:extLst>
          </p:cNvPr>
          <p:cNvSpPr txBox="1"/>
          <p:nvPr/>
        </p:nvSpPr>
        <p:spPr>
          <a:xfrm>
            <a:off x="214751" y="1446094"/>
            <a:ext cx="117624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125"/>
              </a:spcAft>
            </a:pPr>
            <a:r>
              <a:rPr lang="en-US" sz="2000" dirty="0">
                <a:effectLst/>
                <a:latin typeface="Helvetica" pitchFamily="2" charset="0"/>
              </a:rPr>
              <a:t>Historical returns for Stock A over the </a:t>
            </a:r>
            <a:r>
              <a:rPr lang="en-US" sz="2200" dirty="0">
                <a:effectLst/>
                <a:latin typeface="Helvetica" pitchFamily="2" charset="0"/>
              </a:rPr>
              <a:t>past</a:t>
            </a:r>
            <a:r>
              <a:rPr lang="en-US" sz="2000" dirty="0">
                <a:effectLst/>
                <a:latin typeface="Helvetica" pitchFamily="2" charset="0"/>
              </a:rPr>
              <a:t> 5 years is listed here. </a:t>
            </a:r>
            <a:r>
              <a:rPr lang="en-US" sz="2000" b="0" i="0" dirty="0">
                <a:effectLst/>
                <a:latin typeface="Helvetica" pitchFamily="2" charset="0"/>
              </a:rPr>
              <a:t>What are the </a:t>
            </a:r>
            <a:r>
              <a:rPr lang="en-US" sz="2000" b="1" i="0" dirty="0">
                <a:effectLst/>
                <a:latin typeface="Helvetica" pitchFamily="2" charset="0"/>
              </a:rPr>
              <a:t>Sharpe ratio </a:t>
            </a:r>
            <a:r>
              <a:rPr lang="en-US" sz="2000" b="0" i="0" dirty="0">
                <a:effectLst/>
                <a:latin typeface="Helvetica" pitchFamily="2" charset="0"/>
              </a:rPr>
              <a:t>for Stock A ?</a:t>
            </a:r>
            <a:r>
              <a:rPr lang="en-US" sz="2000" dirty="0">
                <a:effectLst/>
                <a:latin typeface="Helvetica" pitchFamily="2" charset="0"/>
              </a:rPr>
              <a:t> (The risk-free rate is 3%)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73237F3-1C9F-8291-70FE-A49A95747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713158"/>
              </p:ext>
            </p:extLst>
          </p:nvPr>
        </p:nvGraphicFramePr>
        <p:xfrm>
          <a:off x="418844" y="2235742"/>
          <a:ext cx="3414104" cy="222504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1707052">
                  <a:extLst>
                    <a:ext uri="{9D8B030D-6E8A-4147-A177-3AD203B41FA5}">
                      <a16:colId xmlns:a16="http://schemas.microsoft.com/office/drawing/2014/main" val="746778023"/>
                    </a:ext>
                  </a:extLst>
                </a:gridCol>
                <a:gridCol w="1707052">
                  <a:extLst>
                    <a:ext uri="{9D8B030D-6E8A-4147-A177-3AD203B41FA5}">
                      <a16:colId xmlns:a16="http://schemas.microsoft.com/office/drawing/2014/main" val="2254903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Return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928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50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620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634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285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30%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79082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loud 10">
                <a:extLst>
                  <a:ext uri="{FF2B5EF4-FFF2-40B4-BE49-F238E27FC236}">
                    <a16:creationId xmlns:a16="http://schemas.microsoft.com/office/drawing/2014/main" id="{AB7FB60F-7E76-DAB5-A7D8-54C4C50A78F3}"/>
                  </a:ext>
                </a:extLst>
              </p:cNvPr>
              <p:cNvSpPr/>
              <p:nvPr/>
            </p:nvSpPr>
            <p:spPr>
              <a:xfrm>
                <a:off x="5153025" y="2390398"/>
                <a:ext cx="5190684" cy="1376285"/>
              </a:xfrm>
              <a:prstGeom prst="cloud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1" dirty="0" smtClean="0">
                          <a:solidFill>
                            <a:srgbClr val="C00000"/>
                          </a:solidFill>
                        </a:rPr>
                        <m:t>Sharpe</m:t>
                      </m:r>
                      <m:r>
                        <m:rPr>
                          <m:nor/>
                        </m:rPr>
                        <a:rPr lang="en-US" sz="2400" b="1" dirty="0" smtClean="0">
                          <a:solidFill>
                            <a:srgbClr val="C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1" dirty="0" smtClean="0">
                          <a:solidFill>
                            <a:srgbClr val="C00000"/>
                          </a:solidFill>
                        </a:rPr>
                        <m:t>Ratio</m:t>
                      </m:r>
                      <m:r>
                        <a:rPr lang="en-US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en-US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𝒇</m:t>
                              </m:r>
                            </m:sub>
                          </m:sSub>
                        </m:num>
                        <m:den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den>
                      </m:f>
                    </m:oMath>
                  </m:oMathPara>
                </a14:m>
                <a:endParaRPr 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Cloud 10">
                <a:extLst>
                  <a:ext uri="{FF2B5EF4-FFF2-40B4-BE49-F238E27FC236}">
                    <a16:creationId xmlns:a16="http://schemas.microsoft.com/office/drawing/2014/main" id="{AB7FB60F-7E76-DAB5-A7D8-54C4C50A78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3025" y="2390398"/>
                <a:ext cx="5190684" cy="1376285"/>
              </a:xfrm>
              <a:prstGeom prst="cloud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3CD8F81-935D-2003-A4A2-B03282894872}"/>
                  </a:ext>
                </a:extLst>
              </p:cNvPr>
              <p:cNvSpPr txBox="1"/>
              <p:nvPr/>
            </p:nvSpPr>
            <p:spPr>
              <a:xfrm>
                <a:off x="418844" y="4686398"/>
                <a:ext cx="4433458" cy="5863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</m:e>
                    </m:acc>
                    <m:r>
                      <a:rPr lang="en-US" sz="2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𝟐𝟓</m:t>
                        </m:r>
                        <m: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%+</m:t>
                        </m:r>
                        <m: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𝟏𝟓</m:t>
                        </m:r>
                        <m: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%+</m:t>
                        </m:r>
                        <m: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𝟏𝟎</m:t>
                        </m:r>
                        <m: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%+</m:t>
                        </m:r>
                        <m: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𝟐𝟎</m:t>
                        </m:r>
                        <m: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%+</m:t>
                        </m:r>
                        <m: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𝟑𝟎</m:t>
                        </m:r>
                        <m: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%</m:t>
                        </m:r>
                      </m:num>
                      <m:den>
                        <m:r>
                          <a:rPr lang="en-US" sz="2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𝟓</m:t>
                        </m:r>
                      </m:den>
                    </m:f>
                    <m:r>
                      <a:rPr lang="en-US" sz="2200" b="1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200" b="1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𝟐𝟎</m:t>
                    </m:r>
                    <m:r>
                      <a:rPr lang="en-US" sz="2200" b="1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200" b="1" dirty="0"/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3CD8F81-935D-2003-A4A2-B03282894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44" y="4686398"/>
                <a:ext cx="4433458" cy="586379"/>
              </a:xfrm>
              <a:prstGeom prst="rect">
                <a:avLst/>
              </a:prstGeom>
              <a:blipFill>
                <a:blip r:embed="rId3"/>
                <a:stretch>
                  <a:fillRect r="-1143"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605D1C5-DFEF-C988-0D30-81640A396064}"/>
                  </a:ext>
                </a:extLst>
              </p:cNvPr>
              <p:cNvSpPr txBox="1"/>
              <p:nvPr/>
            </p:nvSpPr>
            <p:spPr>
              <a:xfrm>
                <a:off x="418844" y="5608254"/>
                <a:ext cx="3972181" cy="7186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  <m:r>
                      <a:rPr lang="en-US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ctrlPr>
                                  <a:rPr lang="en-US" sz="20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2000" b="1" i="1">
                                        <a:solidFill>
                                          <a:schemeClr val="accent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sz="2000" b="1" i="1">
                                            <a:solidFill>
                                              <a:schemeClr val="accent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1" i="1">
                                            <a:solidFill>
                                              <a:schemeClr val="accent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000" b="1" i="1">
                                            <a:solidFill>
                                              <a:schemeClr val="accent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𝒓</m:t>
                                        </m:r>
                                      </m:e>
                                      <m:sub>
                                        <m:r>
                                          <a:rPr lang="en-US" sz="2000" b="1" i="1">
                                            <a:solidFill>
                                              <a:schemeClr val="accent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  <m:r>
                                      <a:rPr lang="en-US" sz="2000" b="1" i="1">
                                        <a:solidFill>
                                          <a:schemeClr val="accent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sz="2000" b="1" i="1">
                                            <a:solidFill>
                                              <a:schemeClr val="accent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b="1" i="1">
                                            <a:solidFill>
                                              <a:schemeClr val="accent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𝒓</m:t>
                                        </m:r>
                                      </m:e>
                                    </m:acc>
                                    <m:r>
                                      <a:rPr lang="en-US" sz="2000" b="1" i="1">
                                        <a:solidFill>
                                          <a:schemeClr val="accent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sz="2000" b="1" i="1">
                                        <a:solidFill>
                                          <a:schemeClr val="accent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sz="20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</m:den>
                            </m:f>
                          </m:e>
                        </m:nary>
                      </m:e>
                    </m:rad>
                  </m:oMath>
                </a14:m>
                <a:r>
                  <a:rPr lang="en-US" sz="2000" b="1" i="1" dirty="0">
                    <a:solidFill>
                      <a:schemeClr val="accent2">
                        <a:lumMod val="5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</m:t>
                    </m:r>
                    <m:rad>
                      <m:radPr>
                        <m:degHide m:val="on"/>
                        <m:ctrlPr>
                          <a:rPr lang="en-US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𝟐𝟓𝟎</m:t>
                            </m:r>
                          </m:num>
                          <m:den>
                            <m:r>
                              <a:rPr lang="en-US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𝟓</m:t>
                            </m:r>
                          </m:den>
                        </m:f>
                      </m:e>
                    </m:rad>
                    <m:r>
                      <a:rPr lang="en-US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𝟕</m:t>
                    </m:r>
                    <m:r>
                      <a:rPr lang="en-US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𝟎𝟕</m:t>
                    </m:r>
                    <m:r>
                      <a:rPr lang="en-US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endParaRPr lang="en-US" sz="2000" b="1" i="1" dirty="0">
                  <a:solidFill>
                    <a:schemeClr val="accent2">
                      <a:lumMod val="5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605D1C5-DFEF-C988-0D30-81640A396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44" y="5608254"/>
                <a:ext cx="3972181" cy="718658"/>
              </a:xfrm>
              <a:prstGeom prst="rect">
                <a:avLst/>
              </a:prstGeom>
              <a:blipFill>
                <a:blip r:embed="rId4"/>
                <a:stretch>
                  <a:fillRect t="-37931" b="-81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AB06B35-75B0-FFDE-85E6-372D8778758A}"/>
                  </a:ext>
                </a:extLst>
              </p:cNvPr>
              <p:cNvSpPr txBox="1"/>
              <p:nvPr/>
            </p:nvSpPr>
            <p:spPr>
              <a:xfrm>
                <a:off x="5780929" y="5129200"/>
                <a:ext cx="5092613" cy="6602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1" dirty="0" smtClean="0">
                        <a:solidFill>
                          <a:srgbClr val="C00000"/>
                        </a:solidFill>
                      </a:rPr>
                      <m:t>Sharpe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rgbClr val="C0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rgbClr val="C00000"/>
                        </a:solidFill>
                      </a:rPr>
                      <m:t>Ratio</m:t>
                    </m:r>
                    <m:r>
                      <a:rPr lang="en-US" sz="24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en-US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𝒓</m:t>
                            </m:r>
                          </m:e>
                        </m:acc>
                        <m:r>
                          <a:rPr lang="en-US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</m:t>
                            </m:r>
                          </m:sub>
                        </m:sSub>
                      </m:num>
                      <m:den>
                        <m:r>
                          <a:rPr lang="en-US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</m:den>
                    </m:f>
                    <m:r>
                      <a:rPr lang="en-US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𝟐𝟎</m:t>
                        </m:r>
                        <m:r>
                          <a:rPr lang="en-US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US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𝟕</m:t>
                        </m:r>
                        <m:r>
                          <a:rPr lang="en-US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𝟎𝟕</m:t>
                        </m:r>
                      </m:den>
                    </m:f>
                    <m:r>
                      <a:rPr lang="en-US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US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𝟒𝟎</m:t>
                    </m:r>
                  </m:oMath>
                </a14:m>
                <a:r>
                  <a:rPr lang="en-US" sz="2400" b="1" dirty="0">
                    <a:solidFill>
                      <a:srgbClr val="C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AB06B35-75B0-FFDE-85E6-372D87787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0929" y="5129200"/>
                <a:ext cx="5092613" cy="660245"/>
              </a:xfrm>
              <a:prstGeom prst="rect">
                <a:avLst/>
              </a:prstGeom>
              <a:blipFill>
                <a:blip r:embed="rId5"/>
                <a:stretch>
                  <a:fillRect l="-746"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360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/>
      <p:bldP spid="16" grpId="0"/>
      <p:bldP spid="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BA1FD-601F-38B2-0A2F-0357D937A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A6A2C4D-F6F1-EE55-B4FE-5AA024A3DEE8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EC298E-42C1-3803-12C1-56F2F4FC5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Expected Portfolio Return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511749-C32E-DB91-E2D1-0AEF8DA844AD}"/>
              </a:ext>
            </a:extLst>
          </p:cNvPr>
          <p:cNvSpPr txBox="1"/>
          <p:nvPr/>
        </p:nvSpPr>
        <p:spPr>
          <a:xfrm>
            <a:off x="248529" y="1586306"/>
            <a:ext cx="116949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Helvetica" pitchFamily="2" charset="0"/>
              </a:rPr>
              <a:t>The expected return on a portfolio is a </a:t>
            </a:r>
            <a:r>
              <a:rPr lang="en-US" sz="2200" b="1" dirty="0">
                <a:latin typeface="Helvetica" pitchFamily="2" charset="0"/>
              </a:rPr>
              <a:t>weighted average</a:t>
            </a:r>
            <a:r>
              <a:rPr lang="en-US" sz="2200" dirty="0">
                <a:latin typeface="Helvetica" pitchFamily="2" charset="0"/>
              </a:rPr>
              <a:t> of the expected returns of the individual assets: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32AE40E-1CDD-5A7E-E344-AAD71D296258}"/>
                  </a:ext>
                </a:extLst>
              </p:cNvPr>
              <p:cNvSpPr txBox="1"/>
              <p:nvPr/>
            </p:nvSpPr>
            <p:spPr>
              <a:xfrm>
                <a:off x="5375706" y="2180143"/>
                <a:ext cx="1716175" cy="8388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32AE40E-1CDD-5A7E-E344-AAD71D296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706" y="2180143"/>
                <a:ext cx="1716175" cy="838884"/>
              </a:xfrm>
              <a:prstGeom prst="rect">
                <a:avLst/>
              </a:prstGeom>
              <a:blipFill>
                <a:blip r:embed="rId2"/>
                <a:stretch>
                  <a:fillRect l="-19853" t="-119403" r="-1471" b="-180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8136087-0358-D6F7-81BA-5C35CFA3215E}"/>
                  </a:ext>
                </a:extLst>
              </p:cNvPr>
              <p:cNvSpPr txBox="1"/>
              <p:nvPr/>
            </p:nvSpPr>
            <p:spPr>
              <a:xfrm>
                <a:off x="248528" y="2769043"/>
                <a:ext cx="6276462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Helvetica" pitchFamily="2" charset="0"/>
                  </a:rPr>
                  <a:t>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Helvetica" pitchFamily="2" charset="0"/>
                  </a:rPr>
                  <a:t>: Expected return on stock </a:t>
                </a:r>
                <a:r>
                  <a:rPr lang="en-US" sz="2000" dirty="0" err="1">
                    <a:latin typeface="Helvetica" pitchFamily="2" charset="0"/>
                  </a:rPr>
                  <a:t>i</a:t>
                </a:r>
                <a:endParaRPr lang="en-US" sz="2000" dirty="0">
                  <a:latin typeface="Helvetica" pitchFamily="2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Helvetica" pitchFamily="2" charset="0"/>
                  </a:rPr>
                  <a:t>: Weight (proportion of portfolio invested in stock </a:t>
                </a:r>
                <a:r>
                  <a:rPr lang="en-US" sz="2000" dirty="0" err="1">
                    <a:latin typeface="Helvetica" pitchFamily="2" charset="0"/>
                  </a:rPr>
                  <a:t>i</a:t>
                </a:r>
                <a:r>
                  <a:rPr lang="en-US" sz="2000" dirty="0">
                    <a:latin typeface="Helvetica" pitchFamily="2" charset="0"/>
                  </a:rPr>
                  <a:t>)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Helvetica" pitchFamily="2" charset="0"/>
                  </a:rPr>
                  <a:t>: Total number of stocks in the portfolio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8136087-0358-D6F7-81BA-5C35CFA32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28" y="2769043"/>
                <a:ext cx="6276462" cy="1323439"/>
              </a:xfrm>
              <a:prstGeom prst="rect">
                <a:avLst/>
              </a:prstGeom>
              <a:blipFill>
                <a:blip r:embed="rId3"/>
                <a:stretch>
                  <a:fillRect l="-808" t="-943" r="-202"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1B45AC4-E548-879E-3F85-9DA10CCD5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30774"/>
              </p:ext>
            </p:extLst>
          </p:nvPr>
        </p:nvGraphicFramePr>
        <p:xfrm>
          <a:off x="838199" y="4393758"/>
          <a:ext cx="6309360" cy="219456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86491536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1358952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9979691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Stock</a:t>
                      </a:r>
                      <a:endParaRPr lang="en-US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Expected Return</a:t>
                      </a:r>
                      <a:endParaRPr lang="en-US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Investment ($)</a:t>
                      </a:r>
                      <a:endParaRPr lang="en-US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954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Microsoft</a:t>
                      </a:r>
                      <a:endParaRPr lang="en-US" dirty="0">
                        <a:latin typeface="Helvetic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7.75%</a:t>
                      </a:r>
                      <a:endParaRPr lang="en-US" dirty="0">
                        <a:latin typeface="Helvetic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25,000</a:t>
                      </a:r>
                      <a:endParaRPr lang="en-US" dirty="0">
                        <a:latin typeface="Helvetica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7276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IBM</a:t>
                      </a:r>
                      <a:endParaRPr lang="en-US" dirty="0">
                        <a:latin typeface="Helvetic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7.25%</a:t>
                      </a:r>
                      <a:endParaRPr lang="en-US" dirty="0">
                        <a:latin typeface="Helvetic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25,000</a:t>
                      </a:r>
                      <a:endParaRPr lang="en-US" dirty="0">
                        <a:latin typeface="Helvetica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2603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GE</a:t>
                      </a:r>
                      <a:endParaRPr lang="en-US">
                        <a:latin typeface="Helvetic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8.75%</a:t>
                      </a:r>
                      <a:endParaRPr lang="en-US">
                        <a:latin typeface="Helvetic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25,000</a:t>
                      </a:r>
                      <a:endParaRPr lang="en-US" dirty="0">
                        <a:latin typeface="Helvetica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1996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ExxonMobil</a:t>
                      </a:r>
                      <a:endParaRPr lang="en-US" dirty="0">
                        <a:latin typeface="Helvetic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7.75%</a:t>
                      </a:r>
                      <a:endParaRPr lang="en-US">
                        <a:latin typeface="Helvetic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25,000</a:t>
                      </a:r>
                      <a:endParaRPr lang="en-US" dirty="0">
                        <a:latin typeface="Helvetica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9338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Total</a:t>
                      </a:r>
                      <a:endParaRPr lang="en-US">
                        <a:latin typeface="Helvetic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Helvetic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100,000</a:t>
                      </a:r>
                      <a:endParaRPr lang="en-US" dirty="0">
                        <a:latin typeface="Helvetica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792459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8A16318-9396-9220-6EB6-04BBDD93C0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112128"/>
              </p:ext>
            </p:extLst>
          </p:nvPr>
        </p:nvGraphicFramePr>
        <p:xfrm>
          <a:off x="7258050" y="4393758"/>
          <a:ext cx="2103120" cy="219456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6894878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Weight (%)</a:t>
                      </a:r>
                      <a:endParaRPr lang="en-US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743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25.0%</a:t>
                      </a:r>
                      <a:endParaRPr lang="en-US" dirty="0">
                        <a:latin typeface="Helvetica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7419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25.0%</a:t>
                      </a:r>
                      <a:endParaRPr lang="en-US" dirty="0">
                        <a:latin typeface="Helvetica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40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25.0%</a:t>
                      </a:r>
                      <a:endParaRPr lang="en-US" dirty="0">
                        <a:latin typeface="Helvetica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0333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25.0%</a:t>
                      </a:r>
                      <a:endParaRPr lang="en-US">
                        <a:latin typeface="Helvetica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6241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100%</a:t>
                      </a:r>
                      <a:endParaRPr lang="en-US" dirty="0">
                        <a:latin typeface="Helvetica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19661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D4A90FC-5222-0012-2102-1EEC116CC5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921689"/>
              </p:ext>
            </p:extLst>
          </p:nvPr>
        </p:nvGraphicFramePr>
        <p:xfrm>
          <a:off x="9471661" y="4393758"/>
          <a:ext cx="2103120" cy="219456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5515422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Weighted Return</a:t>
                      </a:r>
                      <a:endParaRPr lang="en-US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996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1.9375%</a:t>
                      </a:r>
                      <a:endParaRPr lang="en-US" dirty="0">
                        <a:latin typeface="Helvetica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310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1.8125%</a:t>
                      </a:r>
                      <a:endParaRPr lang="en-US" dirty="0">
                        <a:latin typeface="Helvetica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7471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2.1875%</a:t>
                      </a:r>
                      <a:endParaRPr lang="en-US" dirty="0">
                        <a:latin typeface="Helvetica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1222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1.9375%</a:t>
                      </a:r>
                      <a:endParaRPr lang="en-US" dirty="0">
                        <a:latin typeface="Helvetica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2219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7.875%</a:t>
                      </a:r>
                      <a:endParaRPr lang="en-US" dirty="0">
                        <a:latin typeface="Helvetica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3758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7147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3CDE7-2854-467B-1693-35C5F873E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94F24D8-5EFD-E831-CBD9-41D036620C70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51B94-1CEF-B945-4EF9-C8F1A8266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 algn="l">
              <a:spcBef>
                <a:spcPts val="1800"/>
              </a:spcBef>
              <a:spcAft>
                <a:spcPts val="900"/>
              </a:spcAft>
              <a:buNone/>
            </a:pPr>
            <a:r>
              <a:rPr lang="en-US" sz="4000" b="1" i="0" dirty="0">
                <a:solidFill>
                  <a:schemeClr val="bg1"/>
                </a:solidFill>
                <a:effectLst/>
                <a:latin typeface="Helvetica" pitchFamily="2" charset="0"/>
              </a:rPr>
              <a:t>Portfolio Risk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CDEBA7-0733-6C8A-7451-537761DF40AA}"/>
              </a:ext>
            </a:extLst>
          </p:cNvPr>
          <p:cNvSpPr txBox="1"/>
          <p:nvPr/>
        </p:nvSpPr>
        <p:spPr>
          <a:xfrm>
            <a:off x="190938" y="1439456"/>
            <a:ext cx="118101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Helvetica" pitchFamily="2" charset="0"/>
              </a:rPr>
              <a:t>T</a:t>
            </a:r>
            <a:r>
              <a:rPr lang="en-US" sz="2000" b="1" i="0" dirty="0">
                <a:effectLst/>
                <a:latin typeface="Helvetica" pitchFamily="2" charset="0"/>
              </a:rPr>
              <a:t>he portfolio’s risk, </a:t>
            </a:r>
            <a:r>
              <a:rPr lang="el-GR" sz="2000" b="1" i="0" dirty="0">
                <a:effectLst/>
                <a:latin typeface="Helvetica" pitchFamily="2" charset="0"/>
              </a:rPr>
              <a:t>σ</a:t>
            </a:r>
            <a:r>
              <a:rPr lang="en-US" sz="2000" b="1" i="0" baseline="-25000" dirty="0">
                <a:effectLst/>
                <a:latin typeface="Helvetica" pitchFamily="2" charset="0"/>
              </a:rPr>
              <a:t>P</a:t>
            </a:r>
            <a:r>
              <a:rPr lang="el-GR" sz="2000" b="1" i="0" dirty="0">
                <a:effectLst/>
                <a:latin typeface="Helvetica" pitchFamily="2" charset="0"/>
              </a:rPr>
              <a:t>, </a:t>
            </a:r>
            <a:r>
              <a:rPr lang="en-US" sz="2000" b="1" i="0" dirty="0">
                <a:effectLst/>
                <a:latin typeface="Helvetica" pitchFamily="2" charset="0"/>
              </a:rPr>
              <a:t>is </a:t>
            </a:r>
            <a:r>
              <a:rPr lang="en-US" sz="2000" b="1" i="1" dirty="0">
                <a:solidFill>
                  <a:srgbClr val="FF0000"/>
                </a:solidFill>
                <a:effectLst/>
                <a:latin typeface="Helvetica" pitchFamily="2" charset="0"/>
              </a:rPr>
              <a:t>not the weighted average </a:t>
            </a:r>
            <a:r>
              <a:rPr lang="en-US" sz="2000" b="1" i="0" dirty="0">
                <a:effectLst/>
                <a:latin typeface="Helvetica" pitchFamily="2" charset="0"/>
              </a:rPr>
              <a:t>of the individual stocks’ standard deviations. 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sz="2000" b="0" i="0" dirty="0">
                <a:effectLst/>
                <a:latin typeface="Helvetica" pitchFamily="2" charset="0"/>
              </a:rPr>
              <a:t>The portfolio’s risk is generally </a:t>
            </a:r>
            <a:r>
              <a:rPr lang="en-US" sz="2000" b="0" i="1" dirty="0">
                <a:effectLst/>
                <a:latin typeface="Helvetica" pitchFamily="2" charset="0"/>
              </a:rPr>
              <a:t>smaller</a:t>
            </a:r>
            <a:r>
              <a:rPr lang="en-US" sz="2000" b="0" i="0" dirty="0">
                <a:effectLst/>
                <a:latin typeface="Helvetica" pitchFamily="2" charset="0"/>
              </a:rPr>
              <a:t> than the average of the stocks’ </a:t>
            </a:r>
            <a:r>
              <a:rPr lang="el-GR" sz="2000" b="0" i="0" dirty="0">
                <a:effectLst/>
                <a:latin typeface="Helvetica" pitchFamily="2" charset="0"/>
              </a:rPr>
              <a:t>σ </a:t>
            </a:r>
            <a:r>
              <a:rPr lang="en-US" sz="2000" b="0" i="0" dirty="0">
                <a:effectLst/>
                <a:latin typeface="Helvetica" pitchFamily="2" charset="0"/>
              </a:rPr>
              <a:t>because:</a:t>
            </a:r>
          </a:p>
          <a:p>
            <a:pPr marL="342900" indent="-34290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Helvetica" pitchFamily="2" charset="0"/>
              </a:rPr>
              <a:t>Diversification lowers the portfolio’s risk.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83741E40-5F0D-C83A-4C22-3B3DDC466E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1940187"/>
              </p:ext>
            </p:extLst>
          </p:nvPr>
        </p:nvGraphicFramePr>
        <p:xfrm>
          <a:off x="628650" y="3060314"/>
          <a:ext cx="8743950" cy="27319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1F7E5C3-EB47-6FC6-0C67-E429583AC728}"/>
              </a:ext>
            </a:extLst>
          </p:cNvPr>
          <p:cNvSpPr txBox="1"/>
          <p:nvPr/>
        </p:nvSpPr>
        <p:spPr>
          <a:xfrm>
            <a:off x="3857625" y="2774046"/>
            <a:ext cx="2505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800" b="1" i="0" dirty="0">
                <a:solidFill>
                  <a:schemeClr val="accent4">
                    <a:lumMod val="75000"/>
                  </a:schemeClr>
                </a:solidFill>
                <a:effectLst/>
                <a:latin typeface="Helvetica" pitchFamily="2" charset="0"/>
              </a:rPr>
              <a:t>σ</a:t>
            </a:r>
            <a:r>
              <a:rPr lang="en-US" b="1" baseline="-250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rPr>
              <a:t>a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rPr>
              <a:t>= 20% </a:t>
            </a:r>
            <a:r>
              <a:rPr lang="en-US" b="1" dirty="0">
                <a:latin typeface="Helvetica" pitchFamily="2" charset="0"/>
              </a:rPr>
              <a:t>and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 </a:t>
            </a:r>
            <a:r>
              <a:rPr lang="el-GR" sz="1800" b="1" i="0" dirty="0">
                <a:solidFill>
                  <a:schemeClr val="accent6">
                    <a:lumMod val="75000"/>
                  </a:schemeClr>
                </a:solidFill>
                <a:effectLst/>
                <a:latin typeface="Helvetica" pitchFamily="2" charset="0"/>
              </a:rPr>
              <a:t>σ</a:t>
            </a:r>
            <a:r>
              <a:rPr lang="en-US" sz="1800" b="1" i="0" baseline="-25000" dirty="0">
                <a:solidFill>
                  <a:schemeClr val="accent6">
                    <a:lumMod val="75000"/>
                  </a:schemeClr>
                </a:solidFill>
                <a:effectLst/>
                <a:latin typeface="Helvetica" pitchFamily="2" charset="0"/>
              </a:rPr>
              <a:t>b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Helvetica" pitchFamily="2" charset="0"/>
              </a:rPr>
              <a:t>= 20%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9BEA612-5707-8A8C-1149-EC822336CF32}"/>
              </a:ext>
            </a:extLst>
          </p:cNvPr>
          <p:cNvGrpSpPr/>
          <p:nvPr/>
        </p:nvGrpSpPr>
        <p:grpSpPr>
          <a:xfrm>
            <a:off x="8905875" y="3655626"/>
            <a:ext cx="1711292" cy="618066"/>
            <a:chOff x="8905875" y="4560501"/>
            <a:chExt cx="1711292" cy="61806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1276EBB-B018-80BC-B95F-C818656A298B}"/>
                </a:ext>
              </a:extLst>
            </p:cNvPr>
            <p:cNvSpPr txBox="1"/>
            <p:nvPr/>
          </p:nvSpPr>
          <p:spPr>
            <a:xfrm>
              <a:off x="9664662" y="4809235"/>
              <a:ext cx="9525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sz="1800" b="1" i="0" dirty="0">
                  <a:solidFill>
                    <a:schemeClr val="accent2">
                      <a:lumMod val="75000"/>
                    </a:schemeClr>
                  </a:solidFill>
                  <a:effectLst/>
                  <a:latin typeface="Helvetica" pitchFamily="2" charset="0"/>
                </a:rPr>
                <a:t>σ</a:t>
              </a:r>
              <a:r>
                <a:rPr lang="en-US" b="1" baseline="-25000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p</a:t>
              </a:r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= 0%</a:t>
              </a:r>
              <a:endParaRPr lang="en-US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31" name="Curved Down Arrow 30">
              <a:extLst>
                <a:ext uri="{FF2B5EF4-FFF2-40B4-BE49-F238E27FC236}">
                  <a16:creationId xmlns:a16="http://schemas.microsoft.com/office/drawing/2014/main" id="{E35F971A-3F51-FA0E-2E20-687B5F45AB18}"/>
                </a:ext>
              </a:extLst>
            </p:cNvPr>
            <p:cNvSpPr/>
            <p:nvPr/>
          </p:nvSpPr>
          <p:spPr>
            <a:xfrm rot="21150478">
              <a:off x="8905875" y="4560501"/>
              <a:ext cx="1216152" cy="369332"/>
            </a:xfrm>
            <a:prstGeom prst="curvedDownArrow">
              <a:avLst>
                <a:gd name="adj1" fmla="val 1856"/>
                <a:gd name="adj2" fmla="val 30344"/>
                <a:gd name="adj3" fmla="val 22396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7322D6A4-F68F-E031-D3AA-03223B99EC2D}"/>
              </a:ext>
            </a:extLst>
          </p:cNvPr>
          <p:cNvSpPr txBox="1"/>
          <p:nvPr/>
        </p:nvSpPr>
        <p:spPr>
          <a:xfrm>
            <a:off x="4610100" y="6019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BACC66-14CC-FABD-314C-403C158319C0}"/>
              </a:ext>
            </a:extLst>
          </p:cNvPr>
          <p:cNvSpPr txBox="1"/>
          <p:nvPr/>
        </p:nvSpPr>
        <p:spPr>
          <a:xfrm>
            <a:off x="190938" y="5755913"/>
            <a:ext cx="1169626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i="1" dirty="0">
                <a:effectLst/>
                <a:latin typeface="Helvetica" pitchFamily="2" charset="0"/>
              </a:rPr>
              <a:t>The tendency of two variables to move together is called </a:t>
            </a:r>
            <a:r>
              <a:rPr lang="en-US" sz="2400" b="1" i="1" u="none" strike="noStrike" dirty="0">
                <a:effectLst/>
                <a:latin typeface="Helvetica" pitchFamily="2" charset="0"/>
              </a:rPr>
              <a:t>correlation</a:t>
            </a:r>
            <a:r>
              <a:rPr lang="en-US" sz="2400" i="1" dirty="0">
                <a:effectLst/>
                <a:latin typeface="Helvetica" pitchFamily="2" charset="0"/>
              </a:rPr>
              <a:t>, and;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i="1" dirty="0">
                <a:effectLst/>
                <a:latin typeface="Helvetica" pitchFamily="2" charset="0"/>
              </a:rPr>
              <a:t>The </a:t>
            </a:r>
            <a:r>
              <a:rPr lang="en-US" sz="2400" b="1" i="1" u="none" strike="noStrike" dirty="0">
                <a:effectLst/>
                <a:latin typeface="Helvetica" pitchFamily="2" charset="0"/>
              </a:rPr>
              <a:t>correlation coefficient</a:t>
            </a:r>
            <a:r>
              <a:rPr lang="en-US" sz="2400" i="1" dirty="0">
                <a:effectLst/>
                <a:latin typeface="Helvetica" pitchFamily="2" charset="0"/>
              </a:rPr>
              <a:t>, measures this tendency.</a:t>
            </a:r>
            <a:endParaRPr lang="en-US" sz="2400" i="1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823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  <p:bldP spid="10" grpId="0"/>
      <p:bldP spid="3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9E174-3A63-6427-4295-C5BFD01BB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8943A4-F6D1-0491-9EEC-4397B5C17F49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56F82B-E883-CB54-EB76-F75BD1C2D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 algn="l">
              <a:spcBef>
                <a:spcPts val="1800"/>
              </a:spcBef>
              <a:spcAft>
                <a:spcPts val="900"/>
              </a:spcAft>
              <a:buNone/>
            </a:pPr>
            <a:r>
              <a:rPr lang="en-US" sz="4000" b="1" i="0" dirty="0">
                <a:solidFill>
                  <a:schemeClr val="bg1"/>
                </a:solidFill>
                <a:effectLst/>
                <a:latin typeface="Helvetica" pitchFamily="2" charset="0"/>
              </a:rPr>
              <a:t>What Is Correlation in Portfolio Risk?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CC1314-AE47-22BC-6F1F-68C51528DDFA}"/>
              </a:ext>
            </a:extLst>
          </p:cNvPr>
          <p:cNvSpPr txBox="1"/>
          <p:nvPr/>
        </p:nvSpPr>
        <p:spPr>
          <a:xfrm>
            <a:off x="190938" y="1439456"/>
            <a:ext cx="1181012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Helvetica" pitchFamily="2" charset="0"/>
              </a:rPr>
              <a:t>Correlation (</a:t>
            </a:r>
            <a:r>
              <a:rPr lang="el-GR" sz="2000" b="1" dirty="0">
                <a:latin typeface="Helvetica" pitchFamily="2" charset="0"/>
              </a:rPr>
              <a:t>ρ)</a:t>
            </a:r>
            <a:r>
              <a:rPr lang="el-GR" sz="2000" dirty="0">
                <a:latin typeface="Helvetica" pitchFamily="2" charset="0"/>
              </a:rPr>
              <a:t> </a:t>
            </a:r>
            <a:r>
              <a:rPr lang="en-US" sz="2000" dirty="0">
                <a:latin typeface="Helvetica" pitchFamily="2" charset="0"/>
              </a:rPr>
              <a:t>measures how two assets move in relation to each other. It ranges from </a:t>
            </a:r>
            <a:r>
              <a:rPr lang="en-US" sz="2000" b="1" dirty="0">
                <a:latin typeface="Helvetica" pitchFamily="2" charset="0"/>
              </a:rPr>
              <a:t>–1 to +1</a:t>
            </a:r>
            <a:r>
              <a:rPr lang="en-US" sz="2000" dirty="0">
                <a:latin typeface="Helvetica" pitchFamily="2" charset="0"/>
              </a:rPr>
              <a:t>: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Lower (or negative) correlation = </a:t>
            </a:r>
            <a:r>
              <a:rPr lang="en-US" sz="2000" b="1" dirty="0">
                <a:latin typeface="Helvetica" pitchFamily="2" charset="0"/>
              </a:rPr>
              <a:t>greater diversification benefits</a:t>
            </a:r>
            <a:endParaRPr lang="en-US" sz="2000" dirty="0">
              <a:latin typeface="Helvetica" pitchFamily="2" charset="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Portfolio risk is reduced </a:t>
            </a:r>
            <a:r>
              <a:rPr lang="en-US" sz="2000" b="1" dirty="0">
                <a:latin typeface="Helvetica" pitchFamily="2" charset="0"/>
              </a:rPr>
              <a:t>not just by more assets</a:t>
            </a:r>
            <a:r>
              <a:rPr lang="en-US" sz="2000" dirty="0">
                <a:latin typeface="Helvetica" pitchFamily="2" charset="0"/>
              </a:rPr>
              <a:t>, but by combining </a:t>
            </a:r>
            <a:r>
              <a:rPr lang="en-US" sz="2000" b="1" dirty="0">
                <a:latin typeface="Helvetica" pitchFamily="2" charset="0"/>
              </a:rPr>
              <a:t>uncorrelated or inversely correlated</a:t>
            </a:r>
            <a:r>
              <a:rPr lang="en-US" sz="2000" dirty="0">
                <a:latin typeface="Helvetica" pitchFamily="2" charset="0"/>
              </a:rPr>
              <a:t> assets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1C198BB-71B6-422B-883D-A4E6629B9BA4}"/>
              </a:ext>
            </a:extLst>
          </p:cNvPr>
          <p:cNvSpPr txBox="1"/>
          <p:nvPr/>
        </p:nvSpPr>
        <p:spPr>
          <a:xfrm>
            <a:off x="4610100" y="6019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3741E40-5F0D-C83A-4C22-3B3DDC466E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8706761"/>
              </p:ext>
            </p:extLst>
          </p:nvPr>
        </p:nvGraphicFramePr>
        <p:xfrm>
          <a:off x="323850" y="3523825"/>
          <a:ext cx="3507080" cy="31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6666E95-3F3F-2A49-B4EA-490831057C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492105"/>
              </p:ext>
            </p:extLst>
          </p:nvPr>
        </p:nvGraphicFramePr>
        <p:xfrm>
          <a:off x="4342459" y="3523825"/>
          <a:ext cx="3507080" cy="31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7FBA923-3A43-484A-9D45-0CFA631B0E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8169964"/>
              </p:ext>
            </p:extLst>
          </p:nvPr>
        </p:nvGraphicFramePr>
        <p:xfrm>
          <a:off x="8361070" y="3523825"/>
          <a:ext cx="3507080" cy="31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EE7092D-0D34-6933-9FB4-898693E25768}"/>
              </a:ext>
            </a:extLst>
          </p:cNvPr>
          <p:cNvSpPr txBox="1"/>
          <p:nvPr/>
        </p:nvSpPr>
        <p:spPr>
          <a:xfrm>
            <a:off x="1647825" y="3244334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800" b="1" dirty="0">
                <a:solidFill>
                  <a:schemeClr val="accent5">
                    <a:lumMod val="75000"/>
                  </a:schemeClr>
                </a:solidFill>
                <a:latin typeface="Helvetica" pitchFamily="2" charset="0"/>
              </a:rPr>
              <a:t>ρ</a:t>
            </a: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  <a:latin typeface="Helvetica" pitchFamily="2" charset="0"/>
              </a:rPr>
              <a:t>= -1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C2C957-81D1-8EFE-4D52-DD78357AF4B9}"/>
              </a:ext>
            </a:extLst>
          </p:cNvPr>
          <p:cNvSpPr txBox="1"/>
          <p:nvPr/>
        </p:nvSpPr>
        <p:spPr>
          <a:xfrm>
            <a:off x="5731155" y="3244334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800" b="1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rPr>
              <a:t>ρ</a:t>
            </a:r>
            <a:r>
              <a:rPr lang="en-US" sz="1800" b="1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rPr>
              <a:t>= 0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BBE315-E47C-25CC-473D-625C88107B98}"/>
              </a:ext>
            </a:extLst>
          </p:cNvPr>
          <p:cNvSpPr txBox="1"/>
          <p:nvPr/>
        </p:nvSpPr>
        <p:spPr>
          <a:xfrm>
            <a:off x="9807855" y="3244334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800" b="1" dirty="0">
                <a:solidFill>
                  <a:schemeClr val="accent3">
                    <a:lumMod val="75000"/>
                  </a:schemeClr>
                </a:solidFill>
                <a:latin typeface="Helvetica" pitchFamily="2" charset="0"/>
              </a:rPr>
              <a:t>ρ</a:t>
            </a:r>
            <a:r>
              <a:rPr lang="en-US" sz="1800" b="1" dirty="0">
                <a:solidFill>
                  <a:schemeClr val="accent3">
                    <a:lumMod val="75000"/>
                  </a:schemeClr>
                </a:solidFill>
                <a:latin typeface="Helvetica" pitchFamily="2" charset="0"/>
              </a:rPr>
              <a:t>= +1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3867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  <p:bldGraphic spid="4" grpId="0">
        <p:bldAsOne/>
      </p:bldGraphic>
      <p:bldGraphic spid="5" grpId="0">
        <p:bldAsOne/>
      </p:bldGraphic>
      <p:bldP spid="7" grpId="0"/>
      <p:bldP spid="8" grpId="0"/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4B89F-7C19-08A7-1A65-88C3B832E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6AEC0DB-484F-57F7-C586-B27D3ED7E77D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4DA593-25FC-50F3-98EE-257937A6E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 algn="l">
              <a:spcBef>
                <a:spcPts val="1800"/>
              </a:spcBef>
              <a:spcAft>
                <a:spcPts val="900"/>
              </a:spcAft>
              <a:buNone/>
            </a:pPr>
            <a:r>
              <a:rPr lang="en-US" sz="4000" b="1" i="0" dirty="0">
                <a:solidFill>
                  <a:schemeClr val="bg1"/>
                </a:solidFill>
                <a:effectLst/>
                <a:latin typeface="Helvetica" pitchFamily="2" charset="0"/>
              </a:rPr>
              <a:t>The Beta Coefficient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27D930-9CBE-8FEE-0DE7-7BA4AA04B104}"/>
              </a:ext>
            </a:extLst>
          </p:cNvPr>
          <p:cNvSpPr txBox="1"/>
          <p:nvPr/>
        </p:nvSpPr>
        <p:spPr>
          <a:xfrm>
            <a:off x="190938" y="1439456"/>
            <a:ext cx="1181012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b="1" dirty="0">
                <a:latin typeface="Helvetica" pitchFamily="2" charset="0"/>
              </a:rPr>
              <a:t>Beta (</a:t>
            </a:r>
            <a:r>
              <a:rPr lang="el-GR" sz="2200" b="1" dirty="0">
                <a:latin typeface="Helvetica" pitchFamily="2" charset="0"/>
              </a:rPr>
              <a:t>β)</a:t>
            </a:r>
            <a:r>
              <a:rPr lang="el-GR" sz="2200" dirty="0">
                <a:latin typeface="Helvetica" pitchFamily="2" charset="0"/>
              </a:rPr>
              <a:t> </a:t>
            </a:r>
            <a:r>
              <a:rPr lang="en-US" sz="2200" dirty="0">
                <a:latin typeface="Helvetica" pitchFamily="2" charset="0"/>
              </a:rPr>
              <a:t>measures a stock’s sensitivity to movements in the overall market.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>
                <a:latin typeface="Helvetica" pitchFamily="2" charset="0"/>
              </a:rPr>
              <a:t>It shows how much the stock’s return </a:t>
            </a:r>
            <a:r>
              <a:rPr lang="en-US" sz="2200" b="1" dirty="0">
                <a:latin typeface="Helvetica" pitchFamily="2" charset="0"/>
              </a:rPr>
              <a:t>responds to changes in market return</a:t>
            </a:r>
            <a:r>
              <a:rPr lang="en-US" sz="2200" dirty="0">
                <a:latin typeface="Helvetica" pitchFamily="2" charset="0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>
                <a:latin typeface="Helvetica" pitchFamily="2" charset="0"/>
              </a:rPr>
              <a:t>Helps investors understand </a:t>
            </a:r>
            <a:r>
              <a:rPr lang="en-US" sz="2200" b="1" dirty="0">
                <a:latin typeface="Helvetica" pitchFamily="2" charset="0"/>
              </a:rPr>
              <a:t>systematic (market) risk</a:t>
            </a:r>
            <a:r>
              <a:rPr lang="en-US" sz="2200" dirty="0">
                <a:latin typeface="Helvetica" pitchFamily="2" charset="0"/>
              </a:rPr>
              <a:t>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D0966E-EF37-6451-BC8E-422756F290F5}"/>
              </a:ext>
            </a:extLst>
          </p:cNvPr>
          <p:cNvSpPr txBox="1"/>
          <p:nvPr/>
        </p:nvSpPr>
        <p:spPr>
          <a:xfrm>
            <a:off x="4610100" y="6019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C7DE5CF-4B19-328B-851F-DBD822136E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116137"/>
              </p:ext>
            </p:extLst>
          </p:nvPr>
        </p:nvGraphicFramePr>
        <p:xfrm>
          <a:off x="838199" y="3196778"/>
          <a:ext cx="10515600" cy="3146674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2072696">
                  <a:extLst>
                    <a:ext uri="{9D8B030D-6E8A-4147-A177-3AD203B41FA5}">
                      <a16:colId xmlns:a16="http://schemas.microsoft.com/office/drawing/2014/main" val="111645859"/>
                    </a:ext>
                  </a:extLst>
                </a:gridCol>
                <a:gridCol w="4543425">
                  <a:extLst>
                    <a:ext uri="{9D8B030D-6E8A-4147-A177-3AD203B41FA5}">
                      <a16:colId xmlns:a16="http://schemas.microsoft.com/office/drawing/2014/main" val="4228003870"/>
                    </a:ext>
                  </a:extLst>
                </a:gridCol>
                <a:gridCol w="3899479">
                  <a:extLst>
                    <a:ext uri="{9D8B030D-6E8A-4147-A177-3AD203B41FA5}">
                      <a16:colId xmlns:a16="http://schemas.microsoft.com/office/drawing/2014/main" val="147674745"/>
                    </a:ext>
                  </a:extLst>
                </a:gridCol>
              </a:tblGrid>
              <a:tr h="586354">
                <a:tc gridSpan="3"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latin typeface="Helvetica" pitchFamily="2" charset="0"/>
                        </a:rPr>
                        <a:t>Interpretation of Beta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latin typeface="Helvetica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latin typeface="Helvetica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45882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lang="el-GR" sz="2000" b="1" dirty="0">
                          <a:latin typeface="Helvetica" pitchFamily="2" charset="0"/>
                        </a:rPr>
                        <a:t>β </a:t>
                      </a:r>
                      <a:r>
                        <a:rPr lang="en-US" sz="2000" b="1" dirty="0">
                          <a:latin typeface="Helvetica" pitchFamily="2" charset="0"/>
                        </a:rPr>
                        <a:t>Value</a:t>
                      </a:r>
                      <a:endParaRPr lang="en-US" sz="2000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Meaning</a:t>
                      </a:r>
                      <a:endParaRPr lang="en-US" sz="2000" dirty="0">
                        <a:latin typeface="Helvetica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Risk Level</a:t>
                      </a:r>
                      <a:endParaRPr lang="en-US" sz="2000" dirty="0">
                        <a:latin typeface="Helvetica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00646777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lang="el-GR" sz="2000" b="1" dirty="0">
                          <a:latin typeface="Helvetica" pitchFamily="2" charset="0"/>
                        </a:rPr>
                        <a:t>β = 1</a:t>
                      </a:r>
                      <a:endParaRPr lang="el-GR" sz="2000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Helvetica" pitchFamily="2" charset="0"/>
                        </a:rPr>
                        <a:t>Same volatility as the market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Helvetica" pitchFamily="2" charset="0"/>
                        </a:rPr>
                        <a:t>Market risk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7329711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lang="el-GR" sz="2000" b="1" dirty="0">
                          <a:latin typeface="Helvetica" pitchFamily="2" charset="0"/>
                        </a:rPr>
                        <a:t>β &gt; 1</a:t>
                      </a:r>
                      <a:endParaRPr lang="el-GR" sz="2000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Helvetica" pitchFamily="2" charset="0"/>
                        </a:rPr>
                        <a:t>More volatile than the market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Helvetica" pitchFamily="2" charset="0"/>
                        </a:rPr>
                        <a:t>Higher risk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1784984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lang="el-GR" sz="2000" b="1" dirty="0">
                          <a:latin typeface="Helvetica" pitchFamily="2" charset="0"/>
                        </a:rPr>
                        <a:t>β &lt; 1</a:t>
                      </a:r>
                      <a:endParaRPr lang="el-GR" sz="2000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Helvetica" pitchFamily="2" charset="0"/>
                        </a:rPr>
                        <a:t>Less volatile than the market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Helvetica" pitchFamily="2" charset="0"/>
                        </a:rPr>
                        <a:t>Lower risk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9720784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lang="el-GR" sz="2000" b="1" dirty="0">
                          <a:latin typeface="Helvetica" pitchFamily="2" charset="0"/>
                        </a:rPr>
                        <a:t>β &lt; 0</a:t>
                      </a:r>
                      <a:endParaRPr lang="el-GR" sz="2000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Helvetica" pitchFamily="2" charset="0"/>
                        </a:rPr>
                        <a:t>Moves opposite to the market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Helvetica" pitchFamily="2" charset="0"/>
                        </a:rPr>
                        <a:t>Hedge characteristics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9034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8345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2782C-39AF-1CC0-2E87-B0B541000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5E0AD0B-6DD0-2398-9E01-E10832933F4F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2304CC-ECCC-D72C-4BBB-4D88BBC39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 algn="l">
              <a:spcBef>
                <a:spcPts val="1800"/>
              </a:spcBef>
              <a:spcAft>
                <a:spcPts val="900"/>
              </a:spcAft>
              <a:buNone/>
            </a:pPr>
            <a:r>
              <a:rPr lang="en-US" sz="4000" b="1" i="0" dirty="0">
                <a:solidFill>
                  <a:schemeClr val="bg1"/>
                </a:solidFill>
                <a:effectLst/>
                <a:latin typeface="Helvetica" pitchFamily="2" charset="0"/>
              </a:rPr>
              <a:t>Capital Asset Pricing Model (CAPM)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286DF7-CD8D-C57F-9EE3-9ABF84551485}"/>
              </a:ext>
            </a:extLst>
          </p:cNvPr>
          <p:cNvSpPr txBox="1"/>
          <p:nvPr/>
        </p:nvSpPr>
        <p:spPr>
          <a:xfrm>
            <a:off x="95468" y="1466990"/>
            <a:ext cx="1200106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Helvetica" pitchFamily="2" charset="0"/>
              </a:rPr>
              <a:t>It explains the relationship between an asset’s </a:t>
            </a:r>
            <a:r>
              <a:rPr lang="en-US" sz="2000" b="1" dirty="0">
                <a:latin typeface="Helvetica" pitchFamily="2" charset="0"/>
              </a:rPr>
              <a:t>systematic risk (beta)</a:t>
            </a:r>
            <a:r>
              <a:rPr lang="en-US" sz="2000" dirty="0">
                <a:latin typeface="Helvetica" pitchFamily="2" charset="0"/>
              </a:rPr>
              <a:t> and its </a:t>
            </a:r>
            <a:r>
              <a:rPr lang="en-US" sz="2000" b="1" dirty="0">
                <a:latin typeface="Helvetica" pitchFamily="2" charset="0"/>
              </a:rPr>
              <a:t>expected return</a:t>
            </a:r>
            <a:r>
              <a:rPr lang="en-US" sz="2000" dirty="0">
                <a:latin typeface="Helvetica" pitchFamily="2" charset="0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Helvetica" pitchFamily="2" charset="0"/>
              </a:rPr>
              <a:t>It is used to estimate the </a:t>
            </a:r>
            <a:r>
              <a:rPr lang="en-US" sz="2000" b="1" dirty="0">
                <a:latin typeface="Helvetica" pitchFamily="2" charset="0"/>
              </a:rPr>
              <a:t>minimum return</a:t>
            </a:r>
            <a:r>
              <a:rPr lang="en-US" sz="2000" dirty="0">
                <a:latin typeface="Helvetica" pitchFamily="2" charset="0"/>
              </a:rPr>
              <a:t> an investor should expect for taking on additional risk.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4B4821-1C63-BF98-FA06-18B12CD9E1C6}"/>
              </a:ext>
            </a:extLst>
          </p:cNvPr>
          <p:cNvSpPr txBox="1"/>
          <p:nvPr/>
        </p:nvSpPr>
        <p:spPr>
          <a:xfrm>
            <a:off x="4610100" y="6019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B564258-A728-CB7E-A58B-65BFE9D7A500}"/>
                  </a:ext>
                </a:extLst>
              </p:cNvPr>
              <p:cNvSpPr txBox="1"/>
              <p:nvPr/>
            </p:nvSpPr>
            <p:spPr>
              <a:xfrm>
                <a:off x="4210130" y="2625162"/>
                <a:ext cx="3771737" cy="4717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×(</m:t>
                      </m:r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B564258-A728-CB7E-A58B-65BFE9D7A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0130" y="2625162"/>
                <a:ext cx="3771737" cy="471732"/>
              </a:xfrm>
              <a:prstGeom prst="rect">
                <a:avLst/>
              </a:prstGeom>
              <a:blipFill>
                <a:blip r:embed="rId2"/>
                <a:stretch>
                  <a:fillRect l="-1007" r="-3020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B906992-8010-36A0-6348-675414A8D926}"/>
                  </a:ext>
                </a:extLst>
              </p:cNvPr>
              <p:cNvSpPr txBox="1"/>
              <p:nvPr/>
            </p:nvSpPr>
            <p:spPr>
              <a:xfrm>
                <a:off x="543364" y="2922771"/>
                <a:ext cx="4400628" cy="32645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sz="2000" dirty="0">
                    <a:solidFill>
                      <a:schemeClr val="tx1"/>
                    </a:solidFill>
                    <a:latin typeface="Helvetica" pitchFamily="2" charset="0"/>
                  </a:rPr>
                  <a:t>Where:</a:t>
                </a:r>
              </a:p>
              <a:p>
                <a:pPr marL="251460" indent="-25146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C00000"/>
                    </a:solidFill>
                    <a:latin typeface="Helvetica" pitchFamily="2" charset="0"/>
                  </a:rPr>
                  <a:t>: Required rate of return </a:t>
                </a:r>
                <a:endParaRPr lang="en-US" sz="2000" dirty="0">
                  <a:latin typeface="Helvetica" pitchFamily="2" charset="0"/>
                </a:endParaRPr>
              </a:p>
              <a:p>
                <a:pPr marL="251460" indent="-25146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Helvetica" pitchFamily="2" charset="0"/>
                  </a:rPr>
                  <a:t>: Risk-free rate</a:t>
                </a:r>
              </a:p>
              <a:p>
                <a:pPr marL="251460" indent="-25146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Helvetica" pitchFamily="2" charset="0"/>
                  </a:rPr>
                  <a:t>: Expected return on the market</a:t>
                </a:r>
              </a:p>
              <a:p>
                <a:pPr marL="251460" indent="-25146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Helvetica" pitchFamily="2" charset="0"/>
                  </a:rPr>
                  <a:t>: Beta of the asset</a:t>
                </a:r>
              </a:p>
              <a:p>
                <a:pPr marL="251460" indent="-25146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en-U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Helvetica" pitchFamily="2" charset="0"/>
                  </a:rPr>
                  <a:t>: Market risk premium</a:t>
                </a: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B906992-8010-36A0-6348-675414A8D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364" y="2922771"/>
                <a:ext cx="4400628" cy="3264548"/>
              </a:xfrm>
              <a:prstGeom prst="rect">
                <a:avLst/>
              </a:prstGeom>
              <a:blipFill>
                <a:blip r:embed="rId3"/>
                <a:stretch>
                  <a:fillRect l="-1437" t="-772" r="-5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E50544ED-6BE8-2B53-E823-20DACE1C4913}"/>
              </a:ext>
            </a:extLst>
          </p:cNvPr>
          <p:cNvSpPr txBox="1"/>
          <p:nvPr/>
        </p:nvSpPr>
        <p:spPr>
          <a:xfrm>
            <a:off x="6391056" y="4634906"/>
            <a:ext cx="5705474" cy="19389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Key Insights</a:t>
            </a:r>
          </a:p>
          <a:p>
            <a:pPr marL="194310" indent="-19431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Higher </a:t>
            </a:r>
            <a:r>
              <a:rPr lang="el-GR" b="1" dirty="0"/>
              <a:t>β</a:t>
            </a:r>
            <a:r>
              <a:rPr lang="el-GR" dirty="0"/>
              <a:t> → </a:t>
            </a:r>
            <a:r>
              <a:rPr lang="en-US" dirty="0"/>
              <a:t>higher expected return</a:t>
            </a:r>
          </a:p>
          <a:p>
            <a:pPr marL="194310" indent="-19431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Only </a:t>
            </a:r>
            <a:r>
              <a:rPr lang="en-US" b="1" dirty="0"/>
              <a:t>systematic (market) risk</a:t>
            </a:r>
            <a:r>
              <a:rPr lang="en-US" dirty="0"/>
              <a:t> matters; unsystematic risk is assumed to be diversified away</a:t>
            </a:r>
          </a:p>
          <a:p>
            <a:pPr marL="194310" indent="-19431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Foundation for estimating </a:t>
            </a:r>
            <a:r>
              <a:rPr lang="en-US" b="1" dirty="0"/>
              <a:t>cost of equity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316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0966A-1696-F311-5628-3C04774A7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F515840-6F50-7288-B937-922E3C61C92A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690B39-2B94-F435-15CB-19909B44D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 algn="l">
              <a:spcBef>
                <a:spcPts val="1800"/>
              </a:spcBef>
              <a:spcAft>
                <a:spcPts val="900"/>
              </a:spcAft>
              <a:buNone/>
            </a:pPr>
            <a:r>
              <a:rPr lang="en-US" sz="4000" b="1" i="0" dirty="0">
                <a:solidFill>
                  <a:schemeClr val="bg1"/>
                </a:solidFill>
                <a:effectLst/>
                <a:latin typeface="Helvetica" pitchFamily="2" charset="0"/>
              </a:rPr>
              <a:t>Question-5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31B936-261A-4DB9-AE4D-FED6D5E2D33B}"/>
              </a:ext>
            </a:extLst>
          </p:cNvPr>
          <p:cNvSpPr txBox="1"/>
          <p:nvPr/>
        </p:nvSpPr>
        <p:spPr>
          <a:xfrm>
            <a:off x="95468" y="1466990"/>
            <a:ext cx="120010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0" i="0" dirty="0">
                <a:effectLst/>
                <a:latin typeface="Helvetica" pitchFamily="2" charset="0"/>
              </a:rPr>
              <a:t>The risk-free rate is 3%, and the market risk premium  is 4%. Stock A has a beta of 1.2, and Stock B has a beta of 0.8.</a:t>
            </a:r>
            <a:endParaRPr lang="en-US" sz="2400" dirty="0">
              <a:latin typeface="Helvetica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E8C5CAC-3AB6-63B7-E984-A7F33B89AC1D}"/>
              </a:ext>
            </a:extLst>
          </p:cNvPr>
          <p:cNvSpPr txBox="1"/>
          <p:nvPr/>
        </p:nvSpPr>
        <p:spPr>
          <a:xfrm>
            <a:off x="4610100" y="6019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0FC08A7-64A9-5DD9-F716-3A3F1B3E07EA}"/>
                  </a:ext>
                </a:extLst>
              </p:cNvPr>
              <p:cNvSpPr txBox="1"/>
              <p:nvPr/>
            </p:nvSpPr>
            <p:spPr>
              <a:xfrm>
                <a:off x="938213" y="4018001"/>
                <a:ext cx="27622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e>
                        <m:sub>
                          <m: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%+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×(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%)</m:t>
                      </m:r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0FC08A7-64A9-5DD9-F716-3A3F1B3E0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213" y="4018001"/>
                <a:ext cx="2762249" cy="400110"/>
              </a:xfrm>
              <a:prstGeom prst="rect">
                <a:avLst/>
              </a:prstGeom>
              <a:blipFill>
                <a:blip r:embed="rId2"/>
                <a:stretch>
                  <a:fillRect t="-6250"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3EF5B6A-32F6-60CC-3E7F-13DC594DEA07}"/>
                  </a:ext>
                </a:extLst>
              </p:cNvPr>
              <p:cNvSpPr txBox="1"/>
              <p:nvPr/>
            </p:nvSpPr>
            <p:spPr>
              <a:xfrm>
                <a:off x="1119187" y="4571999"/>
                <a:ext cx="217954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e>
                        <m:sub>
                          <m: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%+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3EF5B6A-32F6-60CC-3E7F-13DC594DE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187" y="4571999"/>
                <a:ext cx="2179543" cy="400110"/>
              </a:xfrm>
              <a:prstGeom prst="rect">
                <a:avLst/>
              </a:prstGeom>
              <a:blipFill>
                <a:blip r:embed="rId3"/>
                <a:stretch>
                  <a:fillRect t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C9BCB8-9254-A043-059D-344CB8569CFC}"/>
                  </a:ext>
                </a:extLst>
              </p:cNvPr>
              <p:cNvSpPr txBox="1"/>
              <p:nvPr/>
            </p:nvSpPr>
            <p:spPr>
              <a:xfrm>
                <a:off x="1492106" y="5125997"/>
                <a:ext cx="14589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e>
                        <m:sub>
                          <m: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C9BCB8-9254-A043-059D-344CB8569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106" y="5125997"/>
                <a:ext cx="1458974" cy="400110"/>
              </a:xfrm>
              <a:prstGeom prst="rect">
                <a:avLst/>
              </a:prstGeom>
              <a:blipFill>
                <a:blip r:embed="rId4"/>
                <a:stretch>
                  <a:fillRect t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15D971D-99B2-341A-4249-D3685ED2C8E8}"/>
              </a:ext>
            </a:extLst>
          </p:cNvPr>
          <p:cNvSpPr txBox="1"/>
          <p:nvPr/>
        </p:nvSpPr>
        <p:spPr>
          <a:xfrm>
            <a:off x="1628608" y="3556336"/>
            <a:ext cx="12398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rgbClr val="0070C0"/>
                </a:solidFill>
                <a:effectLst/>
                <a:latin typeface="Helvetica" pitchFamily="2" charset="0"/>
              </a:rPr>
              <a:t>Stock A</a:t>
            </a:r>
            <a:endParaRPr lang="en-US" sz="20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62B9039-6B55-B545-CD1D-A56889CC8E7C}"/>
                  </a:ext>
                </a:extLst>
              </p:cNvPr>
              <p:cNvSpPr txBox="1"/>
              <p:nvPr/>
            </p:nvSpPr>
            <p:spPr>
              <a:xfrm>
                <a:off x="8491540" y="4018001"/>
                <a:ext cx="279455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e>
                        <m:sub>
                          <m:r>
                            <a:rPr lang="en-US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%+</m:t>
                      </m:r>
                      <m:r>
                        <a:rPr lang="en-US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×(</m:t>
                      </m:r>
                      <m:r>
                        <a:rPr lang="en-US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en-US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%)</m:t>
                      </m:r>
                    </m:oMath>
                  </m:oMathPara>
                </a14:m>
                <a:endParaRPr lang="en-US" sz="2000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62B9039-6B55-B545-CD1D-A56889CC8E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1540" y="4018001"/>
                <a:ext cx="2794559" cy="400110"/>
              </a:xfrm>
              <a:prstGeom prst="rect">
                <a:avLst/>
              </a:prstGeom>
              <a:blipFill>
                <a:blip r:embed="rId5"/>
                <a:stretch>
                  <a:fillRect t="-6250"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097C76E-F355-BFDE-0A5A-506DF79B53FD}"/>
                  </a:ext>
                </a:extLst>
              </p:cNvPr>
              <p:cNvSpPr txBox="1"/>
              <p:nvPr/>
            </p:nvSpPr>
            <p:spPr>
              <a:xfrm>
                <a:off x="8672512" y="4571999"/>
                <a:ext cx="220503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e>
                        <m:sub>
                          <m:r>
                            <a:rPr lang="en-US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%+</m:t>
                      </m:r>
                      <m:r>
                        <a:rPr lang="en-US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sz="2000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097C76E-F355-BFDE-0A5A-506DF79B5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2512" y="4571999"/>
                <a:ext cx="2205038" cy="400110"/>
              </a:xfrm>
              <a:prstGeom prst="rect">
                <a:avLst/>
              </a:prstGeom>
              <a:blipFill>
                <a:blip r:embed="rId6"/>
                <a:stretch>
                  <a:fillRect t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BA102B1-9804-55E8-8C4D-485048C37A89}"/>
                  </a:ext>
                </a:extLst>
              </p:cNvPr>
              <p:cNvSpPr txBox="1"/>
              <p:nvPr/>
            </p:nvSpPr>
            <p:spPr>
              <a:xfrm>
                <a:off x="9045430" y="5125997"/>
                <a:ext cx="14760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e>
                        <m:sub>
                          <m:r>
                            <a:rPr lang="en-US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sz="2000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BA102B1-9804-55E8-8C4D-485048C37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5430" y="5125997"/>
                <a:ext cx="1476039" cy="400110"/>
              </a:xfrm>
              <a:prstGeom prst="rect">
                <a:avLst/>
              </a:prstGeom>
              <a:blipFill>
                <a:blip r:embed="rId7"/>
                <a:stretch>
                  <a:fillRect t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C35F371A-D377-CF48-9B82-4EEDBFD73B25}"/>
              </a:ext>
            </a:extLst>
          </p:cNvPr>
          <p:cNvSpPr txBox="1"/>
          <p:nvPr/>
        </p:nvSpPr>
        <p:spPr>
          <a:xfrm>
            <a:off x="9147852" y="3556336"/>
            <a:ext cx="1110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chemeClr val="accent6">
                    <a:lumMod val="50000"/>
                  </a:schemeClr>
                </a:solidFill>
                <a:effectLst/>
                <a:latin typeface="Helvetica" pitchFamily="2" charset="0"/>
              </a:rPr>
              <a:t>Stock B</a:t>
            </a:r>
            <a:endParaRPr 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6EDB1B-1110-EBCC-5825-10D799898C53}"/>
                  </a:ext>
                </a:extLst>
              </p:cNvPr>
              <p:cNvSpPr txBox="1"/>
              <p:nvPr/>
            </p:nvSpPr>
            <p:spPr>
              <a:xfrm>
                <a:off x="4210130" y="2625162"/>
                <a:ext cx="3771737" cy="4717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×(</m:t>
                      </m:r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6EDB1B-1110-EBCC-5825-10D799898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0130" y="2625162"/>
                <a:ext cx="3771737" cy="471732"/>
              </a:xfrm>
              <a:prstGeom prst="rect">
                <a:avLst/>
              </a:prstGeom>
              <a:blipFill>
                <a:blip r:embed="rId8"/>
                <a:stretch>
                  <a:fillRect l="-1007" r="-3020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8939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9" grpId="0"/>
      <p:bldP spid="10" grpId="0"/>
      <p:bldP spid="12" grpId="0"/>
      <p:bldP spid="16" grpId="0"/>
      <p:bldP spid="1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3877</TotalTime>
  <Words>1945</Words>
  <Application>Microsoft Macintosh PowerPoint</Application>
  <PresentationFormat>Widescreen</PresentationFormat>
  <Paragraphs>370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Aptos Display</vt:lpstr>
      <vt:lpstr>Arial</vt:lpstr>
      <vt:lpstr>Cambria Math</vt:lpstr>
      <vt:lpstr>Helvetica</vt:lpstr>
      <vt:lpstr>Times New Roman</vt:lpstr>
      <vt:lpstr>Office Theme</vt:lpstr>
      <vt:lpstr>PowerPoint Presentation</vt:lpstr>
      <vt:lpstr>The Risk–Return Trade-Off: Investor Perspective</vt:lpstr>
      <vt:lpstr>The Risk–Return Trade-Off: Company Perspective</vt:lpstr>
      <vt:lpstr>What is Return?</vt:lpstr>
      <vt:lpstr>Expected Return</vt:lpstr>
      <vt:lpstr>Understanding Stand-Alone Risk</vt:lpstr>
      <vt:lpstr>Drawing Probability Distributions</vt:lpstr>
      <vt:lpstr>Probability Distributions &amp; Risk</vt:lpstr>
      <vt:lpstr>Understanding Standard Deviation</vt:lpstr>
      <vt:lpstr>Calculating Risk with Standard Deviation (1)</vt:lpstr>
      <vt:lpstr>Calculating Risk with Standard Deviation (2)</vt:lpstr>
      <vt:lpstr>Calculating Risk with Standard Deviation (3)</vt:lpstr>
      <vt:lpstr>Selecting the Best Investment Opportunity</vt:lpstr>
      <vt:lpstr>Question-1</vt:lpstr>
      <vt:lpstr>Question-2</vt:lpstr>
      <vt:lpstr>Question-3</vt:lpstr>
      <vt:lpstr>Question-4</vt:lpstr>
      <vt:lpstr>Expected Portfolio Return</vt:lpstr>
      <vt:lpstr>Portfolio Risk</vt:lpstr>
      <vt:lpstr>What Is Correlation in Portfolio Risk?</vt:lpstr>
      <vt:lpstr>The Beta Coefficient</vt:lpstr>
      <vt:lpstr>Capital Asset Pricing Model (CAPM)</vt:lpstr>
      <vt:lpstr>Question-5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HAGHIGHI ZADEH, REIHANEH</dc:creator>
  <cp:lastModifiedBy>reza bavili</cp:lastModifiedBy>
  <cp:revision>63</cp:revision>
  <dcterms:created xsi:type="dcterms:W3CDTF">2024-10-08T02:28:39Z</dcterms:created>
  <dcterms:modified xsi:type="dcterms:W3CDTF">2025-04-15T00:06:14Z</dcterms:modified>
</cp:coreProperties>
</file>