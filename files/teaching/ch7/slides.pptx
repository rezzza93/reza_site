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8" r:id="rId2"/>
    <p:sldId id="263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81E4"/>
    <a:srgbClr val="0032FF"/>
    <a:srgbClr val="820700"/>
    <a:srgbClr val="171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0"/>
    <p:restoredTop sz="96087"/>
  </p:normalViewPr>
  <p:slideViewPr>
    <p:cSldViewPr snapToGrid="0">
      <p:cViewPr varScale="1">
        <p:scale>
          <a:sx n="106" d="100"/>
          <a:sy n="106" d="100"/>
        </p:scale>
        <p:origin x="20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B6570-999A-DC42-8E66-F3D58899C2B7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249C8-EEFF-0D43-99AE-419F2E81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8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FB6C-482D-0CA6-0DE7-A1A454DF8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B1028-71D8-5431-C858-18A13E212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D1E4A-C709-833E-8BD5-AB357ED3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4701-E60B-FACF-D008-D6973077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45F21-F310-25D3-E67C-F367F2C8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9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9575-D8E5-4A66-CADA-E482F144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6E56-9AC0-66AD-C7DA-859101091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363D-B7C6-7735-2FDD-08180DD6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0FD0-7E51-D047-6E3E-6637F26B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EC9BB-7E26-F3B6-D943-BC8B533D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7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9BF2-11A0-FD24-CE3F-086326F8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59D0-8E25-45D1-541F-EDC02B15B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8559-E522-D16F-4CAC-3D25F8FA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D839E-DE62-2C49-49CA-9764CD2E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CB57B-61F5-5150-2D2C-5DD8EB00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7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5D95-82B1-D51C-FC84-DEDAF8F0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9C2F-C4D3-4114-08A3-C63246E1F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2FEC3-2E6A-634C-C36E-31960FBB4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948A8-F8A0-43CE-61CB-23D8EEA88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AF85D-0A8C-EF4C-0BBB-781FE0AD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85E45-8598-93A6-A975-39200CEF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5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8E9C-41D5-756E-2210-73BE516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B8B5E-F5F4-C12D-6E69-79E7DC6C8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93AF9-BAAB-7C0C-2A9F-EE277C72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1E2C7-77F5-0CC3-0DB1-C603AD9D8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B85B7-C95B-6EB7-30B0-D7970DF9E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A31BD-258A-FF61-A40F-2AECE672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6FAEC-491C-9FBC-DD4F-E38CDBB9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7BF88-4C03-9D43-A69E-20C380CB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4D1B-1BCD-9A2B-3972-2543F411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FBEE9-22E7-9DCE-1FD7-6524DA6A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A0769-0478-F802-85F4-44852F87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E0EE1-A079-CFE1-AE9C-91864273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5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EF334-4B8C-D680-9553-CA10C9D7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99754-111E-6272-2C89-0F3EDA69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59B71-4C50-D2A2-020D-5DD0FA05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5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A0B8-477D-35B0-7412-32F428B9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A6865-2165-7C1C-940B-05399239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33155-0BFB-86F7-059B-EEF97ABF1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4A07E-E050-ABCF-9243-A6FBB258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DD39-1D14-5AB7-1A69-8027B38A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5BDE8-698B-2C4D-D21E-BE3EBD39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7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FCD6-1E57-B4FB-9408-566E3592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37DE9-1135-AA14-17F4-548BBF1F4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50764-D82B-D75E-993F-B9CCD1F07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3F2CD-FEBD-1ECF-8F44-D4F81977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2630-7380-E112-5F8B-043D986B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E5B24-DC64-AB0B-30EC-52DD0365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1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E52A-1FE4-B6B8-F089-5384E314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8E456-17A9-C6A9-2755-A45D7F453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BDF4-6082-1290-3E8E-57A5ABAA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0894A-2F3C-4B8E-8810-AEE57326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AF87-8AE7-BC2E-A207-358D87DC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8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1805F-BB64-2EB1-35DB-4E7F78E8E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F093D-B18C-38A6-A275-E4007CFDD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4F3AC-A7FB-2BA1-986B-83976C2C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EA69-29F0-C94B-C22B-5F9A5A22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7028-1573-C1DF-F272-C3A0F373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212E9-93E5-CDD1-498F-A39B259D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83DC2-F13F-F521-C0E4-4F54796F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7B16-78AF-C336-F905-BF1D852AF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E59BC-03CD-E536-A6BF-FA28D0ACB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83CA-4F84-65CA-AA42-4F0F2A5F0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7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1">
                <a:alpha val="84000"/>
                <a:lumMod val="76000"/>
              </a:schemeClr>
            </a:gs>
            <a:gs pos="52000">
              <a:schemeClr val="accent1">
                <a:lumMod val="45000"/>
                <a:lumOff val="55000"/>
              </a:schemeClr>
            </a:gs>
            <a:gs pos="7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CBDF4-8170-E480-75D3-55CE01005CD1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B0839-5E9D-30E7-D14B-C47804BA44F4}"/>
              </a:ext>
            </a:extLst>
          </p:cNvPr>
          <p:cNvSpPr txBox="1"/>
          <p:nvPr/>
        </p:nvSpPr>
        <p:spPr>
          <a:xfrm>
            <a:off x="4903843" y="512484"/>
            <a:ext cx="2384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7</a:t>
            </a:r>
          </a:p>
        </p:txBody>
      </p:sp>
      <p:pic>
        <p:nvPicPr>
          <p:cNvPr id="5" name="Picture 4" descr="A poster of a company logo&#10;&#10;AI-generated content may be incorrect.">
            <a:extLst>
              <a:ext uri="{FF2B5EF4-FFF2-40B4-BE49-F238E27FC236}">
                <a16:creationId xmlns:a16="http://schemas.microsoft.com/office/drawing/2014/main" id="{AA51F546-5575-3BFD-E92D-730EA0B69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2" y="1375198"/>
            <a:ext cx="4762496" cy="47624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158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6F0F-6DA7-76FD-EC05-B5048D47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BB7291-95BA-C571-70CC-82605DFE149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1DE40-E457-30D5-0E6F-73DE6868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What is a Bond?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50040F-DDAE-7F89-EDD9-73B9DED7E5F6}"/>
              </a:ext>
            </a:extLst>
          </p:cNvPr>
          <p:cNvSpPr txBox="1"/>
          <p:nvPr/>
        </p:nvSpPr>
        <p:spPr>
          <a:xfrm>
            <a:off x="248529" y="1562859"/>
            <a:ext cx="1169494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A </a:t>
            </a:r>
            <a:r>
              <a:rPr lang="en-US" sz="2400" b="1" dirty="0">
                <a:latin typeface="Helvetica" pitchFamily="2" charset="0"/>
              </a:rPr>
              <a:t>bond</a:t>
            </a:r>
            <a:r>
              <a:rPr lang="en-US" sz="2400" dirty="0">
                <a:latin typeface="Helvetica" pitchFamily="2" charset="0"/>
              </a:rPr>
              <a:t> is a fixed-income instrument that represents a </a:t>
            </a:r>
            <a:r>
              <a:rPr lang="en-US" sz="2400" b="1" dirty="0">
                <a:latin typeface="Helvetica" pitchFamily="2" charset="0"/>
              </a:rPr>
              <a:t>loan made by an investor to a borrower</a:t>
            </a:r>
            <a:r>
              <a:rPr lang="en-US" sz="2400" dirty="0">
                <a:latin typeface="Helvetica" pitchFamily="2" charset="0"/>
              </a:rPr>
              <a:t>. It’s a way for organizations to raise money.</a:t>
            </a:r>
          </a:p>
          <a:p>
            <a:pPr marL="342900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The borrower agrees to </a:t>
            </a:r>
            <a:r>
              <a:rPr lang="en-US" sz="2400" b="1" dirty="0">
                <a:latin typeface="Helvetica" pitchFamily="2" charset="0"/>
              </a:rPr>
              <a:t>pay back</a:t>
            </a:r>
            <a:r>
              <a:rPr lang="en-US" sz="2400" dirty="0">
                <a:latin typeface="Helvetica" pitchFamily="2" charset="0"/>
              </a:rPr>
              <a:t> the principal amount (face value) </a:t>
            </a:r>
            <a:r>
              <a:rPr lang="en-US" sz="2400" b="1" dirty="0">
                <a:latin typeface="Helvetica" pitchFamily="2" charset="0"/>
              </a:rPr>
              <a:t>on a specific date</a:t>
            </a:r>
            <a:r>
              <a:rPr lang="en-US" sz="2400" dirty="0">
                <a:latin typeface="Helvetica" pitchFamily="2" charset="0"/>
              </a:rPr>
              <a:t> (maturity date). </a:t>
            </a:r>
          </a:p>
          <a:p>
            <a:pPr marL="342900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During the life of the bond, the borrower typically pays </a:t>
            </a:r>
            <a:r>
              <a:rPr lang="en-US" sz="2400" b="1" dirty="0">
                <a:latin typeface="Helvetica" pitchFamily="2" charset="0"/>
              </a:rPr>
              <a:t>interest</a:t>
            </a:r>
            <a:r>
              <a:rPr lang="en-US" sz="2400" dirty="0">
                <a:latin typeface="Helvetica" pitchFamily="2" charset="0"/>
              </a:rPr>
              <a:t> (called a coupon) to the investor at regular intervals.</a:t>
            </a:r>
            <a:endParaRPr lang="en-US" sz="2200" dirty="0">
              <a:latin typeface="Helvetica" pitchFamily="2" charset="0"/>
            </a:endParaRPr>
          </a:p>
          <a:p>
            <a:pPr marL="342900" indent="-251460"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Who Issues Bonds?</a:t>
            </a:r>
            <a:r>
              <a:rPr lang="en-US" sz="2400" dirty="0">
                <a:latin typeface="Helvetica" pitchFamily="2" charset="0"/>
              </a:rPr>
              <a:t> </a:t>
            </a:r>
          </a:p>
          <a:p>
            <a:pPr marL="80010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Corporations</a:t>
            </a:r>
          </a:p>
          <a:p>
            <a:pPr marL="80010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Government agencies (Federal, State, Local)</a:t>
            </a:r>
          </a:p>
          <a:p>
            <a:pPr marL="80010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Foreign governments and corporations</a:t>
            </a:r>
          </a:p>
        </p:txBody>
      </p:sp>
    </p:spTree>
    <p:extLst>
      <p:ext uri="{BB962C8B-B14F-4D97-AF65-F5344CB8AC3E}">
        <p14:creationId xmlns:p14="http://schemas.microsoft.com/office/powerpoint/2010/main" val="56311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C87E1-FE60-166C-871E-475F8A60B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911542-E8E6-D4A1-60EF-746C7E20D4A2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53F43-837E-8F9E-A162-A703C7FD2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Types of Bonds by Issuer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68D43-01A3-62E4-8B32-4898F7AB0335}"/>
              </a:ext>
            </a:extLst>
          </p:cNvPr>
          <p:cNvSpPr txBox="1"/>
          <p:nvPr/>
        </p:nvSpPr>
        <p:spPr>
          <a:xfrm>
            <a:off x="347310" y="1731920"/>
            <a:ext cx="5040922" cy="1785104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U.S. Treasury Bonds (Treasuries):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Issued by the federal government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Virtually no default risk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Interest is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tax-exempt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9B0A8-833D-613E-3EFA-FD4E4382497C}"/>
              </a:ext>
            </a:extLst>
          </p:cNvPr>
          <p:cNvSpPr txBox="1"/>
          <p:nvPr/>
        </p:nvSpPr>
        <p:spPr>
          <a:xfrm>
            <a:off x="6096000" y="1731920"/>
            <a:ext cx="5748690" cy="1785104"/>
          </a:xfrm>
          <a:prstGeom prst="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56032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Helvetica" pitchFamily="2" charset="0"/>
              </a:rPr>
              <a:t>Corporate Bonds:</a:t>
            </a:r>
            <a:endParaRPr lang="en-US" sz="2000" dirty="0">
              <a:solidFill>
                <a:schemeClr val="tx2">
                  <a:lumMod val="90000"/>
                  <a:lumOff val="10000"/>
                </a:schemeClr>
              </a:solidFill>
              <a:latin typeface="Helvetica" pitchFamily="2" charset="0"/>
            </a:endParaRP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Helvetica" pitchFamily="2" charset="0"/>
              </a:rPr>
              <a:t>Issued by business firms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Helvetica" pitchFamily="2" charset="0"/>
              </a:rPr>
              <a:t>Exposed to </a:t>
            </a: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Helvetica" pitchFamily="2" charset="0"/>
              </a:rPr>
              <a:t>default risk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Helvetica" pitchFamily="2" charset="0"/>
              </a:rPr>
              <a:t> (credit risk)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Helvetica" pitchFamily="2" charset="0"/>
              </a:rPr>
              <a:t>Higher risk = higher interest rates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FB364-679D-31CB-CD58-E1FBAC3D20EC}"/>
              </a:ext>
            </a:extLst>
          </p:cNvPr>
          <p:cNvSpPr txBox="1"/>
          <p:nvPr/>
        </p:nvSpPr>
        <p:spPr>
          <a:xfrm>
            <a:off x="347310" y="3882151"/>
            <a:ext cx="5040922" cy="1785104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Municipal Bonds (Munis):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 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Issued by state/local governments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Some default risk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Interest is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tax-exempt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109B7-F1CF-4B35-2BB2-AE572A5C8DC2}"/>
              </a:ext>
            </a:extLst>
          </p:cNvPr>
          <p:cNvSpPr txBox="1"/>
          <p:nvPr/>
        </p:nvSpPr>
        <p:spPr>
          <a:xfrm>
            <a:off x="6096000" y="3882151"/>
            <a:ext cx="5748690" cy="1785104"/>
          </a:xfrm>
          <a:prstGeom prst="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Helvetica" pitchFamily="2" charset="0"/>
              </a:rPr>
              <a:t>Foreign Bonds: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Helvetica" pitchFamily="2" charset="0"/>
              </a:rPr>
              <a:t> 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Helvetica" pitchFamily="2" charset="0"/>
              </a:rPr>
              <a:t>Issued by foreign governments/companies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Helvetica" pitchFamily="2" charset="0"/>
              </a:rPr>
              <a:t>Exposed to default &amp; currency risk</a:t>
            </a:r>
          </a:p>
          <a:p>
            <a:pPr marL="74295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Helvetica" pitchFamily="2" charset="0"/>
              </a:rPr>
              <a:t>Example: Venezuela defaulted in 2017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1D0113-D3C5-C2CA-165C-1B8732BAF316}"/>
              </a:ext>
            </a:extLst>
          </p:cNvPr>
          <p:cNvSpPr txBox="1"/>
          <p:nvPr/>
        </p:nvSpPr>
        <p:spPr>
          <a:xfrm>
            <a:off x="3498173" y="6032382"/>
            <a:ext cx="5195653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Helvetica" pitchFamily="2" charset="0"/>
              </a:rPr>
              <a:t>Prices fluctuate with interest rates</a:t>
            </a:r>
          </a:p>
        </p:txBody>
      </p:sp>
    </p:spTree>
    <p:extLst>
      <p:ext uri="{BB962C8B-B14F-4D97-AF65-F5344CB8AC3E}">
        <p14:creationId xmlns:p14="http://schemas.microsoft.com/office/powerpoint/2010/main" val="338419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AF43-A64D-E5C6-D1C6-FF22F576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B74565-37AE-9411-A975-A9114C33F3A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251EA-7E93-3906-18D2-872F2C79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Risks in Bond Investments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381DE6-51F5-23DF-776A-D53184B4A0F0}"/>
              </a:ext>
            </a:extLst>
          </p:cNvPr>
          <p:cNvSpPr/>
          <p:nvPr/>
        </p:nvSpPr>
        <p:spPr>
          <a:xfrm>
            <a:off x="4312920" y="1688140"/>
            <a:ext cx="3566160" cy="655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Helvetica" pitchFamily="2" charset="0"/>
              </a:rPr>
              <a:t>Interest Rate Risk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95F481-DBDE-75A9-C44A-57D5D8844EFA}"/>
              </a:ext>
            </a:extLst>
          </p:cNvPr>
          <p:cNvSpPr/>
          <p:nvPr/>
        </p:nvSpPr>
        <p:spPr>
          <a:xfrm>
            <a:off x="746760" y="2710928"/>
            <a:ext cx="3566160" cy="655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Helvetica" pitchFamily="2" charset="0"/>
              </a:rPr>
              <a:t>Credit (Default) Risk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8C9609-2980-7BD6-76A8-9EEA94838E9A}"/>
              </a:ext>
            </a:extLst>
          </p:cNvPr>
          <p:cNvSpPr/>
          <p:nvPr/>
        </p:nvSpPr>
        <p:spPr>
          <a:xfrm>
            <a:off x="101995" y="3733716"/>
            <a:ext cx="3566160" cy="655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Helvetica" pitchFamily="2" charset="0"/>
              </a:rPr>
              <a:t>Inflation Risk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54F6C6-7A4C-4C0D-BCC1-63D5331AB155}"/>
              </a:ext>
            </a:extLst>
          </p:cNvPr>
          <p:cNvSpPr/>
          <p:nvPr/>
        </p:nvSpPr>
        <p:spPr>
          <a:xfrm>
            <a:off x="746760" y="4756504"/>
            <a:ext cx="3566160" cy="655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Helvetica" pitchFamily="2" charset="0"/>
              </a:rPr>
              <a:t>Reinvestment Risk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157C2-710C-212A-3186-C44B068F6323}"/>
              </a:ext>
            </a:extLst>
          </p:cNvPr>
          <p:cNvSpPr/>
          <p:nvPr/>
        </p:nvSpPr>
        <p:spPr>
          <a:xfrm>
            <a:off x="4312920" y="5779292"/>
            <a:ext cx="3566160" cy="655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Helvetica" pitchFamily="2" charset="0"/>
              </a:rPr>
              <a:t>Liquidity Risk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5113BC-6FF9-1601-E1C6-15E2D17D258E}"/>
              </a:ext>
            </a:extLst>
          </p:cNvPr>
          <p:cNvSpPr/>
          <p:nvPr/>
        </p:nvSpPr>
        <p:spPr>
          <a:xfrm>
            <a:off x="8523845" y="3724407"/>
            <a:ext cx="3566160" cy="655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Helvetica" pitchFamily="2" charset="0"/>
              </a:rPr>
              <a:t>Exchange Rate Risk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635979-6F20-7472-C047-7E2D46A2C517}"/>
              </a:ext>
            </a:extLst>
          </p:cNvPr>
          <p:cNvSpPr/>
          <p:nvPr/>
        </p:nvSpPr>
        <p:spPr>
          <a:xfrm>
            <a:off x="7879080" y="2709353"/>
            <a:ext cx="3566160" cy="655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Helvetica" pitchFamily="2" charset="0"/>
              </a:rPr>
              <a:t>Event Risk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5FCBFF-8C3E-BB24-6847-BE46E1019C7A}"/>
              </a:ext>
            </a:extLst>
          </p:cNvPr>
          <p:cNvSpPr/>
          <p:nvPr/>
        </p:nvSpPr>
        <p:spPr>
          <a:xfrm>
            <a:off x="7879080" y="4756503"/>
            <a:ext cx="3566160" cy="655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Helvetica" pitchFamily="2" charset="0"/>
              </a:rPr>
              <a:t>Political/Legal Risk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56B7815-89F4-7CD0-B377-F85950D139D1}"/>
              </a:ext>
            </a:extLst>
          </p:cNvPr>
          <p:cNvSpPr/>
          <p:nvPr/>
        </p:nvSpPr>
        <p:spPr>
          <a:xfrm>
            <a:off x="4539175" y="2725007"/>
            <a:ext cx="3113650" cy="26728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Helvetica" pitchFamily="2" charset="0"/>
              </a:rPr>
              <a:t>Risks in bond investments</a:t>
            </a:r>
          </a:p>
        </p:txBody>
      </p:sp>
    </p:spTree>
    <p:extLst>
      <p:ext uri="{BB962C8B-B14F-4D97-AF65-F5344CB8AC3E}">
        <p14:creationId xmlns:p14="http://schemas.microsoft.com/office/powerpoint/2010/main" val="78038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C08C-286C-B8A5-5E77-4EDFF995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8E1BF2-1530-14EA-0E85-F4C45CE2F63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C246E7-E7C5-80AC-6FC7-856916C9D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Key Characteristics of Bonds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9355B-1107-1507-4164-67F3B6C4E622}"/>
              </a:ext>
            </a:extLst>
          </p:cNvPr>
          <p:cNvSpPr txBox="1"/>
          <p:nvPr/>
        </p:nvSpPr>
        <p:spPr>
          <a:xfrm>
            <a:off x="248529" y="1586306"/>
            <a:ext cx="1169494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56032"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Key Features:</a:t>
            </a:r>
          </a:p>
          <a:p>
            <a:pPr marL="800100" lvl="1" indent="-256032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Par Value</a:t>
            </a:r>
            <a:r>
              <a:rPr lang="en-US" sz="2200" dirty="0">
                <a:latin typeface="Helvetica" pitchFamily="2" charset="0"/>
              </a:rPr>
              <a:t>: </a:t>
            </a:r>
          </a:p>
          <a:p>
            <a:pPr marL="1714500" lvl="3" indent="-256032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Standard is </a:t>
            </a:r>
            <a:r>
              <a:rPr lang="en-US" sz="2200" b="1" dirty="0">
                <a:latin typeface="Helvetica" pitchFamily="2" charset="0"/>
              </a:rPr>
              <a:t>$1,000</a:t>
            </a:r>
            <a:r>
              <a:rPr lang="en-US" sz="2200" dirty="0">
                <a:latin typeface="Helvetica" pitchFamily="2" charset="0"/>
              </a:rPr>
              <a:t> (or multiples thereof). Represents the principal the issuer agrees to repay.</a:t>
            </a:r>
          </a:p>
          <a:p>
            <a:pPr marL="800100" lvl="1" indent="-256032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Coupon Interest Rate</a:t>
            </a:r>
            <a:r>
              <a:rPr lang="en-US" sz="2200" dirty="0">
                <a:latin typeface="Helvetica" pitchFamily="2" charset="0"/>
              </a:rPr>
              <a:t>: </a:t>
            </a:r>
          </a:p>
          <a:p>
            <a:pPr marL="1714500" lvl="3" indent="-256032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Determines the </a:t>
            </a:r>
            <a:r>
              <a:rPr lang="en-US" sz="2200" b="1" dirty="0">
                <a:latin typeface="Helvetica" pitchFamily="2" charset="0"/>
              </a:rPr>
              <a:t>interest income</a:t>
            </a:r>
            <a:r>
              <a:rPr lang="en-US" sz="2200" dirty="0">
                <a:latin typeface="Helvetica" pitchFamily="2" charset="0"/>
              </a:rPr>
              <a:t> an investor receives annually.</a:t>
            </a:r>
          </a:p>
          <a:p>
            <a:pPr marL="800100" lvl="1" indent="-256032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Maturity Date</a:t>
            </a:r>
            <a:r>
              <a:rPr lang="en-US" sz="2200" dirty="0">
                <a:latin typeface="Helvetica" pitchFamily="2" charset="0"/>
              </a:rPr>
              <a:t>: </a:t>
            </a:r>
          </a:p>
          <a:p>
            <a:pPr marL="1714500" lvl="3" indent="-256032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Specifies when the bond’s par value must be repaid.</a:t>
            </a:r>
          </a:p>
        </p:txBody>
      </p:sp>
    </p:spTree>
    <p:extLst>
      <p:ext uri="{BB962C8B-B14F-4D97-AF65-F5344CB8AC3E}">
        <p14:creationId xmlns:p14="http://schemas.microsoft.com/office/powerpoint/2010/main" val="757908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B5F0E-88DC-A323-502B-6FAB4165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B43138-96A6-C676-4B6C-564D6101C0E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8C207-5A02-E125-64C9-EB131A780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Common Characteristics of Bonds</a:t>
            </a:r>
          </a:p>
        </p:txBody>
      </p:sp>
      <p:pic>
        <p:nvPicPr>
          <p:cNvPr id="4" name="Picture 3" descr="A close-up of a red and white certificate&#10;&#10;AI-generated content may be incorrect.">
            <a:extLst>
              <a:ext uri="{FF2B5EF4-FFF2-40B4-BE49-F238E27FC236}">
                <a16:creationId xmlns:a16="http://schemas.microsoft.com/office/drawing/2014/main" id="{FBA2F580-ED61-B945-D7E3-371184E08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843" y="1474391"/>
            <a:ext cx="7411572" cy="533671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7A9C6062-F991-4C3E-B9AD-0729DE2AFDD9}"/>
              </a:ext>
            </a:extLst>
          </p:cNvPr>
          <p:cNvGrpSpPr/>
          <p:nvPr/>
        </p:nvGrpSpPr>
        <p:grpSpPr>
          <a:xfrm>
            <a:off x="434675" y="2368061"/>
            <a:ext cx="3633232" cy="1132748"/>
            <a:chOff x="434675" y="2368061"/>
            <a:chExt cx="3633232" cy="11327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48BB855-FA0C-ACE3-616D-20FC25E545A3}"/>
                </a:ext>
              </a:extLst>
            </p:cNvPr>
            <p:cNvSpPr/>
            <p:nvPr/>
          </p:nvSpPr>
          <p:spPr>
            <a:xfrm>
              <a:off x="2684584" y="2368061"/>
              <a:ext cx="1383323" cy="844062"/>
            </a:xfrm>
            <a:prstGeom prst="rect">
              <a:avLst/>
            </a:prstGeom>
            <a:noFill/>
            <a:ln w="571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95F8797-51DA-E444-6B5F-86EE4B9DE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3888" y="2930769"/>
              <a:ext cx="910696" cy="169930"/>
            </a:xfrm>
            <a:prstGeom prst="straightConnector1">
              <a:avLst/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6AD5F2-3B3F-FFCB-39BE-2D315AFCD805}"/>
                </a:ext>
              </a:extLst>
            </p:cNvPr>
            <p:cNvSpPr txBox="1"/>
            <p:nvPr/>
          </p:nvSpPr>
          <p:spPr>
            <a:xfrm>
              <a:off x="434675" y="3100699"/>
              <a:ext cx="1339213" cy="400110"/>
            </a:xfrm>
            <a:prstGeom prst="rect">
              <a:avLst/>
            </a:prstGeom>
            <a:noFill/>
            <a:ln w="57150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Helvetica" pitchFamily="2" charset="0"/>
                </a:rPr>
                <a:t>Par Value</a:t>
              </a:r>
              <a:endParaRPr lang="en-US" sz="20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F6E279-7385-5276-05E7-0FF52F457FCF}"/>
              </a:ext>
            </a:extLst>
          </p:cNvPr>
          <p:cNvGrpSpPr/>
          <p:nvPr/>
        </p:nvGrpSpPr>
        <p:grpSpPr>
          <a:xfrm>
            <a:off x="105507" y="3936052"/>
            <a:ext cx="3176954" cy="851390"/>
            <a:chOff x="199291" y="3936052"/>
            <a:chExt cx="3176954" cy="85139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EE8AF6C-B52F-A687-3401-D91830EC0B72}"/>
                </a:ext>
              </a:extLst>
            </p:cNvPr>
            <p:cNvSpPr/>
            <p:nvPr/>
          </p:nvSpPr>
          <p:spPr>
            <a:xfrm>
              <a:off x="2684585" y="3936052"/>
              <a:ext cx="691660" cy="468923"/>
            </a:xfrm>
            <a:prstGeom prst="rect">
              <a:avLst/>
            </a:prstGeom>
            <a:noFill/>
            <a:ln w="5715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6B61D67-6405-5021-DC9C-4C7AC6D26342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2016368" y="4170514"/>
              <a:ext cx="668217" cy="216818"/>
            </a:xfrm>
            <a:prstGeom prst="straightConnector1">
              <a:avLst/>
            </a:prstGeom>
            <a:ln w="57150">
              <a:solidFill>
                <a:schemeClr val="accent4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48DFEE-55AF-CEDD-BE12-8428349CB8D3}"/>
                </a:ext>
              </a:extLst>
            </p:cNvPr>
            <p:cNvSpPr txBox="1"/>
            <p:nvPr/>
          </p:nvSpPr>
          <p:spPr>
            <a:xfrm>
              <a:off x="199291" y="4387332"/>
              <a:ext cx="1817077" cy="400110"/>
            </a:xfrm>
            <a:prstGeom prst="rect">
              <a:avLst/>
            </a:prstGeom>
            <a:noFill/>
            <a:ln w="57150">
              <a:solidFill>
                <a:schemeClr val="accent4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Helvetica" pitchFamily="2" charset="0"/>
                </a:rPr>
                <a:t>Coupon Rate</a:t>
              </a:r>
              <a:endParaRPr lang="en-US" sz="20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306D931-ED3E-F5FE-870F-4065465017B0}"/>
              </a:ext>
            </a:extLst>
          </p:cNvPr>
          <p:cNvGrpSpPr/>
          <p:nvPr/>
        </p:nvGrpSpPr>
        <p:grpSpPr>
          <a:xfrm>
            <a:off x="4091353" y="3500810"/>
            <a:ext cx="7262447" cy="619908"/>
            <a:chOff x="4091353" y="3500810"/>
            <a:chExt cx="7262447" cy="61990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66372B4-7C1A-3A27-4DF4-E23843C449B2}"/>
                </a:ext>
              </a:extLst>
            </p:cNvPr>
            <p:cNvSpPr/>
            <p:nvPr/>
          </p:nvSpPr>
          <p:spPr>
            <a:xfrm>
              <a:off x="4091353" y="3500810"/>
              <a:ext cx="3411416" cy="250576"/>
            </a:xfrm>
            <a:prstGeom prst="rect">
              <a:avLst/>
            </a:prstGeom>
            <a:noFill/>
            <a:ln w="57150">
              <a:solidFill>
                <a:srgbClr val="0032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FD9B384-BEDC-7E35-8A5F-E72FE4A289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2769" y="3626098"/>
              <a:ext cx="2189627" cy="125288"/>
            </a:xfrm>
            <a:prstGeom prst="straightConnector1">
              <a:avLst/>
            </a:prstGeom>
            <a:ln w="57150">
              <a:solidFill>
                <a:srgbClr val="0032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C18CF69-632A-8A12-747B-0AD6D29B03A7}"/>
                </a:ext>
              </a:extLst>
            </p:cNvPr>
            <p:cNvSpPr txBox="1"/>
            <p:nvPr/>
          </p:nvSpPr>
          <p:spPr>
            <a:xfrm>
              <a:off x="9707195" y="3751386"/>
              <a:ext cx="1646605" cy="369332"/>
            </a:xfrm>
            <a:prstGeom prst="rect">
              <a:avLst/>
            </a:prstGeom>
            <a:noFill/>
            <a:ln w="57150">
              <a:solidFill>
                <a:srgbClr val="0032FF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Helvetica" pitchFamily="2" charset="0"/>
                </a:rPr>
                <a:t>Maturity Date</a:t>
              </a:r>
              <a:endParaRPr lang="en-US" sz="1800" dirty="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121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F465D-B40C-4049-91ED-06DE2EAD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B07881-835C-67B4-C6FD-B59A39F9290F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1C9D9-787F-832D-ABAC-A16C60F5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Coupon Interest Rate &amp; Types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6259AD-7716-DA1D-1153-1971924D480B}"/>
              </a:ext>
            </a:extLst>
          </p:cNvPr>
          <p:cNvSpPr txBox="1"/>
          <p:nvPr/>
        </p:nvSpPr>
        <p:spPr>
          <a:xfrm>
            <a:off x="248529" y="1586306"/>
            <a:ext cx="1169494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Coupon Interest Rate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Fixed payment, usually paid annually or semi-annually.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Coupon Rate</a:t>
            </a:r>
            <a:r>
              <a:rPr lang="en-US" sz="2200" dirty="0">
                <a:latin typeface="Helvetica" pitchFamily="2" charset="0"/>
              </a:rPr>
              <a:t> = Coupon Payment / Par Value.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Example: $1,000 par bond with an $80 coupon → </a:t>
            </a:r>
            <a:r>
              <a:rPr lang="en-US" sz="2200" b="1" dirty="0">
                <a:latin typeface="Helvetica" pitchFamily="2" charset="0"/>
              </a:rPr>
              <a:t>Coupon Rate = 8%</a:t>
            </a:r>
            <a:r>
              <a:rPr lang="en-US" sz="2200" dirty="0">
                <a:latin typeface="Helvetica" pitchFamily="2" charset="0"/>
              </a:rPr>
              <a:t>.</a:t>
            </a:r>
          </a:p>
          <a:p>
            <a:pPr marL="342900" indent="-256032"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Types of Bonds by Coupon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Fixed-Rate Bonds</a:t>
            </a:r>
            <a:r>
              <a:rPr lang="en-US" sz="2200" dirty="0">
                <a:latin typeface="Helvetica" pitchFamily="2" charset="0"/>
              </a:rPr>
              <a:t>: Same coupon rate throughout life.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Floating-Rate Bonds</a:t>
            </a:r>
            <a:r>
              <a:rPr lang="en-US" sz="2200" dirty="0">
                <a:latin typeface="Helvetica" pitchFamily="2" charset="0"/>
              </a:rPr>
              <a:t>: Coupon adjusts periodically (e.g., Treasury Rate + 1.5%).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Zero Coupon Bonds</a:t>
            </a:r>
            <a:r>
              <a:rPr lang="en-US" sz="2200" dirty="0">
                <a:latin typeface="Helvetica" pitchFamily="2" charset="0"/>
              </a:rPr>
              <a:t>: No interest payments; issued at a discount.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OID Bonds (Original Issue Discount)</a:t>
            </a:r>
            <a:r>
              <a:rPr lang="en-US" sz="2200" dirty="0">
                <a:latin typeface="Helvetica" pitchFamily="2" charset="0"/>
              </a:rPr>
              <a:t>: Issued at a price below par.</a:t>
            </a:r>
          </a:p>
        </p:txBody>
      </p:sp>
    </p:spTree>
    <p:extLst>
      <p:ext uri="{BB962C8B-B14F-4D97-AF65-F5344CB8AC3E}">
        <p14:creationId xmlns:p14="http://schemas.microsoft.com/office/powerpoint/2010/main" val="4276726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CAC12-CF6A-EE93-AD00-F080151C3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2AE840-523B-251C-37E9-E03CB2AEF1F0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94A4E3-82DF-EBBA-EDF3-20FEAB1A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Maturity Date &amp; Call Provisions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9CBA7F-1A99-A692-8EB5-7B91A787DF9C}"/>
              </a:ext>
            </a:extLst>
          </p:cNvPr>
          <p:cNvSpPr txBox="1"/>
          <p:nvPr/>
        </p:nvSpPr>
        <p:spPr>
          <a:xfrm>
            <a:off x="248529" y="1586306"/>
            <a:ext cx="1169494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Maturity Date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Specifies when par value must be repaid.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Maturity decreases over time.</a:t>
            </a:r>
          </a:p>
          <a:p>
            <a:pPr marL="342900" indent="-256032"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Call Provisions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Allows issuer to redeem bonds before maturity.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Issuer pays </a:t>
            </a:r>
            <a:r>
              <a:rPr lang="en-US" sz="2200" b="1" dirty="0">
                <a:latin typeface="Helvetica" pitchFamily="2" charset="0"/>
              </a:rPr>
              <a:t>par value + call premium</a:t>
            </a:r>
            <a:r>
              <a:rPr lang="en-US" sz="2200" dirty="0">
                <a:latin typeface="Helvetica" pitchFamily="2" charset="0"/>
              </a:rPr>
              <a:t>.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Deferred Call</a:t>
            </a:r>
            <a:r>
              <a:rPr lang="en-US" sz="2200" dirty="0">
                <a:latin typeface="Helvetica" pitchFamily="2" charset="0"/>
              </a:rPr>
              <a:t>: Bonds not callable for 5-10 years.</a:t>
            </a:r>
          </a:p>
          <a:p>
            <a:pPr marL="800100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Investor Risk</a:t>
            </a:r>
            <a:r>
              <a:rPr lang="en-US" sz="2200" dirty="0">
                <a:latin typeface="Helvetica" pitchFamily="2" charset="0"/>
              </a:rPr>
              <a:t>: Callable bonds typically offer </a:t>
            </a:r>
            <a:r>
              <a:rPr lang="en-US" sz="2200" b="1" dirty="0">
                <a:latin typeface="Helvetica" pitchFamily="2" charset="0"/>
              </a:rPr>
              <a:t>higher coupon rates</a:t>
            </a:r>
            <a:r>
              <a:rPr lang="en-US" sz="2200" dirty="0">
                <a:latin typeface="Helvetica" pitchFamily="2" charset="0"/>
              </a:rPr>
              <a:t>.</a:t>
            </a: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2D855EC2-9A12-B795-B127-D685194CC397}"/>
              </a:ext>
            </a:extLst>
          </p:cNvPr>
          <p:cNvSpPr/>
          <p:nvPr/>
        </p:nvSpPr>
        <p:spPr>
          <a:xfrm>
            <a:off x="7162796" y="3001109"/>
            <a:ext cx="4267203" cy="1925632"/>
          </a:xfrm>
          <a:prstGeom prst="cloudCallout">
            <a:avLst>
              <a:gd name="adj1" fmla="val -77416"/>
              <a:gd name="adj2" fmla="val 28253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Helvetica" pitchFamily="2" charset="0"/>
              </a:rPr>
              <a:t>Protect from Reinvestment Risk </a:t>
            </a:r>
          </a:p>
        </p:txBody>
      </p:sp>
      <p:sp>
        <p:nvSpPr>
          <p:cNvPr id="4" name="Cloud Callout 3">
            <a:extLst>
              <a:ext uri="{FF2B5EF4-FFF2-40B4-BE49-F238E27FC236}">
                <a16:creationId xmlns:a16="http://schemas.microsoft.com/office/drawing/2014/main" id="{5730D653-491E-7BA1-D93B-57FD5282233A}"/>
              </a:ext>
            </a:extLst>
          </p:cNvPr>
          <p:cNvSpPr/>
          <p:nvPr/>
        </p:nvSpPr>
        <p:spPr>
          <a:xfrm>
            <a:off x="7162795" y="3001109"/>
            <a:ext cx="4267203" cy="1925632"/>
          </a:xfrm>
          <a:prstGeom prst="cloudCallout">
            <a:avLst>
              <a:gd name="adj1" fmla="val -34284"/>
              <a:gd name="adj2" fmla="val 67825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Helvetica" pitchFamily="2" charset="0"/>
              </a:rPr>
              <a:t>Protect from Reinvestment Risk </a:t>
            </a:r>
          </a:p>
        </p:txBody>
      </p:sp>
    </p:spTree>
    <p:extLst>
      <p:ext uri="{BB962C8B-B14F-4D97-AF65-F5344CB8AC3E}">
        <p14:creationId xmlns:p14="http://schemas.microsoft.com/office/powerpoint/2010/main" val="58612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B549-0F4D-BDAD-4E82-6956D39B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A0C4B3-A462-1B37-FF3E-C162A3A54B7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AF5E4C-C98F-3648-98BF-26EE00A6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Other Bond 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038960-A4C5-5201-21EC-1D905B715A79}"/>
              </a:ext>
            </a:extLst>
          </p:cNvPr>
          <p:cNvSpPr txBox="1"/>
          <p:nvPr/>
        </p:nvSpPr>
        <p:spPr>
          <a:xfrm>
            <a:off x="247357" y="1504245"/>
            <a:ext cx="1169728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51460">
              <a:buFont typeface="Arial" panose="020B0604020202020204" pitchFamily="34" charset="0"/>
              <a:buChar char="•"/>
            </a:pPr>
            <a:r>
              <a:rPr lang="en-US" sz="2400" b="1" dirty="0"/>
              <a:t>Convertible Bonds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400" dirty="0"/>
              <a:t>Convert into </a:t>
            </a:r>
            <a:r>
              <a:rPr lang="en-US" sz="2400" b="1" dirty="0"/>
              <a:t>common stock</a:t>
            </a:r>
            <a:r>
              <a:rPr lang="en-US" sz="2400" dirty="0"/>
              <a:t> at a fixed price.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400" dirty="0"/>
              <a:t>Typically, </a:t>
            </a:r>
            <a:r>
              <a:rPr lang="en-US" sz="2400" b="1" dirty="0"/>
              <a:t>lower coupon rates</a:t>
            </a:r>
            <a:r>
              <a:rPr lang="en-US" sz="2400" dirty="0"/>
              <a:t> than regular bonds.</a:t>
            </a:r>
          </a:p>
          <a:p>
            <a:pPr marL="342900" indent="-25146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dirty="0"/>
              <a:t>Putable Bonds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400" dirty="0"/>
              <a:t>Investor can </a:t>
            </a:r>
            <a:r>
              <a:rPr lang="en-US" sz="2400" b="1" dirty="0"/>
              <a:t>force issuer to buy back</a:t>
            </a:r>
            <a:r>
              <a:rPr lang="en-US" sz="2400" dirty="0"/>
              <a:t> bonds early.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400" dirty="0"/>
              <a:t>Useful if </a:t>
            </a:r>
            <a:r>
              <a:rPr lang="en-US" sz="2400" b="1" dirty="0"/>
              <a:t>interest rates rise</a:t>
            </a:r>
            <a:r>
              <a:rPr lang="en-US" sz="2400" dirty="0"/>
              <a:t> and better investments exist.</a:t>
            </a:r>
          </a:p>
          <a:p>
            <a:pPr marL="342900" indent="-25146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dirty="0"/>
              <a:t>Income Bonds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400" dirty="0"/>
              <a:t>Pay interest </a:t>
            </a:r>
            <a:r>
              <a:rPr lang="en-US" sz="2400" b="1" dirty="0"/>
              <a:t>only if issuer earns enough</a:t>
            </a:r>
            <a:r>
              <a:rPr lang="en-US" sz="2400" dirty="0"/>
              <a:t>.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400" dirty="0"/>
              <a:t>Higher risk for investors.</a:t>
            </a:r>
          </a:p>
          <a:p>
            <a:pPr marL="342900" indent="-25146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dirty="0"/>
              <a:t>Indexed (Inflation-Linked) Bonds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400" dirty="0"/>
              <a:t>Coupon payments adjust with </a:t>
            </a:r>
            <a:r>
              <a:rPr lang="en-US" sz="2400" b="1" dirty="0"/>
              <a:t>inflation index</a:t>
            </a:r>
            <a:r>
              <a:rPr lang="en-US" sz="2400" dirty="0"/>
              <a:t> (e.g., CPI).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400" dirty="0"/>
              <a:t>U.S. Treasury is the main issuer.</a:t>
            </a:r>
          </a:p>
        </p:txBody>
      </p:sp>
    </p:spTree>
    <p:extLst>
      <p:ext uri="{BB962C8B-B14F-4D97-AF65-F5344CB8AC3E}">
        <p14:creationId xmlns:p14="http://schemas.microsoft.com/office/powerpoint/2010/main" val="4184104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67D7-5CB6-9720-A93F-1BE96C72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C4D7EF-C424-1858-C8ED-304D91788B2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FBE56-0388-BA02-1AF7-432880DB6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Bond Valuation (1)</a:t>
            </a:r>
            <a:endParaRPr lang="en-US" sz="40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7246C3-BA8A-9C15-77B7-2A622780BAED}"/>
              </a:ext>
            </a:extLst>
          </p:cNvPr>
          <p:cNvSpPr txBox="1"/>
          <p:nvPr/>
        </p:nvSpPr>
        <p:spPr>
          <a:xfrm>
            <a:off x="247357" y="1504245"/>
            <a:ext cx="116972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51460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Helvetica" pitchFamily="2" charset="0"/>
              </a:rPr>
              <a:t>The value of any financial asset</a:t>
            </a:r>
            <a:r>
              <a:rPr lang="en-US" sz="2200" b="0" i="0" dirty="0">
                <a:effectLst/>
                <a:latin typeface="Helvetica" pitchFamily="2" charset="0"/>
              </a:rPr>
              <a:t>—a stock, a bond, or even a physical asset—is the </a:t>
            </a:r>
            <a:r>
              <a:rPr lang="en-US" sz="2200" b="1" i="0" dirty="0">
                <a:solidFill>
                  <a:srgbClr val="C00000"/>
                </a:solidFill>
                <a:effectLst/>
                <a:latin typeface="Helvetica" pitchFamily="2" charset="0"/>
              </a:rPr>
              <a:t>present value</a:t>
            </a:r>
            <a:r>
              <a:rPr lang="en-US" sz="2200" b="0" i="0" dirty="0">
                <a:effectLst/>
                <a:latin typeface="Helvetica" pitchFamily="2" charset="0"/>
              </a:rPr>
              <a:t> of the cash flows the asset is expected to produce.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A0F27-023A-2F18-5B57-BA839D01109B}"/>
              </a:ext>
            </a:extLst>
          </p:cNvPr>
          <p:cNvSpPr txBox="1"/>
          <p:nvPr/>
        </p:nvSpPr>
        <p:spPr>
          <a:xfrm>
            <a:off x="363416" y="2436420"/>
            <a:ext cx="697979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Imagine a bond: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Annual coupon 5%,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Par value of $1,000, 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Remaining maturity of 10 years,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And the market interest rate is currently 7%.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A764462-9971-747A-DE89-D994FEDBEF66}"/>
              </a:ext>
            </a:extLst>
          </p:cNvPr>
          <p:cNvGrpSpPr/>
          <p:nvPr/>
        </p:nvGrpSpPr>
        <p:grpSpPr>
          <a:xfrm>
            <a:off x="838200" y="5081679"/>
            <a:ext cx="10242589" cy="1154274"/>
            <a:chOff x="838200" y="4683097"/>
            <a:chExt cx="10242589" cy="115427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A1AA7AC-CB64-DD20-BC0D-0A6C1890EBA8}"/>
                </a:ext>
              </a:extLst>
            </p:cNvPr>
            <p:cNvGrpSpPr/>
            <p:nvPr/>
          </p:nvGrpSpPr>
          <p:grpSpPr>
            <a:xfrm>
              <a:off x="838200" y="5039423"/>
              <a:ext cx="10242589" cy="797948"/>
              <a:chOff x="873086" y="5053331"/>
              <a:chExt cx="10242589" cy="1147434"/>
            </a:xfrm>
            <a:noFill/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41BCC5F-0EBB-EE55-4728-5E9FCEEB4C7D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AD795BCE-2731-ED8F-129B-4812801AAF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D3E48EA4-1997-0D9F-67C4-3B7E861C7E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DE14E9F-9976-E3A3-C75B-0F1A5785FF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367E06F-54F5-EE92-46A2-8531516B10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3AC616C2-578F-E272-5D90-50EE777D3A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64CB2D2A-13B5-E5C9-2C1D-6F4780DD20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88372A-D309-F68A-CEA8-3E3A0E7671D9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A7508D-F99C-3046-FC2D-1BDEB7F078C2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B3B269-B6FC-994B-3863-7822748F188C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0415D2-59C0-34CC-4B8B-D49130ED527A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CECE16-ED36-F19C-9BF6-3843CD0CAB8A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412292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10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71C33F-68F0-5C20-E87A-39DDCAB479DA}"/>
                </a:ext>
              </a:extLst>
            </p:cNvPr>
            <p:cNvSpPr txBox="1"/>
            <p:nvPr/>
          </p:nvSpPr>
          <p:spPr>
            <a:xfrm>
              <a:off x="8688379" y="5108783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…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50AA564-50C0-F3D2-F7D4-A86B7D04078E}"/>
                </a:ext>
              </a:extLst>
            </p:cNvPr>
            <p:cNvSpPr txBox="1"/>
            <p:nvPr/>
          </p:nvSpPr>
          <p:spPr>
            <a:xfrm>
              <a:off x="8688379" y="4683097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…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F5B7055-191E-4753-7516-0C9E511EB191}"/>
              </a:ext>
            </a:extLst>
          </p:cNvPr>
          <p:cNvSpPr txBox="1"/>
          <p:nvPr/>
        </p:nvSpPr>
        <p:spPr>
          <a:xfrm>
            <a:off x="2956475" y="4981587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CF</a:t>
            </a:r>
            <a:r>
              <a:rPr lang="en-US" sz="2000" b="1" baseline="-25000" dirty="0">
                <a:solidFill>
                  <a:srgbClr val="0070C0"/>
                </a:solidFill>
              </a:rPr>
              <a:t>1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5E6553-18D9-0D2B-DFDD-EA4C8CBC35EC}"/>
              </a:ext>
            </a:extLst>
          </p:cNvPr>
          <p:cNvSpPr txBox="1"/>
          <p:nvPr/>
        </p:nvSpPr>
        <p:spPr>
          <a:xfrm>
            <a:off x="5237508" y="4981587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CF</a:t>
            </a:r>
            <a:r>
              <a:rPr lang="en-US" sz="2000" b="1" baseline="-25000" dirty="0">
                <a:solidFill>
                  <a:srgbClr val="0070C0"/>
                </a:solidFill>
              </a:rPr>
              <a:t>2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6A9B87-3434-0383-2A6C-399324E0F0A6}"/>
              </a:ext>
            </a:extLst>
          </p:cNvPr>
          <p:cNvSpPr txBox="1"/>
          <p:nvPr/>
        </p:nvSpPr>
        <p:spPr>
          <a:xfrm>
            <a:off x="7533109" y="4981587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CF</a:t>
            </a:r>
            <a:r>
              <a:rPr lang="en-US" sz="2000" b="1" baseline="-25000" dirty="0">
                <a:solidFill>
                  <a:srgbClr val="0070C0"/>
                </a:solidFill>
              </a:rPr>
              <a:t>3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B0C115-5FEC-5BC3-9664-B44C933E692A}"/>
              </a:ext>
            </a:extLst>
          </p:cNvPr>
          <p:cNvSpPr txBox="1"/>
          <p:nvPr/>
        </p:nvSpPr>
        <p:spPr>
          <a:xfrm>
            <a:off x="9810760" y="4981587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CF</a:t>
            </a:r>
            <a:r>
              <a:rPr lang="en-US" sz="2000" b="1" baseline="-25000" dirty="0">
                <a:solidFill>
                  <a:srgbClr val="0070C0"/>
                </a:solidFill>
              </a:rPr>
              <a:t>10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76BFC0-A632-409F-B905-87F9DD7E70E1}"/>
              </a:ext>
            </a:extLst>
          </p:cNvPr>
          <p:cNvSpPr txBox="1"/>
          <p:nvPr/>
        </p:nvSpPr>
        <p:spPr>
          <a:xfrm>
            <a:off x="9830875" y="4428347"/>
            <a:ext cx="567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Par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2F1BA1-94F3-216D-89EA-D8148E834C49}"/>
              </a:ext>
            </a:extLst>
          </p:cNvPr>
          <p:cNvSpPr txBox="1"/>
          <p:nvPr/>
        </p:nvSpPr>
        <p:spPr>
          <a:xfrm>
            <a:off x="9972267" y="4688901"/>
            <a:ext cx="319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9926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EA8AB-AB84-3DFD-E590-3A6488F1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FED840-6605-0B3F-9BC2-9692861E0782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7E27E8-59E3-6281-19ED-F17DF738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Bond Valuation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9746D-7EFA-523A-59E2-FC4B27BF128B}"/>
              </a:ext>
            </a:extLst>
          </p:cNvPr>
          <p:cNvSpPr txBox="1"/>
          <p:nvPr/>
        </p:nvSpPr>
        <p:spPr>
          <a:xfrm>
            <a:off x="293078" y="1435165"/>
            <a:ext cx="6449201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Imagine a bond: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Annual coupon rate 5%,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Par value of $1,000, 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Remaining maturity of 10 years,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And the market interest rate is currently 7%.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50C045-478C-AC75-8389-A9DFEB9B1AA8}"/>
              </a:ext>
            </a:extLst>
          </p:cNvPr>
          <p:cNvGrpSpPr/>
          <p:nvPr/>
        </p:nvGrpSpPr>
        <p:grpSpPr>
          <a:xfrm>
            <a:off x="838200" y="4733145"/>
            <a:ext cx="10242589" cy="1807606"/>
            <a:chOff x="838200" y="4686253"/>
            <a:chExt cx="10242589" cy="180760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126A5D7-9F59-3125-F71A-2BC8D4F22079}"/>
                </a:ext>
              </a:extLst>
            </p:cNvPr>
            <p:cNvGrpSpPr/>
            <p:nvPr/>
          </p:nvGrpSpPr>
          <p:grpSpPr>
            <a:xfrm>
              <a:off x="838200" y="5339585"/>
              <a:ext cx="10242589" cy="1154274"/>
              <a:chOff x="838200" y="4683097"/>
              <a:chExt cx="10242589" cy="1154274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55741B20-0B2C-E123-6564-73EEDA494CCC}"/>
                  </a:ext>
                </a:extLst>
              </p:cNvPr>
              <p:cNvGrpSpPr/>
              <p:nvPr/>
            </p:nvGrpSpPr>
            <p:grpSpPr>
              <a:xfrm>
                <a:off x="838200" y="5039423"/>
                <a:ext cx="10242589" cy="797948"/>
                <a:chOff x="873086" y="5053331"/>
                <a:chExt cx="10242589" cy="1147434"/>
              </a:xfrm>
              <a:noFill/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40E3FBB9-18B4-0659-C68C-26F7BE9EC0CE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375ECA6E-8E07-4136-3BFC-DDB3EC79A9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68032CAC-BD1D-C8EA-8D86-12617E5EF4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AC106CA7-9481-C8B6-5006-1FBECA24E0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441DEED4-A718-FDC1-CE3B-424A122A55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9BDB3D67-8492-603D-18F7-C5BE54D5D1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F6FAD653-0083-5618-C4D3-52875DA5E5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EFE609-D2C1-403B-90AD-150420762686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1970B90-EB61-036C-2A03-BDB0DAEE85B3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E541C4D-F895-F995-0ACD-B360863178F5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23634AD-59DD-F433-82AB-C6C81B5B8D15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348CDBC-7282-8A18-0302-0B40C475D334}"/>
                    </a:ext>
                  </a:extLst>
                </p:cNvPr>
                <p:cNvSpPr txBox="1"/>
                <p:nvPr/>
              </p:nvSpPr>
              <p:spPr>
                <a:xfrm>
                  <a:off x="10036209" y="5710715"/>
                  <a:ext cx="412292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10</a:t>
                  </a: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8CC3B5-5FFA-BFB3-2E22-22ACF726932C}"/>
                  </a:ext>
                </a:extLst>
              </p:cNvPr>
              <p:cNvSpPr txBox="1"/>
              <p:nvPr/>
            </p:nvSpPr>
            <p:spPr>
              <a:xfrm>
                <a:off x="8688379" y="5108783"/>
                <a:ext cx="4892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…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DD00C1-DB10-5597-D212-DC82AD7D5281}"/>
                  </a:ext>
                </a:extLst>
              </p:cNvPr>
              <p:cNvSpPr txBox="1"/>
              <p:nvPr/>
            </p:nvSpPr>
            <p:spPr>
              <a:xfrm>
                <a:off x="8688379" y="4683097"/>
                <a:ext cx="4892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…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63D55D-E13A-34F8-DE2B-9EB39E300311}"/>
                </a:ext>
              </a:extLst>
            </p:cNvPr>
            <p:cNvSpPr txBox="1"/>
            <p:nvPr/>
          </p:nvSpPr>
          <p:spPr>
            <a:xfrm>
              <a:off x="2956475" y="5239493"/>
              <a:ext cx="5950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CF</a:t>
              </a:r>
              <a:r>
                <a:rPr lang="en-US" sz="2000" b="1" baseline="-25000" dirty="0">
                  <a:solidFill>
                    <a:srgbClr val="0070C0"/>
                  </a:solidFill>
                </a:rPr>
                <a:t>1</a:t>
              </a:r>
              <a:endParaRPr lang="en-US" sz="2000" b="1" dirty="0">
                <a:solidFill>
                  <a:srgbClr val="0070C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63B7902-449B-848E-F983-A5423489F9D6}"/>
                </a:ext>
              </a:extLst>
            </p:cNvPr>
            <p:cNvSpPr txBox="1"/>
            <p:nvPr/>
          </p:nvSpPr>
          <p:spPr>
            <a:xfrm>
              <a:off x="5237508" y="5239493"/>
              <a:ext cx="5950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CF</a:t>
              </a:r>
              <a:r>
                <a:rPr lang="en-US" sz="2000" b="1" baseline="-25000" dirty="0">
                  <a:solidFill>
                    <a:srgbClr val="0070C0"/>
                  </a:solidFill>
                </a:rPr>
                <a:t>2</a:t>
              </a:r>
              <a:endParaRPr lang="en-US" sz="2000" b="1" dirty="0">
                <a:solidFill>
                  <a:srgbClr val="0070C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475FD9B-9EFA-1B72-3401-6C673189ACB8}"/>
                </a:ext>
              </a:extLst>
            </p:cNvPr>
            <p:cNvSpPr txBox="1"/>
            <p:nvPr/>
          </p:nvSpPr>
          <p:spPr>
            <a:xfrm>
              <a:off x="7533109" y="5239493"/>
              <a:ext cx="5950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CF</a:t>
              </a:r>
              <a:r>
                <a:rPr lang="en-US" sz="2000" b="1" baseline="-25000" dirty="0">
                  <a:solidFill>
                    <a:srgbClr val="0070C0"/>
                  </a:solidFill>
                </a:rPr>
                <a:t>3</a:t>
              </a:r>
              <a:endParaRPr lang="en-US" sz="2000" b="1" dirty="0">
                <a:solidFill>
                  <a:srgbClr val="0070C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E83450B-3E4A-6F65-13D1-38FB4645BD66}"/>
                </a:ext>
              </a:extLst>
            </p:cNvPr>
            <p:cNvSpPr txBox="1"/>
            <p:nvPr/>
          </p:nvSpPr>
          <p:spPr>
            <a:xfrm>
              <a:off x="9810760" y="5239493"/>
              <a:ext cx="6864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CF</a:t>
              </a:r>
              <a:r>
                <a:rPr lang="en-US" sz="2000" b="1" baseline="-25000" dirty="0">
                  <a:solidFill>
                    <a:srgbClr val="0070C0"/>
                  </a:solidFill>
                </a:rPr>
                <a:t>10</a:t>
              </a:r>
              <a:endParaRPr lang="en-US" sz="2000" b="1" dirty="0">
                <a:solidFill>
                  <a:srgbClr val="0070C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107540-1F6A-1AAC-8456-C36C81E8E7B2}"/>
                </a:ext>
              </a:extLst>
            </p:cNvPr>
            <p:cNvSpPr txBox="1"/>
            <p:nvPr/>
          </p:nvSpPr>
          <p:spPr>
            <a:xfrm>
              <a:off x="9830875" y="4686253"/>
              <a:ext cx="5677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Par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7EE7651-CDDA-CF64-0A8F-26B20D7C951C}"/>
                </a:ext>
              </a:extLst>
            </p:cNvPr>
            <p:cNvSpPr txBox="1"/>
            <p:nvPr/>
          </p:nvSpPr>
          <p:spPr>
            <a:xfrm>
              <a:off x="9972267" y="4946807"/>
              <a:ext cx="3193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  <a:latin typeface="Helvetica" pitchFamily="2" charset="0"/>
                </a:rPr>
                <a:t>+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28CCFD5-8608-874D-ED88-1004FE963481}"/>
              </a:ext>
            </a:extLst>
          </p:cNvPr>
          <p:cNvCxnSpPr>
            <a:cxnSpLocks/>
          </p:cNvCxnSpPr>
          <p:nvPr/>
        </p:nvCxnSpPr>
        <p:spPr>
          <a:xfrm flipH="1" flipV="1">
            <a:off x="3253992" y="5017145"/>
            <a:ext cx="1" cy="29268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8B24C1F-B9C5-498A-8612-E774B8633170}"/>
              </a:ext>
            </a:extLst>
          </p:cNvPr>
          <p:cNvSpPr txBox="1"/>
          <p:nvPr/>
        </p:nvSpPr>
        <p:spPr>
          <a:xfrm>
            <a:off x="2976512" y="467350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$50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64068C6-9915-D2EB-1A15-2D480970EF26}"/>
              </a:ext>
            </a:extLst>
          </p:cNvPr>
          <p:cNvCxnSpPr>
            <a:cxnSpLocks/>
          </p:cNvCxnSpPr>
          <p:nvPr/>
        </p:nvCxnSpPr>
        <p:spPr>
          <a:xfrm flipH="1" flipV="1">
            <a:off x="5529556" y="5017145"/>
            <a:ext cx="1" cy="29268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165C886-A003-AB5D-3C3E-510B75BDD6F6}"/>
              </a:ext>
            </a:extLst>
          </p:cNvPr>
          <p:cNvSpPr txBox="1"/>
          <p:nvPr/>
        </p:nvSpPr>
        <p:spPr>
          <a:xfrm>
            <a:off x="5252076" y="467350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$50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3D39946-994B-D934-BC17-0C117B39B271}"/>
              </a:ext>
            </a:extLst>
          </p:cNvPr>
          <p:cNvCxnSpPr>
            <a:cxnSpLocks/>
          </p:cNvCxnSpPr>
          <p:nvPr/>
        </p:nvCxnSpPr>
        <p:spPr>
          <a:xfrm flipH="1" flipV="1">
            <a:off x="7818955" y="5017145"/>
            <a:ext cx="1" cy="29268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055E157-4580-C562-5908-848393A5C115}"/>
              </a:ext>
            </a:extLst>
          </p:cNvPr>
          <p:cNvSpPr txBox="1"/>
          <p:nvPr/>
        </p:nvSpPr>
        <p:spPr>
          <a:xfrm>
            <a:off x="7541475" y="467350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$50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D17DE7-4E0F-9EFB-6D11-F91766AD55F2}"/>
              </a:ext>
            </a:extLst>
          </p:cNvPr>
          <p:cNvCxnSpPr>
            <a:cxnSpLocks/>
          </p:cNvCxnSpPr>
          <p:nvPr/>
        </p:nvCxnSpPr>
        <p:spPr>
          <a:xfrm flipH="1" flipV="1">
            <a:off x="10122521" y="4390786"/>
            <a:ext cx="1" cy="29268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949259D-B85B-56BD-D2E6-C9FFD3545F88}"/>
              </a:ext>
            </a:extLst>
          </p:cNvPr>
          <p:cNvSpPr txBox="1"/>
          <p:nvPr/>
        </p:nvSpPr>
        <p:spPr>
          <a:xfrm>
            <a:off x="9824515" y="401016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$50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B9D616-B0C9-0476-ED4A-815623B2D8D2}"/>
              </a:ext>
            </a:extLst>
          </p:cNvPr>
          <p:cNvSpPr txBox="1"/>
          <p:nvPr/>
        </p:nvSpPr>
        <p:spPr>
          <a:xfrm>
            <a:off x="9968472" y="3703790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FBC180-0E51-74F8-1C04-7443C9503B09}"/>
              </a:ext>
            </a:extLst>
          </p:cNvPr>
          <p:cNvSpPr txBox="1"/>
          <p:nvPr/>
        </p:nvSpPr>
        <p:spPr>
          <a:xfrm>
            <a:off x="9661334" y="344693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$1,000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9BBBE9-B642-C9C2-D49E-C08EC447EC61}"/>
              </a:ext>
            </a:extLst>
          </p:cNvPr>
          <p:cNvSpPr/>
          <p:nvPr/>
        </p:nvSpPr>
        <p:spPr>
          <a:xfrm>
            <a:off x="9700314" y="4778797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4E0DBC-B554-C5FA-72D6-057A6BA4581A}"/>
              </a:ext>
            </a:extLst>
          </p:cNvPr>
          <p:cNvCxnSpPr>
            <a:cxnSpLocks/>
          </p:cNvCxnSpPr>
          <p:nvPr/>
        </p:nvCxnSpPr>
        <p:spPr>
          <a:xfrm>
            <a:off x="4121600" y="2076410"/>
            <a:ext cx="1699863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7F2C1B3-8956-C182-387A-AFE920AB83B7}"/>
                  </a:ext>
                </a:extLst>
              </p:cNvPr>
              <p:cNvSpPr txBox="1"/>
              <p:nvPr/>
            </p:nvSpPr>
            <p:spPr>
              <a:xfrm>
                <a:off x="6002232" y="1915549"/>
                <a:ext cx="5793124" cy="36933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</a:rPr>
                  <a:t>Annual Coupon Amount = Par value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Helvetica" pitchFamily="2" charset="0"/>
                  </a:rPr>
                  <a:t>Coupon Rate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7F2C1B3-8956-C182-387A-AFE920AB8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232" y="1915549"/>
                <a:ext cx="5793124" cy="369332"/>
              </a:xfrm>
              <a:prstGeom prst="rect">
                <a:avLst/>
              </a:prstGeom>
              <a:blipFill>
                <a:blip r:embed="rId2"/>
                <a:stretch>
                  <a:fillRect l="-873" t="-6452" r="-437" b="-2258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AB0AE19-8639-6D52-0CA7-F6250EE32426}"/>
                  </a:ext>
                </a:extLst>
              </p:cNvPr>
              <p:cNvSpPr txBox="1"/>
              <p:nvPr/>
            </p:nvSpPr>
            <p:spPr>
              <a:xfrm>
                <a:off x="7980069" y="2297928"/>
                <a:ext cx="2299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  <a:latin typeface="Helvetica" pitchFamily="2" charset="0"/>
                  </a:rPr>
                  <a:t>= $1000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>
                    <a:solidFill>
                      <a:srgbClr val="00B050"/>
                    </a:solidFill>
                    <a:latin typeface="Helvetica" pitchFamily="2" charset="0"/>
                  </a:rPr>
                  <a:t> 5% = $50</a:t>
                </a:r>
                <a:endParaRPr lang="en-US" b="1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AB0AE19-8639-6D52-0CA7-F6250EE32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069" y="2297928"/>
                <a:ext cx="2299027" cy="369332"/>
              </a:xfrm>
              <a:prstGeom prst="rect">
                <a:avLst/>
              </a:prstGeom>
              <a:blipFill>
                <a:blip r:embed="rId3"/>
                <a:stretch>
                  <a:fillRect l="-2198" t="-6452" r="-1099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60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6" grpId="0"/>
      <p:bldP spid="38" grpId="0"/>
      <p:bldP spid="39" grpId="0"/>
      <p:bldP spid="40" grpId="0"/>
      <p:bldP spid="41" grpId="0" animBg="1"/>
      <p:bldP spid="46" grpId="0" animBg="1"/>
      <p:bldP spid="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0905-EDE6-90E8-418F-4BCFC0CEB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3393322-A2A9-AB96-1E93-08FD17880524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FFABC-DEDB-ABC5-A659-E951FABB7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Bond Valuation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5F021-954F-35BC-0CFD-A7BD9848C52E}"/>
              </a:ext>
            </a:extLst>
          </p:cNvPr>
          <p:cNvSpPr txBox="1"/>
          <p:nvPr/>
        </p:nvSpPr>
        <p:spPr>
          <a:xfrm>
            <a:off x="293078" y="1435165"/>
            <a:ext cx="6449201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Imagine a bond: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Annual coupon rate 5%,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Par value of $1,000, 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Remaining maturity of 10 years,</a:t>
            </a:r>
          </a:p>
          <a:p>
            <a:pPr marL="342900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And the market interest rate is currently 7%.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46D4562-6A31-3201-9810-B6C4E28A83AF}"/>
              </a:ext>
            </a:extLst>
          </p:cNvPr>
          <p:cNvGrpSpPr/>
          <p:nvPr/>
        </p:nvGrpSpPr>
        <p:grpSpPr>
          <a:xfrm>
            <a:off x="838200" y="3177482"/>
            <a:ext cx="10242589" cy="1780664"/>
            <a:chOff x="838200" y="4713195"/>
            <a:chExt cx="10242589" cy="17806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4694CA8-16B9-6492-C156-A1B1F2A776FF}"/>
                </a:ext>
              </a:extLst>
            </p:cNvPr>
            <p:cNvGrpSpPr/>
            <p:nvPr/>
          </p:nvGrpSpPr>
          <p:grpSpPr>
            <a:xfrm>
              <a:off x="838200" y="5339585"/>
              <a:ext cx="10242589" cy="1154274"/>
              <a:chOff x="838200" y="4683097"/>
              <a:chExt cx="10242589" cy="1154274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A1948EC0-2161-E38B-7F92-B647FCF6F0EC}"/>
                  </a:ext>
                </a:extLst>
              </p:cNvPr>
              <p:cNvGrpSpPr/>
              <p:nvPr/>
            </p:nvGrpSpPr>
            <p:grpSpPr>
              <a:xfrm>
                <a:off x="838200" y="5039423"/>
                <a:ext cx="10242589" cy="797948"/>
                <a:chOff x="873086" y="5053331"/>
                <a:chExt cx="10242589" cy="1147434"/>
              </a:xfrm>
              <a:noFill/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11628D15-81BA-172B-D0B2-4AF6B8A84CC0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2BE80E03-95AB-564F-21E5-9C8E77733F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4205294C-3FFE-5CBF-84B1-A555962D8B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610923C1-DEE4-7457-E8BE-BEEBAA45F7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7AAD4796-9238-7E7B-DE52-0741BFD62F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FD6BF8AD-4BB4-58EC-641D-92D8E22A60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41504292-1593-5ECA-C76C-352B34BD98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4F943CF-08DC-A5B0-A3C7-2F79573AD146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B35BE4C-82F6-985F-9F09-0341C40DDEAA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A0DB1AD-F11F-CF77-A62B-F07DEF552A69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63F176F-146B-8CC9-30DB-31D54ECD9842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9FA75A3-783D-E1AB-8820-8A809A0F4387}"/>
                    </a:ext>
                  </a:extLst>
                </p:cNvPr>
                <p:cNvSpPr txBox="1"/>
                <p:nvPr/>
              </p:nvSpPr>
              <p:spPr>
                <a:xfrm>
                  <a:off x="10036209" y="5710715"/>
                  <a:ext cx="412292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10</a:t>
                  </a: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1AE08D-C703-A028-C934-B6DD44345B78}"/>
                  </a:ext>
                </a:extLst>
              </p:cNvPr>
              <p:cNvSpPr txBox="1"/>
              <p:nvPr/>
            </p:nvSpPr>
            <p:spPr>
              <a:xfrm>
                <a:off x="8688379" y="5108783"/>
                <a:ext cx="4892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…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E34385-434C-6686-8980-23ADB2353576}"/>
                  </a:ext>
                </a:extLst>
              </p:cNvPr>
              <p:cNvSpPr txBox="1"/>
              <p:nvPr/>
            </p:nvSpPr>
            <p:spPr>
              <a:xfrm>
                <a:off x="8688379" y="4683097"/>
                <a:ext cx="4892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…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8AEF6A7-4A4D-811E-9EB6-BA2125AAAF12}"/>
                </a:ext>
              </a:extLst>
            </p:cNvPr>
            <p:cNvSpPr txBox="1"/>
            <p:nvPr/>
          </p:nvSpPr>
          <p:spPr>
            <a:xfrm>
              <a:off x="2956475" y="5239493"/>
              <a:ext cx="5934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$50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5FB8F78-53CF-11E8-86DE-C405652C04AC}"/>
                </a:ext>
              </a:extLst>
            </p:cNvPr>
            <p:cNvSpPr txBox="1"/>
            <p:nvPr/>
          </p:nvSpPr>
          <p:spPr>
            <a:xfrm>
              <a:off x="5237508" y="5239493"/>
              <a:ext cx="5934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$50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F7BA69D-460F-DE38-C2AA-BCB82F066552}"/>
                </a:ext>
              </a:extLst>
            </p:cNvPr>
            <p:cNvSpPr txBox="1"/>
            <p:nvPr/>
          </p:nvSpPr>
          <p:spPr>
            <a:xfrm>
              <a:off x="7533109" y="5239493"/>
              <a:ext cx="5934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$50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77C9E34-5C13-FA27-CF32-821AAC7A142B}"/>
                </a:ext>
              </a:extLst>
            </p:cNvPr>
            <p:cNvSpPr txBox="1"/>
            <p:nvPr/>
          </p:nvSpPr>
          <p:spPr>
            <a:xfrm>
              <a:off x="9810760" y="5239493"/>
              <a:ext cx="5934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$50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4651586-EF74-54EC-C87E-6D33FFD948F0}"/>
                </a:ext>
              </a:extLst>
            </p:cNvPr>
            <p:cNvSpPr txBox="1"/>
            <p:nvPr/>
          </p:nvSpPr>
          <p:spPr>
            <a:xfrm>
              <a:off x="9683928" y="4713195"/>
              <a:ext cx="9428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$1,000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7655B6A-B4C0-CC28-DE87-7DCE0769E465}"/>
                </a:ext>
              </a:extLst>
            </p:cNvPr>
            <p:cNvSpPr txBox="1"/>
            <p:nvPr/>
          </p:nvSpPr>
          <p:spPr>
            <a:xfrm>
              <a:off x="9972267" y="4946807"/>
              <a:ext cx="3193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  <a:latin typeface="Helvetica" pitchFamily="2" charset="0"/>
                </a:rPr>
                <a:t>+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538D67A-52FE-880C-18DD-D96610075EF6}"/>
              </a:ext>
            </a:extLst>
          </p:cNvPr>
          <p:cNvSpPr txBox="1"/>
          <p:nvPr/>
        </p:nvSpPr>
        <p:spPr>
          <a:xfrm>
            <a:off x="457105" y="3771129"/>
            <a:ext cx="1149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Helvetica" pitchFamily="2" charset="0"/>
              </a:rPr>
              <a:t>PV=??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EAEBB7D-3152-C356-F33B-90CBAC893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903682"/>
              </p:ext>
            </p:extLst>
          </p:nvPr>
        </p:nvGraphicFramePr>
        <p:xfrm>
          <a:off x="2027372" y="5293559"/>
          <a:ext cx="8128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I/Y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PMT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FV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0D495EEB-0DAB-81C3-5E18-76E147732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516223"/>
              </p:ext>
            </p:extLst>
          </p:nvPr>
        </p:nvGraphicFramePr>
        <p:xfrm>
          <a:off x="2027372" y="5687845"/>
          <a:ext cx="8128000" cy="39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4F792D40-77F1-0B1C-873F-84AD6E46D7BB}"/>
              </a:ext>
            </a:extLst>
          </p:cNvPr>
          <p:cNvSpPr txBox="1"/>
          <p:nvPr/>
        </p:nvSpPr>
        <p:spPr>
          <a:xfrm>
            <a:off x="4294676" y="6235310"/>
            <a:ext cx="3602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  <a:latin typeface="Helvetica" pitchFamily="2" charset="0"/>
              </a:rPr>
              <a:t>PV = Value of Bond = 859.53</a:t>
            </a:r>
          </a:p>
        </p:txBody>
      </p:sp>
    </p:spTree>
    <p:extLst>
      <p:ext uri="{BB962C8B-B14F-4D97-AF65-F5344CB8AC3E}">
        <p14:creationId xmlns:p14="http://schemas.microsoft.com/office/powerpoint/2010/main" val="56014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0C79-27A8-D879-8D50-43E8869B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12E64A-A81F-1893-9E5D-2E13994C208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AD87C-5CDF-ADCD-F8F8-1D597BD9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6" y="336083"/>
            <a:ext cx="11453446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Interest Rates: Impact on Bond Price</a:t>
            </a:r>
            <a:endParaRPr lang="en-US" sz="40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D63995-5A49-EE9B-3108-C411796D19E2}"/>
              </a:ext>
            </a:extLst>
          </p:cNvPr>
          <p:cNvSpPr txBox="1"/>
          <p:nvPr/>
        </p:nvSpPr>
        <p:spPr>
          <a:xfrm>
            <a:off x="252044" y="1526112"/>
            <a:ext cx="116879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Helvetica" pitchFamily="2" charset="0"/>
              </a:rPr>
              <a:t>What is the price for a bond that matures in 8 years has a par value of $1,000 and an annual coupon rate is 9%;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CD81D4-60FE-2288-6746-55C1538800D7}"/>
              </a:ext>
            </a:extLst>
          </p:cNvPr>
          <p:cNvSpPr txBox="1"/>
          <p:nvPr/>
        </p:nvSpPr>
        <p:spPr>
          <a:xfrm>
            <a:off x="252046" y="2424906"/>
            <a:ext cx="404088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A. If</a:t>
            </a:r>
            <a:r>
              <a:rPr lang="en-US" sz="2000" b="0" i="0" dirty="0">
                <a:effectLst/>
                <a:latin typeface="Helvetica" pitchFamily="2" charset="0"/>
              </a:rPr>
              <a:t> its market interest rate is 9%: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BC2FF2-8770-F91B-CD73-1FA62DC014B4}"/>
              </a:ext>
            </a:extLst>
          </p:cNvPr>
          <p:cNvSpPr txBox="1"/>
          <p:nvPr/>
        </p:nvSpPr>
        <p:spPr>
          <a:xfrm>
            <a:off x="252046" y="3812325"/>
            <a:ext cx="4040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B. If</a:t>
            </a:r>
            <a:r>
              <a:rPr lang="en-US" sz="2000" b="0" i="0" dirty="0">
                <a:effectLst/>
                <a:latin typeface="Helvetica" pitchFamily="2" charset="0"/>
              </a:rPr>
              <a:t> its market interest rate is 6%: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BEA0AD-3433-CF37-A99B-5CBDE650CEEF}"/>
              </a:ext>
            </a:extLst>
          </p:cNvPr>
          <p:cNvSpPr txBox="1"/>
          <p:nvPr/>
        </p:nvSpPr>
        <p:spPr>
          <a:xfrm>
            <a:off x="252045" y="5287817"/>
            <a:ext cx="41441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Helvetica" pitchFamily="2" charset="0"/>
              </a:rPr>
              <a:t>C. If</a:t>
            </a:r>
            <a:r>
              <a:rPr lang="en-US" sz="2000" b="0" i="0" dirty="0">
                <a:effectLst/>
                <a:latin typeface="Helvetica" pitchFamily="2" charset="0"/>
              </a:rPr>
              <a:t> its market interest rate is 12%: 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67DBA00-583C-4620-77B0-18969EC97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393788"/>
              </p:ext>
            </p:extLst>
          </p:nvPr>
        </p:nvGraphicFramePr>
        <p:xfrm>
          <a:off x="4410163" y="2483131"/>
          <a:ext cx="7602085" cy="396240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061B3510-0C3E-A45A-9D80-56C467B86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790811"/>
              </p:ext>
            </p:extLst>
          </p:nvPr>
        </p:nvGraphicFramePr>
        <p:xfrm>
          <a:off x="4410163" y="2877417"/>
          <a:ext cx="7602085" cy="396240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??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90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1,000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BE2B141B-EB8B-A667-218E-2B037FAFE9AA}"/>
              </a:ext>
            </a:extLst>
          </p:cNvPr>
          <p:cNvSpPr txBox="1"/>
          <p:nvPr/>
        </p:nvSpPr>
        <p:spPr>
          <a:xfrm>
            <a:off x="1538653" y="2838755"/>
            <a:ext cx="15708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PV = $1,000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D1C15508-511C-E7B8-FD6B-1F12A1BA8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78751"/>
              </p:ext>
            </p:extLst>
          </p:nvPr>
        </p:nvGraphicFramePr>
        <p:xfrm>
          <a:off x="4410163" y="3840683"/>
          <a:ext cx="7602085" cy="3962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92EDBA3F-AC8D-DF76-635A-F72EEEB71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605487"/>
              </p:ext>
            </p:extLst>
          </p:nvPr>
        </p:nvGraphicFramePr>
        <p:xfrm>
          <a:off x="4410163" y="4234969"/>
          <a:ext cx="7602085" cy="3962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??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90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1,000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D12C7663-ABD7-45F5-0465-82D40E8AF6D8}"/>
              </a:ext>
            </a:extLst>
          </p:cNvPr>
          <p:cNvSpPr txBox="1"/>
          <p:nvPr/>
        </p:nvSpPr>
        <p:spPr>
          <a:xfrm>
            <a:off x="1418492" y="4258981"/>
            <a:ext cx="178190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PV = $1,186.3</a:t>
            </a:r>
            <a:endParaRPr lang="en-US" sz="2000" b="1" dirty="0">
              <a:solidFill>
                <a:srgbClr val="00B050"/>
              </a:solidFill>
              <a:latin typeface="Helvetica" pitchFamily="2" charset="0"/>
            </a:endParaRP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07C29EBE-B8D7-21DE-504F-481DE344D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563358"/>
              </p:ext>
            </p:extLst>
          </p:nvPr>
        </p:nvGraphicFramePr>
        <p:xfrm>
          <a:off x="4410163" y="5327511"/>
          <a:ext cx="7602085" cy="3962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DC9517A-D947-1B28-049A-6BE1FFDE1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47080"/>
              </p:ext>
            </p:extLst>
          </p:nvPr>
        </p:nvGraphicFramePr>
        <p:xfrm>
          <a:off x="4410163" y="5721797"/>
          <a:ext cx="7602085" cy="3962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??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90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1,000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9E727E76-0A95-B218-CA7B-20AE694C1457}"/>
              </a:ext>
            </a:extLst>
          </p:cNvPr>
          <p:cNvSpPr txBox="1"/>
          <p:nvPr/>
        </p:nvSpPr>
        <p:spPr>
          <a:xfrm>
            <a:off x="1538653" y="5748705"/>
            <a:ext cx="1661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PV = $850.98</a:t>
            </a:r>
            <a:endParaRPr lang="en-US" sz="2000" b="1" dirty="0">
              <a:solidFill>
                <a:srgbClr val="FF000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66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37" grpId="0"/>
      <p:bldP spid="39" grpId="0"/>
      <p:bldP spid="44" grpId="0"/>
      <p:bldP spid="49" grpId="0"/>
      <p:bldP spid="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15826-4F43-9F02-456E-AA4A9DB56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82D7D6-F26A-BFD1-6752-4ACC80426287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4624C-A594-3BA5-D5FD-25D1D15B9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6" y="336083"/>
            <a:ext cx="11453446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Interest Rates &amp; Coupon Rates</a:t>
            </a:r>
            <a:endParaRPr lang="en-US" sz="40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5ECBB34-43AA-D433-AE85-BC212DF5B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349383"/>
              </p:ext>
            </p:extLst>
          </p:nvPr>
        </p:nvGraphicFramePr>
        <p:xfrm>
          <a:off x="699607" y="2515637"/>
          <a:ext cx="10346013" cy="2396331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096676">
                  <a:extLst>
                    <a:ext uri="{9D8B030D-6E8A-4147-A177-3AD203B41FA5}">
                      <a16:colId xmlns:a16="http://schemas.microsoft.com/office/drawing/2014/main" val="2648841684"/>
                    </a:ext>
                  </a:extLst>
                </a:gridCol>
                <a:gridCol w="3891514">
                  <a:extLst>
                    <a:ext uri="{9D8B030D-6E8A-4147-A177-3AD203B41FA5}">
                      <a16:colId xmlns:a16="http://schemas.microsoft.com/office/drawing/2014/main" val="374005362"/>
                    </a:ext>
                  </a:extLst>
                </a:gridCol>
                <a:gridCol w="2357823">
                  <a:extLst>
                    <a:ext uri="{9D8B030D-6E8A-4147-A177-3AD203B41FA5}">
                      <a16:colId xmlns:a16="http://schemas.microsoft.com/office/drawing/2014/main" val="1759736627"/>
                    </a:ext>
                  </a:extLst>
                </a:gridCol>
              </a:tblGrid>
              <a:tr h="7987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Coupon rate = Interest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Helvetica" pitchFamily="2" charset="0"/>
                        </a:rPr>
                        <a:t>Bond trades at Par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Par Bond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507848"/>
                  </a:ext>
                </a:extLst>
              </a:tr>
              <a:tr h="79877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Coupon rate &gt; Interest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Helvetica" pitchFamily="2" charset="0"/>
                        </a:rPr>
                        <a:t>Bond trades more than Par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Premium Bond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375827"/>
                  </a:ext>
                </a:extLst>
              </a:tr>
              <a:tr h="79877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Coupon rate &lt; Interest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Helvetica" pitchFamily="2" charset="0"/>
                        </a:rPr>
                        <a:t>Bond trades less than Par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Discount Bond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005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421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74303-8D4D-3E66-2010-306D66CA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CCC5D4-C67C-931F-98A3-E10A02EC13DC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CAD18-E2E5-C0FE-01A8-CB30BABF2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6" y="336083"/>
            <a:ext cx="11453446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Question-1</a:t>
            </a:r>
            <a:endParaRPr lang="en-US" sz="40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A15BF-3263-96D5-3CC6-CE8A471328D9}"/>
              </a:ext>
            </a:extLst>
          </p:cNvPr>
          <p:cNvSpPr txBox="1"/>
          <p:nvPr/>
        </p:nvSpPr>
        <p:spPr>
          <a:xfrm>
            <a:off x="252044" y="1526112"/>
            <a:ext cx="116879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1- A bond that matures in 10 years has a par value of $1,000 and an annual coupon payment of $70; its market interest rate is 11%. What is its price? 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D4D4370-F272-9AE8-140D-DA0A0572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632220"/>
              </p:ext>
            </p:extLst>
          </p:nvPr>
        </p:nvGraphicFramePr>
        <p:xfrm>
          <a:off x="3730229" y="2408090"/>
          <a:ext cx="7602085" cy="3962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8A5546A2-D476-B51E-AAE4-86EEEAB4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837498"/>
              </p:ext>
            </p:extLst>
          </p:nvPr>
        </p:nvGraphicFramePr>
        <p:xfrm>
          <a:off x="3730229" y="2802376"/>
          <a:ext cx="7602085" cy="3962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??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1,000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BB126A6D-B048-4FFF-1C0B-E7DE3656B48F}"/>
              </a:ext>
            </a:extLst>
          </p:cNvPr>
          <p:cNvSpPr txBox="1"/>
          <p:nvPr/>
        </p:nvSpPr>
        <p:spPr>
          <a:xfrm>
            <a:off x="1641231" y="2589224"/>
            <a:ext cx="178190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PV = $764.43</a:t>
            </a:r>
            <a:endParaRPr lang="en-US" sz="2000" b="1" dirty="0">
              <a:solidFill>
                <a:srgbClr val="00B050"/>
              </a:solidFill>
              <a:latin typeface="Helvetica" pitchFamily="2" charset="0"/>
            </a:endParaRP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842C1628-B154-30DF-1B15-2AA87FF4F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415591"/>
              </p:ext>
            </p:extLst>
          </p:nvPr>
        </p:nvGraphicFramePr>
        <p:xfrm>
          <a:off x="3730229" y="4542070"/>
          <a:ext cx="7602085" cy="3962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024043C2-7BB0-1C85-AB37-AEE9904A4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032094"/>
              </p:ext>
            </p:extLst>
          </p:nvPr>
        </p:nvGraphicFramePr>
        <p:xfrm>
          <a:off x="3730229" y="4936356"/>
          <a:ext cx="7602085" cy="3962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??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120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1,000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9C71D586-959F-FF21-4D69-E2A758092C57}"/>
              </a:ext>
            </a:extLst>
          </p:cNvPr>
          <p:cNvSpPr txBox="1"/>
          <p:nvPr/>
        </p:nvSpPr>
        <p:spPr>
          <a:xfrm>
            <a:off x="1641230" y="4981213"/>
            <a:ext cx="17819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PV = $1329.77</a:t>
            </a:r>
            <a:endParaRPr lang="en-US" sz="2000" b="1" dirty="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915032-524A-8140-B346-529AC22DB68F}"/>
              </a:ext>
            </a:extLst>
          </p:cNvPr>
          <p:cNvSpPr txBox="1"/>
          <p:nvPr/>
        </p:nvSpPr>
        <p:spPr>
          <a:xfrm>
            <a:off x="369276" y="5877436"/>
            <a:ext cx="9241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3- Which of those two bonds is a discount bond, and which is a premium bond?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FACD0-AA09-3E81-1FB8-7EC5DCABAF10}"/>
              </a:ext>
            </a:extLst>
          </p:cNvPr>
          <p:cNvSpPr txBox="1"/>
          <p:nvPr/>
        </p:nvSpPr>
        <p:spPr>
          <a:xfrm>
            <a:off x="310659" y="3602944"/>
            <a:ext cx="116292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2- A bond that matures in 14 years has a par value of $1,000 and an annual coupon rate of 12%; the market interest rate is 8%. What is its price? </a:t>
            </a:r>
          </a:p>
        </p:txBody>
      </p:sp>
    </p:spTree>
    <p:extLst>
      <p:ext uri="{BB962C8B-B14F-4D97-AF65-F5344CB8AC3E}">
        <p14:creationId xmlns:p14="http://schemas.microsoft.com/office/powerpoint/2010/main" val="54743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9" grpId="0"/>
      <p:bldP spid="52" grpId="0"/>
      <p:bldP spid="3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5458D-6016-349D-78E1-9285F3B2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06CA64-2F9A-A714-671B-AEE766991E8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7FA00-BD53-C5A0-0E7D-E56928719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Yield to maturity (YTM)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DD21AB-FA75-EF65-22D1-54AB38A8D839}"/>
              </a:ext>
            </a:extLst>
          </p:cNvPr>
          <p:cNvSpPr txBox="1"/>
          <p:nvPr/>
        </p:nvSpPr>
        <p:spPr>
          <a:xfrm>
            <a:off x="247357" y="1504245"/>
            <a:ext cx="116972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Y</a:t>
            </a:r>
            <a:r>
              <a:rPr lang="en-US" sz="2200" b="1" i="0" dirty="0">
                <a:effectLst/>
                <a:latin typeface="Helvetica" pitchFamily="2" charset="0"/>
              </a:rPr>
              <a:t>ield to maturity (YTM):</a:t>
            </a:r>
          </a:p>
          <a:p>
            <a:pPr marL="80010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R</a:t>
            </a:r>
            <a:r>
              <a:rPr lang="en-US" sz="2200" b="0" i="0" dirty="0">
                <a:effectLst/>
                <a:latin typeface="Helvetica" pitchFamily="2" charset="0"/>
              </a:rPr>
              <a:t>ate of interest you earn on your investment if you bought the bond, held it to maturity, and received the promised interest payments and maturity value.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B2CF9-E90C-C86B-437B-A8CEC4E849BF}"/>
              </a:ext>
            </a:extLst>
          </p:cNvPr>
          <p:cNvSpPr txBox="1"/>
          <p:nvPr/>
        </p:nvSpPr>
        <p:spPr>
          <a:xfrm>
            <a:off x="247356" y="2910935"/>
            <a:ext cx="11697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Helvetica" pitchFamily="2" charset="0"/>
              </a:rPr>
              <a:t>You have just purchased an outstanding 15-year bond with a par value of $1,000 for $</a:t>
            </a:r>
            <a:r>
              <a:rPr lang="en-US" sz="2000" dirty="0">
                <a:latin typeface="Helvetica" pitchFamily="2" charset="0"/>
              </a:rPr>
              <a:t>1,264.50</a:t>
            </a:r>
            <a:r>
              <a:rPr lang="en-US" sz="2000" b="0" i="0" dirty="0">
                <a:effectLst/>
                <a:latin typeface="Helvetica" pitchFamily="2" charset="0"/>
              </a:rPr>
              <a:t>. Its annual coupon payment is $75. What is the bond’s yield to maturity?</a:t>
            </a:r>
            <a:endParaRPr lang="en-US" sz="2000" dirty="0"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E79C83-705F-0127-42FD-9DB726B398C5}"/>
              </a:ext>
            </a:extLst>
          </p:cNvPr>
          <p:cNvGrpSpPr/>
          <p:nvPr/>
        </p:nvGrpSpPr>
        <p:grpSpPr>
          <a:xfrm>
            <a:off x="838200" y="3431253"/>
            <a:ext cx="10242589" cy="1780664"/>
            <a:chOff x="838200" y="4713195"/>
            <a:chExt cx="10242589" cy="17806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8CEC28-B377-5973-64D3-0339D0B81DC4}"/>
                </a:ext>
              </a:extLst>
            </p:cNvPr>
            <p:cNvGrpSpPr/>
            <p:nvPr/>
          </p:nvGrpSpPr>
          <p:grpSpPr>
            <a:xfrm>
              <a:off x="838200" y="5339585"/>
              <a:ext cx="10242589" cy="1154274"/>
              <a:chOff x="838200" y="4683097"/>
              <a:chExt cx="10242589" cy="115427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49B8F6C-EC81-A48B-24DB-2BE857D0BCB1}"/>
                  </a:ext>
                </a:extLst>
              </p:cNvPr>
              <p:cNvGrpSpPr/>
              <p:nvPr/>
            </p:nvGrpSpPr>
            <p:grpSpPr>
              <a:xfrm>
                <a:off x="838200" y="5039423"/>
                <a:ext cx="10242589" cy="797948"/>
                <a:chOff x="873086" y="5053331"/>
                <a:chExt cx="10242589" cy="1147434"/>
              </a:xfrm>
              <a:noFill/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25436362-68BD-5EDD-97AA-67ED6576EA15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371E9031-39A6-1ED2-21E6-2D35409B60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04F5BAD9-0193-2701-0484-AA6C733A68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AEAB1956-7AA4-0E52-F30E-2ABDA38801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8E7FA6B5-95E2-5470-F6FB-34AA17CCC6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FFA9F5CD-F07C-DE2F-D225-950C96C76D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6171FCB3-4AD7-C210-B2B8-A0287E92FA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C73138F-390C-5931-E92A-65ED74C76A03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45E90F7-E3A3-4FE4-5E31-2F411049BDE6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098A40F-E537-4348-7459-744E30C8729A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7590423-61F2-806B-33E7-A618D46A8318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F19057B-64F4-8111-2270-FD5B8B2E1DAB}"/>
                    </a:ext>
                  </a:extLst>
                </p:cNvPr>
                <p:cNvSpPr txBox="1"/>
                <p:nvPr/>
              </p:nvSpPr>
              <p:spPr>
                <a:xfrm>
                  <a:off x="10036209" y="5710715"/>
                  <a:ext cx="412292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15</a:t>
                  </a:r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2E3CB4-5F32-347B-44CE-BAA5BF25D28B}"/>
                  </a:ext>
                </a:extLst>
              </p:cNvPr>
              <p:cNvSpPr txBox="1"/>
              <p:nvPr/>
            </p:nvSpPr>
            <p:spPr>
              <a:xfrm>
                <a:off x="8688379" y="5108783"/>
                <a:ext cx="4892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…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CB272B-F153-2463-0677-E01053D97C6D}"/>
                  </a:ext>
                </a:extLst>
              </p:cNvPr>
              <p:cNvSpPr txBox="1"/>
              <p:nvPr/>
            </p:nvSpPr>
            <p:spPr>
              <a:xfrm>
                <a:off x="8688379" y="4683097"/>
                <a:ext cx="4892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…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F82822-425E-8CFE-CA36-91EF9A1971F6}"/>
                </a:ext>
              </a:extLst>
            </p:cNvPr>
            <p:cNvSpPr txBox="1"/>
            <p:nvPr/>
          </p:nvSpPr>
          <p:spPr>
            <a:xfrm>
              <a:off x="2956475" y="5239493"/>
              <a:ext cx="5934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$75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79AC32-ED79-5F2E-55FD-15E92F088809}"/>
                </a:ext>
              </a:extLst>
            </p:cNvPr>
            <p:cNvSpPr txBox="1"/>
            <p:nvPr/>
          </p:nvSpPr>
          <p:spPr>
            <a:xfrm>
              <a:off x="5237508" y="5239493"/>
              <a:ext cx="5934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$75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93CAD1-52FF-9354-6779-22D73934501D}"/>
                </a:ext>
              </a:extLst>
            </p:cNvPr>
            <p:cNvSpPr txBox="1"/>
            <p:nvPr/>
          </p:nvSpPr>
          <p:spPr>
            <a:xfrm>
              <a:off x="7533109" y="5239493"/>
              <a:ext cx="5934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$75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5603E3-14C4-F23B-F848-B3A598C432AE}"/>
                </a:ext>
              </a:extLst>
            </p:cNvPr>
            <p:cNvSpPr txBox="1"/>
            <p:nvPr/>
          </p:nvSpPr>
          <p:spPr>
            <a:xfrm>
              <a:off x="9810760" y="5239493"/>
              <a:ext cx="5934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$75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8265DC-399D-ABFD-7793-040683C36A45}"/>
                </a:ext>
              </a:extLst>
            </p:cNvPr>
            <p:cNvSpPr txBox="1"/>
            <p:nvPr/>
          </p:nvSpPr>
          <p:spPr>
            <a:xfrm>
              <a:off x="9683928" y="4713195"/>
              <a:ext cx="9428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$1,000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1281ED1-5B81-A43D-EAB7-6BEBC190FBEC}"/>
                </a:ext>
              </a:extLst>
            </p:cNvPr>
            <p:cNvSpPr txBox="1"/>
            <p:nvPr/>
          </p:nvSpPr>
          <p:spPr>
            <a:xfrm>
              <a:off x="9972267" y="4946807"/>
              <a:ext cx="3193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  <a:latin typeface="Helvetica" pitchFamily="2" charset="0"/>
                </a:rPr>
                <a:t>+</a:t>
              </a:r>
            </a:p>
          </p:txBody>
        </p:sp>
      </p:grp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905D610-BC06-247A-95E3-A9797825E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241867"/>
              </p:ext>
            </p:extLst>
          </p:nvPr>
        </p:nvGraphicFramePr>
        <p:xfrm>
          <a:off x="2081843" y="5450610"/>
          <a:ext cx="7602085" cy="3962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EE30682-4CE2-DF00-E305-229C183DD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996822"/>
              </p:ext>
            </p:extLst>
          </p:nvPr>
        </p:nvGraphicFramePr>
        <p:xfrm>
          <a:off x="2081843" y="5844896"/>
          <a:ext cx="7602085" cy="3962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??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Helvetica" pitchFamily="2" charset="0"/>
                        </a:rPr>
                        <a:t>-1,264.50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75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1,000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0F633FE9-4457-6EFB-D035-19E10CAAF693}"/>
              </a:ext>
            </a:extLst>
          </p:cNvPr>
          <p:cNvSpPr txBox="1"/>
          <p:nvPr/>
        </p:nvSpPr>
        <p:spPr>
          <a:xfrm>
            <a:off x="3253191" y="6328999"/>
            <a:ext cx="222886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YTM = 4.959%</a:t>
            </a:r>
            <a:endParaRPr lang="en-US" sz="2000" b="1" dirty="0">
              <a:solidFill>
                <a:srgbClr val="00B050"/>
              </a:solidFill>
              <a:latin typeface="Helvetica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ED5505-4F21-57EA-51F7-F1304721A675}"/>
              </a:ext>
            </a:extLst>
          </p:cNvPr>
          <p:cNvSpPr txBox="1"/>
          <p:nvPr/>
        </p:nvSpPr>
        <p:spPr>
          <a:xfrm>
            <a:off x="247356" y="3894144"/>
            <a:ext cx="1555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Helvetica" pitchFamily="2" charset="0"/>
              </a:rPr>
              <a:t>$1,264.50</a:t>
            </a:r>
          </a:p>
        </p:txBody>
      </p:sp>
    </p:spTree>
    <p:extLst>
      <p:ext uri="{BB962C8B-B14F-4D97-AF65-F5344CB8AC3E}">
        <p14:creationId xmlns:p14="http://schemas.microsoft.com/office/powerpoint/2010/main" val="262985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85DA3-BE85-8949-3631-D2081DD72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1E9003-3D6B-133C-79A0-2310CD55FA3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38F64-C96B-E34E-7B8B-262AAF1E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Yield to Maturity (YTM)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BBCAB-02DB-779F-0595-35AEDC004B19}"/>
              </a:ext>
            </a:extLst>
          </p:cNvPr>
          <p:cNvSpPr txBox="1"/>
          <p:nvPr/>
        </p:nvSpPr>
        <p:spPr>
          <a:xfrm>
            <a:off x="247357" y="1504245"/>
            <a:ext cx="1169728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603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Y</a:t>
            </a:r>
            <a:r>
              <a:rPr lang="en-US" sz="2400" b="1" i="0" dirty="0">
                <a:effectLst/>
                <a:latin typeface="Helvetica" pitchFamily="2" charset="0"/>
              </a:rPr>
              <a:t>ield to maturity (YTM):</a:t>
            </a:r>
          </a:p>
          <a:p>
            <a:pPr marL="80010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R</a:t>
            </a:r>
            <a:r>
              <a:rPr lang="en-US" sz="2200" b="0" i="0" dirty="0">
                <a:effectLst/>
                <a:latin typeface="Helvetica" pitchFamily="2" charset="0"/>
              </a:rPr>
              <a:t>ate of interest you earn on your investment if you bought the bond, held it to maturity, and received the promised interest payments and maturity value.</a:t>
            </a:r>
          </a:p>
          <a:p>
            <a:pPr marL="256032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Key Points:</a:t>
            </a:r>
          </a:p>
          <a:p>
            <a:pPr marL="70866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YTM = Promised Rate of Return</a:t>
            </a:r>
          </a:p>
          <a:p>
            <a:pPr marL="70866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YTM = Expected Return only if:</a:t>
            </a:r>
          </a:p>
          <a:p>
            <a:pPr marL="1165860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No default risk</a:t>
            </a:r>
          </a:p>
          <a:p>
            <a:pPr marL="1165860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Bond is non-callable</a:t>
            </a:r>
          </a:p>
          <a:p>
            <a:pPr marL="70866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YTM changes daily with market interest rates</a:t>
            </a:r>
          </a:p>
          <a:p>
            <a:pPr marL="70866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If held to maturity, you earn the YTM on the purchase date</a:t>
            </a:r>
          </a:p>
        </p:txBody>
      </p:sp>
    </p:spTree>
    <p:extLst>
      <p:ext uri="{BB962C8B-B14F-4D97-AF65-F5344CB8AC3E}">
        <p14:creationId xmlns:p14="http://schemas.microsoft.com/office/powerpoint/2010/main" val="2341638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39A6-201D-50B2-627A-875885EC3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94DB36-2CC9-CEA9-9B62-3D1EC023FECC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4580D-8FE0-2C44-E0F3-32A5B4D0C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Yield to Call (YTC)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2CA00-9CD4-892A-72F2-1C9E0016136D}"/>
              </a:ext>
            </a:extLst>
          </p:cNvPr>
          <p:cNvSpPr txBox="1"/>
          <p:nvPr/>
        </p:nvSpPr>
        <p:spPr>
          <a:xfrm>
            <a:off x="247357" y="1504245"/>
            <a:ext cx="11697285" cy="4947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603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Definition:</a:t>
            </a:r>
          </a:p>
          <a:p>
            <a:pPr marL="713232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The Yield to Call (YTC) is the rate of return an investor earns if the bond is called (redeemed early) by the issuer before maturity, on the earliest call date.</a:t>
            </a:r>
          </a:p>
          <a:p>
            <a:pPr marL="256032" indent="-25146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When It’s Relevant:</a:t>
            </a:r>
            <a:endParaRPr lang="en-US" sz="2400" dirty="0">
              <a:latin typeface="Helvetica" pitchFamily="2" charset="0"/>
            </a:endParaRPr>
          </a:p>
          <a:p>
            <a:pPr marL="713232" lvl="2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Applies to </a:t>
            </a:r>
            <a:r>
              <a:rPr lang="en-US" sz="2200" b="1" dirty="0">
                <a:latin typeface="Helvetica" pitchFamily="2" charset="0"/>
              </a:rPr>
              <a:t>Callable Bonds</a:t>
            </a:r>
            <a:r>
              <a:rPr lang="en-US" sz="2200" dirty="0">
                <a:latin typeface="Helvetica" pitchFamily="2" charset="0"/>
              </a:rPr>
              <a:t>, where issuers have the right to </a:t>
            </a:r>
            <a:r>
              <a:rPr lang="en-US" sz="2200" b="1" dirty="0">
                <a:latin typeface="Helvetica" pitchFamily="2" charset="0"/>
              </a:rPr>
              <a:t>repay the bond early</a:t>
            </a:r>
            <a:r>
              <a:rPr lang="en-US" sz="2200" dirty="0">
                <a:latin typeface="Helvetica" pitchFamily="2" charset="0"/>
              </a:rPr>
              <a:t>.</a:t>
            </a:r>
          </a:p>
          <a:p>
            <a:pPr marL="713232" lvl="2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Typically happens when </a:t>
            </a:r>
            <a:r>
              <a:rPr lang="en-US" sz="2200" b="1" dirty="0">
                <a:latin typeface="Helvetica" pitchFamily="2" charset="0"/>
              </a:rPr>
              <a:t>interest rates fall</a:t>
            </a:r>
            <a:r>
              <a:rPr lang="en-US" sz="2200" dirty="0">
                <a:latin typeface="Helvetica" pitchFamily="2" charset="0"/>
              </a:rPr>
              <a:t>, and the issuer wants to refinance at a </a:t>
            </a:r>
            <a:r>
              <a:rPr lang="en-US" sz="2200" b="1" dirty="0">
                <a:latin typeface="Helvetica" pitchFamily="2" charset="0"/>
              </a:rPr>
              <a:t>lower cost</a:t>
            </a:r>
            <a:r>
              <a:rPr lang="en-US" sz="2200" dirty="0">
                <a:latin typeface="Helvetica" pitchFamily="2" charset="0"/>
              </a:rPr>
              <a:t>.</a:t>
            </a:r>
          </a:p>
          <a:p>
            <a:pPr marL="256032" indent="-25146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YTC Calculation Includes:</a:t>
            </a:r>
          </a:p>
          <a:p>
            <a:pPr marL="713232" lvl="2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latin typeface="Helvetica" pitchFamily="2" charset="0"/>
              </a:rPr>
              <a:t>Coupon payments until the call date</a:t>
            </a:r>
          </a:p>
          <a:p>
            <a:pPr marL="713232" lvl="2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latin typeface="Helvetica" pitchFamily="2" charset="0"/>
              </a:rPr>
              <a:t>Call price (usually par or a slight premium)</a:t>
            </a:r>
          </a:p>
          <a:p>
            <a:pPr marL="713232" lvl="2" indent="-2514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latin typeface="Helvetica" pitchFamily="2" charset="0"/>
              </a:rPr>
              <a:t>Time until the bond is called, not until maturity</a:t>
            </a:r>
          </a:p>
        </p:txBody>
      </p:sp>
    </p:spTree>
    <p:extLst>
      <p:ext uri="{BB962C8B-B14F-4D97-AF65-F5344CB8AC3E}">
        <p14:creationId xmlns:p14="http://schemas.microsoft.com/office/powerpoint/2010/main" val="3936240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A5E1B-6F15-D069-B0BF-532CB140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D32BA4-274E-1060-328E-3EF866E25710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CCAF5-F888-03BB-E863-3938327D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Yield to Call (YTC)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2F8B35-6FB7-8AC2-FBAD-A2736CF3D420}"/>
              </a:ext>
            </a:extLst>
          </p:cNvPr>
          <p:cNvSpPr txBox="1"/>
          <p:nvPr/>
        </p:nvSpPr>
        <p:spPr>
          <a:xfrm>
            <a:off x="247357" y="1504245"/>
            <a:ext cx="11697285" cy="1566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5146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Helvetica" pitchFamily="2" charset="0"/>
              </a:rPr>
              <a:t>The Henderson Company’s bonds currently sell for $1,275. They pay a $120 annual coupon, have a 20-year maturity, and a par value of $1,000, but they can be </a:t>
            </a:r>
            <a:r>
              <a:rPr lang="en-US" sz="2200" b="1" i="0" dirty="0">
                <a:effectLst/>
                <a:latin typeface="Helvetica" pitchFamily="2" charset="0"/>
              </a:rPr>
              <a:t>called in 3 years at $1,080</a:t>
            </a:r>
            <a:r>
              <a:rPr lang="en-US" sz="2200" b="0" i="0" dirty="0">
                <a:effectLst/>
                <a:latin typeface="Helvetica" pitchFamily="2" charset="0"/>
              </a:rPr>
              <a:t>. What is their YTC?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8890A9-01F3-9E24-5853-3B3BF4715E20}"/>
              </a:ext>
            </a:extLst>
          </p:cNvPr>
          <p:cNvGrpSpPr/>
          <p:nvPr/>
        </p:nvGrpSpPr>
        <p:grpSpPr>
          <a:xfrm>
            <a:off x="838200" y="3431253"/>
            <a:ext cx="10242589" cy="1780664"/>
            <a:chOff x="838200" y="4713195"/>
            <a:chExt cx="10242589" cy="17806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C8007E1-689B-88D1-75CF-3E9650464055}"/>
                </a:ext>
              </a:extLst>
            </p:cNvPr>
            <p:cNvGrpSpPr/>
            <p:nvPr/>
          </p:nvGrpSpPr>
          <p:grpSpPr>
            <a:xfrm>
              <a:off x="838200" y="5339585"/>
              <a:ext cx="10242589" cy="1154274"/>
              <a:chOff x="838200" y="4683097"/>
              <a:chExt cx="10242589" cy="115427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4D011E1-C494-B0CA-6A3B-ADB3F57D843B}"/>
                  </a:ext>
                </a:extLst>
              </p:cNvPr>
              <p:cNvGrpSpPr/>
              <p:nvPr/>
            </p:nvGrpSpPr>
            <p:grpSpPr>
              <a:xfrm>
                <a:off x="838200" y="5039423"/>
                <a:ext cx="10242589" cy="797948"/>
                <a:chOff x="873086" y="5053331"/>
                <a:chExt cx="10242589" cy="1147434"/>
              </a:xfrm>
              <a:noFill/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199E5C7-CA1A-75CC-BBAE-C9C37DD65EED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EFF761F7-5528-D3E0-8B73-2F07908F0D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5612198D-8AD4-5DC0-ACAE-3C3B9490CD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9B131A18-C907-F26A-49F6-5902EAEC3A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E092AB5B-0D67-2354-1811-485DEBED15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F9D06EE0-F663-9C3E-6B84-8E8D837F9C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19ABEE4C-17FA-17FF-0A5B-B4413C7C0F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D0B69C8-2A1A-4462-11DB-64E6E082F2A8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C746867-7E3E-DAEF-F413-33EA0EF8DA92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05A33CF-0488-76BA-14F2-09107370C6F7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082FFC2-291C-03A1-16E9-7890FFF96387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AB46A3C-C840-9165-74E4-8D2C37C64E6F}"/>
                    </a:ext>
                  </a:extLst>
                </p:cNvPr>
                <p:cNvSpPr txBox="1"/>
                <p:nvPr/>
              </p:nvSpPr>
              <p:spPr>
                <a:xfrm>
                  <a:off x="10036209" y="5710715"/>
                  <a:ext cx="412292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20</a:t>
                  </a:r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4602E2-7C9B-A41A-9358-E0951E490675}"/>
                  </a:ext>
                </a:extLst>
              </p:cNvPr>
              <p:cNvSpPr txBox="1"/>
              <p:nvPr/>
            </p:nvSpPr>
            <p:spPr>
              <a:xfrm>
                <a:off x="8688379" y="5108783"/>
                <a:ext cx="4892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…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FEFA65-337A-ABCF-DF01-E3B72A489F88}"/>
                  </a:ext>
                </a:extLst>
              </p:cNvPr>
              <p:cNvSpPr txBox="1"/>
              <p:nvPr/>
            </p:nvSpPr>
            <p:spPr>
              <a:xfrm>
                <a:off x="8688379" y="4683097"/>
                <a:ext cx="4892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…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C51259B-E08D-31A3-E24A-A3736939A363}"/>
                </a:ext>
              </a:extLst>
            </p:cNvPr>
            <p:cNvSpPr txBox="1"/>
            <p:nvPr/>
          </p:nvSpPr>
          <p:spPr>
            <a:xfrm>
              <a:off x="2956475" y="5239493"/>
              <a:ext cx="7296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$120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496141B-790E-B121-184D-4F469CF16F02}"/>
                </a:ext>
              </a:extLst>
            </p:cNvPr>
            <p:cNvSpPr txBox="1"/>
            <p:nvPr/>
          </p:nvSpPr>
          <p:spPr>
            <a:xfrm>
              <a:off x="5237508" y="5239493"/>
              <a:ext cx="7296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$120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065720-6816-AA80-84F3-CEE008C9F605}"/>
                </a:ext>
              </a:extLst>
            </p:cNvPr>
            <p:cNvSpPr txBox="1"/>
            <p:nvPr/>
          </p:nvSpPr>
          <p:spPr>
            <a:xfrm>
              <a:off x="7533109" y="5239493"/>
              <a:ext cx="7296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$120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EF2530-E573-96DC-2474-DBF3FFE912CD}"/>
                </a:ext>
              </a:extLst>
            </p:cNvPr>
            <p:cNvSpPr txBox="1"/>
            <p:nvPr/>
          </p:nvSpPr>
          <p:spPr>
            <a:xfrm>
              <a:off x="9810760" y="5239493"/>
              <a:ext cx="7296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$120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990191-499B-834A-A54B-DA1A354E6DF4}"/>
                </a:ext>
              </a:extLst>
            </p:cNvPr>
            <p:cNvSpPr txBox="1"/>
            <p:nvPr/>
          </p:nvSpPr>
          <p:spPr>
            <a:xfrm>
              <a:off x="9683928" y="4713195"/>
              <a:ext cx="9428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$1,000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A79D36-D38A-091F-8AD3-723584F45E86}"/>
                </a:ext>
              </a:extLst>
            </p:cNvPr>
            <p:cNvSpPr txBox="1"/>
            <p:nvPr/>
          </p:nvSpPr>
          <p:spPr>
            <a:xfrm>
              <a:off x="9972267" y="4946807"/>
              <a:ext cx="3193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  <a:latin typeface="Helvetica" pitchFamily="2" charset="0"/>
                </a:rPr>
                <a:t>+</a:t>
              </a:r>
            </a:p>
          </p:txBody>
        </p:sp>
      </p:grp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BEDD9BD-FD11-B2EC-0DFE-5A34DB0BC5FC}"/>
              </a:ext>
            </a:extLst>
          </p:cNvPr>
          <p:cNvGraphicFramePr>
            <a:graphicFrameLocks noGrp="1"/>
          </p:cNvGraphicFramePr>
          <p:nvPr/>
        </p:nvGraphicFramePr>
        <p:xfrm>
          <a:off x="2081843" y="5450610"/>
          <a:ext cx="7602085" cy="3962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5FD529A-06F7-5AF7-6F8D-49A4E649F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792850"/>
              </p:ext>
            </p:extLst>
          </p:nvPr>
        </p:nvGraphicFramePr>
        <p:xfrm>
          <a:off x="2081843" y="5844896"/>
          <a:ext cx="7602085" cy="3962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??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Helvetica" pitchFamily="2" charset="0"/>
                        </a:rPr>
                        <a:t>-1275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120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1080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CB3D7102-BE23-DC65-1AEC-A8093D0D5CFA}"/>
              </a:ext>
            </a:extLst>
          </p:cNvPr>
          <p:cNvSpPr txBox="1"/>
          <p:nvPr/>
        </p:nvSpPr>
        <p:spPr>
          <a:xfrm>
            <a:off x="3253191" y="6328999"/>
            <a:ext cx="222886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YTC = 4.538%</a:t>
            </a:r>
            <a:endParaRPr lang="en-US" sz="2000" b="1" dirty="0">
              <a:solidFill>
                <a:srgbClr val="00B050"/>
              </a:solidFill>
              <a:latin typeface="Helvetica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D5E599-91F9-05AE-1AE1-68FBAE6F0E46}"/>
              </a:ext>
            </a:extLst>
          </p:cNvPr>
          <p:cNvSpPr txBox="1"/>
          <p:nvPr/>
        </p:nvSpPr>
        <p:spPr>
          <a:xfrm>
            <a:off x="430880" y="3916354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Helvetica" pitchFamily="2" charset="0"/>
              </a:rPr>
              <a:t>$1,275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7BB4B4-71F4-E806-E649-CB90B68CF7FF}"/>
              </a:ext>
            </a:extLst>
          </p:cNvPr>
          <p:cNvSpPr txBox="1"/>
          <p:nvPr/>
        </p:nvSpPr>
        <p:spPr>
          <a:xfrm>
            <a:off x="7366504" y="3001272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0" dirty="0">
                <a:solidFill>
                  <a:srgbClr val="00B050"/>
                </a:solidFill>
                <a:effectLst/>
                <a:latin typeface="Helvetica" pitchFamily="2" charset="0"/>
              </a:rPr>
              <a:t>$1,080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35" name="Multiply 34">
            <a:extLst>
              <a:ext uri="{FF2B5EF4-FFF2-40B4-BE49-F238E27FC236}">
                <a16:creationId xmlns:a16="http://schemas.microsoft.com/office/drawing/2014/main" id="{1357D8D1-BB7B-ACC8-AFBD-4737DFD4D15B}"/>
              </a:ext>
            </a:extLst>
          </p:cNvPr>
          <p:cNvSpPr/>
          <p:nvPr/>
        </p:nvSpPr>
        <p:spPr>
          <a:xfrm>
            <a:off x="7980984" y="2972908"/>
            <a:ext cx="3439689" cy="2751524"/>
          </a:xfrm>
          <a:prstGeom prst="mathMultiply">
            <a:avLst>
              <a:gd name="adj1" fmla="val 454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C0782A-3574-A754-5094-17D4F82BC326}"/>
              </a:ext>
            </a:extLst>
          </p:cNvPr>
          <p:cNvSpPr txBox="1"/>
          <p:nvPr/>
        </p:nvSpPr>
        <p:spPr>
          <a:xfrm>
            <a:off x="7591865" y="3447394"/>
            <a:ext cx="361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23677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4" grpId="0"/>
      <p:bldP spid="35" grpId="0" animBg="1"/>
      <p:bldP spid="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0B156-BFAB-A06E-1FCA-5254B4F11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885D98-A121-6655-42B8-36C3EAEE67F9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E1309-0669-3C06-FD0D-F6B48302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4046E2-0847-57FC-FABE-6A0B70D763B5}"/>
              </a:ext>
            </a:extLst>
          </p:cNvPr>
          <p:cNvSpPr txBox="1"/>
          <p:nvPr/>
        </p:nvSpPr>
        <p:spPr>
          <a:xfrm>
            <a:off x="247357" y="1504245"/>
            <a:ext cx="116972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Halley </a:t>
            </a:r>
            <a:r>
              <a:rPr lang="en-US" sz="2200" dirty="0" err="1">
                <a:latin typeface="Helvetica" pitchFamily="2" charset="0"/>
              </a:rPr>
              <a:t>Enterprises’s</a:t>
            </a:r>
            <a:r>
              <a:rPr lang="en-US" sz="2200" dirty="0">
                <a:latin typeface="Helvetica" pitchFamily="2" charset="0"/>
              </a:rPr>
              <a:t> bonds currently sell for $975. They have a 7-year maturity, an annual coupon of $90, and a par value of $1,000. What is their yield to maturity?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49D08-C033-6C6F-245A-02BB8421BBCC}"/>
              </a:ext>
            </a:extLst>
          </p:cNvPr>
          <p:cNvSpPr txBox="1"/>
          <p:nvPr/>
        </p:nvSpPr>
        <p:spPr>
          <a:xfrm>
            <a:off x="247356" y="3891817"/>
            <a:ext cx="116972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The XYZ Company’s bonds currently sell for $1,300. They pay a $160 annual coupon, have a 20-year maturity, and a par value of $1,000, but they can be called in 8 years at $1,120. What is their YTC?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F1FD8A-B289-49EE-5FF5-E015EF66F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681646"/>
              </p:ext>
            </p:extLst>
          </p:nvPr>
        </p:nvGraphicFramePr>
        <p:xfrm>
          <a:off x="3197629" y="2440726"/>
          <a:ext cx="7602085" cy="39624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4A037C-1264-BC92-983B-B25450D32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13642"/>
              </p:ext>
            </p:extLst>
          </p:nvPr>
        </p:nvGraphicFramePr>
        <p:xfrm>
          <a:off x="3197629" y="2835012"/>
          <a:ext cx="7602085" cy="39624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??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975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90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1,000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D013B64-6B89-21AD-76C2-F57366025024}"/>
              </a:ext>
            </a:extLst>
          </p:cNvPr>
          <p:cNvSpPr txBox="1"/>
          <p:nvPr/>
        </p:nvSpPr>
        <p:spPr>
          <a:xfrm>
            <a:off x="734829" y="2628561"/>
            <a:ext cx="222886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YTM = 9.51%</a:t>
            </a:r>
            <a:endParaRPr lang="en-US" sz="2000" b="1" dirty="0">
              <a:solidFill>
                <a:srgbClr val="FF0000"/>
              </a:solidFill>
              <a:latin typeface="Helvetica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7E4DFF-0509-83CE-44EC-2FC751542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628419"/>
              </p:ext>
            </p:extLst>
          </p:nvPr>
        </p:nvGraphicFramePr>
        <p:xfrm>
          <a:off x="3197629" y="5276812"/>
          <a:ext cx="7602085" cy="3962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389271-DD2E-D952-D6B4-5265D0348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855578"/>
              </p:ext>
            </p:extLst>
          </p:nvPr>
        </p:nvGraphicFramePr>
        <p:xfrm>
          <a:off x="3197629" y="5671098"/>
          <a:ext cx="7602085" cy="3962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??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Helvetica" pitchFamily="2" charset="0"/>
                        </a:rPr>
                        <a:t>-1,300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160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1120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5276CC6-BB12-7D29-9BAE-04A5BB4BB91A}"/>
              </a:ext>
            </a:extLst>
          </p:cNvPr>
          <p:cNvSpPr txBox="1"/>
          <p:nvPr/>
        </p:nvSpPr>
        <p:spPr>
          <a:xfrm>
            <a:off x="734828" y="5443952"/>
            <a:ext cx="222886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YTC = 11.146%</a:t>
            </a:r>
            <a:endParaRPr lang="en-US" sz="2000" b="1" dirty="0">
              <a:solidFill>
                <a:srgbClr val="00B05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71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7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3E7C-C5D6-B034-FF5D-B75EED48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086EE4-06B9-2CDC-3CD5-8EDCCDBAEED8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B1CB5-3FAA-D1C0-35DC-6973FC60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Bonds with Semiannual Coupons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943C9C-28AB-F747-9942-D07FC765BF3E}"/>
              </a:ext>
            </a:extLst>
          </p:cNvPr>
          <p:cNvSpPr txBox="1"/>
          <p:nvPr/>
        </p:nvSpPr>
        <p:spPr>
          <a:xfrm>
            <a:off x="247357" y="1504245"/>
            <a:ext cx="11697285" cy="4567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Helvetica" pitchFamily="2" charset="0"/>
              </a:rPr>
              <a:t>Although some bonds pay interest annually, the vast majority actually make payments semiannually. To evaluate semiannual bonds, we must modify the valuation model as follows:</a:t>
            </a:r>
          </a:p>
          <a:p>
            <a:pPr marL="708660" lvl="1" indent="-25146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Helvetica" pitchFamily="2" charset="0"/>
              </a:rPr>
              <a:t>Divide the annual coupon interest payment by 2 to determine the dollars of interest paid each 6 months.</a:t>
            </a:r>
          </a:p>
          <a:p>
            <a:pPr marL="708660" lvl="1" indent="-25146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Helvetica" pitchFamily="2" charset="0"/>
              </a:rPr>
              <a:t>Multiply the years to maturity, N, by 2 to determine the number of semiannual periods.</a:t>
            </a:r>
          </a:p>
          <a:p>
            <a:pPr marL="708660" lvl="1" indent="-25146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Helvetica" pitchFamily="2" charset="0"/>
              </a:rPr>
              <a:t>Divide the nominal (quoted) interest rate, by 2 to determine the periodic (semiannual) interest rate.</a:t>
            </a:r>
          </a:p>
        </p:txBody>
      </p:sp>
    </p:spTree>
    <p:extLst>
      <p:ext uri="{BB962C8B-B14F-4D97-AF65-F5344CB8AC3E}">
        <p14:creationId xmlns:p14="http://schemas.microsoft.com/office/powerpoint/2010/main" val="415781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B4E77-B26F-75AB-E1EB-40EE21A3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5DDAFE-DE3E-62DE-9DFA-246D831FFD1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2C8C9-E762-F29B-94DA-382CD3EE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Bonds with Semiannual Coupons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405F1D-B606-DF82-BAE3-BFC238C52B21}"/>
              </a:ext>
            </a:extLst>
          </p:cNvPr>
          <p:cNvSpPr txBox="1"/>
          <p:nvPr/>
        </p:nvSpPr>
        <p:spPr>
          <a:xfrm>
            <a:off x="247357" y="1504245"/>
            <a:ext cx="11697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Helvetica" pitchFamily="2" charset="0"/>
              </a:rPr>
              <a:t>Hartwell Corporation’s bonds have a 20-year maturity, an 10% semiannual coupon, and a face value of $1,000. The going nominal annual interest rate  is 8%. What is the bond’s price? 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0C0748-1B38-66A8-D0D4-85F906A4D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540220"/>
              </p:ext>
            </p:extLst>
          </p:nvPr>
        </p:nvGraphicFramePr>
        <p:xfrm>
          <a:off x="2294957" y="3757187"/>
          <a:ext cx="7602085" cy="39624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15D37A-5616-455B-1B64-61BAE5FFF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660742"/>
              </p:ext>
            </p:extLst>
          </p:nvPr>
        </p:nvGraphicFramePr>
        <p:xfrm>
          <a:off x="2294957" y="4151473"/>
          <a:ext cx="7602085" cy="39624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40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??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50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1,000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7F7A096-E3A5-A006-527F-DE3D5539093B}"/>
              </a:ext>
            </a:extLst>
          </p:cNvPr>
          <p:cNvSpPr txBox="1"/>
          <p:nvPr/>
        </p:nvSpPr>
        <p:spPr>
          <a:xfrm>
            <a:off x="4981565" y="4809838"/>
            <a:ext cx="222886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PV = 1197.92</a:t>
            </a:r>
            <a:endParaRPr lang="en-US" sz="2000" b="1" dirty="0">
              <a:solidFill>
                <a:srgbClr val="FF000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80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78A1-C262-2CC0-6D5E-F4977608D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able with text on it&#10;&#10;AI-generated content may be incorrect.">
            <a:extLst>
              <a:ext uri="{FF2B5EF4-FFF2-40B4-BE49-F238E27FC236}">
                <a16:creationId xmlns:a16="http://schemas.microsoft.com/office/drawing/2014/main" id="{7CF45050-2119-96DB-924C-3ACDAEBB20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5" t="5020" b="2456"/>
          <a:stretch/>
        </p:blipFill>
        <p:spPr>
          <a:xfrm>
            <a:off x="6013937" y="1935625"/>
            <a:ext cx="5790027" cy="41616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D871E51-2A99-D8FB-4917-C18BBBBAA4B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09660-50FC-43BD-B202-EDAB419E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Bond Ratings – What &amp; Why?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D2D455-472A-6288-3A96-4AF1420A2A2C}"/>
              </a:ext>
            </a:extLst>
          </p:cNvPr>
          <p:cNvSpPr txBox="1"/>
          <p:nvPr/>
        </p:nvSpPr>
        <p:spPr>
          <a:xfrm>
            <a:off x="200465" y="1504245"/>
            <a:ext cx="11697285" cy="5024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6032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What Are Bond Ratings?</a:t>
            </a:r>
          </a:p>
          <a:p>
            <a:pPr marL="713232" lvl="1" indent="-256032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Assigned by </a:t>
            </a:r>
            <a:r>
              <a:rPr lang="en-US" sz="2000" b="1" dirty="0"/>
              <a:t>Moody’s</a:t>
            </a:r>
            <a:r>
              <a:rPr lang="en-US" sz="2000" dirty="0"/>
              <a:t>, </a:t>
            </a:r>
            <a:r>
              <a:rPr lang="en-US" sz="2000" b="1" dirty="0"/>
              <a:t>S&amp;P</a:t>
            </a:r>
            <a:r>
              <a:rPr lang="en-US" sz="2000" dirty="0"/>
              <a:t>, and </a:t>
            </a:r>
            <a:r>
              <a:rPr lang="en-US" sz="2000" b="1" dirty="0"/>
              <a:t>Fitch</a:t>
            </a:r>
          </a:p>
          <a:p>
            <a:pPr marL="713232" lvl="1" indent="-256032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Reflect a bond’s </a:t>
            </a:r>
            <a:r>
              <a:rPr lang="en-US" sz="2000" b="1" dirty="0"/>
              <a:t>default risk</a:t>
            </a:r>
            <a:endParaRPr lang="en-US" sz="2000" dirty="0"/>
          </a:p>
          <a:p>
            <a:pPr marL="256032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Categories</a:t>
            </a:r>
          </a:p>
          <a:p>
            <a:pPr marL="713232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Investment-Grade Bonds</a:t>
            </a:r>
            <a:r>
              <a:rPr lang="en-US" sz="2000" dirty="0"/>
              <a:t> </a:t>
            </a:r>
          </a:p>
          <a:p>
            <a:pPr marL="1170432" lvl="3" indent="-256032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AAA, AA → Extremely safe</a:t>
            </a:r>
          </a:p>
          <a:p>
            <a:pPr marL="1170432" lvl="3" indent="-256032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A, BBB → Strong; widely held by institutions</a:t>
            </a:r>
          </a:p>
          <a:p>
            <a:pPr marL="713232" lvl="1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Speculative-Grade Bonds (Junk Bonds)</a:t>
            </a:r>
            <a:r>
              <a:rPr lang="en-US" sz="2000" dirty="0"/>
              <a:t> </a:t>
            </a:r>
          </a:p>
          <a:p>
            <a:pPr marL="1170432" lvl="3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BB and below → Higher risk of default</a:t>
            </a:r>
          </a:p>
          <a:p>
            <a:pPr marL="256032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Example Default Rates (5 Years):</a:t>
            </a:r>
          </a:p>
          <a:p>
            <a:pPr marL="713232" lvl="1" indent="-256032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A-rated bonds → </a:t>
            </a:r>
            <a:r>
              <a:rPr lang="en-US" sz="2000" b="1" dirty="0"/>
              <a:t>0.46%</a:t>
            </a:r>
            <a:endParaRPr lang="en-US" sz="2000" dirty="0"/>
          </a:p>
          <a:p>
            <a:pPr marL="713232" lvl="1" indent="-256032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C-rated bonds → </a:t>
            </a:r>
            <a:r>
              <a:rPr lang="en-US" sz="2000" b="1" dirty="0"/>
              <a:t>36.19%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20376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48A42-4555-6284-90EC-30A7CF0A3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3479EF2-4046-B597-4C2F-EAA2CE524E84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1BA21-C47C-7818-CE2E-E6FF417EF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How Are Bond Ratings Determined?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DF8D5-0272-9038-48F5-332BC3A406E2}"/>
              </a:ext>
            </a:extLst>
          </p:cNvPr>
          <p:cNvSpPr txBox="1"/>
          <p:nvPr/>
        </p:nvSpPr>
        <p:spPr>
          <a:xfrm>
            <a:off x="329419" y="1731920"/>
            <a:ext cx="6927166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Quantitative Factors</a:t>
            </a:r>
          </a:p>
          <a:p>
            <a:pPr marL="708660" lvl="1" indent="-251460"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Financial Ratios</a:t>
            </a:r>
            <a:r>
              <a:rPr lang="en-US" sz="2000" dirty="0">
                <a:latin typeface="Helvetica" pitchFamily="2" charset="0"/>
              </a:rPr>
              <a:t> (Debt ratio, Times-Interest-Earned)</a:t>
            </a:r>
          </a:p>
          <a:p>
            <a:pPr marL="708660" lvl="1" indent="-251460"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Forecasted future performance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8951F-B50C-BDAD-6B4A-45670FA1337C}"/>
              </a:ext>
            </a:extLst>
          </p:cNvPr>
          <p:cNvSpPr txBox="1"/>
          <p:nvPr/>
        </p:nvSpPr>
        <p:spPr>
          <a:xfrm>
            <a:off x="7291754" y="2899982"/>
            <a:ext cx="4097215" cy="36317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51460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Qualitative Factors</a:t>
            </a:r>
          </a:p>
          <a:p>
            <a:pPr marL="70866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Business Risk</a:t>
            </a:r>
            <a:endParaRPr lang="en-US" sz="2000" dirty="0">
              <a:latin typeface="Helvetica" pitchFamily="2" charset="0"/>
            </a:endParaRPr>
          </a:p>
          <a:p>
            <a:pPr marL="70866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Competitiveness</a:t>
            </a:r>
          </a:p>
          <a:p>
            <a:pPr marL="70866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Management quality</a:t>
            </a:r>
          </a:p>
          <a:p>
            <a:pPr marL="708660" lvl="1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Bond Contract Terms</a:t>
            </a:r>
            <a:endParaRPr lang="en-US" sz="2000" dirty="0">
              <a:latin typeface="Helvetica" pitchFamily="2" charset="0"/>
            </a:endParaRPr>
          </a:p>
          <a:p>
            <a:pPr marL="1165860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Security &amp; Collateral</a:t>
            </a:r>
          </a:p>
          <a:p>
            <a:pPr marL="1165860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Sinking fund provisions</a:t>
            </a:r>
          </a:p>
          <a:p>
            <a:pPr marL="1165860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Covenants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5144E-7818-5498-47C6-EC36D14D2743}"/>
              </a:ext>
            </a:extLst>
          </p:cNvPr>
          <p:cNvSpPr txBox="1"/>
          <p:nvPr/>
        </p:nvSpPr>
        <p:spPr>
          <a:xfrm>
            <a:off x="1513450" y="3761755"/>
            <a:ext cx="4169731" cy="190821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25146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Other Factors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Economic sensitivity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Industry/country risk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Exposure to subprime loans</a:t>
            </a:r>
          </a:p>
          <a:p>
            <a:pPr marL="800100" lvl="1" indent="-25146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Environmental/Legal risks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68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3223</TotalTime>
  <Words>1841</Words>
  <Application>Microsoft Macintosh PowerPoint</Application>
  <PresentationFormat>Widescreen</PresentationFormat>
  <Paragraphs>386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Helvetica</vt:lpstr>
      <vt:lpstr>Times New Roman</vt:lpstr>
      <vt:lpstr>Office Theme</vt:lpstr>
      <vt:lpstr>PowerPoint Presentation</vt:lpstr>
      <vt:lpstr>What is a Bond?</vt:lpstr>
      <vt:lpstr>Types of Bonds by Issuer</vt:lpstr>
      <vt:lpstr>Risks in Bond Investments</vt:lpstr>
      <vt:lpstr>Key Characteristics of Bonds</vt:lpstr>
      <vt:lpstr>Common Characteristics of Bonds</vt:lpstr>
      <vt:lpstr>Coupon Interest Rate &amp; Types</vt:lpstr>
      <vt:lpstr>Maturity Date &amp; Call Provisions</vt:lpstr>
      <vt:lpstr>Other Bond Features</vt:lpstr>
      <vt:lpstr>Bond Valuation (1)</vt:lpstr>
      <vt:lpstr>Bond Valuation (2)</vt:lpstr>
      <vt:lpstr>Bond Valuation (2)</vt:lpstr>
      <vt:lpstr>Interest Rates: Impact on Bond Price</vt:lpstr>
      <vt:lpstr>Interest Rates &amp; Coupon Rates</vt:lpstr>
      <vt:lpstr>Question-1</vt:lpstr>
      <vt:lpstr>Yield to maturity (YTM) </vt:lpstr>
      <vt:lpstr>Yield to Maturity (YTM) </vt:lpstr>
      <vt:lpstr>Yield to Call (YTC) </vt:lpstr>
      <vt:lpstr>Yield to Call (YTC) </vt:lpstr>
      <vt:lpstr>Question-2</vt:lpstr>
      <vt:lpstr>Bonds with Semiannual Coupons</vt:lpstr>
      <vt:lpstr>Bonds with Semiannual Coupons</vt:lpstr>
      <vt:lpstr>Bond Ratings – What &amp; Why?</vt:lpstr>
      <vt:lpstr>How Are Bond Ratings Determined?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HAGHIGHI ZADEH, REIHANEH</dc:creator>
  <cp:lastModifiedBy>reza bavili</cp:lastModifiedBy>
  <cp:revision>58</cp:revision>
  <dcterms:created xsi:type="dcterms:W3CDTF">2024-10-08T02:28:39Z</dcterms:created>
  <dcterms:modified xsi:type="dcterms:W3CDTF">2025-04-15T00:08:24Z</dcterms:modified>
</cp:coreProperties>
</file>