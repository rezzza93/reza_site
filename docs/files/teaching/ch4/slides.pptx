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8" r:id="rId2"/>
    <p:sldId id="268" r:id="rId3"/>
    <p:sldId id="319" r:id="rId4"/>
    <p:sldId id="320" r:id="rId5"/>
    <p:sldId id="325" r:id="rId6"/>
    <p:sldId id="321" r:id="rId7"/>
    <p:sldId id="322" r:id="rId8"/>
    <p:sldId id="324" r:id="rId9"/>
    <p:sldId id="323" r:id="rId10"/>
    <p:sldId id="326" r:id="rId11"/>
    <p:sldId id="327" r:id="rId12"/>
    <p:sldId id="328" r:id="rId13"/>
    <p:sldId id="329" r:id="rId14"/>
    <p:sldId id="332" r:id="rId15"/>
    <p:sldId id="333" r:id="rId16"/>
    <p:sldId id="331" r:id="rId17"/>
    <p:sldId id="334" r:id="rId18"/>
    <p:sldId id="335" r:id="rId19"/>
    <p:sldId id="337" r:id="rId20"/>
    <p:sldId id="338" r:id="rId21"/>
    <p:sldId id="339" r:id="rId22"/>
    <p:sldId id="340" r:id="rId23"/>
    <p:sldId id="341" r:id="rId24"/>
    <p:sldId id="342" r:id="rId25"/>
    <p:sldId id="343" r:id="rId26"/>
    <p:sldId id="344" r:id="rId27"/>
    <p:sldId id="330" r:id="rId28"/>
    <p:sldId id="345" r:id="rId29"/>
    <p:sldId id="346" r:id="rId30"/>
    <p:sldId id="347" r:id="rId31"/>
    <p:sldId id="348" r:id="rId32"/>
    <p:sldId id="349" r:id="rId33"/>
    <p:sldId id="350" r:id="rId34"/>
    <p:sldId id="351" r:id="rId35"/>
    <p:sldId id="352" r:id="rId36"/>
    <p:sldId id="353" r:id="rId37"/>
    <p:sldId id="354" r:id="rId38"/>
    <p:sldId id="355" r:id="rId39"/>
    <p:sldId id="356" r:id="rId40"/>
    <p:sldId id="357" r:id="rId41"/>
    <p:sldId id="358" r:id="rId42"/>
    <p:sldId id="359" r:id="rId43"/>
    <p:sldId id="361" r:id="rId44"/>
    <p:sldId id="360" r:id="rId45"/>
    <p:sldId id="362" r:id="rId46"/>
    <p:sldId id="363" r:id="rId47"/>
    <p:sldId id="364" r:id="rId48"/>
    <p:sldId id="318" r:id="rId49"/>
    <p:sldId id="366" r:id="rId50"/>
    <p:sldId id="367" r:id="rId51"/>
    <p:sldId id="365"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600AF"/>
    <a:srgbClr val="A60086"/>
    <a:srgbClr val="0061B4"/>
    <a:srgbClr val="0032FF"/>
    <a:srgbClr val="8D0001"/>
    <a:srgbClr val="171DB0"/>
    <a:srgbClr val="8A0293"/>
    <a:srgbClr val="6C33B0"/>
    <a:srgbClr val="820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747"/>
    <p:restoredTop sz="96087"/>
  </p:normalViewPr>
  <p:slideViewPr>
    <p:cSldViewPr snapToGrid="0">
      <p:cViewPr varScale="1">
        <p:scale>
          <a:sx n="131" d="100"/>
          <a:sy n="131" d="100"/>
        </p:scale>
        <p:origin x="22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4B6570-999A-DC42-8E66-F3D58899C2B7}" type="datetimeFigureOut">
              <a:rPr lang="en-US" smtClean="0"/>
              <a:t>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E249C8-EEFF-0D43-99AE-419F2E819EDD}" type="slidenum">
              <a:rPr lang="en-US" smtClean="0"/>
              <a:t>‹#›</a:t>
            </a:fld>
            <a:endParaRPr lang="en-US"/>
          </a:p>
        </p:txBody>
      </p:sp>
    </p:spTree>
    <p:extLst>
      <p:ext uri="{BB962C8B-B14F-4D97-AF65-F5344CB8AC3E}">
        <p14:creationId xmlns:p14="http://schemas.microsoft.com/office/powerpoint/2010/main" val="971889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E249C8-EEFF-0D43-99AE-419F2E819EDD}" type="slidenum">
              <a:rPr lang="en-US" smtClean="0"/>
              <a:t>17</a:t>
            </a:fld>
            <a:endParaRPr lang="en-US"/>
          </a:p>
        </p:txBody>
      </p:sp>
    </p:spTree>
    <p:extLst>
      <p:ext uri="{BB962C8B-B14F-4D97-AF65-F5344CB8AC3E}">
        <p14:creationId xmlns:p14="http://schemas.microsoft.com/office/powerpoint/2010/main" val="3740628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E249C8-EEFF-0D43-99AE-419F2E819EDD}" type="slidenum">
              <a:rPr lang="en-US" smtClean="0"/>
              <a:t>19</a:t>
            </a:fld>
            <a:endParaRPr lang="en-US"/>
          </a:p>
        </p:txBody>
      </p:sp>
    </p:spTree>
    <p:extLst>
      <p:ext uri="{BB962C8B-B14F-4D97-AF65-F5344CB8AC3E}">
        <p14:creationId xmlns:p14="http://schemas.microsoft.com/office/powerpoint/2010/main" val="36991583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A71A6-3ECB-74D1-FA1C-6CE4A77C1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B027F3-297A-DA78-37B3-599E4FDAE8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7FEB4A-73E2-0604-908E-209DF87E55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20CA6C-C2D7-7FC8-A061-42319443D4CE}"/>
              </a:ext>
            </a:extLst>
          </p:cNvPr>
          <p:cNvSpPr>
            <a:spLocks noGrp="1"/>
          </p:cNvSpPr>
          <p:nvPr>
            <p:ph type="sldNum" sz="quarter" idx="5"/>
          </p:nvPr>
        </p:nvSpPr>
        <p:spPr/>
        <p:txBody>
          <a:bodyPr/>
          <a:lstStyle/>
          <a:p>
            <a:fld id="{EBE249C8-EEFF-0D43-99AE-419F2E819EDD}" type="slidenum">
              <a:rPr lang="en-US" smtClean="0"/>
              <a:t>20</a:t>
            </a:fld>
            <a:endParaRPr lang="en-US"/>
          </a:p>
        </p:txBody>
      </p:sp>
    </p:spTree>
    <p:extLst>
      <p:ext uri="{BB962C8B-B14F-4D97-AF65-F5344CB8AC3E}">
        <p14:creationId xmlns:p14="http://schemas.microsoft.com/office/powerpoint/2010/main" val="3714668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FD972-1EA3-C042-737C-7FE0BE6AE9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826121-E54C-378F-1493-5FD857E2FF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59C0B3-09E6-6C6B-2A8E-DE753DCC90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82BF6B-9C48-0645-73A6-A75A44F222D5}"/>
              </a:ext>
            </a:extLst>
          </p:cNvPr>
          <p:cNvSpPr>
            <a:spLocks noGrp="1"/>
          </p:cNvSpPr>
          <p:nvPr>
            <p:ph type="sldNum" sz="quarter" idx="5"/>
          </p:nvPr>
        </p:nvSpPr>
        <p:spPr/>
        <p:txBody>
          <a:bodyPr/>
          <a:lstStyle/>
          <a:p>
            <a:fld id="{EBE249C8-EEFF-0D43-99AE-419F2E819EDD}" type="slidenum">
              <a:rPr lang="en-US" smtClean="0"/>
              <a:t>21</a:t>
            </a:fld>
            <a:endParaRPr lang="en-US"/>
          </a:p>
        </p:txBody>
      </p:sp>
    </p:spTree>
    <p:extLst>
      <p:ext uri="{BB962C8B-B14F-4D97-AF65-F5344CB8AC3E}">
        <p14:creationId xmlns:p14="http://schemas.microsoft.com/office/powerpoint/2010/main" val="36982033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09EF4-1A83-A95B-0DF5-AEC03DA146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7CB1BB-DA01-963B-2261-793A68B2A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6938D4-F417-FEF3-EA33-E14E71CB89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BE4A10-5295-F10E-A1A0-21F51B2EEC57}"/>
              </a:ext>
            </a:extLst>
          </p:cNvPr>
          <p:cNvSpPr>
            <a:spLocks noGrp="1"/>
          </p:cNvSpPr>
          <p:nvPr>
            <p:ph type="sldNum" sz="quarter" idx="5"/>
          </p:nvPr>
        </p:nvSpPr>
        <p:spPr/>
        <p:txBody>
          <a:bodyPr/>
          <a:lstStyle/>
          <a:p>
            <a:fld id="{EBE249C8-EEFF-0D43-99AE-419F2E819EDD}" type="slidenum">
              <a:rPr lang="en-US" smtClean="0"/>
              <a:t>22</a:t>
            </a:fld>
            <a:endParaRPr lang="en-US"/>
          </a:p>
        </p:txBody>
      </p:sp>
    </p:spTree>
    <p:extLst>
      <p:ext uri="{BB962C8B-B14F-4D97-AF65-F5344CB8AC3E}">
        <p14:creationId xmlns:p14="http://schemas.microsoft.com/office/powerpoint/2010/main" val="30822013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48670-41C2-CAE0-FA9D-AB1A66E8E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D0161-937B-DC54-F027-2982DDBD08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AAEEB5-1C6F-5CA9-4EFD-B771B560D5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33E83A-FC69-4284-DF49-C60F18571530}"/>
              </a:ext>
            </a:extLst>
          </p:cNvPr>
          <p:cNvSpPr>
            <a:spLocks noGrp="1"/>
          </p:cNvSpPr>
          <p:nvPr>
            <p:ph type="sldNum" sz="quarter" idx="5"/>
          </p:nvPr>
        </p:nvSpPr>
        <p:spPr/>
        <p:txBody>
          <a:bodyPr/>
          <a:lstStyle/>
          <a:p>
            <a:fld id="{EBE249C8-EEFF-0D43-99AE-419F2E819EDD}" type="slidenum">
              <a:rPr lang="en-US" smtClean="0"/>
              <a:t>23</a:t>
            </a:fld>
            <a:endParaRPr lang="en-US"/>
          </a:p>
        </p:txBody>
      </p:sp>
    </p:spTree>
    <p:extLst>
      <p:ext uri="{BB962C8B-B14F-4D97-AF65-F5344CB8AC3E}">
        <p14:creationId xmlns:p14="http://schemas.microsoft.com/office/powerpoint/2010/main" val="20575955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A54FF-0B77-CAAC-C4E7-5B4251F081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817929-2B8C-0F93-F451-6A6A743419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0FDE0-3B20-354D-8AE7-4F9E7FD133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C77C29-2B4D-AF35-0ADF-CB6BAA72F9A0}"/>
              </a:ext>
            </a:extLst>
          </p:cNvPr>
          <p:cNvSpPr>
            <a:spLocks noGrp="1"/>
          </p:cNvSpPr>
          <p:nvPr>
            <p:ph type="sldNum" sz="quarter" idx="5"/>
          </p:nvPr>
        </p:nvSpPr>
        <p:spPr/>
        <p:txBody>
          <a:bodyPr/>
          <a:lstStyle/>
          <a:p>
            <a:fld id="{EBE249C8-EEFF-0D43-99AE-419F2E819EDD}" type="slidenum">
              <a:rPr lang="en-US" smtClean="0"/>
              <a:t>24</a:t>
            </a:fld>
            <a:endParaRPr lang="en-US"/>
          </a:p>
        </p:txBody>
      </p:sp>
    </p:spTree>
    <p:extLst>
      <p:ext uri="{BB962C8B-B14F-4D97-AF65-F5344CB8AC3E}">
        <p14:creationId xmlns:p14="http://schemas.microsoft.com/office/powerpoint/2010/main" val="18610650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76D91-C0D4-DADE-9CC9-DF2AE15FEE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6DE75E-49B9-55B7-926A-8D592CA785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5C3654-1492-70ED-8313-A5943D8153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CF42A9-0429-F0BF-30F5-373FFBE9237F}"/>
              </a:ext>
            </a:extLst>
          </p:cNvPr>
          <p:cNvSpPr>
            <a:spLocks noGrp="1"/>
          </p:cNvSpPr>
          <p:nvPr>
            <p:ph type="sldNum" sz="quarter" idx="5"/>
          </p:nvPr>
        </p:nvSpPr>
        <p:spPr/>
        <p:txBody>
          <a:bodyPr/>
          <a:lstStyle/>
          <a:p>
            <a:fld id="{EBE249C8-EEFF-0D43-99AE-419F2E819EDD}" type="slidenum">
              <a:rPr lang="en-US" smtClean="0"/>
              <a:t>25</a:t>
            </a:fld>
            <a:endParaRPr lang="en-US"/>
          </a:p>
        </p:txBody>
      </p:sp>
    </p:spTree>
    <p:extLst>
      <p:ext uri="{BB962C8B-B14F-4D97-AF65-F5344CB8AC3E}">
        <p14:creationId xmlns:p14="http://schemas.microsoft.com/office/powerpoint/2010/main" val="2428023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31D8A-6B95-8568-CDF3-3344F0ABA5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016FB3-9759-923E-08DC-8D14439888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AA99C6-EBA1-B417-B2D1-247E23ABAF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D8F99D-E27A-B255-A1D5-075F32D3CB18}"/>
              </a:ext>
            </a:extLst>
          </p:cNvPr>
          <p:cNvSpPr>
            <a:spLocks noGrp="1"/>
          </p:cNvSpPr>
          <p:nvPr>
            <p:ph type="sldNum" sz="quarter" idx="5"/>
          </p:nvPr>
        </p:nvSpPr>
        <p:spPr/>
        <p:txBody>
          <a:bodyPr/>
          <a:lstStyle/>
          <a:p>
            <a:fld id="{EBE249C8-EEFF-0D43-99AE-419F2E819EDD}" type="slidenum">
              <a:rPr lang="en-US" smtClean="0"/>
              <a:t>26</a:t>
            </a:fld>
            <a:endParaRPr lang="en-US"/>
          </a:p>
        </p:txBody>
      </p:sp>
    </p:spTree>
    <p:extLst>
      <p:ext uri="{BB962C8B-B14F-4D97-AF65-F5344CB8AC3E}">
        <p14:creationId xmlns:p14="http://schemas.microsoft.com/office/powerpoint/2010/main" val="37710922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B8914-E047-6914-9064-FA2910D557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5E5CC-BBCB-B5C2-08CC-AC49ECA2CA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04E89D-D3B2-3E36-30FC-EF713C113A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150AA6-1CE1-9891-7C5C-058C53663BD1}"/>
              </a:ext>
            </a:extLst>
          </p:cNvPr>
          <p:cNvSpPr>
            <a:spLocks noGrp="1"/>
          </p:cNvSpPr>
          <p:nvPr>
            <p:ph type="sldNum" sz="quarter" idx="5"/>
          </p:nvPr>
        </p:nvSpPr>
        <p:spPr/>
        <p:txBody>
          <a:bodyPr/>
          <a:lstStyle/>
          <a:p>
            <a:fld id="{EBE249C8-EEFF-0D43-99AE-419F2E819EDD}" type="slidenum">
              <a:rPr lang="en-US" smtClean="0"/>
              <a:t>31</a:t>
            </a:fld>
            <a:endParaRPr lang="en-US"/>
          </a:p>
        </p:txBody>
      </p:sp>
    </p:spTree>
    <p:extLst>
      <p:ext uri="{BB962C8B-B14F-4D97-AF65-F5344CB8AC3E}">
        <p14:creationId xmlns:p14="http://schemas.microsoft.com/office/powerpoint/2010/main" val="12351715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35436-88CB-B99E-25F0-C9FFA97BCE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380A32-F0F8-1C3B-D301-E4CEE8DE44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B0B884-2AFB-A140-2C2D-B70591EBD1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EFE2F7-D3DA-9108-25D8-03EDC79D75AC}"/>
              </a:ext>
            </a:extLst>
          </p:cNvPr>
          <p:cNvSpPr>
            <a:spLocks noGrp="1"/>
          </p:cNvSpPr>
          <p:nvPr>
            <p:ph type="sldNum" sz="quarter" idx="5"/>
          </p:nvPr>
        </p:nvSpPr>
        <p:spPr/>
        <p:txBody>
          <a:bodyPr/>
          <a:lstStyle/>
          <a:p>
            <a:fld id="{EBE249C8-EEFF-0D43-99AE-419F2E819EDD}" type="slidenum">
              <a:rPr lang="en-US" smtClean="0"/>
              <a:t>34</a:t>
            </a:fld>
            <a:endParaRPr lang="en-US"/>
          </a:p>
        </p:txBody>
      </p:sp>
    </p:spTree>
    <p:extLst>
      <p:ext uri="{BB962C8B-B14F-4D97-AF65-F5344CB8AC3E}">
        <p14:creationId xmlns:p14="http://schemas.microsoft.com/office/powerpoint/2010/main" val="2317611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5FB6C-482D-0CA6-0DE7-A1A454DF8F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BB1028-71D8-5431-C858-18A13E212E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6D1E4A-C709-833E-8BD5-AB357ED33B28}"/>
              </a:ext>
            </a:extLst>
          </p:cNvPr>
          <p:cNvSpPr>
            <a:spLocks noGrp="1"/>
          </p:cNvSpPr>
          <p:nvPr>
            <p:ph type="dt" sz="half" idx="10"/>
          </p:nvPr>
        </p:nvSpPr>
        <p:spPr/>
        <p:txBody>
          <a:bodyPr/>
          <a:lstStyle/>
          <a:p>
            <a:fld id="{C1425B35-3F3A-CD41-9377-C81DC4A252A0}" type="datetimeFigureOut">
              <a:rPr lang="en-US" smtClean="0"/>
              <a:t>1/20/26</a:t>
            </a:fld>
            <a:endParaRPr lang="en-US"/>
          </a:p>
        </p:txBody>
      </p:sp>
      <p:sp>
        <p:nvSpPr>
          <p:cNvPr id="5" name="Footer Placeholder 4">
            <a:extLst>
              <a:ext uri="{FF2B5EF4-FFF2-40B4-BE49-F238E27FC236}">
                <a16:creationId xmlns:a16="http://schemas.microsoft.com/office/drawing/2014/main" id="{336E4701-E60B-FACF-D008-D6973077D1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345F21-F310-25D3-E67C-F367F2C88CF7}"/>
              </a:ext>
            </a:extLst>
          </p:cNvPr>
          <p:cNvSpPr>
            <a:spLocks noGrp="1"/>
          </p:cNvSpPr>
          <p:nvPr>
            <p:ph type="sldNum" sz="quarter" idx="12"/>
          </p:nvPr>
        </p:nvSpPr>
        <p:spPr/>
        <p:txBody>
          <a:bodyPr/>
          <a:lstStyle/>
          <a:p>
            <a:fld id="{79F33ECA-1341-A541-93AD-637508536D3C}" type="slidenum">
              <a:rPr lang="en-US" smtClean="0"/>
              <a:t>‹#›</a:t>
            </a:fld>
            <a:endParaRPr lang="en-US"/>
          </a:p>
        </p:txBody>
      </p:sp>
    </p:spTree>
    <p:extLst>
      <p:ext uri="{BB962C8B-B14F-4D97-AF65-F5344CB8AC3E}">
        <p14:creationId xmlns:p14="http://schemas.microsoft.com/office/powerpoint/2010/main" val="1763499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59575-D8E5-4A66-CADA-E482F14412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6C6E56-9AC0-66AD-C7DA-8591010917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DA363D-B7C6-7735-2FDD-08180DD60EB6}"/>
              </a:ext>
            </a:extLst>
          </p:cNvPr>
          <p:cNvSpPr>
            <a:spLocks noGrp="1"/>
          </p:cNvSpPr>
          <p:nvPr>
            <p:ph type="dt" sz="half" idx="10"/>
          </p:nvPr>
        </p:nvSpPr>
        <p:spPr/>
        <p:txBody>
          <a:bodyPr/>
          <a:lstStyle/>
          <a:p>
            <a:fld id="{C1425B35-3F3A-CD41-9377-C81DC4A252A0}" type="datetimeFigureOut">
              <a:rPr lang="en-US" smtClean="0"/>
              <a:t>1/20/26</a:t>
            </a:fld>
            <a:endParaRPr lang="en-US"/>
          </a:p>
        </p:txBody>
      </p:sp>
      <p:sp>
        <p:nvSpPr>
          <p:cNvPr id="5" name="Footer Placeholder 4">
            <a:extLst>
              <a:ext uri="{FF2B5EF4-FFF2-40B4-BE49-F238E27FC236}">
                <a16:creationId xmlns:a16="http://schemas.microsoft.com/office/drawing/2014/main" id="{988D0FD0-7E51-D047-6E3E-6637F26BD0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9EC9BB-7E26-F3B6-D943-BC8B533D899F}"/>
              </a:ext>
            </a:extLst>
          </p:cNvPr>
          <p:cNvSpPr>
            <a:spLocks noGrp="1"/>
          </p:cNvSpPr>
          <p:nvPr>
            <p:ph type="sldNum" sz="quarter" idx="12"/>
          </p:nvPr>
        </p:nvSpPr>
        <p:spPr/>
        <p:txBody>
          <a:bodyPr/>
          <a:lstStyle/>
          <a:p>
            <a:fld id="{79F33ECA-1341-A541-93AD-637508536D3C}" type="slidenum">
              <a:rPr lang="en-US" smtClean="0"/>
              <a:t>‹#›</a:t>
            </a:fld>
            <a:endParaRPr lang="en-US"/>
          </a:p>
        </p:txBody>
      </p:sp>
    </p:spTree>
    <p:extLst>
      <p:ext uri="{BB962C8B-B14F-4D97-AF65-F5344CB8AC3E}">
        <p14:creationId xmlns:p14="http://schemas.microsoft.com/office/powerpoint/2010/main" val="1716976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69BF2-11A0-FD24-CE3F-086326F826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3CF59D0-8E25-45D1-541F-EDC02B15BF0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798559-E522-D16F-4CAC-3D25F8FAE6D7}"/>
              </a:ext>
            </a:extLst>
          </p:cNvPr>
          <p:cNvSpPr>
            <a:spLocks noGrp="1"/>
          </p:cNvSpPr>
          <p:nvPr>
            <p:ph type="dt" sz="half" idx="10"/>
          </p:nvPr>
        </p:nvSpPr>
        <p:spPr/>
        <p:txBody>
          <a:bodyPr/>
          <a:lstStyle/>
          <a:p>
            <a:fld id="{C1425B35-3F3A-CD41-9377-C81DC4A252A0}" type="datetimeFigureOut">
              <a:rPr lang="en-US" smtClean="0"/>
              <a:t>1/20/26</a:t>
            </a:fld>
            <a:endParaRPr lang="en-US"/>
          </a:p>
        </p:txBody>
      </p:sp>
      <p:sp>
        <p:nvSpPr>
          <p:cNvPr id="5" name="Footer Placeholder 4">
            <a:extLst>
              <a:ext uri="{FF2B5EF4-FFF2-40B4-BE49-F238E27FC236}">
                <a16:creationId xmlns:a16="http://schemas.microsoft.com/office/drawing/2014/main" id="{CE4D839E-DE62-2C49-49CA-9764CD2E6A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8CB57B-61F5-5150-2D2C-5DD8EB004A9C}"/>
              </a:ext>
            </a:extLst>
          </p:cNvPr>
          <p:cNvSpPr>
            <a:spLocks noGrp="1"/>
          </p:cNvSpPr>
          <p:nvPr>
            <p:ph type="sldNum" sz="quarter" idx="12"/>
          </p:nvPr>
        </p:nvSpPr>
        <p:spPr/>
        <p:txBody>
          <a:bodyPr/>
          <a:lstStyle/>
          <a:p>
            <a:fld id="{79F33ECA-1341-A541-93AD-637508536D3C}" type="slidenum">
              <a:rPr lang="en-US" smtClean="0"/>
              <a:t>‹#›</a:t>
            </a:fld>
            <a:endParaRPr lang="en-US"/>
          </a:p>
        </p:txBody>
      </p:sp>
    </p:spTree>
    <p:extLst>
      <p:ext uri="{BB962C8B-B14F-4D97-AF65-F5344CB8AC3E}">
        <p14:creationId xmlns:p14="http://schemas.microsoft.com/office/powerpoint/2010/main" val="3310172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55D95-82B1-D51C-FC84-DEDAF8F058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AC9C2F-C4D3-4114-08A3-C63246E1FC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42FEC3-2E6A-634C-C36E-31960FBB4D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6948A8-F8A0-43CE-61CB-23D8EEA88868}"/>
              </a:ext>
            </a:extLst>
          </p:cNvPr>
          <p:cNvSpPr>
            <a:spLocks noGrp="1"/>
          </p:cNvSpPr>
          <p:nvPr>
            <p:ph type="dt" sz="half" idx="10"/>
          </p:nvPr>
        </p:nvSpPr>
        <p:spPr/>
        <p:txBody>
          <a:bodyPr/>
          <a:lstStyle/>
          <a:p>
            <a:fld id="{C1425B35-3F3A-CD41-9377-C81DC4A252A0}" type="datetimeFigureOut">
              <a:rPr lang="en-US" smtClean="0"/>
              <a:t>1/20/26</a:t>
            </a:fld>
            <a:endParaRPr lang="en-US"/>
          </a:p>
        </p:txBody>
      </p:sp>
      <p:sp>
        <p:nvSpPr>
          <p:cNvPr id="6" name="Footer Placeholder 5">
            <a:extLst>
              <a:ext uri="{FF2B5EF4-FFF2-40B4-BE49-F238E27FC236}">
                <a16:creationId xmlns:a16="http://schemas.microsoft.com/office/drawing/2014/main" id="{76FAF85D-0A8C-EF4C-0BBB-781FE0AD29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E85E45-8598-93A6-A975-39200CEF23A6}"/>
              </a:ext>
            </a:extLst>
          </p:cNvPr>
          <p:cNvSpPr>
            <a:spLocks noGrp="1"/>
          </p:cNvSpPr>
          <p:nvPr>
            <p:ph type="sldNum" sz="quarter" idx="12"/>
          </p:nvPr>
        </p:nvSpPr>
        <p:spPr/>
        <p:txBody>
          <a:bodyPr/>
          <a:lstStyle/>
          <a:p>
            <a:fld id="{79F33ECA-1341-A541-93AD-637508536D3C}" type="slidenum">
              <a:rPr lang="en-US" smtClean="0"/>
              <a:t>‹#›</a:t>
            </a:fld>
            <a:endParaRPr lang="en-US"/>
          </a:p>
        </p:txBody>
      </p:sp>
    </p:spTree>
    <p:extLst>
      <p:ext uri="{BB962C8B-B14F-4D97-AF65-F5344CB8AC3E}">
        <p14:creationId xmlns:p14="http://schemas.microsoft.com/office/powerpoint/2010/main" val="3735052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8E9C-41D5-756E-2210-73BE516756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5B8B5E-F5F4-C12D-6E69-79E7DC6C89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F93AF9-BAAB-7C0C-2A9F-EE277C72A3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C1E2C7-77F5-0CC3-0DB1-C603AD9D81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5B85B7-C95B-6EB7-30B0-D7970DF9EF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EA31BD-258A-FF61-A40F-2AECE6728276}"/>
              </a:ext>
            </a:extLst>
          </p:cNvPr>
          <p:cNvSpPr>
            <a:spLocks noGrp="1"/>
          </p:cNvSpPr>
          <p:nvPr>
            <p:ph type="dt" sz="half" idx="10"/>
          </p:nvPr>
        </p:nvSpPr>
        <p:spPr/>
        <p:txBody>
          <a:bodyPr/>
          <a:lstStyle/>
          <a:p>
            <a:fld id="{C1425B35-3F3A-CD41-9377-C81DC4A252A0}" type="datetimeFigureOut">
              <a:rPr lang="en-US" smtClean="0"/>
              <a:t>1/20/26</a:t>
            </a:fld>
            <a:endParaRPr lang="en-US"/>
          </a:p>
        </p:txBody>
      </p:sp>
      <p:sp>
        <p:nvSpPr>
          <p:cNvPr id="8" name="Footer Placeholder 7">
            <a:extLst>
              <a:ext uri="{FF2B5EF4-FFF2-40B4-BE49-F238E27FC236}">
                <a16:creationId xmlns:a16="http://schemas.microsoft.com/office/drawing/2014/main" id="{CF26FAEC-491C-9FBC-DD4F-E38CDBB9622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57BF88-4C03-9D43-A69E-20C380CB34DE}"/>
              </a:ext>
            </a:extLst>
          </p:cNvPr>
          <p:cNvSpPr>
            <a:spLocks noGrp="1"/>
          </p:cNvSpPr>
          <p:nvPr>
            <p:ph type="sldNum" sz="quarter" idx="12"/>
          </p:nvPr>
        </p:nvSpPr>
        <p:spPr/>
        <p:txBody>
          <a:bodyPr/>
          <a:lstStyle/>
          <a:p>
            <a:fld id="{79F33ECA-1341-A541-93AD-637508536D3C}" type="slidenum">
              <a:rPr lang="en-US" smtClean="0"/>
              <a:t>‹#›</a:t>
            </a:fld>
            <a:endParaRPr lang="en-US"/>
          </a:p>
        </p:txBody>
      </p:sp>
    </p:spTree>
    <p:extLst>
      <p:ext uri="{BB962C8B-B14F-4D97-AF65-F5344CB8AC3E}">
        <p14:creationId xmlns:p14="http://schemas.microsoft.com/office/powerpoint/2010/main" val="125492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34D1B-1BCD-9A2B-3972-2543F411FF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1FBEE9-22E7-9DCE-1FD7-6524DA6A752F}"/>
              </a:ext>
            </a:extLst>
          </p:cNvPr>
          <p:cNvSpPr>
            <a:spLocks noGrp="1"/>
          </p:cNvSpPr>
          <p:nvPr>
            <p:ph type="dt" sz="half" idx="10"/>
          </p:nvPr>
        </p:nvSpPr>
        <p:spPr/>
        <p:txBody>
          <a:bodyPr/>
          <a:lstStyle/>
          <a:p>
            <a:fld id="{C1425B35-3F3A-CD41-9377-C81DC4A252A0}" type="datetimeFigureOut">
              <a:rPr lang="en-US" smtClean="0"/>
              <a:t>1/20/26</a:t>
            </a:fld>
            <a:endParaRPr lang="en-US"/>
          </a:p>
        </p:txBody>
      </p:sp>
      <p:sp>
        <p:nvSpPr>
          <p:cNvPr id="4" name="Footer Placeholder 3">
            <a:extLst>
              <a:ext uri="{FF2B5EF4-FFF2-40B4-BE49-F238E27FC236}">
                <a16:creationId xmlns:a16="http://schemas.microsoft.com/office/drawing/2014/main" id="{BCCA0769-0478-F802-85F4-44852F876C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8E0EE1-A079-CFE1-AE9C-9186427364F8}"/>
              </a:ext>
            </a:extLst>
          </p:cNvPr>
          <p:cNvSpPr>
            <a:spLocks noGrp="1"/>
          </p:cNvSpPr>
          <p:nvPr>
            <p:ph type="sldNum" sz="quarter" idx="12"/>
          </p:nvPr>
        </p:nvSpPr>
        <p:spPr/>
        <p:txBody>
          <a:bodyPr/>
          <a:lstStyle/>
          <a:p>
            <a:fld id="{79F33ECA-1341-A541-93AD-637508536D3C}" type="slidenum">
              <a:rPr lang="en-US" smtClean="0"/>
              <a:t>‹#›</a:t>
            </a:fld>
            <a:endParaRPr lang="en-US"/>
          </a:p>
        </p:txBody>
      </p:sp>
    </p:spTree>
    <p:extLst>
      <p:ext uri="{BB962C8B-B14F-4D97-AF65-F5344CB8AC3E}">
        <p14:creationId xmlns:p14="http://schemas.microsoft.com/office/powerpoint/2010/main" val="2459954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2EF334-4B8C-D680-9553-CA10C9D735A3}"/>
              </a:ext>
            </a:extLst>
          </p:cNvPr>
          <p:cNvSpPr>
            <a:spLocks noGrp="1"/>
          </p:cNvSpPr>
          <p:nvPr>
            <p:ph type="dt" sz="half" idx="10"/>
          </p:nvPr>
        </p:nvSpPr>
        <p:spPr/>
        <p:txBody>
          <a:bodyPr/>
          <a:lstStyle/>
          <a:p>
            <a:fld id="{C1425B35-3F3A-CD41-9377-C81DC4A252A0}" type="datetimeFigureOut">
              <a:rPr lang="en-US" smtClean="0"/>
              <a:t>1/20/26</a:t>
            </a:fld>
            <a:endParaRPr lang="en-US"/>
          </a:p>
        </p:txBody>
      </p:sp>
      <p:sp>
        <p:nvSpPr>
          <p:cNvPr id="3" name="Footer Placeholder 2">
            <a:extLst>
              <a:ext uri="{FF2B5EF4-FFF2-40B4-BE49-F238E27FC236}">
                <a16:creationId xmlns:a16="http://schemas.microsoft.com/office/drawing/2014/main" id="{6FF99754-111E-6272-2C89-0F3EDA6989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859B71-4C50-D2A2-020D-5DD0FA05E7C3}"/>
              </a:ext>
            </a:extLst>
          </p:cNvPr>
          <p:cNvSpPr>
            <a:spLocks noGrp="1"/>
          </p:cNvSpPr>
          <p:nvPr>
            <p:ph type="sldNum" sz="quarter" idx="12"/>
          </p:nvPr>
        </p:nvSpPr>
        <p:spPr/>
        <p:txBody>
          <a:bodyPr/>
          <a:lstStyle/>
          <a:p>
            <a:fld id="{79F33ECA-1341-A541-93AD-637508536D3C}" type="slidenum">
              <a:rPr lang="en-US" smtClean="0"/>
              <a:t>‹#›</a:t>
            </a:fld>
            <a:endParaRPr lang="en-US"/>
          </a:p>
        </p:txBody>
      </p:sp>
    </p:spTree>
    <p:extLst>
      <p:ext uri="{BB962C8B-B14F-4D97-AF65-F5344CB8AC3E}">
        <p14:creationId xmlns:p14="http://schemas.microsoft.com/office/powerpoint/2010/main" val="3727354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0A0B8-477D-35B0-7412-32F428B915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2A6865-2165-7C1C-940B-0539923951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233155-0BFB-86F7-059B-EEF97ABF1E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F4A07E-E050-ABCF-9243-A6FBB2589177}"/>
              </a:ext>
            </a:extLst>
          </p:cNvPr>
          <p:cNvSpPr>
            <a:spLocks noGrp="1"/>
          </p:cNvSpPr>
          <p:nvPr>
            <p:ph type="dt" sz="half" idx="10"/>
          </p:nvPr>
        </p:nvSpPr>
        <p:spPr/>
        <p:txBody>
          <a:bodyPr/>
          <a:lstStyle/>
          <a:p>
            <a:fld id="{C1425B35-3F3A-CD41-9377-C81DC4A252A0}" type="datetimeFigureOut">
              <a:rPr lang="en-US" smtClean="0"/>
              <a:t>1/20/26</a:t>
            </a:fld>
            <a:endParaRPr lang="en-US"/>
          </a:p>
        </p:txBody>
      </p:sp>
      <p:sp>
        <p:nvSpPr>
          <p:cNvPr id="6" name="Footer Placeholder 5">
            <a:extLst>
              <a:ext uri="{FF2B5EF4-FFF2-40B4-BE49-F238E27FC236}">
                <a16:creationId xmlns:a16="http://schemas.microsoft.com/office/drawing/2014/main" id="{CF43DD39-1D14-5AB7-1A69-8027B38A30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65BDE8-698B-2C4D-D21E-BE3EBD399132}"/>
              </a:ext>
            </a:extLst>
          </p:cNvPr>
          <p:cNvSpPr>
            <a:spLocks noGrp="1"/>
          </p:cNvSpPr>
          <p:nvPr>
            <p:ph type="sldNum" sz="quarter" idx="12"/>
          </p:nvPr>
        </p:nvSpPr>
        <p:spPr/>
        <p:txBody>
          <a:bodyPr/>
          <a:lstStyle/>
          <a:p>
            <a:fld id="{79F33ECA-1341-A541-93AD-637508536D3C}" type="slidenum">
              <a:rPr lang="en-US" smtClean="0"/>
              <a:t>‹#›</a:t>
            </a:fld>
            <a:endParaRPr lang="en-US"/>
          </a:p>
        </p:txBody>
      </p:sp>
    </p:spTree>
    <p:extLst>
      <p:ext uri="{BB962C8B-B14F-4D97-AF65-F5344CB8AC3E}">
        <p14:creationId xmlns:p14="http://schemas.microsoft.com/office/powerpoint/2010/main" val="630571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BFCD6-1E57-B4FB-9408-566E35923A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D37DE9-1135-AA14-17F4-548BBF1F42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C50764-D82B-D75E-993F-B9CCD1F07C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03F2CD-FEBD-1ECF-8F44-D4F81977BF96}"/>
              </a:ext>
            </a:extLst>
          </p:cNvPr>
          <p:cNvSpPr>
            <a:spLocks noGrp="1"/>
          </p:cNvSpPr>
          <p:nvPr>
            <p:ph type="dt" sz="half" idx="10"/>
          </p:nvPr>
        </p:nvSpPr>
        <p:spPr/>
        <p:txBody>
          <a:bodyPr/>
          <a:lstStyle/>
          <a:p>
            <a:fld id="{C1425B35-3F3A-CD41-9377-C81DC4A252A0}" type="datetimeFigureOut">
              <a:rPr lang="en-US" smtClean="0"/>
              <a:t>1/20/26</a:t>
            </a:fld>
            <a:endParaRPr lang="en-US"/>
          </a:p>
        </p:txBody>
      </p:sp>
      <p:sp>
        <p:nvSpPr>
          <p:cNvPr id="6" name="Footer Placeholder 5">
            <a:extLst>
              <a:ext uri="{FF2B5EF4-FFF2-40B4-BE49-F238E27FC236}">
                <a16:creationId xmlns:a16="http://schemas.microsoft.com/office/drawing/2014/main" id="{652C2630-7380-E112-5F8B-043D986B8D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8E5B24-DC64-AB0B-30EC-52DD0365F3F9}"/>
              </a:ext>
            </a:extLst>
          </p:cNvPr>
          <p:cNvSpPr>
            <a:spLocks noGrp="1"/>
          </p:cNvSpPr>
          <p:nvPr>
            <p:ph type="sldNum" sz="quarter" idx="12"/>
          </p:nvPr>
        </p:nvSpPr>
        <p:spPr/>
        <p:txBody>
          <a:bodyPr/>
          <a:lstStyle/>
          <a:p>
            <a:fld id="{79F33ECA-1341-A541-93AD-637508536D3C}" type="slidenum">
              <a:rPr lang="en-US" smtClean="0"/>
              <a:t>‹#›</a:t>
            </a:fld>
            <a:endParaRPr lang="en-US"/>
          </a:p>
        </p:txBody>
      </p:sp>
    </p:spTree>
    <p:extLst>
      <p:ext uri="{BB962C8B-B14F-4D97-AF65-F5344CB8AC3E}">
        <p14:creationId xmlns:p14="http://schemas.microsoft.com/office/powerpoint/2010/main" val="1366217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5E52A-1FE4-B6B8-F089-5384E314D7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48E456-17A9-C6A9-2755-A45D7F4530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3DBDF4-6082-1290-3E8E-57A5ABAA4E87}"/>
              </a:ext>
            </a:extLst>
          </p:cNvPr>
          <p:cNvSpPr>
            <a:spLocks noGrp="1"/>
          </p:cNvSpPr>
          <p:nvPr>
            <p:ph type="dt" sz="half" idx="10"/>
          </p:nvPr>
        </p:nvSpPr>
        <p:spPr/>
        <p:txBody>
          <a:bodyPr/>
          <a:lstStyle/>
          <a:p>
            <a:fld id="{C1425B35-3F3A-CD41-9377-C81DC4A252A0}" type="datetimeFigureOut">
              <a:rPr lang="en-US" smtClean="0"/>
              <a:t>1/20/26</a:t>
            </a:fld>
            <a:endParaRPr lang="en-US"/>
          </a:p>
        </p:txBody>
      </p:sp>
      <p:sp>
        <p:nvSpPr>
          <p:cNvPr id="5" name="Footer Placeholder 4">
            <a:extLst>
              <a:ext uri="{FF2B5EF4-FFF2-40B4-BE49-F238E27FC236}">
                <a16:creationId xmlns:a16="http://schemas.microsoft.com/office/drawing/2014/main" id="{00A0894A-2F3C-4B8E-8810-AEE5732674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DAAF87-8AE7-BC2E-A207-358D87DC86C6}"/>
              </a:ext>
            </a:extLst>
          </p:cNvPr>
          <p:cNvSpPr>
            <a:spLocks noGrp="1"/>
          </p:cNvSpPr>
          <p:nvPr>
            <p:ph type="sldNum" sz="quarter" idx="12"/>
          </p:nvPr>
        </p:nvSpPr>
        <p:spPr/>
        <p:txBody>
          <a:bodyPr/>
          <a:lstStyle/>
          <a:p>
            <a:fld id="{79F33ECA-1341-A541-93AD-637508536D3C}" type="slidenum">
              <a:rPr lang="en-US" smtClean="0"/>
              <a:t>‹#›</a:t>
            </a:fld>
            <a:endParaRPr lang="en-US"/>
          </a:p>
        </p:txBody>
      </p:sp>
    </p:spTree>
    <p:extLst>
      <p:ext uri="{BB962C8B-B14F-4D97-AF65-F5344CB8AC3E}">
        <p14:creationId xmlns:p14="http://schemas.microsoft.com/office/powerpoint/2010/main" val="1842788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81805F-BB64-2EB1-35DB-4E7F78E8E4D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1FF093D-B18C-38A6-A275-E4007CFDD1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24F3AC-A7FB-2BA1-986B-83976C2CB02F}"/>
              </a:ext>
            </a:extLst>
          </p:cNvPr>
          <p:cNvSpPr>
            <a:spLocks noGrp="1"/>
          </p:cNvSpPr>
          <p:nvPr>
            <p:ph type="dt" sz="half" idx="10"/>
          </p:nvPr>
        </p:nvSpPr>
        <p:spPr/>
        <p:txBody>
          <a:bodyPr/>
          <a:lstStyle/>
          <a:p>
            <a:fld id="{C1425B35-3F3A-CD41-9377-C81DC4A252A0}" type="datetimeFigureOut">
              <a:rPr lang="en-US" smtClean="0"/>
              <a:t>1/20/26</a:t>
            </a:fld>
            <a:endParaRPr lang="en-US"/>
          </a:p>
        </p:txBody>
      </p:sp>
      <p:sp>
        <p:nvSpPr>
          <p:cNvPr id="5" name="Footer Placeholder 4">
            <a:extLst>
              <a:ext uri="{FF2B5EF4-FFF2-40B4-BE49-F238E27FC236}">
                <a16:creationId xmlns:a16="http://schemas.microsoft.com/office/drawing/2014/main" id="{41BEEA69-29F0-C94B-C22B-5F9A5A22A5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4F7028-1573-C1DF-F272-C3A0F373ECA5}"/>
              </a:ext>
            </a:extLst>
          </p:cNvPr>
          <p:cNvSpPr>
            <a:spLocks noGrp="1"/>
          </p:cNvSpPr>
          <p:nvPr>
            <p:ph type="sldNum" sz="quarter" idx="12"/>
          </p:nvPr>
        </p:nvSpPr>
        <p:spPr/>
        <p:txBody>
          <a:bodyPr/>
          <a:lstStyle/>
          <a:p>
            <a:fld id="{79F33ECA-1341-A541-93AD-637508536D3C}" type="slidenum">
              <a:rPr lang="en-US" smtClean="0"/>
              <a:t>‹#›</a:t>
            </a:fld>
            <a:endParaRPr lang="en-US"/>
          </a:p>
        </p:txBody>
      </p:sp>
    </p:spTree>
    <p:extLst>
      <p:ext uri="{BB962C8B-B14F-4D97-AF65-F5344CB8AC3E}">
        <p14:creationId xmlns:p14="http://schemas.microsoft.com/office/powerpoint/2010/main" val="357106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8212E9-93E5-CDD1-498F-A39B259D5A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A83DC2-F13F-F521-C0E4-4F54796FC8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EF7B16-78AF-C336-F905-BF1D852AF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425B35-3F3A-CD41-9377-C81DC4A252A0}" type="datetimeFigureOut">
              <a:rPr lang="en-US" smtClean="0"/>
              <a:t>1/20/26</a:t>
            </a:fld>
            <a:endParaRPr lang="en-US"/>
          </a:p>
        </p:txBody>
      </p:sp>
      <p:sp>
        <p:nvSpPr>
          <p:cNvPr id="5" name="Footer Placeholder 4">
            <a:extLst>
              <a:ext uri="{FF2B5EF4-FFF2-40B4-BE49-F238E27FC236}">
                <a16:creationId xmlns:a16="http://schemas.microsoft.com/office/drawing/2014/main" id="{3A0E59BC-03CD-E536-A6BF-FA28D0ACB2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F5283CA-4F84-65CA-AA42-4F0F2A5F03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F33ECA-1341-A541-93AD-637508536D3C}" type="slidenum">
              <a:rPr lang="en-US" smtClean="0"/>
              <a:t>‹#›</a:t>
            </a:fld>
            <a:endParaRPr lang="en-US"/>
          </a:p>
        </p:txBody>
      </p:sp>
    </p:spTree>
    <p:extLst>
      <p:ext uri="{BB962C8B-B14F-4D97-AF65-F5344CB8AC3E}">
        <p14:creationId xmlns:p14="http://schemas.microsoft.com/office/powerpoint/2010/main" val="1960475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30000">
              <a:schemeClr val="accent1">
                <a:alpha val="84000"/>
                <a:lumMod val="76000"/>
              </a:schemeClr>
            </a:gs>
            <a:gs pos="52000">
              <a:schemeClr val="accent1">
                <a:lumMod val="45000"/>
                <a:lumOff val="55000"/>
              </a:schemeClr>
            </a:gs>
            <a:gs pos="72000">
              <a:schemeClr val="accent1">
                <a:lumMod val="45000"/>
                <a:lumOff val="55000"/>
              </a:schemeClr>
            </a:gs>
            <a:gs pos="91000">
              <a:schemeClr val="accent1">
                <a:lumMod val="30000"/>
                <a:lumOff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Rectangle 1">
            <a:extLst>
              <a:ext uri="{FF2B5EF4-FFF2-40B4-BE49-F238E27FC236}">
                <a16:creationId xmlns:a16="http://schemas.microsoft.com/office/drawing/2014/main" id="{634CBDF4-8170-E480-75D3-55CE01005CD1}"/>
              </a:ext>
            </a:extLst>
          </p:cNvPr>
          <p:cNvSpPr/>
          <p:nvPr/>
        </p:nvSpPr>
        <p:spPr>
          <a:xfrm>
            <a:off x="0" y="0"/>
            <a:ext cx="12192000" cy="6858000"/>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colorful graph with lines and arrows&#10;&#10;AI-generated content may be incorrect.">
            <a:extLst>
              <a:ext uri="{FF2B5EF4-FFF2-40B4-BE49-F238E27FC236}">
                <a16:creationId xmlns:a16="http://schemas.microsoft.com/office/drawing/2014/main" id="{2048D9BF-AD8D-CE01-6425-3CBAE7D5CAD5}"/>
              </a:ext>
            </a:extLst>
          </p:cNvPr>
          <p:cNvPicPr>
            <a:picLocks noChangeAspect="1"/>
          </p:cNvPicPr>
          <p:nvPr/>
        </p:nvPicPr>
        <p:blipFill>
          <a:blip r:embed="rId2"/>
          <a:stretch>
            <a:fillRect/>
          </a:stretch>
        </p:blipFill>
        <p:spPr>
          <a:xfrm>
            <a:off x="2166344" y="1218569"/>
            <a:ext cx="7859311" cy="4420862"/>
          </a:xfrm>
          <a:prstGeom prst="rect">
            <a:avLst/>
          </a:prstGeom>
          <a:ln>
            <a:noFill/>
          </a:ln>
          <a:effectLst>
            <a:softEdge rad="112500"/>
          </a:effectLst>
        </p:spPr>
      </p:pic>
    </p:spTree>
    <p:extLst>
      <p:ext uri="{BB962C8B-B14F-4D97-AF65-F5344CB8AC3E}">
        <p14:creationId xmlns:p14="http://schemas.microsoft.com/office/powerpoint/2010/main" val="2501586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50269-7F8A-CEA0-25E6-B0773EEF7D3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7542918-FFC4-35F0-A22A-7ABF5C0F82F5}"/>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4424F0-7ACD-22A3-A465-F6FF14AEED59}"/>
              </a:ext>
            </a:extLst>
          </p:cNvPr>
          <p:cNvSpPr>
            <a:spLocks noGrp="1"/>
          </p:cNvSpPr>
          <p:nvPr>
            <p:ph type="title"/>
          </p:nvPr>
        </p:nvSpPr>
        <p:spPr>
          <a:xfrm>
            <a:off x="341971" y="214089"/>
            <a:ext cx="11609775" cy="982663"/>
          </a:xfrm>
        </p:spPr>
        <p:txBody>
          <a:bodyPr>
            <a:normAutofit/>
          </a:bodyPr>
          <a:lstStyle/>
          <a:p>
            <a:r>
              <a:rPr lang="en-US" sz="4000" b="1" dirty="0">
                <a:solidFill>
                  <a:schemeClr val="bg1"/>
                </a:solidFill>
                <a:latin typeface="Helvetica" pitchFamily="2" charset="0"/>
              </a:rPr>
              <a:t>Introduction</a:t>
            </a:r>
            <a:endParaRPr lang="en-US" b="1" dirty="0">
              <a:solidFill>
                <a:schemeClr val="bg1"/>
              </a:solidFill>
              <a:latin typeface="Helvetica" pitchFamily="2" charset="0"/>
            </a:endParaRPr>
          </a:p>
        </p:txBody>
      </p:sp>
      <p:sp>
        <p:nvSpPr>
          <p:cNvPr id="16" name="TextBox 15">
            <a:extLst>
              <a:ext uri="{FF2B5EF4-FFF2-40B4-BE49-F238E27FC236}">
                <a16:creationId xmlns:a16="http://schemas.microsoft.com/office/drawing/2014/main" id="{5D4A2543-F179-B138-88A4-A82CE3726918}"/>
              </a:ext>
            </a:extLst>
          </p:cNvPr>
          <p:cNvSpPr txBox="1"/>
          <p:nvPr/>
        </p:nvSpPr>
        <p:spPr>
          <a:xfrm>
            <a:off x="341971" y="1476117"/>
            <a:ext cx="5754030" cy="461665"/>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400" b="1" dirty="0">
                <a:latin typeface="Helvetica" pitchFamily="2" charset="0"/>
              </a:rPr>
              <a:t>Goal of Financial Management: </a:t>
            </a:r>
          </a:p>
        </p:txBody>
      </p:sp>
      <p:pic>
        <p:nvPicPr>
          <p:cNvPr id="4" name="Picture 3">
            <a:extLst>
              <a:ext uri="{FF2B5EF4-FFF2-40B4-BE49-F238E27FC236}">
                <a16:creationId xmlns:a16="http://schemas.microsoft.com/office/drawing/2014/main" id="{C9BF3547-53A5-2ABE-C443-5041BDD10CB8}"/>
              </a:ext>
            </a:extLst>
          </p:cNvPr>
          <p:cNvPicPr>
            <a:picLocks noChangeAspect="1"/>
          </p:cNvPicPr>
          <p:nvPr/>
        </p:nvPicPr>
        <p:blipFill>
          <a:blip r:embed="rId2"/>
          <a:stretch>
            <a:fillRect/>
          </a:stretch>
        </p:blipFill>
        <p:spPr>
          <a:xfrm>
            <a:off x="8416886" y="1376964"/>
            <a:ext cx="3775114" cy="1873185"/>
          </a:xfrm>
          <a:prstGeom prst="rect">
            <a:avLst/>
          </a:prstGeom>
        </p:spPr>
      </p:pic>
      <p:sp>
        <p:nvSpPr>
          <p:cNvPr id="5" name="TextBox 4">
            <a:extLst>
              <a:ext uri="{FF2B5EF4-FFF2-40B4-BE49-F238E27FC236}">
                <a16:creationId xmlns:a16="http://schemas.microsoft.com/office/drawing/2014/main" id="{262847AD-8664-08CB-8E6B-CA91FB0DA5E9}"/>
              </a:ext>
            </a:extLst>
          </p:cNvPr>
          <p:cNvSpPr txBox="1"/>
          <p:nvPr/>
        </p:nvSpPr>
        <p:spPr>
          <a:xfrm>
            <a:off x="838199" y="2753365"/>
            <a:ext cx="7578687" cy="430887"/>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200" dirty="0">
                <a:latin typeface="Helvetica" pitchFamily="2" charset="0"/>
              </a:rPr>
              <a:t>This means increasing </a:t>
            </a:r>
            <a:r>
              <a:rPr lang="en-US" sz="2200" b="1" u="sng" dirty="0">
                <a:latin typeface="Helvetica" pitchFamily="2" charset="0"/>
              </a:rPr>
              <a:t>the long-term value of the firm</a:t>
            </a:r>
            <a:r>
              <a:rPr lang="en-US" sz="2200" b="1" dirty="0">
                <a:latin typeface="Helvetica" pitchFamily="2" charset="0"/>
              </a:rPr>
              <a:t>.</a:t>
            </a:r>
          </a:p>
        </p:txBody>
      </p:sp>
      <p:sp>
        <p:nvSpPr>
          <p:cNvPr id="7" name="TextBox 6">
            <a:extLst>
              <a:ext uri="{FF2B5EF4-FFF2-40B4-BE49-F238E27FC236}">
                <a16:creationId xmlns:a16="http://schemas.microsoft.com/office/drawing/2014/main" id="{1AD7637D-8A9D-150B-9137-FF390A4D3109}"/>
              </a:ext>
            </a:extLst>
          </p:cNvPr>
          <p:cNvSpPr txBox="1"/>
          <p:nvPr/>
        </p:nvSpPr>
        <p:spPr>
          <a:xfrm>
            <a:off x="838199" y="2114741"/>
            <a:ext cx="5420843" cy="461665"/>
          </a:xfrm>
          <a:prstGeom prst="rect">
            <a:avLst/>
          </a:prstGeom>
          <a:noFill/>
        </p:spPr>
        <p:txBody>
          <a:bodyPr wrap="none" rtlCol="0">
            <a:spAutoFit/>
          </a:bodyPr>
          <a:lstStyle/>
          <a:p>
            <a:pPr marL="342900" indent="-342900">
              <a:buFont typeface="Arial" panose="020B0604020202020204" pitchFamily="34" charset="0"/>
              <a:buChar char="•"/>
            </a:pPr>
            <a:r>
              <a:rPr lang="en-US" sz="2400" b="1" i="1" dirty="0">
                <a:latin typeface="Helvetica" pitchFamily="2" charset="0"/>
              </a:rPr>
              <a:t>“Maximize shareholders’ wealth.”</a:t>
            </a:r>
          </a:p>
        </p:txBody>
      </p:sp>
      <p:sp>
        <p:nvSpPr>
          <p:cNvPr id="8" name="TextBox 7">
            <a:extLst>
              <a:ext uri="{FF2B5EF4-FFF2-40B4-BE49-F238E27FC236}">
                <a16:creationId xmlns:a16="http://schemas.microsoft.com/office/drawing/2014/main" id="{28949DDA-4468-8B95-891E-F886AE82186E}"/>
              </a:ext>
            </a:extLst>
          </p:cNvPr>
          <p:cNvSpPr txBox="1"/>
          <p:nvPr/>
        </p:nvSpPr>
        <p:spPr>
          <a:xfrm>
            <a:off x="1450040" y="4231696"/>
            <a:ext cx="5088701" cy="369332"/>
          </a:xfrm>
          <a:prstGeom prst="rect">
            <a:avLst/>
          </a:prstGeom>
          <a:noFill/>
        </p:spPr>
        <p:txBody>
          <a:bodyPr wrap="none" rtlCol="0">
            <a:spAutoFit/>
          </a:bodyPr>
          <a:lstStyle/>
          <a:p>
            <a:r>
              <a:rPr lang="en-US" dirty="0">
                <a:latin typeface="Helvetica" pitchFamily="2" charset="0"/>
              </a:rPr>
              <a:t>→ Your goal isn't just to sell lots of pizzas today </a:t>
            </a:r>
          </a:p>
        </p:txBody>
      </p:sp>
      <p:sp>
        <p:nvSpPr>
          <p:cNvPr id="9" name="TextBox 8">
            <a:extLst>
              <a:ext uri="{FF2B5EF4-FFF2-40B4-BE49-F238E27FC236}">
                <a16:creationId xmlns:a16="http://schemas.microsoft.com/office/drawing/2014/main" id="{3EFD7EDE-3923-755E-0650-75B6D97BE7BF}"/>
              </a:ext>
            </a:extLst>
          </p:cNvPr>
          <p:cNvSpPr txBox="1"/>
          <p:nvPr/>
        </p:nvSpPr>
        <p:spPr>
          <a:xfrm>
            <a:off x="590438" y="3608423"/>
            <a:ext cx="5035353" cy="430887"/>
          </a:xfrm>
          <a:prstGeom prst="rect">
            <a:avLst/>
          </a:prstGeom>
          <a:noFill/>
        </p:spPr>
        <p:txBody>
          <a:bodyPr wrap="none" rtlCol="0">
            <a:spAutoFit/>
          </a:bodyPr>
          <a:lstStyle/>
          <a:p>
            <a:r>
              <a:rPr lang="en-US" sz="2200" dirty="0">
                <a:latin typeface="Helvetica" pitchFamily="2" charset="0"/>
              </a:rPr>
              <a:t>Imagine you own a small pizza shop... </a:t>
            </a:r>
          </a:p>
        </p:txBody>
      </p:sp>
      <p:sp>
        <p:nvSpPr>
          <p:cNvPr id="10" name="TextBox 9">
            <a:extLst>
              <a:ext uri="{FF2B5EF4-FFF2-40B4-BE49-F238E27FC236}">
                <a16:creationId xmlns:a16="http://schemas.microsoft.com/office/drawing/2014/main" id="{502F99EB-163E-4CED-2FEB-63433EBE8737}"/>
              </a:ext>
            </a:extLst>
          </p:cNvPr>
          <p:cNvSpPr txBox="1"/>
          <p:nvPr/>
        </p:nvSpPr>
        <p:spPr>
          <a:xfrm>
            <a:off x="2299893" y="4793414"/>
            <a:ext cx="5190845" cy="369332"/>
          </a:xfrm>
          <a:prstGeom prst="rect">
            <a:avLst/>
          </a:prstGeom>
          <a:noFill/>
        </p:spPr>
        <p:txBody>
          <a:bodyPr wrap="none" rtlCol="0">
            <a:spAutoFit/>
          </a:bodyPr>
          <a:lstStyle/>
          <a:p>
            <a:r>
              <a:rPr lang="en-US" dirty="0">
                <a:latin typeface="Helvetica" pitchFamily="2" charset="0"/>
              </a:rPr>
              <a:t>→ It's to make the whole business so successful </a:t>
            </a:r>
          </a:p>
        </p:txBody>
      </p:sp>
      <p:sp>
        <p:nvSpPr>
          <p:cNvPr id="11" name="TextBox 10">
            <a:extLst>
              <a:ext uri="{FF2B5EF4-FFF2-40B4-BE49-F238E27FC236}">
                <a16:creationId xmlns:a16="http://schemas.microsoft.com/office/drawing/2014/main" id="{B8C1220C-9B35-093D-5F30-7E945520CA82}"/>
              </a:ext>
            </a:extLst>
          </p:cNvPr>
          <p:cNvSpPr txBox="1"/>
          <p:nvPr/>
        </p:nvSpPr>
        <p:spPr>
          <a:xfrm>
            <a:off x="3211042" y="5425882"/>
            <a:ext cx="6095999" cy="369332"/>
          </a:xfrm>
          <a:prstGeom prst="rect">
            <a:avLst/>
          </a:prstGeom>
          <a:noFill/>
        </p:spPr>
        <p:txBody>
          <a:bodyPr wrap="square" rtlCol="0">
            <a:spAutoFit/>
          </a:bodyPr>
          <a:lstStyle/>
          <a:p>
            <a:r>
              <a:rPr lang="en-US" dirty="0">
                <a:latin typeface="Helvetica" pitchFamily="2" charset="0"/>
              </a:rPr>
              <a:t>→ that someone would pay a lot more for it in 5–10 years! </a:t>
            </a:r>
          </a:p>
        </p:txBody>
      </p:sp>
      <p:pic>
        <p:nvPicPr>
          <p:cNvPr id="13" name="Picture 12" descr="A toy pizza shop with signs&#10;&#10;AI-generated content may be incorrect.">
            <a:extLst>
              <a:ext uri="{FF2B5EF4-FFF2-40B4-BE49-F238E27FC236}">
                <a16:creationId xmlns:a16="http://schemas.microsoft.com/office/drawing/2014/main" id="{C4DE1B2F-363F-E1EC-9EA3-8FDE3057D60F}"/>
              </a:ext>
            </a:extLst>
          </p:cNvPr>
          <p:cNvPicPr>
            <a:picLocks noChangeAspect="1"/>
          </p:cNvPicPr>
          <p:nvPr/>
        </p:nvPicPr>
        <p:blipFill>
          <a:blip r:embed="rId3"/>
          <a:stretch>
            <a:fillRect/>
          </a:stretch>
        </p:blipFill>
        <p:spPr>
          <a:xfrm>
            <a:off x="9369690" y="3407484"/>
            <a:ext cx="2668087" cy="2668087"/>
          </a:xfrm>
          <a:prstGeom prst="rect">
            <a:avLst/>
          </a:prstGeom>
        </p:spPr>
      </p:pic>
      <p:pic>
        <p:nvPicPr>
          <p:cNvPr id="15" name="Picture 14" descr="A food truck with people standing next to it&#10;&#10;AI-generated content may be incorrect.">
            <a:extLst>
              <a:ext uri="{FF2B5EF4-FFF2-40B4-BE49-F238E27FC236}">
                <a16:creationId xmlns:a16="http://schemas.microsoft.com/office/drawing/2014/main" id="{6E4A1B13-FF23-446B-DB79-DDA30397E19D}"/>
              </a:ext>
            </a:extLst>
          </p:cNvPr>
          <p:cNvPicPr>
            <a:picLocks noChangeAspect="1"/>
          </p:cNvPicPr>
          <p:nvPr/>
        </p:nvPicPr>
        <p:blipFill>
          <a:blip r:embed="rId4"/>
          <a:stretch>
            <a:fillRect/>
          </a:stretch>
        </p:blipFill>
        <p:spPr>
          <a:xfrm>
            <a:off x="6947531" y="3374128"/>
            <a:ext cx="2091070" cy="1493024"/>
          </a:xfrm>
          <a:prstGeom prst="rect">
            <a:avLst/>
          </a:prstGeom>
        </p:spPr>
      </p:pic>
    </p:spTree>
    <p:extLst>
      <p:ext uri="{BB962C8B-B14F-4D97-AF65-F5344CB8AC3E}">
        <p14:creationId xmlns:p14="http://schemas.microsoft.com/office/powerpoint/2010/main" val="3416857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uild="allAtOnce"/>
      <p:bldP spid="10"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406F0-42DE-0377-5057-597B4FD50CD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696BAD7-EB4A-FA1F-587D-2F30B06F0BB5}"/>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E5C6CBA-06BC-2312-0FA4-0F03BD5697B2}"/>
              </a:ext>
            </a:extLst>
          </p:cNvPr>
          <p:cNvSpPr txBox="1"/>
          <p:nvPr/>
        </p:nvSpPr>
        <p:spPr>
          <a:xfrm>
            <a:off x="341970" y="1476117"/>
            <a:ext cx="11508059" cy="461665"/>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400" b="1" dirty="0">
                <a:latin typeface="Helvetica" pitchFamily="2" charset="0"/>
              </a:rPr>
              <a:t>We must analyze the company's current AND future situation</a:t>
            </a:r>
          </a:p>
        </p:txBody>
      </p:sp>
      <p:sp>
        <p:nvSpPr>
          <p:cNvPr id="5" name="Title 1">
            <a:extLst>
              <a:ext uri="{FF2B5EF4-FFF2-40B4-BE49-F238E27FC236}">
                <a16:creationId xmlns:a16="http://schemas.microsoft.com/office/drawing/2014/main" id="{76EB37ED-8562-6341-E3AC-32EAAC5C13DB}"/>
              </a:ext>
            </a:extLst>
          </p:cNvPr>
          <p:cNvSpPr>
            <a:spLocks noGrp="1"/>
          </p:cNvSpPr>
          <p:nvPr>
            <p:ph type="title"/>
          </p:nvPr>
        </p:nvSpPr>
        <p:spPr>
          <a:xfrm>
            <a:off x="223633" y="204425"/>
            <a:ext cx="11771140" cy="982663"/>
          </a:xfrm>
        </p:spPr>
        <p:txBody>
          <a:bodyPr>
            <a:noAutofit/>
          </a:bodyPr>
          <a:lstStyle/>
          <a:p>
            <a:r>
              <a:rPr lang="en-US" sz="3000" b="1" dirty="0">
                <a:solidFill>
                  <a:schemeClr val="bg1"/>
                </a:solidFill>
                <a:latin typeface="Helvetica" pitchFamily="2" charset="0"/>
              </a:rPr>
              <a:t>How Do We Know If the Company Is Creating Long-Term Value?</a:t>
            </a:r>
          </a:p>
        </p:txBody>
      </p:sp>
      <p:sp>
        <p:nvSpPr>
          <p:cNvPr id="7" name="TextBox 6">
            <a:extLst>
              <a:ext uri="{FF2B5EF4-FFF2-40B4-BE49-F238E27FC236}">
                <a16:creationId xmlns:a16="http://schemas.microsoft.com/office/drawing/2014/main" id="{4EC9CDDE-97D0-5560-576F-173907F611EC}"/>
              </a:ext>
            </a:extLst>
          </p:cNvPr>
          <p:cNvSpPr txBox="1"/>
          <p:nvPr/>
        </p:nvSpPr>
        <p:spPr>
          <a:xfrm>
            <a:off x="806822" y="2479950"/>
            <a:ext cx="11275844" cy="400110"/>
          </a:xfrm>
          <a:prstGeom prst="rect">
            <a:avLst/>
          </a:prstGeom>
          <a:noFill/>
        </p:spPr>
        <p:txBody>
          <a:bodyPr wrap="none" rtlCol="0">
            <a:spAutoFit/>
          </a:bodyPr>
          <a:lstStyle/>
          <a:p>
            <a:r>
              <a:rPr lang="en-US" sz="2000" b="1" dirty="0">
                <a:latin typeface="Helvetica" pitchFamily="2" charset="0"/>
              </a:rPr>
              <a:t>Future situation</a:t>
            </a:r>
            <a:r>
              <a:rPr lang="en-US" sz="2000" dirty="0">
                <a:latin typeface="Helvetica" pitchFamily="2" charset="0"/>
              </a:rPr>
              <a:t> → Will it keep growing and stay strong for years? (investing in new products, …)</a:t>
            </a:r>
          </a:p>
        </p:txBody>
      </p:sp>
      <p:sp>
        <p:nvSpPr>
          <p:cNvPr id="8" name="TextBox 7">
            <a:extLst>
              <a:ext uri="{FF2B5EF4-FFF2-40B4-BE49-F238E27FC236}">
                <a16:creationId xmlns:a16="http://schemas.microsoft.com/office/drawing/2014/main" id="{0E543AB3-B390-CF36-72BF-FD2CA866C22D}"/>
              </a:ext>
            </a:extLst>
          </p:cNvPr>
          <p:cNvSpPr txBox="1"/>
          <p:nvPr/>
        </p:nvSpPr>
        <p:spPr>
          <a:xfrm>
            <a:off x="806822" y="2008811"/>
            <a:ext cx="10051149" cy="400110"/>
          </a:xfrm>
          <a:prstGeom prst="rect">
            <a:avLst/>
          </a:prstGeom>
          <a:noFill/>
        </p:spPr>
        <p:txBody>
          <a:bodyPr wrap="none" rtlCol="0">
            <a:spAutoFit/>
          </a:bodyPr>
          <a:lstStyle/>
          <a:p>
            <a:r>
              <a:rPr lang="en-US" sz="2000" b="1" dirty="0">
                <a:latin typeface="Helvetica" pitchFamily="2" charset="0"/>
              </a:rPr>
              <a:t>Current situation</a:t>
            </a:r>
            <a:r>
              <a:rPr lang="en-US" sz="2000" dirty="0">
                <a:latin typeface="Helvetica" pitchFamily="2" charset="0"/>
              </a:rPr>
              <a:t> → Is the company healthy right now? (paying bills, making profit, …)</a:t>
            </a:r>
          </a:p>
        </p:txBody>
      </p:sp>
      <p:sp>
        <p:nvSpPr>
          <p:cNvPr id="9" name="TextBox 8">
            <a:extLst>
              <a:ext uri="{FF2B5EF4-FFF2-40B4-BE49-F238E27FC236}">
                <a16:creationId xmlns:a16="http://schemas.microsoft.com/office/drawing/2014/main" id="{5399FDAF-1693-52BD-B6FD-F96A0B5E28B5}"/>
              </a:ext>
            </a:extLst>
          </p:cNvPr>
          <p:cNvSpPr txBox="1"/>
          <p:nvPr/>
        </p:nvSpPr>
        <p:spPr>
          <a:xfrm>
            <a:off x="341970" y="3091280"/>
            <a:ext cx="10489603" cy="461665"/>
          </a:xfrm>
          <a:prstGeom prst="rect">
            <a:avLst/>
          </a:prstGeom>
          <a:noFill/>
        </p:spPr>
        <p:txBody>
          <a:bodyPr wrap="none" rtlCol="0">
            <a:spAutoFit/>
          </a:bodyPr>
          <a:lstStyle/>
          <a:p>
            <a:pPr marL="342900" indent="-342900">
              <a:buFont typeface="Arial" panose="020B0604020202020204" pitchFamily="34" charset="0"/>
              <a:buChar char="•"/>
            </a:pPr>
            <a:r>
              <a:rPr lang="en-US" sz="2200" dirty="0">
                <a:latin typeface="Helvetica" pitchFamily="2" charset="0"/>
              </a:rPr>
              <a:t>The Main Tools We Use to Analyze a Company are </a:t>
            </a:r>
            <a:r>
              <a:rPr lang="en-US" sz="2400" b="1" dirty="0">
                <a:latin typeface="Helvetica" pitchFamily="2" charset="0"/>
              </a:rPr>
              <a:t>Financial Statements</a:t>
            </a:r>
            <a:r>
              <a:rPr lang="en-US" sz="2400" dirty="0">
                <a:latin typeface="Helvetica" pitchFamily="2" charset="0"/>
              </a:rPr>
              <a:t> </a:t>
            </a:r>
            <a:endParaRPr lang="en-US" sz="2200" dirty="0">
              <a:latin typeface="Helvetica" pitchFamily="2" charset="0"/>
            </a:endParaRPr>
          </a:p>
        </p:txBody>
      </p:sp>
      <p:sp>
        <p:nvSpPr>
          <p:cNvPr id="11" name="TextBox 10">
            <a:extLst>
              <a:ext uri="{FF2B5EF4-FFF2-40B4-BE49-F238E27FC236}">
                <a16:creationId xmlns:a16="http://schemas.microsoft.com/office/drawing/2014/main" id="{A60C6BB2-F12F-FEC7-8B31-0D33CA8AEB28}"/>
              </a:ext>
            </a:extLst>
          </p:cNvPr>
          <p:cNvSpPr txBox="1"/>
          <p:nvPr/>
        </p:nvSpPr>
        <p:spPr>
          <a:xfrm>
            <a:off x="806822" y="3658537"/>
            <a:ext cx="2008883" cy="400110"/>
          </a:xfrm>
          <a:prstGeom prst="rect">
            <a:avLst/>
          </a:prstGeom>
          <a:noFill/>
        </p:spPr>
        <p:txBody>
          <a:bodyPr wrap="none" rtlCol="0">
            <a:spAutoFit/>
          </a:bodyPr>
          <a:lstStyle/>
          <a:p>
            <a:r>
              <a:rPr lang="en-US" sz="2000" b="1" dirty="0">
                <a:solidFill>
                  <a:schemeClr val="accent4">
                    <a:lumMod val="50000"/>
                  </a:schemeClr>
                </a:solidFill>
                <a:latin typeface="Helvetica" pitchFamily="2" charset="0"/>
              </a:rPr>
              <a:t>Balance Sheet</a:t>
            </a:r>
            <a:r>
              <a:rPr lang="en-US" sz="2000" dirty="0">
                <a:solidFill>
                  <a:schemeClr val="accent4">
                    <a:lumMod val="50000"/>
                  </a:schemeClr>
                </a:solidFill>
                <a:latin typeface="Helvetica" pitchFamily="2" charset="0"/>
              </a:rPr>
              <a:t>:</a:t>
            </a:r>
          </a:p>
        </p:txBody>
      </p:sp>
      <p:sp>
        <p:nvSpPr>
          <p:cNvPr id="12" name="TextBox 11">
            <a:extLst>
              <a:ext uri="{FF2B5EF4-FFF2-40B4-BE49-F238E27FC236}">
                <a16:creationId xmlns:a16="http://schemas.microsoft.com/office/drawing/2014/main" id="{BBB6E094-79F4-0D36-A451-9B29D539785B}"/>
              </a:ext>
            </a:extLst>
          </p:cNvPr>
          <p:cNvSpPr txBox="1"/>
          <p:nvPr/>
        </p:nvSpPr>
        <p:spPr>
          <a:xfrm>
            <a:off x="806822" y="5792290"/>
            <a:ext cx="2917786" cy="400110"/>
          </a:xfrm>
          <a:prstGeom prst="rect">
            <a:avLst/>
          </a:prstGeom>
          <a:noFill/>
        </p:spPr>
        <p:txBody>
          <a:bodyPr wrap="none" rtlCol="0">
            <a:spAutoFit/>
          </a:bodyPr>
          <a:lstStyle/>
          <a:p>
            <a:r>
              <a:rPr lang="en-US" sz="2000" b="1" dirty="0">
                <a:solidFill>
                  <a:schemeClr val="accent6">
                    <a:lumMod val="50000"/>
                  </a:schemeClr>
                </a:solidFill>
                <a:latin typeface="Helvetica" pitchFamily="2" charset="0"/>
              </a:rPr>
              <a:t>Cash Flow Statement</a:t>
            </a:r>
            <a:r>
              <a:rPr lang="en-US" sz="2000" dirty="0">
                <a:solidFill>
                  <a:schemeClr val="accent6">
                    <a:lumMod val="50000"/>
                  </a:schemeClr>
                </a:solidFill>
                <a:latin typeface="Helvetica" pitchFamily="2" charset="0"/>
              </a:rPr>
              <a:t> :</a:t>
            </a:r>
          </a:p>
        </p:txBody>
      </p:sp>
      <p:sp>
        <p:nvSpPr>
          <p:cNvPr id="13" name="TextBox 12">
            <a:extLst>
              <a:ext uri="{FF2B5EF4-FFF2-40B4-BE49-F238E27FC236}">
                <a16:creationId xmlns:a16="http://schemas.microsoft.com/office/drawing/2014/main" id="{B6320636-67D5-9D75-3340-4BCE7BBB3719}"/>
              </a:ext>
            </a:extLst>
          </p:cNvPr>
          <p:cNvSpPr txBox="1"/>
          <p:nvPr/>
        </p:nvSpPr>
        <p:spPr>
          <a:xfrm>
            <a:off x="806822" y="4755348"/>
            <a:ext cx="5690982" cy="400110"/>
          </a:xfrm>
          <a:prstGeom prst="rect">
            <a:avLst/>
          </a:prstGeom>
          <a:noFill/>
        </p:spPr>
        <p:txBody>
          <a:bodyPr wrap="none" rtlCol="0">
            <a:spAutoFit/>
          </a:bodyPr>
          <a:lstStyle/>
          <a:p>
            <a:r>
              <a:rPr lang="en-US" sz="2000" b="1" dirty="0">
                <a:solidFill>
                  <a:schemeClr val="accent2">
                    <a:lumMod val="50000"/>
                  </a:schemeClr>
                </a:solidFill>
                <a:latin typeface="Helvetica" pitchFamily="2" charset="0"/>
              </a:rPr>
              <a:t>Income Statement</a:t>
            </a:r>
            <a:r>
              <a:rPr lang="en-US" sz="2000" dirty="0">
                <a:solidFill>
                  <a:schemeClr val="accent2">
                    <a:lumMod val="50000"/>
                  </a:schemeClr>
                </a:solidFill>
                <a:latin typeface="Helvetica" pitchFamily="2" charset="0"/>
              </a:rPr>
              <a:t> (or Profit &amp; Loss Statement):</a:t>
            </a:r>
          </a:p>
        </p:txBody>
      </p:sp>
      <p:sp>
        <p:nvSpPr>
          <p:cNvPr id="14" name="TextBox 13">
            <a:extLst>
              <a:ext uri="{FF2B5EF4-FFF2-40B4-BE49-F238E27FC236}">
                <a16:creationId xmlns:a16="http://schemas.microsoft.com/office/drawing/2014/main" id="{DFEFAE33-61DB-CD38-05B3-CF635138B34A}"/>
              </a:ext>
            </a:extLst>
          </p:cNvPr>
          <p:cNvSpPr txBox="1"/>
          <p:nvPr/>
        </p:nvSpPr>
        <p:spPr>
          <a:xfrm>
            <a:off x="1763013" y="4121207"/>
            <a:ext cx="9363461" cy="369332"/>
          </a:xfrm>
          <a:prstGeom prst="rect">
            <a:avLst/>
          </a:prstGeom>
          <a:noFill/>
        </p:spPr>
        <p:txBody>
          <a:bodyPr wrap="none" rtlCol="0">
            <a:spAutoFit/>
          </a:bodyPr>
          <a:lstStyle/>
          <a:p>
            <a:r>
              <a:rPr lang="en-US" b="1" dirty="0">
                <a:solidFill>
                  <a:schemeClr val="accent4">
                    <a:lumMod val="50000"/>
                  </a:schemeClr>
                </a:solidFill>
                <a:latin typeface="Helvetica" pitchFamily="2" charset="0"/>
              </a:rPr>
              <a:t>What the company owns</a:t>
            </a:r>
            <a:r>
              <a:rPr lang="en-US" dirty="0">
                <a:solidFill>
                  <a:schemeClr val="accent4">
                    <a:lumMod val="50000"/>
                  </a:schemeClr>
                </a:solidFill>
                <a:latin typeface="Helvetica" pitchFamily="2" charset="0"/>
              </a:rPr>
              <a:t> (assets) vs. </a:t>
            </a:r>
            <a:r>
              <a:rPr lang="en-US" b="1" dirty="0">
                <a:solidFill>
                  <a:schemeClr val="accent4">
                    <a:lumMod val="50000"/>
                  </a:schemeClr>
                </a:solidFill>
                <a:latin typeface="Helvetica" pitchFamily="2" charset="0"/>
              </a:rPr>
              <a:t>what it owes</a:t>
            </a:r>
            <a:r>
              <a:rPr lang="en-US" dirty="0">
                <a:solidFill>
                  <a:schemeClr val="accent4">
                    <a:lumMod val="50000"/>
                  </a:schemeClr>
                </a:solidFill>
                <a:latin typeface="Helvetica" pitchFamily="2" charset="0"/>
              </a:rPr>
              <a:t> (liabilities) + </a:t>
            </a:r>
            <a:r>
              <a:rPr lang="en-US" b="1" dirty="0">
                <a:solidFill>
                  <a:schemeClr val="accent4">
                    <a:lumMod val="50000"/>
                  </a:schemeClr>
                </a:solidFill>
                <a:latin typeface="Helvetica" pitchFamily="2" charset="0"/>
              </a:rPr>
              <a:t>owners' share</a:t>
            </a:r>
            <a:r>
              <a:rPr lang="en-US" dirty="0">
                <a:solidFill>
                  <a:schemeClr val="accent4">
                    <a:lumMod val="50000"/>
                  </a:schemeClr>
                </a:solidFill>
                <a:latin typeface="Helvetica" pitchFamily="2" charset="0"/>
              </a:rPr>
              <a:t> (equity) </a:t>
            </a:r>
            <a:endParaRPr lang="en-US" b="1" dirty="0">
              <a:solidFill>
                <a:schemeClr val="accent4">
                  <a:lumMod val="50000"/>
                </a:schemeClr>
              </a:solidFill>
              <a:latin typeface="Helvetica" pitchFamily="2" charset="0"/>
            </a:endParaRPr>
          </a:p>
        </p:txBody>
      </p:sp>
      <p:sp>
        <p:nvSpPr>
          <p:cNvPr id="15" name="TextBox 14">
            <a:extLst>
              <a:ext uri="{FF2B5EF4-FFF2-40B4-BE49-F238E27FC236}">
                <a16:creationId xmlns:a16="http://schemas.microsoft.com/office/drawing/2014/main" id="{A456523D-F39D-0885-C58F-6F7580FA8BD2}"/>
              </a:ext>
            </a:extLst>
          </p:cNvPr>
          <p:cNvSpPr txBox="1"/>
          <p:nvPr/>
        </p:nvSpPr>
        <p:spPr>
          <a:xfrm>
            <a:off x="1763013" y="5218049"/>
            <a:ext cx="8097088" cy="369332"/>
          </a:xfrm>
          <a:prstGeom prst="rect">
            <a:avLst/>
          </a:prstGeom>
          <a:noFill/>
        </p:spPr>
        <p:txBody>
          <a:bodyPr wrap="none" rtlCol="0">
            <a:spAutoFit/>
          </a:bodyPr>
          <a:lstStyle/>
          <a:p>
            <a:r>
              <a:rPr lang="en-US" b="1" dirty="0">
                <a:solidFill>
                  <a:schemeClr val="accent2">
                    <a:lumMod val="50000"/>
                  </a:schemeClr>
                </a:solidFill>
                <a:latin typeface="Helvetica" pitchFamily="2" charset="0"/>
              </a:rPr>
              <a:t>How much money came in</a:t>
            </a:r>
            <a:r>
              <a:rPr lang="en-US" dirty="0">
                <a:solidFill>
                  <a:schemeClr val="accent2">
                    <a:lumMod val="50000"/>
                  </a:schemeClr>
                </a:solidFill>
                <a:latin typeface="Helvetica" pitchFamily="2" charset="0"/>
              </a:rPr>
              <a:t> (revenues) vs. </a:t>
            </a:r>
            <a:r>
              <a:rPr lang="en-US" b="1" dirty="0">
                <a:solidFill>
                  <a:schemeClr val="accent2">
                    <a:lumMod val="50000"/>
                  </a:schemeClr>
                </a:solidFill>
                <a:latin typeface="Helvetica" pitchFamily="2" charset="0"/>
              </a:rPr>
              <a:t>how much went out</a:t>
            </a:r>
            <a:r>
              <a:rPr lang="en-US" dirty="0">
                <a:solidFill>
                  <a:schemeClr val="accent2">
                    <a:lumMod val="50000"/>
                  </a:schemeClr>
                </a:solidFill>
                <a:latin typeface="Helvetica" pitchFamily="2" charset="0"/>
              </a:rPr>
              <a:t> (expenses) </a:t>
            </a:r>
          </a:p>
        </p:txBody>
      </p:sp>
      <p:sp>
        <p:nvSpPr>
          <p:cNvPr id="17" name="TextBox 16">
            <a:extLst>
              <a:ext uri="{FF2B5EF4-FFF2-40B4-BE49-F238E27FC236}">
                <a16:creationId xmlns:a16="http://schemas.microsoft.com/office/drawing/2014/main" id="{BBE5B8C0-87D8-39FD-A4D7-DD6F0BBE3663}"/>
              </a:ext>
            </a:extLst>
          </p:cNvPr>
          <p:cNvSpPr txBox="1"/>
          <p:nvPr/>
        </p:nvSpPr>
        <p:spPr>
          <a:xfrm>
            <a:off x="1811263" y="6250343"/>
            <a:ext cx="8686993" cy="369332"/>
          </a:xfrm>
          <a:prstGeom prst="rect">
            <a:avLst/>
          </a:prstGeom>
          <a:noFill/>
        </p:spPr>
        <p:txBody>
          <a:bodyPr wrap="none" rtlCol="0">
            <a:spAutoFit/>
          </a:bodyPr>
          <a:lstStyle/>
          <a:p>
            <a:r>
              <a:rPr lang="en-US" b="1" dirty="0">
                <a:solidFill>
                  <a:schemeClr val="accent6">
                    <a:lumMod val="50000"/>
                  </a:schemeClr>
                </a:solidFill>
                <a:latin typeface="Helvetica" pitchFamily="2" charset="0"/>
              </a:rPr>
              <a:t>Where actual cash came from</a:t>
            </a:r>
            <a:r>
              <a:rPr lang="en-US" dirty="0">
                <a:solidFill>
                  <a:schemeClr val="accent6">
                    <a:lumMod val="50000"/>
                  </a:schemeClr>
                </a:solidFill>
                <a:latin typeface="Helvetica" pitchFamily="2" charset="0"/>
              </a:rPr>
              <a:t> and </a:t>
            </a:r>
            <a:r>
              <a:rPr lang="en-US" b="1" dirty="0">
                <a:solidFill>
                  <a:schemeClr val="accent6">
                    <a:lumMod val="50000"/>
                  </a:schemeClr>
                </a:solidFill>
                <a:latin typeface="Helvetica" pitchFamily="2" charset="0"/>
              </a:rPr>
              <a:t>where it went</a:t>
            </a:r>
            <a:r>
              <a:rPr lang="en-US" dirty="0">
                <a:solidFill>
                  <a:schemeClr val="accent6">
                    <a:lumMod val="50000"/>
                  </a:schemeClr>
                </a:solidFill>
                <a:latin typeface="Helvetica" pitchFamily="2" charset="0"/>
              </a:rPr>
              <a:t> (operating, investing, financing)</a:t>
            </a:r>
          </a:p>
        </p:txBody>
      </p:sp>
    </p:spTree>
    <p:extLst>
      <p:ext uri="{BB962C8B-B14F-4D97-AF65-F5344CB8AC3E}">
        <p14:creationId xmlns:p14="http://schemas.microsoft.com/office/powerpoint/2010/main" val="3017859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3" grpId="0"/>
      <p:bldP spid="14" grpId="0"/>
      <p:bldP spid="15"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5F2DF-44EE-4AE2-C2BA-82B53E26CAD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C34E44D-921E-153C-4103-78D33B146923}"/>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466EC1-2FA4-6A68-305A-DA002814E446}"/>
              </a:ext>
            </a:extLst>
          </p:cNvPr>
          <p:cNvSpPr>
            <a:spLocks noGrp="1"/>
          </p:cNvSpPr>
          <p:nvPr>
            <p:ph type="title"/>
          </p:nvPr>
        </p:nvSpPr>
        <p:spPr>
          <a:xfrm>
            <a:off x="344240" y="217289"/>
            <a:ext cx="10515600" cy="982663"/>
          </a:xfrm>
        </p:spPr>
        <p:txBody>
          <a:bodyPr>
            <a:normAutofit/>
          </a:bodyPr>
          <a:lstStyle/>
          <a:p>
            <a:r>
              <a:rPr lang="en-US" b="1" dirty="0">
                <a:solidFill>
                  <a:schemeClr val="bg1"/>
                </a:solidFill>
                <a:latin typeface="Helvetica" pitchFamily="2" charset="0"/>
              </a:rPr>
              <a:t>Where Financial Ratios Fit In</a:t>
            </a:r>
          </a:p>
        </p:txBody>
      </p:sp>
      <p:sp>
        <p:nvSpPr>
          <p:cNvPr id="3" name="TextBox 2">
            <a:extLst>
              <a:ext uri="{FF2B5EF4-FFF2-40B4-BE49-F238E27FC236}">
                <a16:creationId xmlns:a16="http://schemas.microsoft.com/office/drawing/2014/main" id="{D3FBE1BE-F062-3083-5779-9DDE43C0BAFF}"/>
              </a:ext>
            </a:extLst>
          </p:cNvPr>
          <p:cNvSpPr txBox="1"/>
          <p:nvPr/>
        </p:nvSpPr>
        <p:spPr>
          <a:xfrm>
            <a:off x="344240" y="1450129"/>
            <a:ext cx="11365935" cy="1846659"/>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sz="2400" dirty="0">
                <a:latin typeface="Helvetica" pitchFamily="2" charset="0"/>
              </a:rPr>
              <a:t>Financial statements provide raw accounting data </a:t>
            </a:r>
            <a:r>
              <a:rPr lang="en-US" sz="2000" i="1" dirty="0">
                <a:latin typeface="Helvetica" pitchFamily="2" charset="0"/>
              </a:rPr>
              <a:t>(sales, assets, debt, expenses, etc.)</a:t>
            </a:r>
            <a:endParaRPr lang="en-US" sz="2400" dirty="0">
              <a:latin typeface="Helvetica" pitchFamily="2" charset="0"/>
            </a:endParaRPr>
          </a:p>
          <a:p>
            <a:pPr marL="742950" lvl="1" indent="-285750">
              <a:spcBef>
                <a:spcPts val="600"/>
              </a:spcBef>
              <a:spcAft>
                <a:spcPts val="600"/>
              </a:spcAft>
              <a:buFont typeface="Arial" panose="020B0604020202020204" pitchFamily="34" charset="0"/>
              <a:buChar char="•"/>
            </a:pPr>
            <a:r>
              <a:rPr lang="en-US" sz="2000" dirty="0">
                <a:latin typeface="Helvetica" pitchFamily="2" charset="0"/>
              </a:rPr>
              <a:t>Raw numbers alone are hard to interpret</a:t>
            </a:r>
          </a:p>
          <a:p>
            <a:pPr marL="1200150" lvl="2" indent="-285750">
              <a:spcBef>
                <a:spcPts val="600"/>
              </a:spcBef>
              <a:spcAft>
                <a:spcPts val="600"/>
              </a:spcAft>
              <a:buFont typeface="Arial" panose="020B0604020202020204" pitchFamily="34" charset="0"/>
              <a:buChar char="•"/>
            </a:pPr>
            <a:r>
              <a:rPr lang="en-US" sz="2000" dirty="0">
                <a:latin typeface="Helvetica" pitchFamily="2" charset="0"/>
              </a:rPr>
              <a:t>Companies differ in size, structure, and operations</a:t>
            </a:r>
          </a:p>
          <a:p>
            <a:pPr marL="1200150" lvl="2" indent="-285750">
              <a:spcBef>
                <a:spcPts val="600"/>
              </a:spcBef>
              <a:spcAft>
                <a:spcPts val="600"/>
              </a:spcAft>
              <a:buFont typeface="Arial" panose="020B0604020202020204" pitchFamily="34" charset="0"/>
              <a:buChar char="•"/>
            </a:pPr>
            <a:r>
              <a:rPr lang="en-US" sz="2000" dirty="0">
                <a:latin typeface="Helvetica" pitchFamily="2" charset="0"/>
              </a:rPr>
              <a:t>A higher number does </a:t>
            </a:r>
            <a:r>
              <a:rPr lang="en-US" sz="2000" b="1" dirty="0">
                <a:latin typeface="Helvetica" pitchFamily="2" charset="0"/>
              </a:rPr>
              <a:t>not</a:t>
            </a:r>
            <a:r>
              <a:rPr lang="en-US" sz="2000" dirty="0">
                <a:latin typeface="Helvetica" pitchFamily="2" charset="0"/>
              </a:rPr>
              <a:t> always mean a better company</a:t>
            </a:r>
          </a:p>
        </p:txBody>
      </p:sp>
      <p:sp>
        <p:nvSpPr>
          <p:cNvPr id="11" name="TextBox 10">
            <a:extLst>
              <a:ext uri="{FF2B5EF4-FFF2-40B4-BE49-F238E27FC236}">
                <a16:creationId xmlns:a16="http://schemas.microsoft.com/office/drawing/2014/main" id="{D9DB756A-30FA-D018-0F1A-C484843D1F4F}"/>
              </a:ext>
            </a:extLst>
          </p:cNvPr>
          <p:cNvSpPr txBox="1"/>
          <p:nvPr/>
        </p:nvSpPr>
        <p:spPr>
          <a:xfrm>
            <a:off x="6242958" y="4779806"/>
            <a:ext cx="5761131" cy="1508105"/>
          </a:xfrm>
          <a:prstGeom prst="rect">
            <a:avLst/>
          </a:prstGeom>
          <a:solidFill>
            <a:srgbClr val="92D050"/>
          </a:solidFill>
        </p:spPr>
        <p:txBody>
          <a:bodyPr wrap="square" rtlCol="0">
            <a:spAutoFit/>
          </a:bodyPr>
          <a:lstStyle/>
          <a:p>
            <a:pPr marL="285750" indent="-285750">
              <a:spcBef>
                <a:spcPts val="600"/>
              </a:spcBef>
              <a:spcAft>
                <a:spcPts val="600"/>
              </a:spcAft>
              <a:buFont typeface="Arial" panose="020B0604020202020204" pitchFamily="34" charset="0"/>
              <a:buChar char="•"/>
            </a:pPr>
            <a:r>
              <a:rPr lang="en-US" sz="2400" b="1" dirty="0">
                <a:latin typeface="Helvetica" pitchFamily="2" charset="0"/>
              </a:rPr>
              <a:t>Financial ratios solve this problem</a:t>
            </a:r>
            <a:endParaRPr lang="en-US" sz="2400" dirty="0">
              <a:latin typeface="Helvetica" pitchFamily="2" charset="0"/>
            </a:endParaRPr>
          </a:p>
          <a:p>
            <a:pPr marL="742950" lvl="1" indent="-285750">
              <a:spcBef>
                <a:spcPts val="600"/>
              </a:spcBef>
              <a:spcAft>
                <a:spcPts val="600"/>
              </a:spcAft>
              <a:buFont typeface="Arial" panose="020B0604020202020204" pitchFamily="34" charset="0"/>
              <a:buChar char="•"/>
            </a:pPr>
            <a:r>
              <a:rPr lang="en-US" sz="2400" dirty="0">
                <a:latin typeface="Helvetica" pitchFamily="2" charset="0"/>
              </a:rPr>
              <a:t>They relate numbers to each other</a:t>
            </a:r>
          </a:p>
          <a:p>
            <a:pPr marL="742950" lvl="1" indent="-285750">
              <a:spcBef>
                <a:spcPts val="600"/>
              </a:spcBef>
              <a:spcAft>
                <a:spcPts val="600"/>
              </a:spcAft>
              <a:buFont typeface="Arial" panose="020B0604020202020204" pitchFamily="34" charset="0"/>
              <a:buChar char="•"/>
            </a:pPr>
            <a:r>
              <a:rPr lang="en-US" sz="2400" dirty="0">
                <a:latin typeface="Helvetica" pitchFamily="2" charset="0"/>
              </a:rPr>
              <a:t>They allow fair comparison</a:t>
            </a:r>
          </a:p>
        </p:txBody>
      </p:sp>
      <p:sp>
        <p:nvSpPr>
          <p:cNvPr id="13" name="TextBox 12">
            <a:extLst>
              <a:ext uri="{FF2B5EF4-FFF2-40B4-BE49-F238E27FC236}">
                <a16:creationId xmlns:a16="http://schemas.microsoft.com/office/drawing/2014/main" id="{854B8C8D-C25E-E153-6D3B-112C20413C16}"/>
              </a:ext>
            </a:extLst>
          </p:cNvPr>
          <p:cNvSpPr txBox="1"/>
          <p:nvPr/>
        </p:nvSpPr>
        <p:spPr>
          <a:xfrm>
            <a:off x="344240" y="3579477"/>
            <a:ext cx="5604804" cy="2708434"/>
          </a:xfrm>
          <a:prstGeom prst="rect">
            <a:avLst/>
          </a:prstGeom>
          <a:noFill/>
        </p:spPr>
        <p:txBody>
          <a:bodyPr wrap="none" rtlCol="0">
            <a:spAutoFit/>
          </a:bodyPr>
          <a:lstStyle/>
          <a:p>
            <a:pPr marL="285750" indent="-285750">
              <a:spcBef>
                <a:spcPts val="600"/>
              </a:spcBef>
              <a:spcAft>
                <a:spcPts val="600"/>
              </a:spcAft>
              <a:buFont typeface="Arial" panose="020B0604020202020204" pitchFamily="34" charset="0"/>
              <a:buChar char="•"/>
            </a:pPr>
            <a:r>
              <a:rPr lang="en-US" sz="2000" b="1" dirty="0">
                <a:latin typeface="Helvetica" pitchFamily="2" charset="0"/>
              </a:rPr>
              <a:t>Example</a:t>
            </a:r>
            <a:endParaRPr lang="en-US" sz="2000" dirty="0">
              <a:latin typeface="Helvetica" pitchFamily="2" charset="0"/>
            </a:endParaRPr>
          </a:p>
          <a:p>
            <a:pPr marL="742950" lvl="1" indent="-285750">
              <a:spcBef>
                <a:spcPts val="600"/>
              </a:spcBef>
              <a:spcAft>
                <a:spcPts val="600"/>
              </a:spcAft>
              <a:buFont typeface="Arial" panose="020B0604020202020204" pitchFamily="34" charset="0"/>
              <a:buChar char="•"/>
            </a:pPr>
            <a:r>
              <a:rPr lang="en-US" sz="2000" dirty="0">
                <a:latin typeface="Helvetica" pitchFamily="2" charset="0"/>
              </a:rPr>
              <a:t>A company may report higher net income</a:t>
            </a:r>
          </a:p>
          <a:p>
            <a:pPr marL="742950" lvl="1" indent="-285750">
              <a:spcBef>
                <a:spcPts val="600"/>
              </a:spcBef>
              <a:spcAft>
                <a:spcPts val="600"/>
              </a:spcAft>
              <a:buFont typeface="Arial" panose="020B0604020202020204" pitchFamily="34" charset="0"/>
              <a:buChar char="•"/>
            </a:pPr>
            <a:r>
              <a:rPr lang="en-US" sz="2000" dirty="0">
                <a:latin typeface="Helvetica" pitchFamily="2" charset="0"/>
              </a:rPr>
              <a:t>But it may also have:</a:t>
            </a:r>
          </a:p>
          <a:p>
            <a:pPr marL="1200150" lvl="2" indent="-285750">
              <a:spcBef>
                <a:spcPts val="600"/>
              </a:spcBef>
              <a:spcAft>
                <a:spcPts val="600"/>
              </a:spcAft>
              <a:buFont typeface="Arial" panose="020B0604020202020204" pitchFamily="34" charset="0"/>
              <a:buChar char="•"/>
            </a:pPr>
            <a:r>
              <a:rPr lang="en-US" sz="2000" dirty="0">
                <a:latin typeface="Helvetica" pitchFamily="2" charset="0"/>
              </a:rPr>
              <a:t>Higher debt</a:t>
            </a:r>
          </a:p>
          <a:p>
            <a:pPr marL="1200150" lvl="2" indent="-285750">
              <a:spcBef>
                <a:spcPts val="600"/>
              </a:spcBef>
              <a:spcAft>
                <a:spcPts val="600"/>
              </a:spcAft>
              <a:buFont typeface="Arial" panose="020B0604020202020204" pitchFamily="34" charset="0"/>
              <a:buChar char="•"/>
            </a:pPr>
            <a:r>
              <a:rPr lang="en-US" sz="2000" dirty="0">
                <a:latin typeface="Helvetica" pitchFamily="2" charset="0"/>
              </a:rPr>
              <a:t>Lower efficiency</a:t>
            </a:r>
          </a:p>
          <a:p>
            <a:pPr marL="1200150" lvl="2" indent="-285750">
              <a:spcBef>
                <a:spcPts val="600"/>
              </a:spcBef>
              <a:spcAft>
                <a:spcPts val="600"/>
              </a:spcAft>
              <a:buFont typeface="Arial" panose="020B0604020202020204" pitchFamily="34" charset="0"/>
              <a:buChar char="•"/>
            </a:pPr>
            <a:r>
              <a:rPr lang="en-US" sz="2000" dirty="0">
                <a:latin typeface="Helvetica" pitchFamily="2" charset="0"/>
              </a:rPr>
              <a:t>Greater financial risk</a:t>
            </a:r>
          </a:p>
        </p:txBody>
      </p:sp>
    </p:spTree>
    <p:extLst>
      <p:ext uri="{BB962C8B-B14F-4D97-AF65-F5344CB8AC3E}">
        <p14:creationId xmlns:p14="http://schemas.microsoft.com/office/powerpoint/2010/main" val="4092887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animBg="1"/>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C6FB9-A6EF-C565-B4BD-D14DA2927F4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28ED4E1-1726-E3AA-50AD-234CDFEBC120}"/>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6B170B-6FD9-B517-9BC7-7D30D41778F2}"/>
              </a:ext>
            </a:extLst>
          </p:cNvPr>
          <p:cNvSpPr>
            <a:spLocks noGrp="1"/>
          </p:cNvSpPr>
          <p:nvPr>
            <p:ph type="title"/>
          </p:nvPr>
        </p:nvSpPr>
        <p:spPr>
          <a:xfrm>
            <a:off x="344240" y="209915"/>
            <a:ext cx="10515600" cy="982663"/>
          </a:xfrm>
        </p:spPr>
        <p:txBody>
          <a:bodyPr>
            <a:normAutofit/>
          </a:bodyPr>
          <a:lstStyle/>
          <a:p>
            <a:r>
              <a:rPr lang="en-US" b="1" dirty="0">
                <a:solidFill>
                  <a:schemeClr val="bg1"/>
                </a:solidFill>
                <a:latin typeface="Helvetica" pitchFamily="2" charset="0"/>
              </a:rPr>
              <a:t>What Are Financial Ratios?</a:t>
            </a:r>
          </a:p>
        </p:txBody>
      </p:sp>
      <p:sp>
        <p:nvSpPr>
          <p:cNvPr id="5" name="TextBox 4">
            <a:extLst>
              <a:ext uri="{FF2B5EF4-FFF2-40B4-BE49-F238E27FC236}">
                <a16:creationId xmlns:a16="http://schemas.microsoft.com/office/drawing/2014/main" id="{CA5B19CF-B842-529C-466C-ABA187429B33}"/>
              </a:ext>
            </a:extLst>
          </p:cNvPr>
          <p:cNvSpPr txBox="1"/>
          <p:nvPr/>
        </p:nvSpPr>
        <p:spPr>
          <a:xfrm>
            <a:off x="344240" y="3946792"/>
            <a:ext cx="5956548" cy="461665"/>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400" dirty="0">
                <a:latin typeface="Helvetica" pitchFamily="2" charset="0"/>
              </a:rPr>
              <a:t>Ratios help evaluate financial health by:</a:t>
            </a:r>
          </a:p>
        </p:txBody>
      </p:sp>
      <p:sp>
        <p:nvSpPr>
          <p:cNvPr id="7" name="TextBox 6">
            <a:extLst>
              <a:ext uri="{FF2B5EF4-FFF2-40B4-BE49-F238E27FC236}">
                <a16:creationId xmlns:a16="http://schemas.microsoft.com/office/drawing/2014/main" id="{EFB8061F-009F-BF06-9215-A181FB076DA3}"/>
              </a:ext>
            </a:extLst>
          </p:cNvPr>
          <p:cNvSpPr txBox="1"/>
          <p:nvPr/>
        </p:nvSpPr>
        <p:spPr>
          <a:xfrm>
            <a:off x="795164" y="4472721"/>
            <a:ext cx="6455489" cy="400110"/>
          </a:xfrm>
          <a:prstGeom prst="rect">
            <a:avLst/>
          </a:prstGeom>
          <a:noFill/>
        </p:spPr>
        <p:txBody>
          <a:bodyPr wrap="square" rtlCol="0">
            <a:spAutoFit/>
          </a:bodyPr>
          <a:lstStyle/>
          <a:p>
            <a:pPr>
              <a:spcBef>
                <a:spcPts val="600"/>
              </a:spcBef>
              <a:spcAft>
                <a:spcPts val="600"/>
              </a:spcAft>
            </a:pPr>
            <a:r>
              <a:rPr lang="en-US" sz="2000" b="1" dirty="0">
                <a:latin typeface="Helvetica" pitchFamily="2" charset="0"/>
              </a:rPr>
              <a:t>1- Comparing companies across firms or industries</a:t>
            </a:r>
          </a:p>
        </p:txBody>
      </p:sp>
      <p:sp>
        <p:nvSpPr>
          <p:cNvPr id="8" name="TextBox 7">
            <a:extLst>
              <a:ext uri="{FF2B5EF4-FFF2-40B4-BE49-F238E27FC236}">
                <a16:creationId xmlns:a16="http://schemas.microsoft.com/office/drawing/2014/main" id="{B51621F8-A703-E44D-FCC8-C67D49473B97}"/>
              </a:ext>
            </a:extLst>
          </p:cNvPr>
          <p:cNvSpPr txBox="1"/>
          <p:nvPr/>
        </p:nvSpPr>
        <p:spPr>
          <a:xfrm>
            <a:off x="838200" y="5708383"/>
            <a:ext cx="7369560" cy="400110"/>
          </a:xfrm>
          <a:prstGeom prst="rect">
            <a:avLst/>
          </a:prstGeom>
          <a:noFill/>
        </p:spPr>
        <p:txBody>
          <a:bodyPr wrap="square" rtlCol="0">
            <a:spAutoFit/>
          </a:bodyPr>
          <a:lstStyle/>
          <a:p>
            <a:r>
              <a:rPr lang="en-US" sz="2000" b="1" dirty="0">
                <a:latin typeface="Helvetica" pitchFamily="2" charset="0"/>
              </a:rPr>
              <a:t>2- Identifying strengths, weaknesses, and trends over time</a:t>
            </a:r>
          </a:p>
        </p:txBody>
      </p:sp>
      <p:pic>
        <p:nvPicPr>
          <p:cNvPr id="12" name="Picture 11" descr="A graph of company logos&#10;&#10;AI-generated content may be incorrect.">
            <a:extLst>
              <a:ext uri="{FF2B5EF4-FFF2-40B4-BE49-F238E27FC236}">
                <a16:creationId xmlns:a16="http://schemas.microsoft.com/office/drawing/2014/main" id="{6EB06485-388D-52FF-5AE4-27A707F96757}"/>
              </a:ext>
            </a:extLst>
          </p:cNvPr>
          <p:cNvPicPr>
            <a:picLocks/>
          </p:cNvPicPr>
          <p:nvPr/>
        </p:nvPicPr>
        <p:blipFill>
          <a:blip r:embed="rId2"/>
          <a:stretch>
            <a:fillRect/>
          </a:stretch>
        </p:blipFill>
        <p:spPr>
          <a:xfrm>
            <a:off x="7275699" y="3950995"/>
            <a:ext cx="2468880" cy="1280160"/>
          </a:xfrm>
          <a:prstGeom prst="rect">
            <a:avLst/>
          </a:prstGeom>
        </p:spPr>
      </p:pic>
      <p:pic>
        <p:nvPicPr>
          <p:cNvPr id="14" name="Picture 13" descr="A graph of a company's performance over time&#10;&#10;AI-generated content may be incorrect.">
            <a:extLst>
              <a:ext uri="{FF2B5EF4-FFF2-40B4-BE49-F238E27FC236}">
                <a16:creationId xmlns:a16="http://schemas.microsoft.com/office/drawing/2014/main" id="{B07F6A07-BC88-AD48-16FA-C0802A70196E}"/>
              </a:ext>
            </a:extLst>
          </p:cNvPr>
          <p:cNvPicPr>
            <a:picLocks/>
          </p:cNvPicPr>
          <p:nvPr/>
        </p:nvPicPr>
        <p:blipFill>
          <a:blip r:embed="rId3"/>
          <a:stretch>
            <a:fillRect/>
          </a:stretch>
        </p:blipFill>
        <p:spPr>
          <a:xfrm>
            <a:off x="8207760" y="5357023"/>
            <a:ext cx="2468880" cy="1280160"/>
          </a:xfrm>
          <a:prstGeom prst="rect">
            <a:avLst/>
          </a:prstGeom>
        </p:spPr>
      </p:pic>
      <p:sp>
        <p:nvSpPr>
          <p:cNvPr id="11" name="TextBox 10">
            <a:extLst>
              <a:ext uri="{FF2B5EF4-FFF2-40B4-BE49-F238E27FC236}">
                <a16:creationId xmlns:a16="http://schemas.microsoft.com/office/drawing/2014/main" id="{B913966D-A6BF-4B65-917B-660218A90ACD}"/>
              </a:ext>
            </a:extLst>
          </p:cNvPr>
          <p:cNvSpPr txBox="1"/>
          <p:nvPr/>
        </p:nvSpPr>
        <p:spPr>
          <a:xfrm>
            <a:off x="259047" y="1507497"/>
            <a:ext cx="11508955" cy="830997"/>
          </a:xfrm>
          <a:prstGeom prst="rect">
            <a:avLst/>
          </a:prstGeom>
          <a:noFill/>
        </p:spPr>
        <p:txBody>
          <a:bodyPr wrap="square" rtlCol="0">
            <a:spAutoFit/>
          </a:bodyPr>
          <a:lstStyle/>
          <a:p>
            <a:pPr>
              <a:spcBef>
                <a:spcPts val="600"/>
              </a:spcBef>
              <a:spcAft>
                <a:spcPts val="600"/>
              </a:spcAft>
            </a:pPr>
            <a:r>
              <a:rPr lang="en-US" sz="2400" dirty="0">
                <a:latin typeface="Helvetica" pitchFamily="2" charset="0"/>
              </a:rPr>
              <a:t>Financial ratios are calculations that compare two or more figures from a company’s financial statements to measure performance and financial health</a:t>
            </a:r>
            <a:r>
              <a:rPr lang="en-US" sz="2400" b="1" dirty="0">
                <a:latin typeface="Helvetica" pitchFamily="2" charset="0"/>
              </a:rPr>
              <a:t>.</a:t>
            </a:r>
            <a:r>
              <a:rPr lang="en-US" sz="2400" dirty="0">
                <a:latin typeface="Helvetica" pitchFamily="2" charset="0"/>
              </a:rPr>
              <a:t> </a:t>
            </a:r>
          </a:p>
        </p:txBody>
      </p:sp>
      <p:sp>
        <p:nvSpPr>
          <p:cNvPr id="13" name="TextBox 12">
            <a:extLst>
              <a:ext uri="{FF2B5EF4-FFF2-40B4-BE49-F238E27FC236}">
                <a16:creationId xmlns:a16="http://schemas.microsoft.com/office/drawing/2014/main" id="{96D57E38-9A74-0D0E-6090-F1009D558724}"/>
              </a:ext>
            </a:extLst>
          </p:cNvPr>
          <p:cNvSpPr txBox="1"/>
          <p:nvPr/>
        </p:nvSpPr>
        <p:spPr>
          <a:xfrm>
            <a:off x="344240" y="2540851"/>
            <a:ext cx="7016664" cy="984885"/>
          </a:xfrm>
          <a:prstGeom prst="rect">
            <a:avLst/>
          </a:prstGeom>
          <a:noFill/>
        </p:spPr>
        <p:txBody>
          <a:bodyPr wrap="none" rtlCol="0">
            <a:spAutoFit/>
          </a:bodyPr>
          <a:lstStyle/>
          <a:p>
            <a:pPr marL="342900" indent="-342900">
              <a:spcBef>
                <a:spcPts val="600"/>
              </a:spcBef>
              <a:spcAft>
                <a:spcPts val="600"/>
              </a:spcAft>
              <a:buFont typeface="Arial" panose="020B0604020202020204" pitchFamily="34" charset="0"/>
              <a:buChar char="•"/>
            </a:pPr>
            <a:r>
              <a:rPr lang="en-US" sz="2400" b="1" dirty="0">
                <a:latin typeface="Helvetica" pitchFamily="2" charset="0"/>
              </a:rPr>
              <a:t>Who uses financial ratios?</a:t>
            </a:r>
            <a:endParaRPr lang="en-US" sz="2400" dirty="0">
              <a:latin typeface="Helvetica" pitchFamily="2" charset="0"/>
            </a:endParaRPr>
          </a:p>
          <a:p>
            <a:pPr marL="800100" lvl="1" indent="-342900">
              <a:spcBef>
                <a:spcPts val="600"/>
              </a:spcBef>
              <a:spcAft>
                <a:spcPts val="600"/>
              </a:spcAft>
              <a:buFont typeface="Arial" panose="020B0604020202020204" pitchFamily="34" charset="0"/>
              <a:buChar char="•"/>
            </a:pPr>
            <a:r>
              <a:rPr lang="en-US" sz="2400" dirty="0">
                <a:latin typeface="Helvetica" pitchFamily="2" charset="0"/>
              </a:rPr>
              <a:t>Managers, creditors, investors, and analysts</a:t>
            </a:r>
          </a:p>
        </p:txBody>
      </p:sp>
    </p:spTree>
    <p:extLst>
      <p:ext uri="{BB962C8B-B14F-4D97-AF65-F5344CB8AC3E}">
        <p14:creationId xmlns:p14="http://schemas.microsoft.com/office/powerpoint/2010/main" val="4089168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E5073-D58E-5F7E-3F3C-876DAD6A132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1D2FFD2-938A-18C4-F79B-A469EC1FD172}"/>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4C7718-269F-288A-DF27-113B3A014DC2}"/>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rPr>
              <a:t>We Need Different Types of Ratios</a:t>
            </a:r>
          </a:p>
        </p:txBody>
      </p:sp>
      <p:sp>
        <p:nvSpPr>
          <p:cNvPr id="16" name="TextBox 15">
            <a:extLst>
              <a:ext uri="{FF2B5EF4-FFF2-40B4-BE49-F238E27FC236}">
                <a16:creationId xmlns:a16="http://schemas.microsoft.com/office/drawing/2014/main" id="{7A95B9ED-5610-7048-2FAA-D5D702384587}"/>
              </a:ext>
            </a:extLst>
          </p:cNvPr>
          <p:cNvSpPr txBox="1"/>
          <p:nvPr/>
        </p:nvSpPr>
        <p:spPr>
          <a:xfrm>
            <a:off x="341970" y="6196884"/>
            <a:ext cx="11508059" cy="400110"/>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000" dirty="0">
                <a:latin typeface="Helvetica" pitchFamily="2" charset="0"/>
              </a:rPr>
              <a:t>Financial ratios are therefore </a:t>
            </a:r>
            <a:r>
              <a:rPr lang="en-US" sz="2000" b="1" dirty="0">
                <a:latin typeface="Helvetica" pitchFamily="2" charset="0"/>
              </a:rPr>
              <a:t>organized into categories</a:t>
            </a:r>
            <a:endParaRPr lang="en-US" sz="2000" dirty="0">
              <a:latin typeface="Helvetica" pitchFamily="2" charset="0"/>
            </a:endParaRPr>
          </a:p>
        </p:txBody>
      </p:sp>
      <p:sp>
        <p:nvSpPr>
          <p:cNvPr id="3" name="TextBox 2">
            <a:extLst>
              <a:ext uri="{FF2B5EF4-FFF2-40B4-BE49-F238E27FC236}">
                <a16:creationId xmlns:a16="http://schemas.microsoft.com/office/drawing/2014/main" id="{DAB7714E-52FA-CC5B-C638-0DE2DBC26E39}"/>
              </a:ext>
            </a:extLst>
          </p:cNvPr>
          <p:cNvSpPr txBox="1"/>
          <p:nvPr/>
        </p:nvSpPr>
        <p:spPr>
          <a:xfrm>
            <a:off x="341970" y="1513684"/>
            <a:ext cx="7167347" cy="2246769"/>
          </a:xfrm>
          <a:prstGeom prst="rect">
            <a:avLst/>
          </a:prstGeom>
          <a:noFill/>
        </p:spPr>
        <p:txBody>
          <a:bodyPr wrap="none" rtlCol="0">
            <a:spAutoFit/>
          </a:bodyPr>
          <a:lstStyle/>
          <a:p>
            <a:pPr marL="342900" indent="-342900">
              <a:spcBef>
                <a:spcPts val="600"/>
              </a:spcBef>
              <a:spcAft>
                <a:spcPts val="600"/>
              </a:spcAft>
              <a:buFont typeface="Arial" panose="020B0604020202020204" pitchFamily="34" charset="0"/>
              <a:buChar char="•"/>
            </a:pPr>
            <a:r>
              <a:rPr lang="en-US" sz="2000" dirty="0">
                <a:latin typeface="Helvetica" pitchFamily="2" charset="0"/>
              </a:rPr>
              <a:t>Companies must be evaluated from </a:t>
            </a:r>
            <a:r>
              <a:rPr lang="en-US" sz="2000" b="1" dirty="0">
                <a:latin typeface="Helvetica" pitchFamily="2" charset="0"/>
              </a:rPr>
              <a:t>several perspectives</a:t>
            </a:r>
            <a:endParaRPr lang="en-US" sz="2000" dirty="0">
              <a:latin typeface="Helvetica" pitchFamily="2" charset="0"/>
            </a:endParaRPr>
          </a:p>
          <a:p>
            <a:pPr marL="800100" lvl="1" indent="-342900">
              <a:spcBef>
                <a:spcPts val="600"/>
              </a:spcBef>
              <a:spcAft>
                <a:spcPts val="600"/>
              </a:spcAft>
              <a:buFont typeface="Arial" panose="020B0604020202020204" pitchFamily="34" charset="0"/>
              <a:buChar char="•"/>
            </a:pPr>
            <a:r>
              <a:rPr lang="en-US" sz="2000" dirty="0">
                <a:latin typeface="Helvetica" pitchFamily="2" charset="0"/>
              </a:rPr>
              <a:t>Short-term financial safety</a:t>
            </a:r>
          </a:p>
          <a:p>
            <a:pPr marL="800100" lvl="1" indent="-342900">
              <a:spcBef>
                <a:spcPts val="600"/>
              </a:spcBef>
              <a:spcAft>
                <a:spcPts val="600"/>
              </a:spcAft>
              <a:buFont typeface="Arial" panose="020B0604020202020204" pitchFamily="34" charset="0"/>
              <a:buChar char="•"/>
            </a:pPr>
            <a:r>
              <a:rPr lang="en-US" sz="2000" dirty="0">
                <a:latin typeface="Helvetica" pitchFamily="2" charset="0"/>
              </a:rPr>
              <a:t>Long-term profitability</a:t>
            </a:r>
          </a:p>
          <a:p>
            <a:pPr marL="800100" lvl="1" indent="-342900">
              <a:spcBef>
                <a:spcPts val="600"/>
              </a:spcBef>
              <a:spcAft>
                <a:spcPts val="600"/>
              </a:spcAft>
              <a:buFont typeface="Arial" panose="020B0604020202020204" pitchFamily="34" charset="0"/>
              <a:buChar char="•"/>
            </a:pPr>
            <a:r>
              <a:rPr lang="en-US" sz="2000" dirty="0">
                <a:latin typeface="Helvetica" pitchFamily="2" charset="0"/>
              </a:rPr>
              <a:t>Operating efficiency</a:t>
            </a:r>
          </a:p>
          <a:p>
            <a:pPr marL="800100" lvl="1" indent="-342900">
              <a:spcBef>
                <a:spcPts val="600"/>
              </a:spcBef>
              <a:spcAft>
                <a:spcPts val="600"/>
              </a:spcAft>
              <a:buFont typeface="Arial" panose="020B0604020202020204" pitchFamily="34" charset="0"/>
              <a:buChar char="•"/>
            </a:pPr>
            <a:r>
              <a:rPr lang="en-US" sz="2000" dirty="0">
                <a:latin typeface="Helvetica" pitchFamily="2" charset="0"/>
              </a:rPr>
              <a:t>Financial risk</a:t>
            </a:r>
          </a:p>
        </p:txBody>
      </p:sp>
      <p:sp>
        <p:nvSpPr>
          <p:cNvPr id="4" name="TextBox 3">
            <a:extLst>
              <a:ext uri="{FF2B5EF4-FFF2-40B4-BE49-F238E27FC236}">
                <a16:creationId xmlns:a16="http://schemas.microsoft.com/office/drawing/2014/main" id="{9267ED64-4FCB-5768-F0F4-4B5CAA9D93B8}"/>
              </a:ext>
            </a:extLst>
          </p:cNvPr>
          <p:cNvSpPr txBox="1"/>
          <p:nvPr/>
        </p:nvSpPr>
        <p:spPr>
          <a:xfrm>
            <a:off x="341970" y="3855284"/>
            <a:ext cx="7239482" cy="2246769"/>
          </a:xfrm>
          <a:prstGeom prst="rect">
            <a:avLst/>
          </a:prstGeom>
          <a:noFill/>
        </p:spPr>
        <p:txBody>
          <a:bodyPr wrap="none" rtlCol="0">
            <a:spAutoFit/>
          </a:bodyPr>
          <a:lstStyle/>
          <a:p>
            <a:pPr marL="342900" indent="-342900">
              <a:spcBef>
                <a:spcPts val="600"/>
              </a:spcBef>
              <a:spcAft>
                <a:spcPts val="600"/>
              </a:spcAft>
              <a:buFont typeface="Arial" panose="020B0604020202020204" pitchFamily="34" charset="0"/>
              <a:buChar char="•"/>
            </a:pPr>
            <a:r>
              <a:rPr lang="en-US" sz="2000" dirty="0">
                <a:latin typeface="Helvetica" pitchFamily="2" charset="0"/>
              </a:rPr>
              <a:t>Each perspective answers a </a:t>
            </a:r>
            <a:r>
              <a:rPr lang="en-US" sz="2000" b="1" dirty="0">
                <a:latin typeface="Helvetica" pitchFamily="2" charset="0"/>
              </a:rPr>
              <a:t>different economic question</a:t>
            </a:r>
            <a:endParaRPr lang="en-US" sz="2000" dirty="0">
              <a:latin typeface="Helvetica" pitchFamily="2" charset="0"/>
            </a:endParaRPr>
          </a:p>
          <a:p>
            <a:pPr marL="800100" lvl="1" indent="-342900">
              <a:spcBef>
                <a:spcPts val="600"/>
              </a:spcBef>
              <a:spcAft>
                <a:spcPts val="600"/>
              </a:spcAft>
              <a:buFont typeface="Arial" panose="020B0604020202020204" pitchFamily="34" charset="0"/>
              <a:buChar char="•"/>
            </a:pPr>
            <a:r>
              <a:rPr lang="en-US" sz="2000" i="1" dirty="0">
                <a:latin typeface="Helvetica" pitchFamily="2" charset="0"/>
              </a:rPr>
              <a:t>Can the company pay its bills?</a:t>
            </a:r>
            <a:endParaRPr lang="en-US" sz="2000" dirty="0">
              <a:latin typeface="Helvetica" pitchFamily="2" charset="0"/>
            </a:endParaRPr>
          </a:p>
          <a:p>
            <a:pPr marL="800100" lvl="1" indent="-342900">
              <a:spcBef>
                <a:spcPts val="600"/>
              </a:spcBef>
              <a:spcAft>
                <a:spcPts val="600"/>
              </a:spcAft>
              <a:buFont typeface="Arial" panose="020B0604020202020204" pitchFamily="34" charset="0"/>
              <a:buChar char="•"/>
            </a:pPr>
            <a:r>
              <a:rPr lang="en-US" sz="2000" i="1" dirty="0">
                <a:latin typeface="Helvetica" pitchFamily="2" charset="0"/>
              </a:rPr>
              <a:t>Is it generating profits?</a:t>
            </a:r>
            <a:endParaRPr lang="en-US" sz="2000" dirty="0">
              <a:latin typeface="Helvetica" pitchFamily="2" charset="0"/>
            </a:endParaRPr>
          </a:p>
          <a:p>
            <a:pPr marL="800100" lvl="1" indent="-342900">
              <a:spcBef>
                <a:spcPts val="600"/>
              </a:spcBef>
              <a:spcAft>
                <a:spcPts val="600"/>
              </a:spcAft>
              <a:buFont typeface="Arial" panose="020B0604020202020204" pitchFamily="34" charset="0"/>
              <a:buChar char="•"/>
            </a:pPr>
            <a:r>
              <a:rPr lang="en-US" sz="2000" i="1" dirty="0">
                <a:latin typeface="Helvetica" pitchFamily="2" charset="0"/>
              </a:rPr>
              <a:t>Is it using its resources efficiently?</a:t>
            </a:r>
            <a:endParaRPr lang="en-US" sz="2000" dirty="0">
              <a:latin typeface="Helvetica" pitchFamily="2" charset="0"/>
            </a:endParaRPr>
          </a:p>
          <a:p>
            <a:pPr marL="800100" lvl="1" indent="-342900">
              <a:spcBef>
                <a:spcPts val="600"/>
              </a:spcBef>
              <a:spcAft>
                <a:spcPts val="600"/>
              </a:spcAft>
              <a:buFont typeface="Arial" panose="020B0604020202020204" pitchFamily="34" charset="0"/>
              <a:buChar char="•"/>
            </a:pPr>
            <a:r>
              <a:rPr lang="en-US" sz="2000" i="1" dirty="0">
                <a:latin typeface="Helvetica" pitchFamily="2" charset="0"/>
              </a:rPr>
              <a:t>How risky is its financing structure?</a:t>
            </a:r>
            <a:endParaRPr lang="en-US" sz="2000" dirty="0">
              <a:latin typeface="Helvetica" pitchFamily="2" charset="0"/>
            </a:endParaRPr>
          </a:p>
        </p:txBody>
      </p:sp>
    </p:spTree>
    <p:extLst>
      <p:ext uri="{BB962C8B-B14F-4D97-AF65-F5344CB8AC3E}">
        <p14:creationId xmlns:p14="http://schemas.microsoft.com/office/powerpoint/2010/main" val="1734357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977B7-B0B2-BC3F-D121-677FD1DC9D5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FCA99D8-D262-C435-6760-DCAA78F3A30F}"/>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E6F852-F06D-FB28-BD8B-9B3D1E818683}"/>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Categories of Ratios</a:t>
            </a:r>
            <a:endParaRPr lang="en-US" b="1" dirty="0">
              <a:solidFill>
                <a:schemeClr val="bg1"/>
              </a:solidFill>
              <a:latin typeface="Helvetica" pitchFamily="2" charset="0"/>
            </a:endParaRPr>
          </a:p>
        </p:txBody>
      </p:sp>
      <p:sp>
        <p:nvSpPr>
          <p:cNvPr id="16" name="TextBox 15">
            <a:extLst>
              <a:ext uri="{FF2B5EF4-FFF2-40B4-BE49-F238E27FC236}">
                <a16:creationId xmlns:a16="http://schemas.microsoft.com/office/drawing/2014/main" id="{DE38656C-8705-4FCB-BF62-1B8F100A3441}"/>
              </a:ext>
            </a:extLst>
          </p:cNvPr>
          <p:cNvSpPr txBox="1"/>
          <p:nvPr/>
        </p:nvSpPr>
        <p:spPr>
          <a:xfrm>
            <a:off x="341970" y="1476117"/>
            <a:ext cx="11508059" cy="4862870"/>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400" b="1" dirty="0">
                <a:latin typeface="Helvetica" pitchFamily="2" charset="0"/>
                <a:cs typeface="Times New Roman" panose="02020603050405020304" pitchFamily="18" charset="0"/>
              </a:rPr>
              <a:t>Liquidity Ratios:</a:t>
            </a:r>
            <a:endParaRPr lang="en-US" sz="2400" dirty="0">
              <a:latin typeface="Helvetica" pitchFamily="2" charset="0"/>
              <a:cs typeface="Times New Roman" panose="02020603050405020304" pitchFamily="18" charset="0"/>
            </a:endParaRPr>
          </a:p>
          <a:p>
            <a:pPr marL="800100" lvl="1" indent="-342900">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Measure the ability to pay off short-term debt.</a:t>
            </a:r>
          </a:p>
          <a:p>
            <a:pPr marL="342900" indent="-342900">
              <a:spcBef>
                <a:spcPts val="600"/>
              </a:spcBef>
              <a:spcAft>
                <a:spcPts val="600"/>
              </a:spcAft>
              <a:buFont typeface="Arial" panose="020B0604020202020204" pitchFamily="34" charset="0"/>
              <a:buChar char="•"/>
            </a:pPr>
            <a:r>
              <a:rPr lang="en-US" sz="2400" b="1" dirty="0">
                <a:latin typeface="Helvetica" pitchFamily="2" charset="0"/>
                <a:cs typeface="Times New Roman" panose="02020603050405020304" pitchFamily="18" charset="0"/>
              </a:rPr>
              <a:t>Asset Management Ratios:</a:t>
            </a:r>
            <a:endParaRPr lang="en-US" sz="2400" dirty="0">
              <a:latin typeface="Helvetica" pitchFamily="2" charset="0"/>
              <a:cs typeface="Times New Roman" panose="02020603050405020304" pitchFamily="18" charset="0"/>
            </a:endParaRPr>
          </a:p>
          <a:p>
            <a:pPr marL="800100" lvl="1" indent="-342900">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Evaluate how efficiently the firm uses its assets.</a:t>
            </a:r>
          </a:p>
          <a:p>
            <a:pPr marL="342900" indent="-342900">
              <a:spcBef>
                <a:spcPts val="600"/>
              </a:spcBef>
              <a:spcAft>
                <a:spcPts val="600"/>
              </a:spcAft>
              <a:buFont typeface="Arial" panose="020B0604020202020204" pitchFamily="34" charset="0"/>
              <a:buChar char="•"/>
            </a:pPr>
            <a:r>
              <a:rPr lang="en-US" sz="2400" b="1" dirty="0">
                <a:latin typeface="Helvetica" pitchFamily="2" charset="0"/>
                <a:cs typeface="Times New Roman" panose="02020603050405020304" pitchFamily="18" charset="0"/>
              </a:rPr>
              <a:t>Debt Management Ratios:</a:t>
            </a:r>
            <a:endParaRPr lang="en-US" sz="2400" dirty="0">
              <a:latin typeface="Helvetica" pitchFamily="2" charset="0"/>
              <a:cs typeface="Times New Roman" panose="02020603050405020304" pitchFamily="18" charset="0"/>
            </a:endParaRPr>
          </a:p>
          <a:p>
            <a:pPr marL="800100" lvl="1" indent="-342900">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Assess how the firm finances its assets and repays long-term debt.</a:t>
            </a:r>
          </a:p>
          <a:p>
            <a:pPr marL="342900" indent="-342900">
              <a:spcBef>
                <a:spcPts val="600"/>
              </a:spcBef>
              <a:spcAft>
                <a:spcPts val="600"/>
              </a:spcAft>
              <a:buFont typeface="Arial" panose="020B0604020202020204" pitchFamily="34" charset="0"/>
              <a:buChar char="•"/>
            </a:pPr>
            <a:r>
              <a:rPr lang="en-US" sz="2400" b="1" dirty="0">
                <a:latin typeface="Helvetica" pitchFamily="2" charset="0"/>
                <a:cs typeface="Times New Roman" panose="02020603050405020304" pitchFamily="18" charset="0"/>
              </a:rPr>
              <a:t>Profitability Ratios:</a:t>
            </a:r>
            <a:endParaRPr lang="en-US" sz="2400" dirty="0">
              <a:latin typeface="Helvetica" pitchFamily="2" charset="0"/>
              <a:cs typeface="Times New Roman" panose="02020603050405020304" pitchFamily="18" charset="0"/>
            </a:endParaRPr>
          </a:p>
          <a:p>
            <a:pPr marL="800100" lvl="1" indent="-342900">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Show how profitably the firm operates and utilizes its assets.</a:t>
            </a:r>
          </a:p>
          <a:p>
            <a:pPr marL="342900" indent="-342900">
              <a:spcBef>
                <a:spcPts val="600"/>
              </a:spcBef>
              <a:spcAft>
                <a:spcPts val="600"/>
              </a:spcAft>
              <a:buFont typeface="Arial" panose="020B0604020202020204" pitchFamily="34" charset="0"/>
              <a:buChar char="•"/>
            </a:pPr>
            <a:r>
              <a:rPr lang="en-US" sz="2400" b="1" dirty="0">
                <a:latin typeface="Helvetica" pitchFamily="2" charset="0"/>
                <a:cs typeface="Times New Roman" panose="02020603050405020304" pitchFamily="18" charset="0"/>
              </a:rPr>
              <a:t>Market Value Ratios:</a:t>
            </a:r>
            <a:endParaRPr lang="en-US" sz="2400" dirty="0">
              <a:latin typeface="Helvetica" pitchFamily="2" charset="0"/>
              <a:cs typeface="Times New Roman" panose="02020603050405020304" pitchFamily="18" charset="0"/>
            </a:endParaRPr>
          </a:p>
          <a:p>
            <a:pPr marL="800100" lvl="1" indent="-342900">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Reflect investor perceptions of the firm and its prospects.</a:t>
            </a:r>
          </a:p>
        </p:txBody>
      </p:sp>
    </p:spTree>
    <p:extLst>
      <p:ext uri="{BB962C8B-B14F-4D97-AF65-F5344CB8AC3E}">
        <p14:creationId xmlns:p14="http://schemas.microsoft.com/office/powerpoint/2010/main" val="3981416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32154-02DE-58D6-86C8-000EECBA712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C9DA098-E699-CD71-AF61-E667B5413B96}"/>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0635E6-9B63-8C3C-9008-B5F856025AED}"/>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1- Liquidity Ratios</a:t>
            </a:r>
            <a:endParaRPr lang="en-US" b="1" dirty="0">
              <a:solidFill>
                <a:schemeClr val="bg1"/>
              </a:solidFill>
              <a:latin typeface="Helvetica" pitchFamily="2" charset="0"/>
            </a:endParaRPr>
          </a:p>
        </p:txBody>
      </p:sp>
      <p:sp>
        <p:nvSpPr>
          <p:cNvPr id="16" name="TextBox 15">
            <a:extLst>
              <a:ext uri="{FF2B5EF4-FFF2-40B4-BE49-F238E27FC236}">
                <a16:creationId xmlns:a16="http://schemas.microsoft.com/office/drawing/2014/main" id="{F9EEB629-D0D3-5F82-615D-2C623EBAC1A7}"/>
              </a:ext>
            </a:extLst>
          </p:cNvPr>
          <p:cNvSpPr txBox="1"/>
          <p:nvPr/>
        </p:nvSpPr>
        <p:spPr>
          <a:xfrm>
            <a:off x="341970" y="1476117"/>
            <a:ext cx="11508059" cy="461665"/>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400" b="1" dirty="0">
                <a:latin typeface="Helvetica" pitchFamily="2" charset="0"/>
              </a:rPr>
              <a:t>Liquidity measures a company’s ability to pay its short-term obligations</a:t>
            </a:r>
            <a:endParaRPr lang="en-US" sz="2400" dirty="0">
              <a:latin typeface="Helvetica" pitchFamily="2" charset="0"/>
            </a:endParaRPr>
          </a:p>
        </p:txBody>
      </p:sp>
      <p:sp>
        <p:nvSpPr>
          <p:cNvPr id="14" name="TextBox 13">
            <a:extLst>
              <a:ext uri="{FF2B5EF4-FFF2-40B4-BE49-F238E27FC236}">
                <a16:creationId xmlns:a16="http://schemas.microsoft.com/office/drawing/2014/main" id="{DECC1D70-0C94-B364-FC7D-FA54C8AB24F1}"/>
              </a:ext>
            </a:extLst>
          </p:cNvPr>
          <p:cNvSpPr txBox="1"/>
          <p:nvPr/>
        </p:nvSpPr>
        <p:spPr>
          <a:xfrm>
            <a:off x="341970" y="4573969"/>
            <a:ext cx="4890378" cy="1615827"/>
          </a:xfrm>
          <a:prstGeom prst="rect">
            <a:avLst/>
          </a:prstGeom>
          <a:noFill/>
        </p:spPr>
        <p:txBody>
          <a:bodyPr wrap="square" rtlCol="0">
            <a:spAutoFit/>
          </a:bodyPr>
          <a:lstStyle/>
          <a:p>
            <a:pPr marL="342900" indent="-342900">
              <a:spcBef>
                <a:spcPts val="300"/>
              </a:spcBef>
              <a:spcAft>
                <a:spcPts val="300"/>
              </a:spcAft>
              <a:buFont typeface="Arial" panose="020B0604020202020204" pitchFamily="34" charset="0"/>
              <a:buChar char="•"/>
            </a:pPr>
            <a:r>
              <a:rPr lang="en-US" sz="2400" dirty="0">
                <a:latin typeface="Helvetica" pitchFamily="2" charset="0"/>
                <a:cs typeface="Times New Roman" panose="02020603050405020304" pitchFamily="18" charset="0"/>
              </a:rPr>
              <a:t>Common Liquidity Ratios</a:t>
            </a:r>
          </a:p>
          <a:p>
            <a:pPr marL="800100" lvl="1" indent="-342900">
              <a:spcBef>
                <a:spcPts val="300"/>
              </a:spcBef>
              <a:spcAft>
                <a:spcPts val="300"/>
              </a:spcAft>
              <a:buFont typeface="Arial" panose="020B0604020202020204" pitchFamily="34" charset="0"/>
              <a:buChar char="•"/>
            </a:pPr>
            <a:r>
              <a:rPr lang="en-US" sz="2000" dirty="0">
                <a:latin typeface="Helvetica" pitchFamily="2" charset="0"/>
                <a:cs typeface="Times New Roman" panose="02020603050405020304" pitchFamily="18" charset="0"/>
              </a:rPr>
              <a:t>Current Ratio</a:t>
            </a:r>
          </a:p>
          <a:p>
            <a:pPr marL="800100" lvl="1" indent="-342900">
              <a:spcBef>
                <a:spcPts val="300"/>
              </a:spcBef>
              <a:spcAft>
                <a:spcPts val="300"/>
              </a:spcAft>
              <a:buFont typeface="Arial" panose="020B0604020202020204" pitchFamily="34" charset="0"/>
              <a:buChar char="•"/>
            </a:pPr>
            <a:r>
              <a:rPr lang="en-US" sz="2000" dirty="0">
                <a:latin typeface="Helvetica" pitchFamily="2" charset="0"/>
                <a:cs typeface="Times New Roman" panose="02020603050405020304" pitchFamily="18" charset="0"/>
              </a:rPr>
              <a:t>Quick Ratio (Acid-Test Ratio)</a:t>
            </a:r>
          </a:p>
          <a:p>
            <a:pPr marL="800100" lvl="1" indent="-342900">
              <a:spcBef>
                <a:spcPts val="300"/>
              </a:spcBef>
              <a:spcAft>
                <a:spcPts val="300"/>
              </a:spcAft>
              <a:buFont typeface="Arial" panose="020B0604020202020204" pitchFamily="34" charset="0"/>
              <a:buChar char="•"/>
            </a:pPr>
            <a:r>
              <a:rPr lang="en-US" sz="2000" dirty="0">
                <a:latin typeface="Helvetica" pitchFamily="2" charset="0"/>
                <a:cs typeface="Times New Roman" panose="02020603050405020304" pitchFamily="18" charset="0"/>
              </a:rPr>
              <a:t>Cash Ratio</a:t>
            </a:r>
          </a:p>
        </p:txBody>
      </p:sp>
      <p:pic>
        <p:nvPicPr>
          <p:cNvPr id="15" name="Picture 14" descr="A diagram of a balance scale with a couple of men pulling a large scale&#10;&#10;AI-generated content may be incorrect.">
            <a:extLst>
              <a:ext uri="{FF2B5EF4-FFF2-40B4-BE49-F238E27FC236}">
                <a16:creationId xmlns:a16="http://schemas.microsoft.com/office/drawing/2014/main" id="{ED970778-ADE4-58CF-7EC0-384824D1B140}"/>
              </a:ext>
            </a:extLst>
          </p:cNvPr>
          <p:cNvPicPr>
            <a:picLocks noChangeAspect="1"/>
          </p:cNvPicPr>
          <p:nvPr/>
        </p:nvPicPr>
        <p:blipFill>
          <a:blip r:embed="rId2"/>
          <a:stretch>
            <a:fillRect/>
          </a:stretch>
        </p:blipFill>
        <p:spPr>
          <a:xfrm>
            <a:off x="5212892" y="2025334"/>
            <a:ext cx="6720840" cy="44805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7" name="TextBox 16">
            <a:extLst>
              <a:ext uri="{FF2B5EF4-FFF2-40B4-BE49-F238E27FC236}">
                <a16:creationId xmlns:a16="http://schemas.microsoft.com/office/drawing/2014/main" id="{BF02E68A-3010-FDF7-CAE5-DC9C76AF7759}"/>
              </a:ext>
            </a:extLst>
          </p:cNvPr>
          <p:cNvSpPr txBox="1"/>
          <p:nvPr/>
        </p:nvSpPr>
        <p:spPr>
          <a:xfrm>
            <a:off x="341970" y="2807432"/>
            <a:ext cx="4601182" cy="1107996"/>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Helvetica" pitchFamily="2" charset="0"/>
              </a:rPr>
              <a:t>Assess whether a firm can meet its short-term obligations and remain viable.</a:t>
            </a:r>
          </a:p>
        </p:txBody>
      </p:sp>
    </p:spTree>
    <p:extLst>
      <p:ext uri="{BB962C8B-B14F-4D97-AF65-F5344CB8AC3E}">
        <p14:creationId xmlns:p14="http://schemas.microsoft.com/office/powerpoint/2010/main" val="2786889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32C1F-ED59-9525-34E5-769EB83971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E7A717-ED58-F360-042E-C051BBCE3105}"/>
              </a:ext>
            </a:extLst>
          </p:cNvPr>
          <p:cNvSpPr>
            <a:spLocks noGrp="1"/>
          </p:cNvSpPr>
          <p:nvPr>
            <p:ph type="title"/>
          </p:nvPr>
        </p:nvSpPr>
        <p:spPr>
          <a:xfrm>
            <a:off x="838200" y="365125"/>
            <a:ext cx="10515600" cy="982663"/>
          </a:xfrm>
        </p:spPr>
        <p:txBody>
          <a:bodyPr>
            <a:normAutofit/>
          </a:bodyPr>
          <a:lstStyle/>
          <a:p>
            <a:r>
              <a:rPr lang="en-US" b="1" dirty="0">
                <a:solidFill>
                  <a:schemeClr val="bg1"/>
                </a:solidFill>
                <a:latin typeface="Helvetica" pitchFamily="2" charset="0"/>
              </a:rPr>
              <a:t>Incremental Cash Flows</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B87967F1-539B-D034-6A2D-675CB0A371A5}"/>
                  </a:ext>
                </a:extLst>
              </p:cNvPr>
              <p:cNvGraphicFramePr>
                <a:graphicFrameLocks noGrp="1"/>
              </p:cNvGraphicFramePr>
              <p:nvPr>
                <p:extLst>
                  <p:ext uri="{D42A27DB-BD31-4B8C-83A1-F6EECF244321}">
                    <p14:modId xmlns:p14="http://schemas.microsoft.com/office/powerpoint/2010/main" val="208515894"/>
                  </p:ext>
                </p:extLst>
              </p:nvPr>
            </p:nvGraphicFramePr>
            <p:xfrm>
              <a:off x="525948" y="222738"/>
              <a:ext cx="11140104" cy="6433625"/>
            </p:xfrm>
            <a:graphic>
              <a:graphicData uri="http://schemas.openxmlformats.org/drawingml/2006/table">
                <a:tbl>
                  <a:tblPr firstRow="1" bandRow="1">
                    <a:tableStyleId>{2D5ABB26-0587-4C30-8999-92F81FD0307C}</a:tableStyleId>
                  </a:tblPr>
                  <a:tblGrid>
                    <a:gridCol w="4291379">
                      <a:extLst>
                        <a:ext uri="{9D8B030D-6E8A-4147-A177-3AD203B41FA5}">
                          <a16:colId xmlns:a16="http://schemas.microsoft.com/office/drawing/2014/main" val="649367441"/>
                        </a:ext>
                      </a:extLst>
                    </a:gridCol>
                    <a:gridCol w="1278673">
                      <a:extLst>
                        <a:ext uri="{9D8B030D-6E8A-4147-A177-3AD203B41FA5}">
                          <a16:colId xmlns:a16="http://schemas.microsoft.com/office/drawing/2014/main" val="3852258222"/>
                        </a:ext>
                      </a:extLst>
                    </a:gridCol>
                    <a:gridCol w="4207727">
                      <a:extLst>
                        <a:ext uri="{9D8B030D-6E8A-4147-A177-3AD203B41FA5}">
                          <a16:colId xmlns:a16="http://schemas.microsoft.com/office/drawing/2014/main" val="4292842902"/>
                        </a:ext>
                      </a:extLst>
                    </a:gridCol>
                    <a:gridCol w="1362325">
                      <a:extLst>
                        <a:ext uri="{9D8B030D-6E8A-4147-A177-3AD203B41FA5}">
                          <a16:colId xmlns:a16="http://schemas.microsoft.com/office/drawing/2014/main" val="253133019"/>
                        </a:ext>
                      </a:extLst>
                    </a:gridCol>
                  </a:tblGrid>
                  <a:tr h="377483">
                    <a:tc gridSpan="2">
                      <a:txBody>
                        <a:bodyPr/>
                        <a:lstStyle/>
                        <a:p>
                          <a:pPr algn="ctr"/>
                          <a14:m>
                            <m:oMath xmlns:m="http://schemas.openxmlformats.org/officeDocument/2006/math">
                              <m:sSup>
                                <m:sSupPr>
                                  <m:ctrlPr>
                                    <a:rPr lang="en-US" sz="1600" b="0" i="1" smtClean="0">
                                      <a:latin typeface="Cambria Math" panose="02040503050406030204" pitchFamily="18" charset="0"/>
                                      <a:cs typeface="Times New Roman" panose="02020603050405020304" pitchFamily="18" charset="0"/>
                                    </a:rPr>
                                  </m:ctrlPr>
                                </m:sSupPr>
                                <m:e>
                                  <m:r>
                                    <m:rPr>
                                      <m:sty m:val="p"/>
                                    </m:rPr>
                                    <a:rPr lang="en-US" sz="1600" smtClean="0">
                                      <a:latin typeface="Cambria Math" panose="02040503050406030204" pitchFamily="18" charset="0"/>
                                      <a:cs typeface="Times New Roman" panose="02020603050405020304" pitchFamily="18" charset="0"/>
                                    </a:rPr>
                                    <m:t>XYZ</m:t>
                                  </m:r>
                                </m:e>
                                <m:sup>
                                  <m:r>
                                    <a:rPr lang="en-US" sz="1600" b="0" i="0" smtClean="0">
                                      <a:latin typeface="Cambria Math" panose="02040503050406030204" pitchFamily="18" charset="0"/>
                                      <a:cs typeface="Times New Roman" panose="02020603050405020304" pitchFamily="18" charset="0"/>
                                    </a:rPr>
                                    <m:t>′</m:t>
                                  </m:r>
                                </m:sup>
                              </m:sSup>
                              <m:r>
                                <m:rPr>
                                  <m:sty m:val="p"/>
                                </m:rPr>
                                <a:rPr lang="en-US" sz="1600" b="0" i="0" smtClean="0">
                                  <a:latin typeface="Cambria Math" panose="02040503050406030204" pitchFamily="18" charset="0"/>
                                  <a:cs typeface="Times New Roman" panose="02020603050405020304" pitchFamily="18" charset="0"/>
                                </a:rPr>
                                <m:t>s</m:t>
                              </m:r>
                              <m:r>
                                <a:rPr lang="en-US" sz="1600" b="0" i="0" smtClean="0">
                                  <a:latin typeface="Cambria Math" panose="02040503050406030204" pitchFamily="18" charset="0"/>
                                  <a:cs typeface="Times New Roman" panose="02020603050405020304" pitchFamily="18" charset="0"/>
                                </a:rPr>
                                <m:t> </m:t>
                              </m:r>
                            </m:oMath>
                          </a14:m>
                          <a:r>
                            <a:rPr lang="en-US" sz="1600" b="1" dirty="0">
                              <a:latin typeface="Times New Roman" panose="02020603050405020304" pitchFamily="18" charset="0"/>
                              <a:cs typeface="Times New Roman" panose="02020603050405020304" pitchFamily="18" charset="0"/>
                            </a:rPr>
                            <a:t>Assets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B83"/>
                        </a:solidFill>
                      </a:tcPr>
                    </a:tc>
                    <a:tc hMerge="1">
                      <a:txBody>
                        <a:bodyPr/>
                        <a:lstStyle/>
                        <a:p>
                          <a:endParaRPr lang="en-US" dirty="0"/>
                        </a:p>
                      </a:txBody>
                      <a:tcPr>
                        <a:lnL w="12700" cap="flat" cmpd="sng" algn="ctr">
                          <a:solidFill>
                            <a:schemeClr val="tx1"/>
                          </a:solidFill>
                          <a:prstDash val="solid"/>
                          <a:round/>
                          <a:headEnd type="none" w="med" len="med"/>
                          <a:tailEnd type="none" w="med" len="med"/>
                        </a:lnL>
                      </a:tcPr>
                    </a:tc>
                    <a:tc gridSpan="2">
                      <a:txBody>
                        <a:bodyPr/>
                        <a:lstStyle/>
                        <a:p>
                          <a:pPr algn="ctr"/>
                          <a14:m>
                            <m:oMath xmlns:m="http://schemas.openxmlformats.org/officeDocument/2006/math">
                              <m:sSup>
                                <m:sSupPr>
                                  <m:ctrlPr>
                                    <a:rPr lang="en-US" sz="1600" b="0" i="1" smtClean="0">
                                      <a:latin typeface="Cambria Math" panose="02040503050406030204" pitchFamily="18" charset="0"/>
                                      <a:cs typeface="Times New Roman" panose="02020603050405020304" pitchFamily="18" charset="0"/>
                                    </a:rPr>
                                  </m:ctrlPr>
                                </m:sSupPr>
                                <m:e>
                                  <m:r>
                                    <m:rPr>
                                      <m:sty m:val="p"/>
                                    </m:rPr>
                                    <a:rPr lang="en-US" sz="1600" smtClean="0">
                                      <a:latin typeface="Cambria Math" panose="02040503050406030204" pitchFamily="18" charset="0"/>
                                      <a:cs typeface="Times New Roman" panose="02020603050405020304" pitchFamily="18" charset="0"/>
                                    </a:rPr>
                                    <m:t>XYZ</m:t>
                                  </m:r>
                                </m:e>
                                <m:sup>
                                  <m:r>
                                    <a:rPr lang="en-US" sz="1600" b="0" i="0" smtClean="0">
                                      <a:latin typeface="Cambria Math" panose="02040503050406030204" pitchFamily="18" charset="0"/>
                                      <a:cs typeface="Times New Roman" panose="02020603050405020304" pitchFamily="18" charset="0"/>
                                    </a:rPr>
                                    <m:t>′</m:t>
                                  </m:r>
                                </m:sup>
                              </m:sSup>
                              <m:r>
                                <m:rPr>
                                  <m:sty m:val="p"/>
                                </m:rPr>
                                <a:rPr lang="en-US" sz="1600" b="0" i="0" smtClean="0">
                                  <a:latin typeface="Cambria Math" panose="02040503050406030204" pitchFamily="18" charset="0"/>
                                  <a:cs typeface="Times New Roman" panose="02020603050405020304" pitchFamily="18" charset="0"/>
                                </a:rPr>
                                <m:t>s</m:t>
                              </m:r>
                              <m:r>
                                <a:rPr lang="en-US" sz="1600" b="0" i="0" smtClean="0">
                                  <a:latin typeface="Cambria Math" panose="02040503050406030204" pitchFamily="18" charset="0"/>
                                  <a:cs typeface="Times New Roman" panose="02020603050405020304" pitchFamily="18" charset="0"/>
                                </a:rPr>
                                <m:t> </m:t>
                              </m:r>
                            </m:oMath>
                          </a14:m>
                          <a:r>
                            <a:rPr lang="en-US" sz="1600" b="1" dirty="0">
                              <a:latin typeface="Times New Roman" panose="02020603050405020304" pitchFamily="18" charset="0"/>
                              <a:cs typeface="Times New Roman" panose="02020603050405020304" pitchFamily="18" charset="0"/>
                            </a:rPr>
                            <a:t>Liabilities and Equity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B83"/>
                        </a:solidFill>
                      </a:tcPr>
                    </a:tc>
                    <a:tc hMerge="1">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27984928"/>
                      </a:ext>
                    </a:extLst>
                  </a:tr>
                  <a:tr h="274320">
                    <a:tc>
                      <a:txBody>
                        <a:bodyPr/>
                        <a:lstStyle/>
                        <a:p>
                          <a:r>
                            <a:rPr lang="en-US" sz="1600" b="1" dirty="0">
                              <a:latin typeface="Times New Roman" panose="02020603050405020304" pitchFamily="18" charset="0"/>
                              <a:cs typeface="Times New Roman" panose="02020603050405020304" pitchFamily="18" charset="0"/>
                            </a:rPr>
                            <a:t>Assets: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a:r>
                            <a:rPr lang="en-US" sz="1600" b="1" i="0" dirty="0">
                              <a:latin typeface="Helvetica" pitchFamily="2" charset="0"/>
                              <a:cs typeface="Times New Roman" panose="02020603050405020304" pitchFamily="18" charset="0"/>
                            </a:rPr>
                            <a:t>2024</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r>
                            <a:rPr lang="en-US" sz="1600" b="1" dirty="0">
                              <a:latin typeface="Times New Roman" panose="02020603050405020304" pitchFamily="18" charset="0"/>
                              <a:cs typeface="Times New Roman" panose="02020603050405020304" pitchFamily="18" charset="0"/>
                            </a:rPr>
                            <a:t>Liabilities: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a:r>
                            <a:rPr lang="en-US" sz="1600" b="1" dirty="0">
                              <a:latin typeface="Helvetica" pitchFamily="2" charset="0"/>
                              <a:cs typeface="Times New Roman" panose="02020603050405020304" pitchFamily="18" charset="0"/>
                            </a:rPr>
                            <a:t>2024</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796505850"/>
                      </a:ext>
                    </a:extLst>
                  </a:tr>
                  <a:tr h="274320">
                    <a:tc>
                      <a:txBody>
                        <a:bodyPr/>
                        <a:lstStyle/>
                        <a:p>
                          <a:r>
                            <a:rPr lang="en-US" sz="1600" b="0" dirty="0">
                              <a:latin typeface="Times New Roman" panose="02020603050405020304" pitchFamily="18" charset="0"/>
                              <a:cs typeface="Times New Roman" panose="02020603050405020304" pitchFamily="18" charset="0"/>
                            </a:rPr>
                            <a:t>            Current Assets:</a:t>
                          </a:r>
                        </a:p>
                      </a:txBody>
                      <a:tcPr anchor="ctr">
                        <a:lnL w="12700" cap="flat" cmpd="sng" algn="ctr">
                          <a:solidFill>
                            <a:schemeClr val="tx1"/>
                          </a:solidFill>
                          <a:prstDash val="solid"/>
                          <a:round/>
                          <a:headEnd type="none" w="med" len="med"/>
                          <a:tailEnd type="none" w="med" len="med"/>
                        </a:lnL>
                        <a:lnB>
                          <a:noFill/>
                        </a:lnB>
                        <a:noFill/>
                      </a:tcPr>
                    </a:tc>
                    <a:tc>
                      <a:txBody>
                        <a:bodyPr/>
                        <a:lstStyle/>
                        <a:p>
                          <a:endParaRPr lang="en-US" sz="1600" i="1" dirty="0">
                            <a:latin typeface="Helvetica" pitchFamily="2"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B>
                          <a:noFill/>
                        </a:lnB>
                        <a:noFill/>
                      </a:tcPr>
                    </a:tc>
                    <a:tc>
                      <a:txBody>
                        <a:bodyPr/>
                        <a:lstStyle/>
                        <a:p>
                          <a:pPr algn="l"/>
                          <a:r>
                            <a:rPr lang="en-US" sz="1600" b="0" dirty="0">
                              <a:solidFill>
                                <a:schemeClr val="tx1"/>
                              </a:solidFill>
                              <a:latin typeface="Times New Roman" panose="02020603050405020304" pitchFamily="18" charset="0"/>
                              <a:cs typeface="Times New Roman" panose="02020603050405020304" pitchFamily="18" charset="0"/>
                            </a:rPr>
                            <a:t>           Current Liabilities:         </a:t>
                          </a:r>
                        </a:p>
                      </a:txBody>
                      <a:tcPr>
                        <a:lnL w="12700" cap="flat" cmpd="sng" algn="ctr">
                          <a:solidFill>
                            <a:schemeClr val="tx1"/>
                          </a:solidFill>
                          <a:prstDash val="solid"/>
                          <a:round/>
                          <a:headEnd type="none" w="med" len="med"/>
                          <a:tailEnd type="none" w="med" len="med"/>
                        </a:lnL>
                        <a:lnB>
                          <a:noFill/>
                        </a:lnB>
                        <a:noFill/>
                      </a:tcPr>
                    </a:tc>
                    <a:tc>
                      <a:txBody>
                        <a:bodyPr/>
                        <a:lstStyle/>
                        <a:p>
                          <a:endParaRPr lang="en-US" sz="1600" i="1" dirty="0">
                            <a:latin typeface="Helvetica" pitchFamily="2"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B>
                          <a:noFill/>
                        </a:lnB>
                        <a:noFill/>
                      </a:tcPr>
                    </a:tc>
                    <a:extLst>
                      <a:ext uri="{0D108BD9-81ED-4DB2-BD59-A6C34878D82A}">
                        <a16:rowId xmlns:a16="http://schemas.microsoft.com/office/drawing/2014/main" val="3409866373"/>
                      </a:ext>
                    </a:extLst>
                  </a:tr>
                  <a:tr h="274320">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Cash</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l"/>
                          <a:r>
                            <a:rPr lang="en-US" sz="1600" i="1" dirty="0">
                              <a:latin typeface="Helvetica" pitchFamily="2" charset="0"/>
                              <a:cs typeface="Times New Roman" panose="02020603050405020304" pitchFamily="18" charset="0"/>
                            </a:rPr>
                            <a:t>$20</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Accounts Payable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$270</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128483766"/>
                      </a:ext>
                    </a:extLst>
                  </a:tr>
                  <a:tr h="274320">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Accounts Receivable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$266</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Accruals</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$121</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497431761"/>
                      </a:ext>
                    </a:extLst>
                  </a:tr>
                  <a:tr h="274320">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Inventory</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$385</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Notes Payable</a:t>
                          </a:r>
                        </a:p>
                      </a:txBody>
                      <a:tcP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$280</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19467579"/>
                      </a:ext>
                    </a:extLst>
                  </a:tr>
                  <a:tr h="274320">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Prepaid Expenses</a:t>
                          </a:r>
                        </a:p>
                      </a:txBody>
                      <a:tcP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$80</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l"/>
                          <a:r>
                            <a:rPr lang="en-US" sz="1600" b="0" dirty="0">
                              <a:solidFill>
                                <a:schemeClr val="tx1"/>
                              </a:solidFill>
                              <a:latin typeface="Times New Roman" panose="02020603050405020304" pitchFamily="18" charset="0"/>
                              <a:cs typeface="Times New Roman" panose="02020603050405020304" pitchFamily="18" charset="0"/>
                            </a:rPr>
                            <a:t>                                     Unearned Revenue</a:t>
                          </a:r>
                        </a:p>
                      </a:txBody>
                      <a:tcP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$37</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063926888"/>
                      </a:ext>
                    </a:extLst>
                  </a:tr>
                  <a:tr h="274320">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Other Current Assets</a:t>
                          </a:r>
                        </a:p>
                      </a:txBody>
                      <a:tcP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$35</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l"/>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l"/>
                          <a:endParaRPr lang="en-US" sz="1600" i="1" dirty="0">
                            <a:latin typeface="Helvetica" pitchFamily="2"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182311049"/>
                      </a:ext>
                    </a:extLst>
                  </a:tr>
                  <a:tr h="274320">
                    <a:tc>
                      <a:txBody>
                        <a:bodyPr/>
                        <a:lstStyle/>
                        <a:p>
                          <a:pPr algn="l"/>
                          <a:r>
                            <a:rPr lang="en-US" sz="1600" b="1" dirty="0">
                              <a:solidFill>
                                <a:schemeClr val="tx1"/>
                              </a:solidFill>
                              <a:latin typeface="Times New Roman" panose="02020603050405020304" pitchFamily="18" charset="0"/>
                              <a:cs typeface="Times New Roman" panose="02020603050405020304" pitchFamily="18" charset="0"/>
                            </a:rPr>
                            <a:t>             Total </a:t>
                          </a:r>
                          <a:r>
                            <a:rPr lang="en-US" sz="1600" b="1" dirty="0">
                              <a:latin typeface="Times New Roman" panose="02020603050405020304" pitchFamily="18" charset="0"/>
                              <a:cs typeface="Times New Roman" panose="02020603050405020304" pitchFamily="18" charset="0"/>
                            </a:rPr>
                            <a:t>Current Assets</a:t>
                          </a:r>
                          <a:r>
                            <a:rPr lang="en-US" sz="1600" b="1" dirty="0">
                              <a:solidFill>
                                <a:schemeClr val="tx1"/>
                              </a:solidFill>
                              <a:latin typeface="Times New Roman" panose="02020603050405020304" pitchFamily="18" charset="0"/>
                              <a:cs typeface="Times New Roman" panose="02020603050405020304" pitchFamily="18" charset="0"/>
                            </a:rPr>
                            <a:t>:         </a:t>
                          </a:r>
                        </a:p>
                      </a:txBody>
                      <a:tcP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dirty="0">
                              <a:latin typeface="Helvetica" pitchFamily="2" charset="0"/>
                              <a:cs typeface="Times New Roman" panose="02020603050405020304" pitchFamily="18" charset="0"/>
                            </a:rPr>
                            <a:t>$966</a:t>
                          </a:r>
                        </a:p>
                      </a:txBody>
                      <a:tcPr marL="0" marR="0" marT="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1" dirty="0">
                              <a:solidFill>
                                <a:schemeClr val="tx1"/>
                              </a:solidFill>
                              <a:latin typeface="Times New Roman" panose="02020603050405020304" pitchFamily="18" charset="0"/>
                              <a:cs typeface="Times New Roman" panose="02020603050405020304" pitchFamily="18" charset="0"/>
                            </a:rPr>
                            <a:t>             Total Current Liabilities:         </a:t>
                          </a:r>
                          <a:endParaRPr lang="en-US"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i="0" dirty="0">
                              <a:latin typeface="Helvetica" pitchFamily="2" charset="0"/>
                              <a:cs typeface="Times New Roman" panose="02020603050405020304" pitchFamily="18" charset="0"/>
                            </a:rPr>
                            <a:t>$708</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5765013"/>
                      </a:ext>
                    </a:extLst>
                  </a:tr>
                  <a:tr h="274320">
                    <a:tc>
                      <a:txBody>
                        <a:bodyPr/>
                        <a:lstStyle/>
                        <a:p>
                          <a:r>
                            <a:rPr lang="en-US" sz="1600" b="0" dirty="0">
                              <a:latin typeface="Times New Roman" panose="02020603050405020304" pitchFamily="18" charset="0"/>
                              <a:cs typeface="Times New Roman" panose="02020603050405020304" pitchFamily="18" charset="0"/>
                            </a:rPr>
                            <a:t>             Fixed Assets:</a:t>
                          </a:r>
                        </a:p>
                      </a:txBody>
                      <a:tcPr>
                        <a:lnL w="12700" cap="flat" cmpd="sng" algn="ctr">
                          <a:solidFill>
                            <a:schemeClr val="tx1"/>
                          </a:solidFill>
                          <a:prstDash val="solid"/>
                          <a:round/>
                          <a:headEnd type="none" w="med" len="med"/>
                          <a:tailEnd type="none" w="med" len="med"/>
                        </a:lnL>
                        <a:lnR>
                          <a:noFill/>
                        </a:lnR>
                        <a:lnT w="12700" cap="flat" cmpd="sng" algn="ctr">
                          <a:solidFill>
                            <a:schemeClr val="tx1"/>
                          </a:solidFill>
                          <a:prstDash val="sysDash"/>
                          <a:round/>
                          <a:headEnd type="none" w="med" len="med"/>
                          <a:tailEnd type="none" w="med" len="med"/>
                        </a:lnT>
                        <a:lnB>
                          <a:noFill/>
                        </a:lnB>
                        <a:lnTlToBr w="12700" cmpd="sng">
                          <a:noFill/>
                          <a:prstDash val="solid"/>
                        </a:lnTlToBr>
                        <a:lnBlToTr w="12700" cmpd="sng">
                          <a:noFill/>
                          <a:prstDash val="solid"/>
                        </a:lnBlToTr>
                        <a:noFill/>
                      </a:tcPr>
                    </a:tc>
                    <a:tc>
                      <a:txBody>
                        <a:bodyPr/>
                        <a:lstStyle/>
                        <a:p>
                          <a:pPr algn="l"/>
                          <a:endParaRPr lang="en-US" sz="1600" i="1" dirty="0">
                            <a:latin typeface="Helvetica" pitchFamily="2" charset="0"/>
                            <a:cs typeface="Times New Roman" panose="02020603050405020304" pitchFamily="18" charset="0"/>
                          </a:endParaRPr>
                        </a:p>
                      </a:txBody>
                      <a:tcPr marL="0" marR="0" marT="0" marB="0">
                        <a:lnL>
                          <a:noFill/>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a:noFill/>
                        </a:lnB>
                        <a:lnTlToBr w="12700" cmpd="sng">
                          <a:noFill/>
                          <a:prstDash val="solid"/>
                        </a:lnTlToBr>
                        <a:lnBlToTr w="12700" cmpd="sng">
                          <a:noFill/>
                          <a:prstDash val="solid"/>
                        </a:lnBlToTr>
                        <a:noFill/>
                      </a:tcPr>
                    </a:tc>
                    <a:tc>
                      <a:txBody>
                        <a:bodyPr/>
                        <a:lstStyle/>
                        <a:p>
                          <a:pPr algn="l"/>
                          <a:r>
                            <a:rPr lang="en-US" sz="1600" b="0" dirty="0">
                              <a:solidFill>
                                <a:schemeClr val="tx1"/>
                              </a:solidFill>
                              <a:latin typeface="Times New Roman" panose="02020603050405020304" pitchFamily="18" charset="0"/>
                              <a:cs typeface="Times New Roman" panose="02020603050405020304" pitchFamily="18" charset="0"/>
                            </a:rPr>
                            <a:t>             Long-Term Liabilities:</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a:noFill/>
                        </a:lnB>
                        <a:lnTlToBr w="12700" cmpd="sng">
                          <a:noFill/>
                          <a:prstDash val="solid"/>
                        </a:lnTlToBr>
                        <a:lnBlToTr w="12700" cmpd="sng">
                          <a:noFill/>
                          <a:prstDash val="solid"/>
                        </a:lnBlToTr>
                        <a:noFill/>
                      </a:tcPr>
                    </a:tc>
                    <a:tc>
                      <a:txBody>
                        <a:bodyPr/>
                        <a:lstStyle/>
                        <a:p>
                          <a:pPr algn="l"/>
                          <a:endParaRPr lang="en-US" sz="1600" i="1" dirty="0">
                            <a:latin typeface="Helvetica" pitchFamily="2"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903977366"/>
                      </a:ext>
                    </a:extLst>
                  </a:tr>
                  <a:tr h="274320">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Net Plant &amp; Equipment</a:t>
                          </a:r>
                        </a:p>
                      </a:txBody>
                      <a:tcP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$1,134</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Bonds Payable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$570</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878546893"/>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Times New Roman" panose="02020603050405020304" pitchFamily="18" charset="0"/>
                              <a:cs typeface="Times New Roman" panose="02020603050405020304" pitchFamily="18" charset="0"/>
                            </a:rPr>
                            <a:t>                     Intangible Assets</a:t>
                          </a:r>
                        </a:p>
                      </a:txBody>
                      <a:tcPr>
                        <a:lnL w="12700" cap="flat" cmpd="sng" algn="ctr">
                          <a:solidFill>
                            <a:schemeClr val="tx1"/>
                          </a:solidFill>
                          <a:prstDash val="solid"/>
                          <a:round/>
                          <a:headEnd type="none" w="med" len="med"/>
                          <a:tailEnd type="none" w="med" len="med"/>
                        </a:lnL>
                        <a:lnT>
                          <a:noFill/>
                        </a:lnT>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$182</a:t>
                          </a:r>
                        </a:p>
                      </a:txBody>
                      <a:tcPr marL="0" marR="0" marT="0" marB="0" anchor="ctr">
                        <a:lnR w="12700" cap="flat" cmpd="sng" algn="ctr">
                          <a:solidFill>
                            <a:schemeClr val="tx1"/>
                          </a:solidFill>
                          <a:prstDash val="solid"/>
                          <a:round/>
                          <a:headEnd type="none" w="med" len="med"/>
                          <a:tailEnd type="none" w="med" len="med"/>
                        </a:lnR>
                        <a:lnT>
                          <a:noFill/>
                        </a:lnT>
                        <a:noFill/>
                      </a:tcPr>
                    </a:tc>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Long-Term Loans</a:t>
                          </a:r>
                        </a:p>
                      </a:txBody>
                      <a:tcPr>
                        <a:lnL w="12700" cap="flat" cmpd="sng" algn="ctr">
                          <a:solidFill>
                            <a:schemeClr val="tx1"/>
                          </a:solidFill>
                          <a:prstDash val="solid"/>
                          <a:round/>
                          <a:headEnd type="none" w="med" len="med"/>
                          <a:tailEnd type="none" w="med" len="med"/>
                        </a:lnL>
                        <a:lnT>
                          <a:noFill/>
                        </a:lnT>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$650</a:t>
                          </a:r>
                        </a:p>
                      </a:txBody>
                      <a:tcPr marL="0" marR="0" marT="0" marB="0" anchor="ctr">
                        <a:lnR w="12700" cap="flat" cmpd="sng" algn="ctr">
                          <a:solidFill>
                            <a:schemeClr val="tx1"/>
                          </a:solidFill>
                          <a:prstDash val="solid"/>
                          <a:round/>
                          <a:headEnd type="none" w="med" len="med"/>
                          <a:tailEnd type="none" w="med" len="med"/>
                        </a:lnR>
                        <a:lnT>
                          <a:noFill/>
                        </a:lnT>
                        <a:noFill/>
                      </a:tcPr>
                    </a:tc>
                    <a:extLst>
                      <a:ext uri="{0D108BD9-81ED-4DB2-BD59-A6C34878D82A}">
                        <a16:rowId xmlns:a16="http://schemas.microsoft.com/office/drawing/2014/main" val="312535522"/>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Times New Roman" panose="02020603050405020304" pitchFamily="18" charset="0"/>
                              <a:cs typeface="Times New Roman" panose="02020603050405020304" pitchFamily="18" charset="0"/>
                            </a:rPr>
                            <a:t>             Investments</a:t>
                          </a:r>
                        </a:p>
                      </a:txBody>
                      <a:tcPr>
                        <a:lnL w="12700" cap="flat" cmpd="sng" algn="ctr">
                          <a:solidFill>
                            <a:schemeClr val="tx1"/>
                          </a:solidFill>
                          <a:prstDash val="solid"/>
                          <a:round/>
                          <a:headEnd type="none" w="med" len="med"/>
                          <a:tailEnd type="none" w="med" len="med"/>
                        </a:lnL>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$350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Times New Roman" panose="02020603050405020304" pitchFamily="18" charset="0"/>
                              <a:cs typeface="Times New Roman" panose="02020603050405020304" pitchFamily="18" charset="0"/>
                            </a:rPr>
                            <a:t>             Total Long-Term Liabilities:         </a:t>
                          </a:r>
                          <a:endParaRPr lang="en-US"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algn="ctr"/>
                          <a:r>
                            <a:rPr lang="en-US" sz="1600" b="1" i="0" dirty="0">
                              <a:latin typeface="Helvetica" pitchFamily="2" charset="0"/>
                              <a:cs typeface="Times New Roman" panose="02020603050405020304" pitchFamily="18" charset="0"/>
                            </a:rPr>
                            <a:t>$1,220</a:t>
                          </a:r>
                        </a:p>
                      </a:txBody>
                      <a:tcPr marL="0" marR="0" marT="0"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526611801"/>
                      </a:ext>
                    </a:extLst>
                  </a:tr>
                  <a:tr h="274320">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Other Fixed Assets</a:t>
                          </a:r>
                        </a:p>
                      </a:txBody>
                      <a:tcPr>
                        <a:lnL w="12700" cap="flat" cmpd="sng" algn="ctr">
                          <a:solidFill>
                            <a:schemeClr val="tx1"/>
                          </a:solidFill>
                          <a:prstDash val="solid"/>
                          <a:round/>
                          <a:headEnd type="none" w="med" len="med"/>
                          <a:tailEnd type="none" w="med" len="med"/>
                        </a:lnL>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$110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Total Liabilities:</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r"/>
                          <a:r>
                            <a:rPr lang="en-US" sz="1600" b="1" i="0" dirty="0">
                              <a:latin typeface="Helvetica" pitchFamily="2" charset="0"/>
                              <a:cs typeface="Times New Roman" panose="02020603050405020304" pitchFamily="18" charset="0"/>
                            </a:rPr>
                            <a:t>$1,928</a:t>
                          </a:r>
                        </a:p>
                      </a:txBody>
                      <a:tcPr marL="0" marR="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8168626"/>
                      </a:ext>
                    </a:extLst>
                  </a:tr>
                  <a:tr h="274320">
                    <a:tc>
                      <a:txBody>
                        <a:bodyPr/>
                        <a:lstStyle/>
                        <a:p>
                          <a:pPr algn="l"/>
                          <a:endParaRPr lang="en-US" sz="16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i="1" dirty="0">
                            <a:latin typeface="Helvetica" pitchFamily="2"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Equity:</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l"/>
                          <a:endParaRPr lang="en-US" sz="1600" i="1" dirty="0">
                            <a:latin typeface="Helvetica" pitchFamily="2"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821641090"/>
                      </a:ext>
                    </a:extLst>
                  </a:tr>
                  <a:tr h="274320">
                    <a:tc>
                      <a:txBody>
                        <a:bodyPr/>
                        <a:lstStyle/>
                        <a:p>
                          <a:pPr algn="l"/>
                          <a:endParaRPr 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i="1" dirty="0">
                            <a:latin typeface="Helvetica" pitchFamily="2"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Times New Roman" panose="02020603050405020304" pitchFamily="18" charset="0"/>
                              <a:cs typeface="Times New Roman" panose="02020603050405020304" pitchFamily="18" charset="0"/>
                            </a:rPr>
                            <a:t>                         Common stocks</a:t>
                          </a:r>
                        </a:p>
                      </a:txBody>
                      <a:tcPr>
                        <a:lnL w="12700" cap="flat" cmpd="sng" algn="ctr">
                          <a:solidFill>
                            <a:schemeClr val="tx1"/>
                          </a:solidFill>
                          <a:prstDash val="solid"/>
                          <a:round/>
                          <a:headEnd type="none" w="med" len="med"/>
                          <a:tailEnd type="none" w="med" len="med"/>
                        </a:lnL>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$600</a:t>
                          </a:r>
                        </a:p>
                      </a:txBody>
                      <a:tcPr marL="0" marR="0" marT="0"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026873622"/>
                      </a:ext>
                    </a:extLst>
                  </a:tr>
                  <a:tr h="274320">
                    <a:tc>
                      <a:txBody>
                        <a:bodyPr/>
                        <a:lstStyle/>
                        <a:p>
                          <a:pPr algn="l"/>
                          <a:r>
                            <a:rPr lang="en-US" sz="1600" b="1" dirty="0">
                              <a:solidFill>
                                <a:schemeClr val="tx1"/>
                              </a:solidFill>
                              <a:latin typeface="Times New Roman" panose="02020603050405020304" pitchFamily="18" charset="0"/>
                              <a:cs typeface="Times New Roman" panose="02020603050405020304" pitchFamily="18" charset="0"/>
                            </a:rPr>
                            <a:t>             Total </a:t>
                          </a:r>
                          <a:r>
                            <a:rPr lang="en-US" sz="1600" b="1" dirty="0">
                              <a:latin typeface="Times New Roman" panose="02020603050405020304" pitchFamily="18" charset="0"/>
                              <a:cs typeface="Times New Roman" panose="02020603050405020304" pitchFamily="18" charset="0"/>
                            </a:rPr>
                            <a:t>Fixed Assets:</a:t>
                          </a:r>
                          <a:endParaRPr lang="en-US" sz="16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dirty="0">
                              <a:latin typeface="Helvetica" pitchFamily="2" charset="0"/>
                              <a:cs typeface="Times New Roman" panose="02020603050405020304" pitchFamily="18" charset="0"/>
                            </a:rPr>
                            <a:t>$1,776</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Retained Earning</a:t>
                          </a:r>
                        </a:p>
                      </a:txBody>
                      <a:tcPr>
                        <a:lnL w="12700" cap="flat" cmpd="sng" algn="ctr">
                          <a:solidFill>
                            <a:schemeClr val="tx1"/>
                          </a:solidFill>
                          <a:prstDash val="solid"/>
                          <a:round/>
                          <a:headEnd type="none" w="med" len="med"/>
                          <a:tailEnd type="none" w="med" len="med"/>
                        </a:lnL>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$214</a:t>
                          </a:r>
                        </a:p>
                      </a:txBody>
                      <a:tcPr marL="0" marR="0" marT="0"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015958496"/>
                      </a:ext>
                    </a:extLst>
                  </a:tr>
                  <a:tr h="274320">
                    <a:tc>
                      <a:txBody>
                        <a:bodyPr/>
                        <a:lstStyle/>
                        <a:p>
                          <a:pPr algn="l"/>
                          <a:endParaRPr lang="en-US" sz="16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dirty="0">
                            <a:latin typeface="Helvetica" pitchFamily="2"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sz="1600" b="1" dirty="0">
                              <a:latin typeface="Times New Roman" panose="02020603050405020304" pitchFamily="18" charset="0"/>
                              <a:cs typeface="Times New Roman" panose="02020603050405020304" pitchFamily="18" charset="0"/>
                            </a:rPr>
                            <a:t>Total Equity:</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r"/>
                          <a:r>
                            <a:rPr lang="en-US" sz="1600" b="1" i="0" dirty="0">
                              <a:latin typeface="Helvetica" pitchFamily="2" charset="0"/>
                              <a:cs typeface="Times New Roman" panose="02020603050405020304" pitchFamily="18" charset="0"/>
                            </a:rPr>
                            <a:t>$814</a:t>
                          </a:r>
                        </a:p>
                      </a:txBody>
                      <a:tcPr marL="0" marR="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933207"/>
                      </a:ext>
                    </a:extLst>
                  </a:tr>
                  <a:tr h="356382">
                    <a:tc>
                      <a:txBody>
                        <a:bodyPr/>
                        <a:lstStyle/>
                        <a:p>
                          <a:r>
                            <a:rPr lang="en-US" sz="1600" b="1" dirty="0">
                              <a:latin typeface="Times New Roman" panose="02020603050405020304" pitchFamily="18" charset="0"/>
                              <a:cs typeface="Times New Roman" panose="02020603050405020304" pitchFamily="18" charset="0"/>
                            </a:rPr>
                            <a:t>Total Assets</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EB98"/>
                        </a:solidFill>
                      </a:tcPr>
                    </a:tc>
                    <a:tc>
                      <a:txBody>
                        <a:bodyPr/>
                        <a:lstStyle/>
                        <a:p>
                          <a:pPr algn="r"/>
                          <a:r>
                            <a:rPr lang="en-US" sz="1600" b="1" i="0" dirty="0">
                              <a:latin typeface="Helvetica" pitchFamily="2" charset="0"/>
                              <a:cs typeface="Times New Roman" panose="02020603050405020304" pitchFamily="18" charset="0"/>
                            </a:rPr>
                            <a:t>$2,742</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EB98"/>
                        </a:solidFill>
                      </a:tcPr>
                    </a:tc>
                    <a:tc>
                      <a:txBody>
                        <a:bodyPr/>
                        <a:lstStyle/>
                        <a:p>
                          <a:r>
                            <a:rPr lang="en-US" sz="1600" b="1" dirty="0">
                              <a:latin typeface="Times New Roman" panose="02020603050405020304" pitchFamily="18" charset="0"/>
                              <a:cs typeface="Times New Roman" panose="02020603050405020304" pitchFamily="18" charset="0"/>
                            </a:rPr>
                            <a:t>Total Liabilities and Equity</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EB98"/>
                        </a:solidFill>
                      </a:tcPr>
                    </a:tc>
                    <a:tc>
                      <a:txBody>
                        <a:bodyPr/>
                        <a:lstStyle/>
                        <a:p>
                          <a:pPr algn="r"/>
                          <a:r>
                            <a:rPr lang="en-US" sz="1600" b="1" i="0" dirty="0">
                              <a:latin typeface="Helvetica" pitchFamily="2" charset="0"/>
                              <a:cs typeface="Times New Roman" panose="02020603050405020304" pitchFamily="18" charset="0"/>
                            </a:rPr>
                            <a:t>$2,742</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EB98"/>
                        </a:solidFill>
                      </a:tcPr>
                    </a:tc>
                    <a:extLst>
                      <a:ext uri="{0D108BD9-81ED-4DB2-BD59-A6C34878D82A}">
                        <a16:rowId xmlns:a16="http://schemas.microsoft.com/office/drawing/2014/main" val="1487100812"/>
                      </a:ext>
                    </a:extLst>
                  </a:tr>
                </a:tbl>
              </a:graphicData>
            </a:graphic>
          </p:graphicFrame>
        </mc:Choice>
        <mc:Fallback xmlns="">
          <p:graphicFrame>
            <p:nvGraphicFramePr>
              <p:cNvPr id="3" name="Table 2">
                <a:extLst>
                  <a:ext uri="{FF2B5EF4-FFF2-40B4-BE49-F238E27FC236}">
                    <a16:creationId xmlns:a16="http://schemas.microsoft.com/office/drawing/2014/main" id="{B87967F1-539B-D034-6A2D-675CB0A371A5}"/>
                  </a:ext>
                </a:extLst>
              </p:cNvPr>
              <p:cNvGraphicFramePr>
                <a:graphicFrameLocks noGrp="1"/>
              </p:cNvGraphicFramePr>
              <p:nvPr>
                <p:extLst>
                  <p:ext uri="{D42A27DB-BD31-4B8C-83A1-F6EECF244321}">
                    <p14:modId xmlns:p14="http://schemas.microsoft.com/office/powerpoint/2010/main" val="208515894"/>
                  </p:ext>
                </p:extLst>
              </p:nvPr>
            </p:nvGraphicFramePr>
            <p:xfrm>
              <a:off x="525948" y="222738"/>
              <a:ext cx="11140104" cy="6433625"/>
            </p:xfrm>
            <a:graphic>
              <a:graphicData uri="http://schemas.openxmlformats.org/drawingml/2006/table">
                <a:tbl>
                  <a:tblPr firstRow="1" bandRow="1">
                    <a:tableStyleId>{2D5ABB26-0587-4C30-8999-92F81FD0307C}</a:tableStyleId>
                  </a:tblPr>
                  <a:tblGrid>
                    <a:gridCol w="4291379">
                      <a:extLst>
                        <a:ext uri="{9D8B030D-6E8A-4147-A177-3AD203B41FA5}">
                          <a16:colId xmlns:a16="http://schemas.microsoft.com/office/drawing/2014/main" val="649367441"/>
                        </a:ext>
                      </a:extLst>
                    </a:gridCol>
                    <a:gridCol w="1278673">
                      <a:extLst>
                        <a:ext uri="{9D8B030D-6E8A-4147-A177-3AD203B41FA5}">
                          <a16:colId xmlns:a16="http://schemas.microsoft.com/office/drawing/2014/main" val="3852258222"/>
                        </a:ext>
                      </a:extLst>
                    </a:gridCol>
                    <a:gridCol w="4207727">
                      <a:extLst>
                        <a:ext uri="{9D8B030D-6E8A-4147-A177-3AD203B41FA5}">
                          <a16:colId xmlns:a16="http://schemas.microsoft.com/office/drawing/2014/main" val="4292842902"/>
                        </a:ext>
                      </a:extLst>
                    </a:gridCol>
                    <a:gridCol w="1362325">
                      <a:extLst>
                        <a:ext uri="{9D8B030D-6E8A-4147-A177-3AD203B41FA5}">
                          <a16:colId xmlns:a16="http://schemas.microsoft.com/office/drawing/2014/main" val="253133019"/>
                        </a:ext>
                      </a:extLst>
                    </a:gridCol>
                  </a:tblGrid>
                  <a:tr h="377483">
                    <a:tc gridSpan="2">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28" t="-3333" r="-100228" b="-1610000"/>
                          </a:stretch>
                        </a:blipFill>
                      </a:tcPr>
                    </a:tc>
                    <a:tc hMerge="1">
                      <a:txBody>
                        <a:bodyPr/>
                        <a:lstStyle/>
                        <a:p>
                          <a:endParaRPr lang="en-US" dirty="0"/>
                        </a:p>
                      </a:txBody>
                      <a:tcPr>
                        <a:lnL w="12700" cap="flat" cmpd="sng" algn="ctr">
                          <a:solidFill>
                            <a:schemeClr val="tx1"/>
                          </a:solidFill>
                          <a:prstDash val="solid"/>
                          <a:round/>
                          <a:headEnd type="none" w="med" len="med"/>
                          <a:tailEnd type="none" w="med" len="med"/>
                        </a:lnL>
                      </a:tcPr>
                    </a:tc>
                    <a:tc grid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228" t="-3333" r="-228" b="-1610000"/>
                          </a:stretch>
                        </a:blipFill>
                      </a:tcPr>
                    </a:tc>
                    <a:tc hMerge="1">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27984928"/>
                      </a:ext>
                    </a:extLst>
                  </a:tr>
                  <a:tr h="335280">
                    <a:tc>
                      <a:txBody>
                        <a:bodyPr/>
                        <a:lstStyle/>
                        <a:p>
                          <a:r>
                            <a:rPr lang="en-US" sz="1600" b="1" dirty="0">
                              <a:latin typeface="Times New Roman" panose="02020603050405020304" pitchFamily="18" charset="0"/>
                              <a:cs typeface="Times New Roman" panose="02020603050405020304" pitchFamily="18" charset="0"/>
                            </a:rPr>
                            <a:t>Assets: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a:r>
                            <a:rPr lang="en-US" sz="1600" b="1" i="0" dirty="0">
                              <a:latin typeface="Helvetica" pitchFamily="2" charset="0"/>
                              <a:cs typeface="Times New Roman" panose="02020603050405020304" pitchFamily="18" charset="0"/>
                            </a:rPr>
                            <a:t>2024</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r>
                            <a:rPr lang="en-US" sz="1600" b="1" dirty="0">
                              <a:latin typeface="Times New Roman" panose="02020603050405020304" pitchFamily="18" charset="0"/>
                              <a:cs typeface="Times New Roman" panose="02020603050405020304" pitchFamily="18" charset="0"/>
                            </a:rPr>
                            <a:t>Liabilities: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a:r>
                            <a:rPr lang="en-US" sz="1600" b="1" dirty="0">
                              <a:latin typeface="Helvetica" pitchFamily="2" charset="0"/>
                              <a:cs typeface="Times New Roman" panose="02020603050405020304" pitchFamily="18" charset="0"/>
                            </a:rPr>
                            <a:t>2024</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796505850"/>
                      </a:ext>
                    </a:extLst>
                  </a:tr>
                  <a:tr h="335280">
                    <a:tc>
                      <a:txBody>
                        <a:bodyPr/>
                        <a:lstStyle/>
                        <a:p>
                          <a:r>
                            <a:rPr lang="en-US" sz="1600" b="0" dirty="0">
                              <a:latin typeface="Times New Roman" panose="02020603050405020304" pitchFamily="18" charset="0"/>
                              <a:cs typeface="Times New Roman" panose="02020603050405020304" pitchFamily="18" charset="0"/>
                            </a:rPr>
                            <a:t>            Current Assets:</a:t>
                          </a:r>
                        </a:p>
                      </a:txBody>
                      <a:tcPr anchor="ctr">
                        <a:lnL w="12700" cap="flat" cmpd="sng" algn="ctr">
                          <a:solidFill>
                            <a:schemeClr val="tx1"/>
                          </a:solidFill>
                          <a:prstDash val="solid"/>
                          <a:round/>
                          <a:headEnd type="none" w="med" len="med"/>
                          <a:tailEnd type="none" w="med" len="med"/>
                        </a:lnL>
                        <a:lnB>
                          <a:noFill/>
                        </a:lnB>
                        <a:noFill/>
                      </a:tcPr>
                    </a:tc>
                    <a:tc>
                      <a:txBody>
                        <a:bodyPr/>
                        <a:lstStyle/>
                        <a:p>
                          <a:endParaRPr lang="en-US" sz="1600" i="1" dirty="0">
                            <a:latin typeface="Helvetica" pitchFamily="2"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B>
                          <a:noFill/>
                        </a:lnB>
                        <a:noFill/>
                      </a:tcPr>
                    </a:tc>
                    <a:tc>
                      <a:txBody>
                        <a:bodyPr/>
                        <a:lstStyle/>
                        <a:p>
                          <a:pPr algn="l"/>
                          <a:r>
                            <a:rPr lang="en-US" sz="1600" b="0" dirty="0">
                              <a:solidFill>
                                <a:schemeClr val="tx1"/>
                              </a:solidFill>
                              <a:latin typeface="Times New Roman" panose="02020603050405020304" pitchFamily="18" charset="0"/>
                              <a:cs typeface="Times New Roman" panose="02020603050405020304" pitchFamily="18" charset="0"/>
                            </a:rPr>
                            <a:t>           Current Liabilities:         </a:t>
                          </a:r>
                        </a:p>
                      </a:txBody>
                      <a:tcPr>
                        <a:lnL w="12700" cap="flat" cmpd="sng" algn="ctr">
                          <a:solidFill>
                            <a:schemeClr val="tx1"/>
                          </a:solidFill>
                          <a:prstDash val="solid"/>
                          <a:round/>
                          <a:headEnd type="none" w="med" len="med"/>
                          <a:tailEnd type="none" w="med" len="med"/>
                        </a:lnL>
                        <a:lnB>
                          <a:noFill/>
                        </a:lnB>
                        <a:noFill/>
                      </a:tcPr>
                    </a:tc>
                    <a:tc>
                      <a:txBody>
                        <a:bodyPr/>
                        <a:lstStyle/>
                        <a:p>
                          <a:endParaRPr lang="en-US" sz="1600" i="1" dirty="0">
                            <a:latin typeface="Helvetica" pitchFamily="2"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B>
                          <a:noFill/>
                        </a:lnB>
                        <a:noFill/>
                      </a:tcPr>
                    </a:tc>
                    <a:extLst>
                      <a:ext uri="{0D108BD9-81ED-4DB2-BD59-A6C34878D82A}">
                        <a16:rowId xmlns:a16="http://schemas.microsoft.com/office/drawing/2014/main" val="3409866373"/>
                      </a:ext>
                    </a:extLst>
                  </a:tr>
                  <a:tr h="335280">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Cash</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l"/>
                          <a:r>
                            <a:rPr lang="en-US" sz="1600" i="1" dirty="0">
                              <a:latin typeface="Helvetica" pitchFamily="2" charset="0"/>
                              <a:cs typeface="Times New Roman" panose="02020603050405020304" pitchFamily="18" charset="0"/>
                            </a:rPr>
                            <a:t>$20</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Accounts Payable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$270</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128483766"/>
                      </a:ext>
                    </a:extLst>
                  </a:tr>
                  <a:tr h="335280">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Accounts Receivable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$266</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Accruals</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$121</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497431761"/>
                      </a:ext>
                    </a:extLst>
                  </a:tr>
                  <a:tr h="335280">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Inventory</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$385</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Notes Payable</a:t>
                          </a:r>
                        </a:p>
                      </a:txBody>
                      <a:tcP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$280</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19467579"/>
                      </a:ext>
                    </a:extLst>
                  </a:tr>
                  <a:tr h="335280">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Prepaid Expenses</a:t>
                          </a:r>
                        </a:p>
                      </a:txBody>
                      <a:tcP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$80</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l"/>
                          <a:r>
                            <a:rPr lang="en-US" sz="1600" b="0" dirty="0">
                              <a:solidFill>
                                <a:schemeClr val="tx1"/>
                              </a:solidFill>
                              <a:latin typeface="Times New Roman" panose="02020603050405020304" pitchFamily="18" charset="0"/>
                              <a:cs typeface="Times New Roman" panose="02020603050405020304" pitchFamily="18" charset="0"/>
                            </a:rPr>
                            <a:t>                                     Unearned Revenue</a:t>
                          </a:r>
                        </a:p>
                      </a:txBody>
                      <a:tcP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$37</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063926888"/>
                      </a:ext>
                    </a:extLst>
                  </a:tr>
                  <a:tr h="335280">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Other Current Assets</a:t>
                          </a:r>
                        </a:p>
                      </a:txBody>
                      <a:tcP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$35</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l"/>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l"/>
                          <a:endParaRPr lang="en-US" sz="1600" i="1" dirty="0">
                            <a:latin typeface="Helvetica" pitchFamily="2"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182311049"/>
                      </a:ext>
                    </a:extLst>
                  </a:tr>
                  <a:tr h="335280">
                    <a:tc>
                      <a:txBody>
                        <a:bodyPr/>
                        <a:lstStyle/>
                        <a:p>
                          <a:pPr algn="l"/>
                          <a:r>
                            <a:rPr lang="en-US" sz="1600" b="1" dirty="0">
                              <a:solidFill>
                                <a:schemeClr val="tx1"/>
                              </a:solidFill>
                              <a:latin typeface="Times New Roman" panose="02020603050405020304" pitchFamily="18" charset="0"/>
                              <a:cs typeface="Times New Roman" panose="02020603050405020304" pitchFamily="18" charset="0"/>
                            </a:rPr>
                            <a:t>             Total </a:t>
                          </a:r>
                          <a:r>
                            <a:rPr lang="en-US" sz="1600" b="1" dirty="0">
                              <a:latin typeface="Times New Roman" panose="02020603050405020304" pitchFamily="18" charset="0"/>
                              <a:cs typeface="Times New Roman" panose="02020603050405020304" pitchFamily="18" charset="0"/>
                            </a:rPr>
                            <a:t>Current Assets</a:t>
                          </a:r>
                          <a:r>
                            <a:rPr lang="en-US" sz="1600" b="1" dirty="0">
                              <a:solidFill>
                                <a:schemeClr val="tx1"/>
                              </a:solidFill>
                              <a:latin typeface="Times New Roman" panose="02020603050405020304" pitchFamily="18" charset="0"/>
                              <a:cs typeface="Times New Roman" panose="02020603050405020304" pitchFamily="18" charset="0"/>
                            </a:rPr>
                            <a:t>:         </a:t>
                          </a:r>
                        </a:p>
                      </a:txBody>
                      <a:tcP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dirty="0">
                              <a:latin typeface="Helvetica" pitchFamily="2" charset="0"/>
                              <a:cs typeface="Times New Roman" panose="02020603050405020304" pitchFamily="18" charset="0"/>
                            </a:rPr>
                            <a:t>$966</a:t>
                          </a:r>
                        </a:p>
                      </a:txBody>
                      <a:tcPr marL="0" marR="0" marT="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b="1" dirty="0">
                              <a:solidFill>
                                <a:schemeClr val="tx1"/>
                              </a:solidFill>
                              <a:latin typeface="Times New Roman" panose="02020603050405020304" pitchFamily="18" charset="0"/>
                              <a:cs typeface="Times New Roman" panose="02020603050405020304" pitchFamily="18" charset="0"/>
                            </a:rPr>
                            <a:t>             Total Current Liabilities:         </a:t>
                          </a:r>
                          <a:endParaRPr lang="en-US"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i="0" dirty="0">
                              <a:latin typeface="Helvetica" pitchFamily="2" charset="0"/>
                              <a:cs typeface="Times New Roman" panose="02020603050405020304" pitchFamily="18" charset="0"/>
                            </a:rPr>
                            <a:t>$708</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5765013"/>
                      </a:ext>
                    </a:extLst>
                  </a:tr>
                  <a:tr h="335280">
                    <a:tc>
                      <a:txBody>
                        <a:bodyPr/>
                        <a:lstStyle/>
                        <a:p>
                          <a:r>
                            <a:rPr lang="en-US" sz="1600" b="0" dirty="0">
                              <a:latin typeface="Times New Roman" panose="02020603050405020304" pitchFamily="18" charset="0"/>
                              <a:cs typeface="Times New Roman" panose="02020603050405020304" pitchFamily="18" charset="0"/>
                            </a:rPr>
                            <a:t>             Fixed Assets:</a:t>
                          </a:r>
                        </a:p>
                      </a:txBody>
                      <a:tcPr>
                        <a:lnL w="12700" cap="flat" cmpd="sng" algn="ctr">
                          <a:solidFill>
                            <a:schemeClr val="tx1"/>
                          </a:solidFill>
                          <a:prstDash val="solid"/>
                          <a:round/>
                          <a:headEnd type="none" w="med" len="med"/>
                          <a:tailEnd type="none" w="med" len="med"/>
                        </a:lnL>
                        <a:lnR>
                          <a:noFill/>
                        </a:lnR>
                        <a:lnT w="12700" cap="flat" cmpd="sng" algn="ctr">
                          <a:solidFill>
                            <a:schemeClr val="tx1"/>
                          </a:solidFill>
                          <a:prstDash val="sysDash"/>
                          <a:round/>
                          <a:headEnd type="none" w="med" len="med"/>
                          <a:tailEnd type="none" w="med" len="med"/>
                        </a:lnT>
                        <a:lnB>
                          <a:noFill/>
                        </a:lnB>
                        <a:lnTlToBr w="12700" cmpd="sng">
                          <a:noFill/>
                          <a:prstDash val="solid"/>
                        </a:lnTlToBr>
                        <a:lnBlToTr w="12700" cmpd="sng">
                          <a:noFill/>
                          <a:prstDash val="solid"/>
                        </a:lnBlToTr>
                        <a:noFill/>
                      </a:tcPr>
                    </a:tc>
                    <a:tc>
                      <a:txBody>
                        <a:bodyPr/>
                        <a:lstStyle/>
                        <a:p>
                          <a:pPr algn="l"/>
                          <a:endParaRPr lang="en-US" sz="1600" i="1" dirty="0">
                            <a:latin typeface="Helvetica" pitchFamily="2" charset="0"/>
                            <a:cs typeface="Times New Roman" panose="02020603050405020304" pitchFamily="18" charset="0"/>
                          </a:endParaRPr>
                        </a:p>
                      </a:txBody>
                      <a:tcPr marL="0" marR="0" marT="0" marB="0">
                        <a:lnL>
                          <a:noFill/>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a:noFill/>
                        </a:lnB>
                        <a:lnTlToBr w="12700" cmpd="sng">
                          <a:noFill/>
                          <a:prstDash val="solid"/>
                        </a:lnTlToBr>
                        <a:lnBlToTr w="12700" cmpd="sng">
                          <a:noFill/>
                          <a:prstDash val="solid"/>
                        </a:lnBlToTr>
                        <a:noFill/>
                      </a:tcPr>
                    </a:tc>
                    <a:tc>
                      <a:txBody>
                        <a:bodyPr/>
                        <a:lstStyle/>
                        <a:p>
                          <a:pPr algn="l"/>
                          <a:r>
                            <a:rPr lang="en-US" sz="1600" b="0" dirty="0">
                              <a:solidFill>
                                <a:schemeClr val="tx1"/>
                              </a:solidFill>
                              <a:latin typeface="Times New Roman" panose="02020603050405020304" pitchFamily="18" charset="0"/>
                              <a:cs typeface="Times New Roman" panose="02020603050405020304" pitchFamily="18" charset="0"/>
                            </a:rPr>
                            <a:t>             Long-Term Liabilities:</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a:noFill/>
                        </a:lnB>
                        <a:lnTlToBr w="12700" cmpd="sng">
                          <a:noFill/>
                          <a:prstDash val="solid"/>
                        </a:lnTlToBr>
                        <a:lnBlToTr w="12700" cmpd="sng">
                          <a:noFill/>
                          <a:prstDash val="solid"/>
                        </a:lnBlToTr>
                        <a:noFill/>
                      </a:tcPr>
                    </a:tc>
                    <a:tc>
                      <a:txBody>
                        <a:bodyPr/>
                        <a:lstStyle/>
                        <a:p>
                          <a:pPr algn="l"/>
                          <a:endParaRPr lang="en-US" sz="1600" i="1" dirty="0">
                            <a:latin typeface="Helvetica" pitchFamily="2"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903977366"/>
                      </a:ext>
                    </a:extLst>
                  </a:tr>
                  <a:tr h="335280">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Net Plant &amp; Equipment</a:t>
                          </a:r>
                        </a:p>
                      </a:txBody>
                      <a:tcP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$1,134</a:t>
                          </a:r>
                        </a:p>
                      </a:txBody>
                      <a:tcPr marL="0" marR="0" marT="0" marB="0"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Bonds Payable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$570</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878546893"/>
                      </a:ext>
                    </a:extLst>
                  </a:tr>
                  <a:tr h="335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Times New Roman" panose="02020603050405020304" pitchFamily="18" charset="0"/>
                              <a:cs typeface="Times New Roman" panose="02020603050405020304" pitchFamily="18" charset="0"/>
                            </a:rPr>
                            <a:t>                     Intangible Assets</a:t>
                          </a:r>
                        </a:p>
                      </a:txBody>
                      <a:tcPr>
                        <a:lnL w="12700" cap="flat" cmpd="sng" algn="ctr">
                          <a:solidFill>
                            <a:schemeClr val="tx1"/>
                          </a:solidFill>
                          <a:prstDash val="solid"/>
                          <a:round/>
                          <a:headEnd type="none" w="med" len="med"/>
                          <a:tailEnd type="none" w="med" len="med"/>
                        </a:lnL>
                        <a:lnT>
                          <a:noFill/>
                        </a:lnT>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$182</a:t>
                          </a:r>
                        </a:p>
                      </a:txBody>
                      <a:tcPr marL="0" marR="0" marT="0" marB="0" anchor="ctr">
                        <a:lnR w="12700" cap="flat" cmpd="sng" algn="ctr">
                          <a:solidFill>
                            <a:schemeClr val="tx1"/>
                          </a:solidFill>
                          <a:prstDash val="solid"/>
                          <a:round/>
                          <a:headEnd type="none" w="med" len="med"/>
                          <a:tailEnd type="none" w="med" len="med"/>
                        </a:lnR>
                        <a:lnT>
                          <a:noFill/>
                        </a:lnT>
                        <a:noFill/>
                      </a:tcPr>
                    </a:tc>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Long-Term Loans</a:t>
                          </a:r>
                        </a:p>
                      </a:txBody>
                      <a:tcPr>
                        <a:lnL w="12700" cap="flat" cmpd="sng" algn="ctr">
                          <a:solidFill>
                            <a:schemeClr val="tx1"/>
                          </a:solidFill>
                          <a:prstDash val="solid"/>
                          <a:round/>
                          <a:headEnd type="none" w="med" len="med"/>
                          <a:tailEnd type="none" w="med" len="med"/>
                        </a:lnL>
                        <a:lnT>
                          <a:noFill/>
                        </a:lnT>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$650</a:t>
                          </a:r>
                        </a:p>
                      </a:txBody>
                      <a:tcPr marL="0" marR="0" marT="0" marB="0" anchor="ctr">
                        <a:lnR w="12700" cap="flat" cmpd="sng" algn="ctr">
                          <a:solidFill>
                            <a:schemeClr val="tx1"/>
                          </a:solidFill>
                          <a:prstDash val="solid"/>
                          <a:round/>
                          <a:headEnd type="none" w="med" len="med"/>
                          <a:tailEnd type="none" w="med" len="med"/>
                        </a:lnR>
                        <a:lnT>
                          <a:noFill/>
                        </a:lnT>
                        <a:noFill/>
                      </a:tcPr>
                    </a:tc>
                    <a:extLst>
                      <a:ext uri="{0D108BD9-81ED-4DB2-BD59-A6C34878D82A}">
                        <a16:rowId xmlns:a16="http://schemas.microsoft.com/office/drawing/2014/main" val="312535522"/>
                      </a:ext>
                    </a:extLst>
                  </a:tr>
                  <a:tr h="335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Times New Roman" panose="02020603050405020304" pitchFamily="18" charset="0"/>
                              <a:cs typeface="Times New Roman" panose="02020603050405020304" pitchFamily="18" charset="0"/>
                            </a:rPr>
                            <a:t>             Investments</a:t>
                          </a:r>
                        </a:p>
                      </a:txBody>
                      <a:tcPr>
                        <a:lnL w="12700" cap="flat" cmpd="sng" algn="ctr">
                          <a:solidFill>
                            <a:schemeClr val="tx1"/>
                          </a:solidFill>
                          <a:prstDash val="solid"/>
                          <a:round/>
                          <a:headEnd type="none" w="med" len="med"/>
                          <a:tailEnd type="none" w="med" len="med"/>
                        </a:lnL>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$350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Times New Roman" panose="02020603050405020304" pitchFamily="18" charset="0"/>
                              <a:cs typeface="Times New Roman" panose="02020603050405020304" pitchFamily="18" charset="0"/>
                            </a:rPr>
                            <a:t>             Total Long-Term Liabilities:         </a:t>
                          </a:r>
                          <a:endParaRPr lang="en-US"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algn="ctr"/>
                          <a:r>
                            <a:rPr lang="en-US" sz="1600" b="1" i="0" dirty="0">
                              <a:latin typeface="Helvetica" pitchFamily="2" charset="0"/>
                              <a:cs typeface="Times New Roman" panose="02020603050405020304" pitchFamily="18" charset="0"/>
                            </a:rPr>
                            <a:t>$1,220</a:t>
                          </a:r>
                        </a:p>
                      </a:txBody>
                      <a:tcPr marL="0" marR="0" marT="0"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526611801"/>
                      </a:ext>
                    </a:extLst>
                  </a:tr>
                  <a:tr h="335280">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Other Fixed Assets</a:t>
                          </a:r>
                        </a:p>
                      </a:txBody>
                      <a:tcPr>
                        <a:lnL w="12700" cap="flat" cmpd="sng" algn="ctr">
                          <a:solidFill>
                            <a:schemeClr val="tx1"/>
                          </a:solidFill>
                          <a:prstDash val="solid"/>
                          <a:round/>
                          <a:headEnd type="none" w="med" len="med"/>
                          <a:tailEnd type="none" w="med" len="med"/>
                        </a:lnL>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$110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Total Liabilities:</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r"/>
                          <a:r>
                            <a:rPr lang="en-US" sz="1600" b="1" i="0" dirty="0">
                              <a:latin typeface="Helvetica" pitchFamily="2" charset="0"/>
                              <a:cs typeface="Times New Roman" panose="02020603050405020304" pitchFamily="18" charset="0"/>
                            </a:rPr>
                            <a:t>$1,928</a:t>
                          </a:r>
                        </a:p>
                      </a:txBody>
                      <a:tcPr marL="0" marR="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8168626"/>
                      </a:ext>
                    </a:extLst>
                  </a:tr>
                  <a:tr h="335280">
                    <a:tc>
                      <a:txBody>
                        <a:bodyPr/>
                        <a:lstStyle/>
                        <a:p>
                          <a:pPr algn="l"/>
                          <a:endParaRPr lang="en-US" sz="16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i="1" dirty="0">
                            <a:latin typeface="Helvetica" pitchFamily="2"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Equity:</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l"/>
                          <a:endParaRPr lang="en-US" sz="1600" i="1" dirty="0">
                            <a:latin typeface="Helvetica" pitchFamily="2"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821641090"/>
                      </a:ext>
                    </a:extLst>
                  </a:tr>
                  <a:tr h="335280">
                    <a:tc>
                      <a:txBody>
                        <a:bodyPr/>
                        <a:lstStyle/>
                        <a:p>
                          <a:pPr algn="l"/>
                          <a:endParaRPr 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i="1" dirty="0">
                            <a:latin typeface="Helvetica" pitchFamily="2"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Times New Roman" panose="02020603050405020304" pitchFamily="18" charset="0"/>
                              <a:cs typeface="Times New Roman" panose="02020603050405020304" pitchFamily="18" charset="0"/>
                            </a:rPr>
                            <a:t>                         Common stocks</a:t>
                          </a:r>
                        </a:p>
                      </a:txBody>
                      <a:tcPr>
                        <a:lnL w="12700" cap="flat" cmpd="sng" algn="ctr">
                          <a:solidFill>
                            <a:schemeClr val="tx1"/>
                          </a:solidFill>
                          <a:prstDash val="solid"/>
                          <a:round/>
                          <a:headEnd type="none" w="med" len="med"/>
                          <a:tailEnd type="none" w="med" len="med"/>
                        </a:lnL>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$600</a:t>
                          </a:r>
                        </a:p>
                      </a:txBody>
                      <a:tcPr marL="0" marR="0" marT="0"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026873622"/>
                      </a:ext>
                    </a:extLst>
                  </a:tr>
                  <a:tr h="335280">
                    <a:tc>
                      <a:txBody>
                        <a:bodyPr/>
                        <a:lstStyle/>
                        <a:p>
                          <a:pPr algn="l"/>
                          <a:r>
                            <a:rPr lang="en-US" sz="1600" b="1" dirty="0">
                              <a:solidFill>
                                <a:schemeClr val="tx1"/>
                              </a:solidFill>
                              <a:latin typeface="Times New Roman" panose="02020603050405020304" pitchFamily="18" charset="0"/>
                              <a:cs typeface="Times New Roman" panose="02020603050405020304" pitchFamily="18" charset="0"/>
                            </a:rPr>
                            <a:t>             Total </a:t>
                          </a:r>
                          <a:r>
                            <a:rPr lang="en-US" sz="1600" b="1" dirty="0">
                              <a:latin typeface="Times New Roman" panose="02020603050405020304" pitchFamily="18" charset="0"/>
                              <a:cs typeface="Times New Roman" panose="02020603050405020304" pitchFamily="18" charset="0"/>
                            </a:rPr>
                            <a:t>Fixed Assets:</a:t>
                          </a:r>
                          <a:endParaRPr lang="en-US" sz="16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dirty="0">
                              <a:latin typeface="Helvetica" pitchFamily="2" charset="0"/>
                              <a:cs typeface="Times New Roman" panose="02020603050405020304" pitchFamily="18" charset="0"/>
                            </a:rPr>
                            <a:t>$1,776</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r>
                            <a:rPr lang="en-US" sz="1600" b="0" dirty="0">
                              <a:solidFill>
                                <a:schemeClr val="tx1"/>
                              </a:solidFill>
                              <a:latin typeface="Times New Roman" panose="02020603050405020304" pitchFamily="18" charset="0"/>
                              <a:cs typeface="Times New Roman" panose="02020603050405020304" pitchFamily="18" charset="0"/>
                            </a:rPr>
                            <a:t>                            Retained Earning</a:t>
                          </a:r>
                        </a:p>
                      </a:txBody>
                      <a:tcPr>
                        <a:lnL w="12700" cap="flat" cmpd="sng" algn="ctr">
                          <a:solidFill>
                            <a:schemeClr val="tx1"/>
                          </a:solidFill>
                          <a:prstDash val="solid"/>
                          <a:round/>
                          <a:headEnd type="none" w="med" len="med"/>
                          <a:tailEnd type="none" w="med" len="med"/>
                        </a:lnL>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latin typeface="Helvetica" pitchFamily="2" charset="0"/>
                              <a:cs typeface="Times New Roman" panose="02020603050405020304" pitchFamily="18" charset="0"/>
                            </a:rPr>
                            <a:t>$214</a:t>
                          </a:r>
                        </a:p>
                      </a:txBody>
                      <a:tcPr marL="0" marR="0" marT="0"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015958496"/>
                      </a:ext>
                    </a:extLst>
                  </a:tr>
                  <a:tr h="335280">
                    <a:tc>
                      <a:txBody>
                        <a:bodyPr/>
                        <a:lstStyle/>
                        <a:p>
                          <a:pPr algn="l"/>
                          <a:endParaRPr lang="en-US" sz="16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dirty="0">
                            <a:latin typeface="Helvetica" pitchFamily="2" charset="0"/>
                            <a:cs typeface="Times New Roman" panose="02020603050405020304" pitchFamily="18" charset="0"/>
                          </a:endParaRPr>
                        </a:p>
                      </a:txBody>
                      <a:tcPr marL="0" marR="0"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sz="1600" b="1" dirty="0">
                              <a:latin typeface="Times New Roman" panose="02020603050405020304" pitchFamily="18" charset="0"/>
                              <a:cs typeface="Times New Roman" panose="02020603050405020304" pitchFamily="18" charset="0"/>
                            </a:rPr>
                            <a:t>Total Equity:</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r"/>
                          <a:r>
                            <a:rPr lang="en-US" sz="1600" b="1" i="0" dirty="0">
                              <a:latin typeface="Helvetica" pitchFamily="2" charset="0"/>
                              <a:cs typeface="Times New Roman" panose="02020603050405020304" pitchFamily="18" charset="0"/>
                            </a:rPr>
                            <a:t>$814</a:t>
                          </a:r>
                        </a:p>
                      </a:txBody>
                      <a:tcPr marL="0" marR="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933207"/>
                      </a:ext>
                    </a:extLst>
                  </a:tr>
                  <a:tr h="356382">
                    <a:tc>
                      <a:txBody>
                        <a:bodyPr/>
                        <a:lstStyle/>
                        <a:p>
                          <a:r>
                            <a:rPr lang="en-US" sz="1600" b="1" dirty="0">
                              <a:latin typeface="Times New Roman" panose="02020603050405020304" pitchFamily="18" charset="0"/>
                              <a:cs typeface="Times New Roman" panose="02020603050405020304" pitchFamily="18" charset="0"/>
                            </a:rPr>
                            <a:t>Total Assets</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EB98"/>
                        </a:solidFill>
                      </a:tcPr>
                    </a:tc>
                    <a:tc>
                      <a:txBody>
                        <a:bodyPr/>
                        <a:lstStyle/>
                        <a:p>
                          <a:pPr algn="r"/>
                          <a:r>
                            <a:rPr lang="en-US" sz="1600" b="1" i="0" dirty="0">
                              <a:latin typeface="Helvetica" pitchFamily="2" charset="0"/>
                              <a:cs typeface="Times New Roman" panose="02020603050405020304" pitchFamily="18" charset="0"/>
                            </a:rPr>
                            <a:t>$2,742</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EB98"/>
                        </a:solidFill>
                      </a:tcPr>
                    </a:tc>
                    <a:tc>
                      <a:txBody>
                        <a:bodyPr/>
                        <a:lstStyle/>
                        <a:p>
                          <a:r>
                            <a:rPr lang="en-US" sz="1600" b="1" dirty="0">
                              <a:latin typeface="Times New Roman" panose="02020603050405020304" pitchFamily="18" charset="0"/>
                              <a:cs typeface="Times New Roman" panose="02020603050405020304" pitchFamily="18" charset="0"/>
                            </a:rPr>
                            <a:t>Total Liabilities and Equity</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EB98"/>
                        </a:solidFill>
                      </a:tcPr>
                    </a:tc>
                    <a:tc>
                      <a:txBody>
                        <a:bodyPr/>
                        <a:lstStyle/>
                        <a:p>
                          <a:pPr algn="r"/>
                          <a:r>
                            <a:rPr lang="en-US" sz="1600" b="1" i="0" dirty="0">
                              <a:latin typeface="Helvetica" pitchFamily="2" charset="0"/>
                              <a:cs typeface="Times New Roman" panose="02020603050405020304" pitchFamily="18" charset="0"/>
                            </a:rPr>
                            <a:t>$2,742</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EB98"/>
                        </a:solidFill>
                      </a:tcPr>
                    </a:tc>
                    <a:extLst>
                      <a:ext uri="{0D108BD9-81ED-4DB2-BD59-A6C34878D82A}">
                        <a16:rowId xmlns:a16="http://schemas.microsoft.com/office/drawing/2014/main" val="1487100812"/>
                      </a:ext>
                    </a:extLst>
                  </a:tr>
                </a:tbl>
              </a:graphicData>
            </a:graphic>
          </p:graphicFrame>
        </mc:Fallback>
      </mc:AlternateContent>
      <p:sp>
        <p:nvSpPr>
          <p:cNvPr id="4" name="Rectangle 3">
            <a:extLst>
              <a:ext uri="{FF2B5EF4-FFF2-40B4-BE49-F238E27FC236}">
                <a16:creationId xmlns:a16="http://schemas.microsoft.com/office/drawing/2014/main" id="{2AF4A5B0-8B3A-35CE-EBFD-68048776FB38}"/>
              </a:ext>
            </a:extLst>
          </p:cNvPr>
          <p:cNvSpPr/>
          <p:nvPr/>
        </p:nvSpPr>
        <p:spPr>
          <a:xfrm>
            <a:off x="613457" y="914400"/>
            <a:ext cx="5357761" cy="2341755"/>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5489C5A-CBF0-36FB-D69B-9DE15EAD89A5}"/>
              </a:ext>
            </a:extLst>
          </p:cNvPr>
          <p:cNvSpPr/>
          <p:nvPr/>
        </p:nvSpPr>
        <p:spPr>
          <a:xfrm>
            <a:off x="6232358" y="914400"/>
            <a:ext cx="5299886" cy="2341755"/>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682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6D13B-1507-53F8-5A87-6E54A2937B8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64889DD-AEAE-BDD1-5A8F-F609EB976DB2}"/>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D6C4C6-9A17-44DF-A400-D728963F0581}"/>
              </a:ext>
            </a:extLst>
          </p:cNvPr>
          <p:cNvSpPr>
            <a:spLocks noGrp="1"/>
          </p:cNvSpPr>
          <p:nvPr>
            <p:ph type="title"/>
          </p:nvPr>
        </p:nvSpPr>
        <p:spPr>
          <a:xfrm>
            <a:off x="419559" y="192063"/>
            <a:ext cx="10515600" cy="982663"/>
          </a:xfrm>
        </p:spPr>
        <p:txBody>
          <a:bodyPr>
            <a:normAutofit/>
          </a:bodyPr>
          <a:lstStyle/>
          <a:p>
            <a:r>
              <a:rPr lang="en-US" b="1" dirty="0">
                <a:solidFill>
                  <a:schemeClr val="bg1"/>
                </a:solidFill>
                <a:latin typeface="Helvetica" pitchFamily="2" charset="0"/>
              </a:rPr>
              <a:t>1-1.Current Ratio</a:t>
            </a:r>
          </a:p>
        </p:txBody>
      </p:sp>
      <p:grpSp>
        <p:nvGrpSpPr>
          <p:cNvPr id="18" name="Group 17">
            <a:extLst>
              <a:ext uri="{FF2B5EF4-FFF2-40B4-BE49-F238E27FC236}">
                <a16:creationId xmlns:a16="http://schemas.microsoft.com/office/drawing/2014/main" id="{080C6355-7EEC-5A98-E9D0-E4E579150BAF}"/>
              </a:ext>
            </a:extLst>
          </p:cNvPr>
          <p:cNvGrpSpPr/>
          <p:nvPr/>
        </p:nvGrpSpPr>
        <p:grpSpPr>
          <a:xfrm>
            <a:off x="3531224" y="1453351"/>
            <a:ext cx="5129551" cy="966497"/>
            <a:chOff x="2608653" y="3063094"/>
            <a:chExt cx="5129551" cy="966497"/>
          </a:xfrm>
        </p:grpSpPr>
        <p:sp>
          <p:nvSpPr>
            <p:cNvPr id="10" name="TextBox 9">
              <a:extLst>
                <a:ext uri="{FF2B5EF4-FFF2-40B4-BE49-F238E27FC236}">
                  <a16:creationId xmlns:a16="http://schemas.microsoft.com/office/drawing/2014/main" id="{402CE04C-3E46-3E4E-82C5-CE776DD354AF}"/>
                </a:ext>
              </a:extLst>
            </p:cNvPr>
            <p:cNvSpPr txBox="1">
              <a:spLocks/>
            </p:cNvSpPr>
            <p:nvPr/>
          </p:nvSpPr>
          <p:spPr>
            <a:xfrm>
              <a:off x="2608653" y="3321853"/>
              <a:ext cx="2151551" cy="461665"/>
            </a:xfrm>
            <a:prstGeom prst="rect">
              <a:avLst/>
            </a:prstGeom>
            <a:noFill/>
          </p:spPr>
          <p:txBody>
            <a:bodyPr wrap="none" rtlCol="0">
              <a:spAutoFit/>
            </a:bodyPr>
            <a:lstStyle/>
            <a:p>
              <a:pPr algn="ctr"/>
              <a:r>
                <a:rPr lang="en-US" sz="2400" b="1" dirty="0">
                  <a:solidFill>
                    <a:srgbClr val="C00000"/>
                  </a:solidFill>
                  <a:latin typeface="Helvetica" pitchFamily="2" charset="0"/>
                </a:rPr>
                <a:t>Current Ratio</a:t>
              </a:r>
              <a:endParaRPr lang="en-US" sz="2400" b="1" dirty="0">
                <a:solidFill>
                  <a:srgbClr val="C00000"/>
                </a:solidFill>
              </a:endParaRPr>
            </a:p>
          </p:txBody>
        </p:sp>
        <p:sp>
          <p:nvSpPr>
            <p:cNvPr id="11" name="TextBox 10">
              <a:extLst>
                <a:ext uri="{FF2B5EF4-FFF2-40B4-BE49-F238E27FC236}">
                  <a16:creationId xmlns:a16="http://schemas.microsoft.com/office/drawing/2014/main" id="{4B2716B0-4DFF-8B56-7D82-511C9ABCBF84}"/>
                </a:ext>
              </a:extLst>
            </p:cNvPr>
            <p:cNvSpPr txBox="1"/>
            <p:nvPr/>
          </p:nvSpPr>
          <p:spPr>
            <a:xfrm>
              <a:off x="4736807"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12" name="TextBox 11">
              <a:extLst>
                <a:ext uri="{FF2B5EF4-FFF2-40B4-BE49-F238E27FC236}">
                  <a16:creationId xmlns:a16="http://schemas.microsoft.com/office/drawing/2014/main" id="{C30C2EA4-6510-382A-9374-1BB0F03A05F1}"/>
                </a:ext>
              </a:extLst>
            </p:cNvPr>
            <p:cNvSpPr txBox="1">
              <a:spLocks/>
            </p:cNvSpPr>
            <p:nvPr/>
          </p:nvSpPr>
          <p:spPr>
            <a:xfrm>
              <a:off x="5252778" y="3063094"/>
              <a:ext cx="2277739" cy="461665"/>
            </a:xfrm>
            <a:prstGeom prst="rect">
              <a:avLst/>
            </a:prstGeom>
            <a:noFill/>
          </p:spPr>
          <p:txBody>
            <a:bodyPr wrap="none" rtlCol="0">
              <a:spAutoFit/>
            </a:bodyPr>
            <a:lstStyle/>
            <a:p>
              <a:pPr algn="ctr"/>
              <a:r>
                <a:rPr lang="en-US" sz="2400" b="1" dirty="0">
                  <a:solidFill>
                    <a:srgbClr val="C00000"/>
                  </a:solidFill>
                </a:rPr>
                <a:t>Current Assets</a:t>
              </a:r>
            </a:p>
          </p:txBody>
        </p:sp>
        <p:sp>
          <p:nvSpPr>
            <p:cNvPr id="13" name="TextBox 12">
              <a:extLst>
                <a:ext uri="{FF2B5EF4-FFF2-40B4-BE49-F238E27FC236}">
                  <a16:creationId xmlns:a16="http://schemas.microsoft.com/office/drawing/2014/main" id="{B559B041-B319-7EE6-DB65-DA70AD8B00DD}"/>
                </a:ext>
              </a:extLst>
            </p:cNvPr>
            <p:cNvSpPr txBox="1">
              <a:spLocks/>
            </p:cNvSpPr>
            <p:nvPr/>
          </p:nvSpPr>
          <p:spPr>
            <a:xfrm>
              <a:off x="5045094" y="3567926"/>
              <a:ext cx="2693110" cy="461665"/>
            </a:xfrm>
            <a:prstGeom prst="rect">
              <a:avLst/>
            </a:prstGeom>
            <a:noFill/>
          </p:spPr>
          <p:txBody>
            <a:bodyPr wrap="none" rtlCol="0">
              <a:spAutoFit/>
            </a:bodyPr>
            <a:lstStyle/>
            <a:p>
              <a:pPr algn="ctr"/>
              <a:r>
                <a:rPr lang="en-US" sz="2400" b="1" dirty="0">
                  <a:solidFill>
                    <a:srgbClr val="C00000"/>
                  </a:solidFill>
                </a:rPr>
                <a:t>Current Liabilities</a:t>
              </a:r>
            </a:p>
          </p:txBody>
        </p:sp>
        <p:cxnSp>
          <p:nvCxnSpPr>
            <p:cNvPr id="15" name="Straight Connector 14">
              <a:extLst>
                <a:ext uri="{FF2B5EF4-FFF2-40B4-BE49-F238E27FC236}">
                  <a16:creationId xmlns:a16="http://schemas.microsoft.com/office/drawing/2014/main" id="{AF5261D5-9184-A3DD-EDD0-D900B264F6F9}"/>
                </a:ext>
              </a:extLst>
            </p:cNvPr>
            <p:cNvCxnSpPr>
              <a:cxnSpLocks/>
            </p:cNvCxnSpPr>
            <p:nvPr/>
          </p:nvCxnSpPr>
          <p:spPr>
            <a:xfrm>
              <a:off x="5177844" y="3546159"/>
              <a:ext cx="2427609"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9" name="TextBox 18">
            <a:extLst>
              <a:ext uri="{FF2B5EF4-FFF2-40B4-BE49-F238E27FC236}">
                <a16:creationId xmlns:a16="http://schemas.microsoft.com/office/drawing/2014/main" id="{C056FF45-F88A-6F14-4496-DC302CA986BA}"/>
              </a:ext>
            </a:extLst>
          </p:cNvPr>
          <p:cNvSpPr txBox="1"/>
          <p:nvPr/>
        </p:nvSpPr>
        <p:spPr>
          <a:xfrm>
            <a:off x="419559" y="2524785"/>
            <a:ext cx="10100265" cy="461665"/>
          </a:xfrm>
          <a:prstGeom prst="rect">
            <a:avLst/>
          </a:prstGeom>
          <a:noFill/>
        </p:spPr>
        <p:txBody>
          <a:bodyPr wrap="none" rtlCol="0">
            <a:spAutoFit/>
          </a:bodyPr>
          <a:lstStyle/>
          <a:p>
            <a:pPr marL="285750" indent="-285750">
              <a:buFont typeface="Arial" panose="020B0604020202020204" pitchFamily="34" charset="0"/>
              <a:buChar char="•"/>
            </a:pPr>
            <a:r>
              <a:rPr lang="en-US" sz="2400" dirty="0">
                <a:latin typeface="Helvetica" pitchFamily="2" charset="0"/>
                <a:cs typeface="Times New Roman" panose="02020603050405020304" pitchFamily="18" charset="0"/>
              </a:rPr>
              <a:t>The firm’s ability to cover short-term obligations with short-term assets.</a:t>
            </a:r>
          </a:p>
        </p:txBody>
      </p:sp>
      <p:grpSp>
        <p:nvGrpSpPr>
          <p:cNvPr id="29" name="Group 28">
            <a:extLst>
              <a:ext uri="{FF2B5EF4-FFF2-40B4-BE49-F238E27FC236}">
                <a16:creationId xmlns:a16="http://schemas.microsoft.com/office/drawing/2014/main" id="{69EB218C-8368-87BD-5970-56CFBEE8C53C}"/>
              </a:ext>
            </a:extLst>
          </p:cNvPr>
          <p:cNvGrpSpPr/>
          <p:nvPr/>
        </p:nvGrpSpPr>
        <p:grpSpPr>
          <a:xfrm>
            <a:off x="1348150" y="3166792"/>
            <a:ext cx="6664278" cy="904942"/>
            <a:chOff x="1084081" y="3063094"/>
            <a:chExt cx="6553100" cy="904942"/>
          </a:xfrm>
        </p:grpSpPr>
        <p:sp>
          <p:nvSpPr>
            <p:cNvPr id="30" name="TextBox 29">
              <a:extLst>
                <a:ext uri="{FF2B5EF4-FFF2-40B4-BE49-F238E27FC236}">
                  <a16:creationId xmlns:a16="http://schemas.microsoft.com/office/drawing/2014/main" id="{F341E592-1BEE-D2DA-2098-39EFEEA1B2D9}"/>
                </a:ext>
              </a:extLst>
            </p:cNvPr>
            <p:cNvSpPr txBox="1">
              <a:spLocks/>
            </p:cNvSpPr>
            <p:nvPr/>
          </p:nvSpPr>
          <p:spPr>
            <a:xfrm>
              <a:off x="1084081" y="3330715"/>
              <a:ext cx="3652726" cy="400110"/>
            </a:xfrm>
            <a:prstGeom prst="rect">
              <a:avLst/>
            </a:prstGeom>
            <a:noFill/>
          </p:spPr>
          <p:txBody>
            <a:bodyPr wrap="square" rtlCol="0">
              <a:spAutoFit/>
            </a:bodyPr>
            <a:lstStyle/>
            <a:p>
              <a:r>
                <a:rPr lang="en-US" sz="2000" b="1" dirty="0">
                  <a:latin typeface="Helvetica" pitchFamily="2" charset="0"/>
                </a:rPr>
                <a:t>Current Ratio</a:t>
              </a:r>
              <a:r>
                <a:rPr lang="en-US" sz="2000" b="1" dirty="0"/>
                <a:t> </a:t>
              </a:r>
              <a:r>
                <a:rPr lang="en-US" sz="2000" b="1" dirty="0">
                  <a:latin typeface="Helvetica" pitchFamily="2" charset="0"/>
                </a:rPr>
                <a:t>of XYZ for 2024</a:t>
              </a:r>
            </a:p>
          </p:txBody>
        </p:sp>
        <p:sp>
          <p:nvSpPr>
            <p:cNvPr id="31" name="TextBox 30">
              <a:extLst>
                <a:ext uri="{FF2B5EF4-FFF2-40B4-BE49-F238E27FC236}">
                  <a16:creationId xmlns:a16="http://schemas.microsoft.com/office/drawing/2014/main" id="{1DF4FE25-B4CA-AD6D-A783-AC2E160066BA}"/>
                </a:ext>
              </a:extLst>
            </p:cNvPr>
            <p:cNvSpPr txBox="1"/>
            <p:nvPr/>
          </p:nvSpPr>
          <p:spPr>
            <a:xfrm>
              <a:off x="4736807" y="3321852"/>
              <a:ext cx="297455" cy="400110"/>
            </a:xfrm>
            <a:prstGeom prst="rect">
              <a:avLst/>
            </a:prstGeom>
            <a:noFill/>
          </p:spPr>
          <p:txBody>
            <a:bodyPr wrap="square" rtlCol="0">
              <a:spAutoFit/>
            </a:bodyPr>
            <a:lstStyle/>
            <a:p>
              <a:r>
                <a:rPr lang="en-US" sz="2000" b="1" dirty="0"/>
                <a:t>=</a:t>
              </a:r>
            </a:p>
          </p:txBody>
        </p:sp>
        <p:sp>
          <p:nvSpPr>
            <p:cNvPr id="32" name="TextBox 31">
              <a:extLst>
                <a:ext uri="{FF2B5EF4-FFF2-40B4-BE49-F238E27FC236}">
                  <a16:creationId xmlns:a16="http://schemas.microsoft.com/office/drawing/2014/main" id="{4EBE90BE-4B28-5BBB-A4CD-11E29E1B2382}"/>
                </a:ext>
              </a:extLst>
            </p:cNvPr>
            <p:cNvSpPr txBox="1">
              <a:spLocks/>
            </p:cNvSpPr>
            <p:nvPr/>
          </p:nvSpPr>
          <p:spPr>
            <a:xfrm>
              <a:off x="5335774" y="3063094"/>
              <a:ext cx="2111747" cy="400110"/>
            </a:xfrm>
            <a:prstGeom prst="rect">
              <a:avLst/>
            </a:prstGeom>
            <a:noFill/>
          </p:spPr>
          <p:txBody>
            <a:bodyPr wrap="none" rtlCol="0">
              <a:spAutoFit/>
            </a:bodyPr>
            <a:lstStyle/>
            <a:p>
              <a:pPr algn="ctr"/>
              <a:r>
                <a:rPr lang="en-US" sz="2000" b="1" dirty="0"/>
                <a:t>Current Assets</a:t>
              </a:r>
            </a:p>
          </p:txBody>
        </p:sp>
        <p:sp>
          <p:nvSpPr>
            <p:cNvPr id="33" name="TextBox 32">
              <a:extLst>
                <a:ext uri="{FF2B5EF4-FFF2-40B4-BE49-F238E27FC236}">
                  <a16:creationId xmlns:a16="http://schemas.microsoft.com/office/drawing/2014/main" id="{2366A214-9D5E-0717-92B6-06E7C6E936B4}"/>
                </a:ext>
              </a:extLst>
            </p:cNvPr>
            <p:cNvSpPr txBox="1">
              <a:spLocks/>
            </p:cNvSpPr>
            <p:nvPr/>
          </p:nvSpPr>
          <p:spPr>
            <a:xfrm>
              <a:off x="5146114" y="3567926"/>
              <a:ext cx="2491067" cy="400110"/>
            </a:xfrm>
            <a:prstGeom prst="rect">
              <a:avLst/>
            </a:prstGeom>
            <a:noFill/>
          </p:spPr>
          <p:txBody>
            <a:bodyPr wrap="none" rtlCol="0">
              <a:spAutoFit/>
            </a:bodyPr>
            <a:lstStyle/>
            <a:p>
              <a:pPr algn="ctr"/>
              <a:r>
                <a:rPr lang="en-US" sz="2000" b="1" dirty="0"/>
                <a:t>Current Liabilities</a:t>
              </a:r>
            </a:p>
          </p:txBody>
        </p:sp>
        <p:cxnSp>
          <p:nvCxnSpPr>
            <p:cNvPr id="34" name="Straight Connector 33">
              <a:extLst>
                <a:ext uri="{FF2B5EF4-FFF2-40B4-BE49-F238E27FC236}">
                  <a16:creationId xmlns:a16="http://schemas.microsoft.com/office/drawing/2014/main" id="{2FD2AECE-9DC7-CFFD-ED35-DBBA229CF76E}"/>
                </a:ext>
              </a:extLst>
            </p:cNvPr>
            <p:cNvCxnSpPr>
              <a:cxnSpLocks/>
            </p:cNvCxnSpPr>
            <p:nvPr/>
          </p:nvCxnSpPr>
          <p:spPr>
            <a:xfrm>
              <a:off x="5177844" y="3546159"/>
              <a:ext cx="2427609"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5" name="TextBox 34">
            <a:extLst>
              <a:ext uri="{FF2B5EF4-FFF2-40B4-BE49-F238E27FC236}">
                <a16:creationId xmlns:a16="http://schemas.microsoft.com/office/drawing/2014/main" id="{36528906-CC61-F4F8-84B7-EDE608AF7957}"/>
              </a:ext>
            </a:extLst>
          </p:cNvPr>
          <p:cNvSpPr txBox="1"/>
          <p:nvPr/>
        </p:nvSpPr>
        <p:spPr>
          <a:xfrm>
            <a:off x="8028671" y="3419023"/>
            <a:ext cx="297455" cy="461665"/>
          </a:xfrm>
          <a:prstGeom prst="rect">
            <a:avLst/>
          </a:prstGeom>
          <a:noFill/>
        </p:spPr>
        <p:txBody>
          <a:bodyPr wrap="square" rtlCol="0">
            <a:spAutoFit/>
          </a:bodyPr>
          <a:lstStyle/>
          <a:p>
            <a:r>
              <a:rPr lang="en-US" sz="2400" b="1" dirty="0"/>
              <a:t>=</a:t>
            </a:r>
          </a:p>
        </p:txBody>
      </p:sp>
      <p:sp>
        <p:nvSpPr>
          <p:cNvPr id="36" name="TextBox 35">
            <a:extLst>
              <a:ext uri="{FF2B5EF4-FFF2-40B4-BE49-F238E27FC236}">
                <a16:creationId xmlns:a16="http://schemas.microsoft.com/office/drawing/2014/main" id="{55F4D27F-5921-225C-0F78-4FA05EFAEDD8}"/>
              </a:ext>
            </a:extLst>
          </p:cNvPr>
          <p:cNvSpPr txBox="1">
            <a:spLocks/>
          </p:cNvSpPr>
          <p:nvPr/>
        </p:nvSpPr>
        <p:spPr>
          <a:xfrm>
            <a:off x="8536490" y="3210106"/>
            <a:ext cx="636713" cy="430887"/>
          </a:xfrm>
          <a:prstGeom prst="rect">
            <a:avLst/>
          </a:prstGeom>
          <a:noFill/>
        </p:spPr>
        <p:txBody>
          <a:bodyPr wrap="none" rtlCol="0">
            <a:spAutoFit/>
          </a:bodyPr>
          <a:lstStyle/>
          <a:p>
            <a:pPr algn="ctr"/>
            <a:r>
              <a:rPr lang="en-US" sz="2200" b="1" dirty="0">
                <a:solidFill>
                  <a:srgbClr val="C00000"/>
                </a:solidFill>
              </a:rPr>
              <a:t>966</a:t>
            </a:r>
          </a:p>
        </p:txBody>
      </p:sp>
      <p:sp>
        <p:nvSpPr>
          <p:cNvPr id="37" name="TextBox 36">
            <a:extLst>
              <a:ext uri="{FF2B5EF4-FFF2-40B4-BE49-F238E27FC236}">
                <a16:creationId xmlns:a16="http://schemas.microsoft.com/office/drawing/2014/main" id="{F8ECEFB1-F5EC-CE6D-5B8D-A1FC0F0B87B0}"/>
              </a:ext>
            </a:extLst>
          </p:cNvPr>
          <p:cNvSpPr txBox="1">
            <a:spLocks/>
          </p:cNvSpPr>
          <p:nvPr/>
        </p:nvSpPr>
        <p:spPr>
          <a:xfrm>
            <a:off x="8531099" y="3649855"/>
            <a:ext cx="636713" cy="430887"/>
          </a:xfrm>
          <a:prstGeom prst="rect">
            <a:avLst/>
          </a:prstGeom>
          <a:noFill/>
        </p:spPr>
        <p:txBody>
          <a:bodyPr wrap="none" rtlCol="0">
            <a:spAutoFit/>
          </a:bodyPr>
          <a:lstStyle/>
          <a:p>
            <a:pPr algn="ctr"/>
            <a:r>
              <a:rPr lang="en-US" sz="2200" b="1" dirty="0">
                <a:solidFill>
                  <a:srgbClr val="C00000"/>
                </a:solidFill>
              </a:rPr>
              <a:t>708</a:t>
            </a:r>
          </a:p>
        </p:txBody>
      </p:sp>
      <p:cxnSp>
        <p:nvCxnSpPr>
          <p:cNvPr id="38" name="Straight Connector 37">
            <a:extLst>
              <a:ext uri="{FF2B5EF4-FFF2-40B4-BE49-F238E27FC236}">
                <a16:creationId xmlns:a16="http://schemas.microsoft.com/office/drawing/2014/main" id="{601B44DC-FE1F-E7E9-1D10-4E368DFC704A}"/>
              </a:ext>
            </a:extLst>
          </p:cNvPr>
          <p:cNvCxnSpPr>
            <a:cxnSpLocks/>
          </p:cNvCxnSpPr>
          <p:nvPr/>
        </p:nvCxnSpPr>
        <p:spPr>
          <a:xfrm>
            <a:off x="8401733" y="3649857"/>
            <a:ext cx="895447"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D8FDBA1-C54F-D907-1178-5ABE659A43DF}"/>
                  </a:ext>
                </a:extLst>
              </p:cNvPr>
              <p:cNvSpPr txBox="1"/>
              <p:nvPr/>
            </p:nvSpPr>
            <p:spPr>
              <a:xfrm>
                <a:off x="9313229" y="3440791"/>
                <a:ext cx="29745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a:solidFill>
                            <a:schemeClr val="accent6">
                              <a:lumMod val="50000"/>
                            </a:schemeClr>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2400" b="1" dirty="0">
                  <a:solidFill>
                    <a:srgbClr val="C00000"/>
                  </a:solidFill>
                </a:endParaRPr>
              </a:p>
            </p:txBody>
          </p:sp>
        </mc:Choice>
        <mc:Fallback xmlns="">
          <p:sp>
            <p:nvSpPr>
              <p:cNvPr id="40" name="TextBox 39">
                <a:extLst>
                  <a:ext uri="{FF2B5EF4-FFF2-40B4-BE49-F238E27FC236}">
                    <a16:creationId xmlns:a16="http://schemas.microsoft.com/office/drawing/2014/main" id="{DD8FDBA1-C54F-D907-1178-5ABE659A43DF}"/>
                  </a:ext>
                </a:extLst>
              </p:cNvPr>
              <p:cNvSpPr txBox="1">
                <a:spLocks noRot="1" noChangeAspect="1" noMove="1" noResize="1" noEditPoints="1" noAdjustHandles="1" noChangeArrowheads="1" noChangeShapeType="1" noTextEdit="1"/>
              </p:cNvSpPr>
              <p:nvPr/>
            </p:nvSpPr>
            <p:spPr>
              <a:xfrm>
                <a:off x="9313229" y="3440791"/>
                <a:ext cx="297455" cy="461665"/>
              </a:xfrm>
              <a:prstGeom prst="rect">
                <a:avLst/>
              </a:prstGeom>
              <a:blipFill>
                <a:blip r:embed="rId2"/>
                <a:stretch>
                  <a:fillRect r="-29167"/>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A297C77E-9D59-AB7C-1DBD-D71F688F14BD}"/>
              </a:ext>
            </a:extLst>
          </p:cNvPr>
          <p:cNvSpPr txBox="1"/>
          <p:nvPr/>
        </p:nvSpPr>
        <p:spPr>
          <a:xfrm>
            <a:off x="9661902" y="3441743"/>
            <a:ext cx="734496" cy="430887"/>
          </a:xfrm>
          <a:prstGeom prst="rect">
            <a:avLst/>
          </a:prstGeom>
          <a:noFill/>
        </p:spPr>
        <p:txBody>
          <a:bodyPr wrap="none" rtlCol="0">
            <a:spAutoFit/>
          </a:bodyPr>
          <a:lstStyle/>
          <a:p>
            <a:r>
              <a:rPr lang="en-US" sz="2200" b="1" dirty="0">
                <a:solidFill>
                  <a:srgbClr val="C00000"/>
                </a:solidFill>
                <a:latin typeface="Helvetica" pitchFamily="2" charset="0"/>
              </a:rPr>
              <a:t>1.36</a:t>
            </a:r>
          </a:p>
        </p:txBody>
      </p:sp>
      <p:sp>
        <p:nvSpPr>
          <p:cNvPr id="42" name="TextBox 41">
            <a:extLst>
              <a:ext uri="{FF2B5EF4-FFF2-40B4-BE49-F238E27FC236}">
                <a16:creationId xmlns:a16="http://schemas.microsoft.com/office/drawing/2014/main" id="{0C2D1B1E-CABF-FF18-E802-EAA10731B998}"/>
              </a:ext>
            </a:extLst>
          </p:cNvPr>
          <p:cNvSpPr txBox="1"/>
          <p:nvPr/>
        </p:nvSpPr>
        <p:spPr>
          <a:xfrm>
            <a:off x="269631" y="4101789"/>
            <a:ext cx="11605846" cy="2400657"/>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A current ratio of 1.36 means that:</a:t>
            </a:r>
          </a:p>
          <a:p>
            <a:pPr marL="800100" lvl="1" indent="-34290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The company has $1.36 in current assets for every $1 in current liabilities. </a:t>
            </a:r>
          </a:p>
          <a:p>
            <a:pPr marL="342900" indent="-34290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Does it mean the company is in a strong or weak position? </a:t>
            </a:r>
          </a:p>
          <a:p>
            <a:pPr marL="800100" lvl="1" indent="-34290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A single ratio doesn’t tell the whole story. Always compare it to:</a:t>
            </a:r>
          </a:p>
          <a:p>
            <a:pPr marL="1257300" lvl="2" indent="-34290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Peers, Industry benchmarks, and Historical trends for the same company</a:t>
            </a:r>
          </a:p>
        </p:txBody>
      </p:sp>
    </p:spTree>
    <p:extLst>
      <p:ext uri="{BB962C8B-B14F-4D97-AF65-F5344CB8AC3E}">
        <p14:creationId xmlns:p14="http://schemas.microsoft.com/office/powerpoint/2010/main" val="2367757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40" grpId="0"/>
      <p:bldP spid="41" grpId="0"/>
      <p:bldP spid="4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80666-AA61-53F4-64A9-949DE423F0D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58E72DB-FAA9-E8A6-4CA5-3F1608EF119B}"/>
              </a:ext>
            </a:extLst>
          </p:cNvPr>
          <p:cNvSpPr/>
          <p:nvPr/>
        </p:nvSpPr>
        <p:spPr>
          <a:xfrm>
            <a:off x="0" y="-2"/>
            <a:ext cx="12192000" cy="107852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EB68C4-C4D7-92FB-25AA-2451BE10118A}"/>
              </a:ext>
            </a:extLst>
          </p:cNvPr>
          <p:cNvSpPr>
            <a:spLocks noGrp="1"/>
          </p:cNvSpPr>
          <p:nvPr>
            <p:ph type="title"/>
          </p:nvPr>
        </p:nvSpPr>
        <p:spPr>
          <a:xfrm>
            <a:off x="419559" y="86556"/>
            <a:ext cx="10515600" cy="982663"/>
          </a:xfrm>
        </p:spPr>
        <p:txBody>
          <a:bodyPr>
            <a:normAutofit/>
          </a:bodyPr>
          <a:lstStyle/>
          <a:p>
            <a:r>
              <a:rPr lang="en-US" b="1" dirty="0">
                <a:solidFill>
                  <a:schemeClr val="bg1"/>
                </a:solidFill>
                <a:latin typeface="Helvetica" pitchFamily="2" charset="0"/>
              </a:rPr>
              <a:t>1-1.Current Ratio</a:t>
            </a:r>
          </a:p>
        </p:txBody>
      </p:sp>
      <p:sp>
        <p:nvSpPr>
          <p:cNvPr id="3" name="TextBox 2">
            <a:extLst>
              <a:ext uri="{FF2B5EF4-FFF2-40B4-BE49-F238E27FC236}">
                <a16:creationId xmlns:a16="http://schemas.microsoft.com/office/drawing/2014/main" id="{6AB21271-5664-53F1-FD2E-55594FEC986E}"/>
              </a:ext>
            </a:extLst>
          </p:cNvPr>
          <p:cNvSpPr txBox="1"/>
          <p:nvPr/>
        </p:nvSpPr>
        <p:spPr>
          <a:xfrm>
            <a:off x="356318" y="1758149"/>
            <a:ext cx="11730174" cy="1200329"/>
          </a:xfrm>
          <a:prstGeom prst="rect">
            <a:avLst/>
          </a:prstGeom>
          <a:noFill/>
        </p:spPr>
        <p:txBody>
          <a:bodyPr wrap="square" rtlCol="0">
            <a:spAutoFit/>
          </a:bodyPr>
          <a:lstStyle/>
          <a:p>
            <a:pPr>
              <a:spcBef>
                <a:spcPts val="600"/>
              </a:spcBef>
              <a:spcAft>
                <a:spcPts val="600"/>
              </a:spcAft>
            </a:pPr>
            <a:r>
              <a:rPr lang="en-US" sz="2400" dirty="0">
                <a:latin typeface="Helvetica" pitchFamily="2" charset="0"/>
              </a:rPr>
              <a:t>The table below shows XYZ's current assets and current liabilities from 2020 to 2024. First, calculate the current ratio for each year. Then, compare these ratios to the industry average current ratio to assess XYZ's liquidity position over time.</a:t>
            </a:r>
          </a:p>
        </p:txBody>
      </p:sp>
      <p:graphicFrame>
        <p:nvGraphicFramePr>
          <p:cNvPr id="4" name="Table 3">
            <a:extLst>
              <a:ext uri="{FF2B5EF4-FFF2-40B4-BE49-F238E27FC236}">
                <a16:creationId xmlns:a16="http://schemas.microsoft.com/office/drawing/2014/main" id="{0CE8B394-D9AC-CEAF-9DCB-17F2DF85E202}"/>
              </a:ext>
            </a:extLst>
          </p:cNvPr>
          <p:cNvGraphicFramePr>
            <a:graphicFrameLocks noGrp="1"/>
          </p:cNvGraphicFramePr>
          <p:nvPr>
            <p:extLst>
              <p:ext uri="{D42A27DB-BD31-4B8C-83A1-F6EECF244321}">
                <p14:modId xmlns:p14="http://schemas.microsoft.com/office/powerpoint/2010/main" val="4279357477"/>
              </p:ext>
            </p:extLst>
          </p:nvPr>
        </p:nvGraphicFramePr>
        <p:xfrm>
          <a:off x="1043354" y="3200459"/>
          <a:ext cx="10058400" cy="2707973"/>
        </p:xfrm>
        <a:graphic>
          <a:graphicData uri="http://schemas.openxmlformats.org/drawingml/2006/table">
            <a:tbl>
              <a:tblPr firstRow="1" bandRow="1">
                <a:tableStyleId>{5A111915-BE36-4E01-A7E5-04B1672EAD32}</a:tableStyleId>
              </a:tblPr>
              <a:tblGrid>
                <a:gridCol w="2628900">
                  <a:extLst>
                    <a:ext uri="{9D8B030D-6E8A-4147-A177-3AD203B41FA5}">
                      <a16:colId xmlns:a16="http://schemas.microsoft.com/office/drawing/2014/main" val="46814968"/>
                    </a:ext>
                  </a:extLst>
                </a:gridCol>
                <a:gridCol w="1485900">
                  <a:extLst>
                    <a:ext uri="{9D8B030D-6E8A-4147-A177-3AD203B41FA5}">
                      <a16:colId xmlns:a16="http://schemas.microsoft.com/office/drawing/2014/main" val="149294256"/>
                    </a:ext>
                  </a:extLst>
                </a:gridCol>
                <a:gridCol w="1485900">
                  <a:extLst>
                    <a:ext uri="{9D8B030D-6E8A-4147-A177-3AD203B41FA5}">
                      <a16:colId xmlns:a16="http://schemas.microsoft.com/office/drawing/2014/main" val="1993044111"/>
                    </a:ext>
                  </a:extLst>
                </a:gridCol>
                <a:gridCol w="1485900">
                  <a:extLst>
                    <a:ext uri="{9D8B030D-6E8A-4147-A177-3AD203B41FA5}">
                      <a16:colId xmlns:a16="http://schemas.microsoft.com/office/drawing/2014/main" val="990836487"/>
                    </a:ext>
                  </a:extLst>
                </a:gridCol>
                <a:gridCol w="1485900">
                  <a:extLst>
                    <a:ext uri="{9D8B030D-6E8A-4147-A177-3AD203B41FA5}">
                      <a16:colId xmlns:a16="http://schemas.microsoft.com/office/drawing/2014/main" val="3137687634"/>
                    </a:ext>
                  </a:extLst>
                </a:gridCol>
                <a:gridCol w="1485900">
                  <a:extLst>
                    <a:ext uri="{9D8B030D-6E8A-4147-A177-3AD203B41FA5}">
                      <a16:colId xmlns:a16="http://schemas.microsoft.com/office/drawing/2014/main" val="194104744"/>
                    </a:ext>
                  </a:extLst>
                </a:gridCol>
              </a:tblGrid>
              <a:tr h="565676">
                <a:tc>
                  <a:txBody>
                    <a:bodyPr/>
                    <a:lstStyle/>
                    <a:p>
                      <a:pPr algn="ct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2020</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2021</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2022</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2023</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2024</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1030757"/>
                  </a:ext>
                </a:extLst>
              </a:tr>
              <a:tr h="505294">
                <a:tc>
                  <a:txBody>
                    <a:bodyPr/>
                    <a:lstStyle/>
                    <a:p>
                      <a:pPr algn="ctr"/>
                      <a:r>
                        <a:rPr lang="en-US" sz="2000" dirty="0">
                          <a:latin typeface="Helvetica" pitchFamily="2" charset="0"/>
                        </a:rPr>
                        <a:t>Current Assets </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1,600</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1840</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1420</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1000</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966</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5585340"/>
                  </a:ext>
                </a:extLst>
              </a:tr>
              <a:tr h="489937">
                <a:tc>
                  <a:txBody>
                    <a:bodyPr/>
                    <a:lstStyle/>
                    <a:p>
                      <a:pPr algn="ctr"/>
                      <a:r>
                        <a:rPr lang="en-US" sz="2000" dirty="0">
                          <a:latin typeface="Helvetica" pitchFamily="2" charset="0"/>
                        </a:rPr>
                        <a:t>Current Liabilities </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530</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736</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640</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570</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708</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9814355"/>
                  </a:ext>
                </a:extLst>
              </a:tr>
              <a:tr h="573533">
                <a:tc>
                  <a:txBody>
                    <a:bodyPr/>
                    <a:lstStyle/>
                    <a:p>
                      <a:pPr algn="ctr"/>
                      <a:r>
                        <a:rPr lang="en-US" sz="2200" b="1" dirty="0">
                          <a:latin typeface="Helvetica" pitchFamily="2" charset="0"/>
                        </a:rPr>
                        <a:t>Current Ratio </a:t>
                      </a:r>
                      <a:endParaRPr lang="en-US" sz="2200" b="1"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0083155"/>
                  </a:ext>
                </a:extLst>
              </a:tr>
              <a:tr h="573533">
                <a:tc>
                  <a:txBody>
                    <a:bodyPr/>
                    <a:lstStyle/>
                    <a:p>
                      <a:pPr algn="ctr"/>
                      <a:r>
                        <a:rPr lang="en-US" sz="2000" kern="1200" dirty="0">
                          <a:solidFill>
                            <a:schemeClr val="dk1"/>
                          </a:solidFill>
                          <a:latin typeface="Helvetica" pitchFamily="2" charset="0"/>
                        </a:rPr>
                        <a:t>Industry Average</a:t>
                      </a:r>
                      <a:endParaRPr lang="en-US" sz="2000" kern="1200" dirty="0">
                        <a:solidFill>
                          <a:schemeClr val="dk1"/>
                        </a:solidFill>
                        <a:latin typeface="Helvetica" pitchFamily="2"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2.2</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2.4</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2.5</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2.6</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Helvetica" pitchFamily="2" charset="0"/>
                        </a:rPr>
                        <a:t>2.8</a:t>
                      </a:r>
                      <a:endParaRPr lang="en-US" sz="2000" dirty="0">
                        <a:latin typeface="Helvetica" pitchFamily="2"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7285047"/>
                  </a:ext>
                </a:extLst>
              </a:tr>
            </a:tbl>
          </a:graphicData>
        </a:graphic>
      </p:graphicFrame>
      <p:sp>
        <p:nvSpPr>
          <p:cNvPr id="5" name="TextBox 4">
            <a:extLst>
              <a:ext uri="{FF2B5EF4-FFF2-40B4-BE49-F238E27FC236}">
                <a16:creationId xmlns:a16="http://schemas.microsoft.com/office/drawing/2014/main" id="{23763F05-6A5A-E197-103F-518752898283}"/>
              </a:ext>
            </a:extLst>
          </p:cNvPr>
          <p:cNvSpPr txBox="1"/>
          <p:nvPr/>
        </p:nvSpPr>
        <p:spPr>
          <a:xfrm>
            <a:off x="4032737" y="4818188"/>
            <a:ext cx="734496" cy="430887"/>
          </a:xfrm>
          <a:prstGeom prst="rect">
            <a:avLst/>
          </a:prstGeom>
          <a:noFill/>
        </p:spPr>
        <p:txBody>
          <a:bodyPr wrap="none" rtlCol="0">
            <a:spAutoFit/>
          </a:bodyPr>
          <a:lstStyle/>
          <a:p>
            <a:r>
              <a:rPr lang="en-US" sz="2200" b="1" dirty="0">
                <a:solidFill>
                  <a:srgbClr val="C00000"/>
                </a:solidFill>
                <a:latin typeface="Helvetica" pitchFamily="2" charset="0"/>
                <a:cs typeface="Times New Roman" panose="02020603050405020304" pitchFamily="18" charset="0"/>
              </a:rPr>
              <a:t>3.02</a:t>
            </a:r>
            <a:endParaRPr lang="en-US" sz="2200" dirty="0">
              <a:solidFill>
                <a:srgbClr val="C00000"/>
              </a:solidFill>
              <a:latin typeface="Helvetica" pitchFamily="2" charset="0"/>
            </a:endParaRPr>
          </a:p>
        </p:txBody>
      </p:sp>
      <p:sp>
        <p:nvSpPr>
          <p:cNvPr id="7" name="TextBox 6">
            <a:extLst>
              <a:ext uri="{FF2B5EF4-FFF2-40B4-BE49-F238E27FC236}">
                <a16:creationId xmlns:a16="http://schemas.microsoft.com/office/drawing/2014/main" id="{0704CC99-7D24-C225-42C6-A62F300B0B7E}"/>
              </a:ext>
            </a:extLst>
          </p:cNvPr>
          <p:cNvSpPr txBox="1"/>
          <p:nvPr/>
        </p:nvSpPr>
        <p:spPr>
          <a:xfrm>
            <a:off x="5533291" y="4818188"/>
            <a:ext cx="734496" cy="430887"/>
          </a:xfrm>
          <a:prstGeom prst="rect">
            <a:avLst/>
          </a:prstGeom>
          <a:noFill/>
        </p:spPr>
        <p:txBody>
          <a:bodyPr wrap="none" rtlCol="0">
            <a:spAutoFit/>
          </a:bodyPr>
          <a:lstStyle/>
          <a:p>
            <a:r>
              <a:rPr lang="en-US" sz="2200" b="1" dirty="0">
                <a:solidFill>
                  <a:srgbClr val="C00000"/>
                </a:solidFill>
                <a:latin typeface="Helvetica" pitchFamily="2" charset="0"/>
                <a:cs typeface="Times New Roman" panose="02020603050405020304" pitchFamily="18" charset="0"/>
              </a:rPr>
              <a:t>2.50</a:t>
            </a:r>
            <a:endParaRPr lang="en-US" sz="2200" dirty="0">
              <a:solidFill>
                <a:srgbClr val="C00000"/>
              </a:solidFill>
              <a:latin typeface="Helvetica" pitchFamily="2" charset="0"/>
            </a:endParaRPr>
          </a:p>
        </p:txBody>
      </p:sp>
      <p:sp>
        <p:nvSpPr>
          <p:cNvPr id="8" name="TextBox 7">
            <a:extLst>
              <a:ext uri="{FF2B5EF4-FFF2-40B4-BE49-F238E27FC236}">
                <a16:creationId xmlns:a16="http://schemas.microsoft.com/office/drawing/2014/main" id="{17EFEA3F-4A83-088B-C855-0BB343B91BCD}"/>
              </a:ext>
            </a:extLst>
          </p:cNvPr>
          <p:cNvSpPr txBox="1"/>
          <p:nvPr/>
        </p:nvSpPr>
        <p:spPr>
          <a:xfrm>
            <a:off x="7033845" y="4818188"/>
            <a:ext cx="734496" cy="430887"/>
          </a:xfrm>
          <a:prstGeom prst="rect">
            <a:avLst/>
          </a:prstGeom>
          <a:noFill/>
        </p:spPr>
        <p:txBody>
          <a:bodyPr wrap="none" rtlCol="0">
            <a:spAutoFit/>
          </a:bodyPr>
          <a:lstStyle/>
          <a:p>
            <a:r>
              <a:rPr lang="en-US" sz="2200" b="1" dirty="0">
                <a:solidFill>
                  <a:srgbClr val="C00000"/>
                </a:solidFill>
                <a:latin typeface="Helvetica" pitchFamily="2" charset="0"/>
                <a:cs typeface="Times New Roman" panose="02020603050405020304" pitchFamily="18" charset="0"/>
              </a:rPr>
              <a:t>2.22</a:t>
            </a:r>
            <a:endParaRPr lang="en-US" sz="2200" dirty="0">
              <a:solidFill>
                <a:srgbClr val="C00000"/>
              </a:solidFill>
              <a:latin typeface="Helvetica" pitchFamily="2" charset="0"/>
            </a:endParaRPr>
          </a:p>
        </p:txBody>
      </p:sp>
      <p:sp>
        <p:nvSpPr>
          <p:cNvPr id="9" name="TextBox 8">
            <a:extLst>
              <a:ext uri="{FF2B5EF4-FFF2-40B4-BE49-F238E27FC236}">
                <a16:creationId xmlns:a16="http://schemas.microsoft.com/office/drawing/2014/main" id="{60F346BD-6829-E7D5-22CB-2640D88A2D2B}"/>
              </a:ext>
            </a:extLst>
          </p:cNvPr>
          <p:cNvSpPr txBox="1"/>
          <p:nvPr/>
        </p:nvSpPr>
        <p:spPr>
          <a:xfrm>
            <a:off x="8534399" y="4818188"/>
            <a:ext cx="734496" cy="430887"/>
          </a:xfrm>
          <a:prstGeom prst="rect">
            <a:avLst/>
          </a:prstGeom>
          <a:noFill/>
        </p:spPr>
        <p:txBody>
          <a:bodyPr wrap="none" rtlCol="0">
            <a:spAutoFit/>
          </a:bodyPr>
          <a:lstStyle/>
          <a:p>
            <a:r>
              <a:rPr lang="en-US" sz="2200" b="1" dirty="0">
                <a:solidFill>
                  <a:srgbClr val="C00000"/>
                </a:solidFill>
                <a:latin typeface="Helvetica" pitchFamily="2" charset="0"/>
                <a:cs typeface="Times New Roman" panose="02020603050405020304" pitchFamily="18" charset="0"/>
              </a:rPr>
              <a:t>1.75</a:t>
            </a:r>
            <a:endParaRPr lang="en-US" sz="2200" dirty="0">
              <a:solidFill>
                <a:srgbClr val="C00000"/>
              </a:solidFill>
              <a:latin typeface="Helvetica" pitchFamily="2" charset="0"/>
            </a:endParaRPr>
          </a:p>
        </p:txBody>
      </p:sp>
      <p:sp>
        <p:nvSpPr>
          <p:cNvPr id="14" name="TextBox 13">
            <a:extLst>
              <a:ext uri="{FF2B5EF4-FFF2-40B4-BE49-F238E27FC236}">
                <a16:creationId xmlns:a16="http://schemas.microsoft.com/office/drawing/2014/main" id="{ED8844BE-0921-6F7E-2DFB-ADBC3D230F08}"/>
              </a:ext>
            </a:extLst>
          </p:cNvPr>
          <p:cNvSpPr txBox="1"/>
          <p:nvPr/>
        </p:nvSpPr>
        <p:spPr>
          <a:xfrm>
            <a:off x="10034953" y="4818188"/>
            <a:ext cx="734496" cy="430887"/>
          </a:xfrm>
          <a:prstGeom prst="rect">
            <a:avLst/>
          </a:prstGeom>
          <a:noFill/>
        </p:spPr>
        <p:txBody>
          <a:bodyPr wrap="none" rtlCol="0">
            <a:spAutoFit/>
          </a:bodyPr>
          <a:lstStyle/>
          <a:p>
            <a:r>
              <a:rPr lang="en-US" sz="2200" b="1" dirty="0">
                <a:solidFill>
                  <a:srgbClr val="C00000"/>
                </a:solidFill>
                <a:latin typeface="Helvetica" pitchFamily="2" charset="0"/>
                <a:cs typeface="Times New Roman" panose="02020603050405020304" pitchFamily="18" charset="0"/>
              </a:rPr>
              <a:t>1.36</a:t>
            </a:r>
            <a:endParaRPr lang="en-US" sz="2200" dirty="0">
              <a:solidFill>
                <a:srgbClr val="C00000"/>
              </a:solidFill>
              <a:latin typeface="Helvetica" pitchFamily="2" charset="0"/>
            </a:endParaRPr>
          </a:p>
        </p:txBody>
      </p:sp>
      <p:sp>
        <p:nvSpPr>
          <p:cNvPr id="16" name="Left Brace 15">
            <a:extLst>
              <a:ext uri="{FF2B5EF4-FFF2-40B4-BE49-F238E27FC236}">
                <a16:creationId xmlns:a16="http://schemas.microsoft.com/office/drawing/2014/main" id="{A9851384-7D70-7C3F-A678-CF1633C2CE7D}"/>
              </a:ext>
            </a:extLst>
          </p:cNvPr>
          <p:cNvSpPr/>
          <p:nvPr/>
        </p:nvSpPr>
        <p:spPr>
          <a:xfrm rot="16200000">
            <a:off x="5041320" y="4926958"/>
            <a:ext cx="244993" cy="2207941"/>
          </a:xfrm>
          <a:prstGeom prst="leftBrace">
            <a:avLst/>
          </a:prstGeom>
          <a:ln w="57150">
            <a:solidFill>
              <a:srgbClr val="00B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Left Brace 16">
            <a:extLst>
              <a:ext uri="{FF2B5EF4-FFF2-40B4-BE49-F238E27FC236}">
                <a16:creationId xmlns:a16="http://schemas.microsoft.com/office/drawing/2014/main" id="{B80EF6A7-5525-5435-131B-25E91BE10675}"/>
              </a:ext>
            </a:extLst>
          </p:cNvPr>
          <p:cNvSpPr/>
          <p:nvPr/>
        </p:nvSpPr>
        <p:spPr>
          <a:xfrm rot="16200000">
            <a:off x="8636499" y="4351032"/>
            <a:ext cx="208303" cy="3323102"/>
          </a:xfrm>
          <a:prstGeom prst="leftBrace">
            <a:avLst/>
          </a:prstGeom>
          <a:ln w="5715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BF85DD2-145A-68C2-EB82-229839950D5E}"/>
                  </a:ext>
                </a:extLst>
              </p:cNvPr>
              <p:cNvSpPr txBox="1"/>
              <p:nvPr/>
            </p:nvSpPr>
            <p:spPr>
              <a:xfrm>
                <a:off x="4812123" y="6320323"/>
                <a:ext cx="703386" cy="5616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9BF85DD2-145A-68C2-EB82-229839950D5E}"/>
                  </a:ext>
                </a:extLst>
              </p:cNvPr>
              <p:cNvSpPr txBox="1">
                <a:spLocks noRot="1" noChangeAspect="1" noMove="1" noResize="1" noEditPoints="1" noAdjustHandles="1" noChangeArrowheads="1" noChangeShapeType="1" noTextEdit="1"/>
              </p:cNvSpPr>
              <p:nvPr/>
            </p:nvSpPr>
            <p:spPr>
              <a:xfrm>
                <a:off x="4812123" y="6320323"/>
                <a:ext cx="703386" cy="561692"/>
              </a:xfrm>
              <a:prstGeom prst="rect">
                <a:avLst/>
              </a:prstGeom>
              <a:blipFill>
                <a:blip r:embed="rId2"/>
                <a:stretch>
                  <a:fillRect l="-7018" t="-11111" r="-7018"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F71D85C-6746-CA7D-5221-7F32B977B912}"/>
                  </a:ext>
                </a:extLst>
              </p:cNvPr>
              <p:cNvSpPr txBox="1"/>
              <p:nvPr/>
            </p:nvSpPr>
            <p:spPr>
              <a:xfrm>
                <a:off x="8388957" y="6227990"/>
                <a:ext cx="703386" cy="6540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oMath>
                  </m:oMathPara>
                </a14:m>
                <a:endParaRPr lang="en-US" sz="3200" dirty="0"/>
              </a:p>
            </p:txBody>
          </p:sp>
        </mc:Choice>
        <mc:Fallback xmlns="">
          <p:sp>
            <p:nvSpPr>
              <p:cNvPr id="22" name="TextBox 21">
                <a:extLst>
                  <a:ext uri="{FF2B5EF4-FFF2-40B4-BE49-F238E27FC236}">
                    <a16:creationId xmlns:a16="http://schemas.microsoft.com/office/drawing/2014/main" id="{AF71D85C-6746-CA7D-5221-7F32B977B912}"/>
                  </a:ext>
                </a:extLst>
              </p:cNvPr>
              <p:cNvSpPr txBox="1">
                <a:spLocks noRot="1" noChangeAspect="1" noMove="1" noResize="1" noEditPoints="1" noAdjustHandles="1" noChangeArrowheads="1" noChangeShapeType="1" noTextEdit="1"/>
              </p:cNvSpPr>
              <p:nvPr/>
            </p:nvSpPr>
            <p:spPr>
              <a:xfrm>
                <a:off x="8388957" y="6227990"/>
                <a:ext cx="703386" cy="654025"/>
              </a:xfrm>
              <a:prstGeom prst="rect">
                <a:avLst/>
              </a:prstGeom>
              <a:blipFill>
                <a:blip r:embed="rId3"/>
                <a:stretch>
                  <a:fillRect l="-7018" t="-3846" r="-7018" b="-7692"/>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412D52F1-FF18-5F43-4638-1CF1772ABB46}"/>
              </a:ext>
            </a:extLst>
          </p:cNvPr>
          <p:cNvSpPr txBox="1"/>
          <p:nvPr/>
        </p:nvSpPr>
        <p:spPr>
          <a:xfrm>
            <a:off x="356318" y="1246118"/>
            <a:ext cx="1790875" cy="461665"/>
          </a:xfrm>
          <a:prstGeom prst="rect">
            <a:avLst/>
          </a:prstGeom>
          <a:noFill/>
        </p:spPr>
        <p:txBody>
          <a:bodyPr wrap="none" rtlCol="0">
            <a:spAutoFit/>
          </a:bodyPr>
          <a:lstStyle/>
          <a:p>
            <a:r>
              <a:rPr lang="en-US" sz="2400" b="1" dirty="0">
                <a:latin typeface="Helvetica" pitchFamily="2" charset="0"/>
                <a:cs typeface="Times New Roman" panose="02020603050405020304" pitchFamily="18" charset="0"/>
              </a:rPr>
              <a:t>Question-1</a:t>
            </a:r>
          </a:p>
        </p:txBody>
      </p:sp>
    </p:spTree>
    <p:extLst>
      <p:ext uri="{BB962C8B-B14F-4D97-AF65-F5344CB8AC3E}">
        <p14:creationId xmlns:p14="http://schemas.microsoft.com/office/powerpoint/2010/main" val="79077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8" grpId="0"/>
      <p:bldP spid="9" grpId="0"/>
      <p:bldP spid="14" grpId="0"/>
      <p:bldP spid="16" grpId="0" animBg="1"/>
      <p:bldP spid="17" grpId="0" animBg="1"/>
      <p:bldP spid="20" grpId="0"/>
      <p:bldP spid="22" grpId="0"/>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A724A-386B-8898-A1F1-46D442D1E26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5FD6694-485A-A635-2A69-F2036CB21906}"/>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6FDB5C-5214-D40F-3567-43633C4E23DA}"/>
              </a:ext>
            </a:extLst>
          </p:cNvPr>
          <p:cNvSpPr>
            <a:spLocks noGrp="1"/>
          </p:cNvSpPr>
          <p:nvPr>
            <p:ph type="title"/>
          </p:nvPr>
        </p:nvSpPr>
        <p:spPr>
          <a:xfrm>
            <a:off x="419559" y="192063"/>
            <a:ext cx="10515600" cy="982663"/>
          </a:xfrm>
        </p:spPr>
        <p:txBody>
          <a:bodyPr>
            <a:normAutofit/>
          </a:bodyPr>
          <a:lstStyle/>
          <a:p>
            <a:r>
              <a:rPr lang="en-US" b="1" dirty="0">
                <a:solidFill>
                  <a:schemeClr val="bg1"/>
                </a:solidFill>
                <a:latin typeface="Helvetica" pitchFamily="2" charset="0"/>
              </a:rPr>
              <a:t>1-2.</a:t>
            </a:r>
            <a:r>
              <a:rPr lang="en-US" b="1" dirty="0">
                <a:solidFill>
                  <a:schemeClr val="bg1"/>
                </a:solidFill>
                <a:latin typeface="Helvetica" pitchFamily="2" charset="0"/>
                <a:cs typeface="Times New Roman" panose="02020603050405020304" pitchFamily="18" charset="0"/>
              </a:rPr>
              <a:t>Quick Ratio or Acid Test</a:t>
            </a:r>
            <a:endParaRPr lang="en-US" b="1" dirty="0">
              <a:solidFill>
                <a:schemeClr val="bg1"/>
              </a:solidFill>
              <a:latin typeface="Helvetica" pitchFamily="2" charset="0"/>
            </a:endParaRPr>
          </a:p>
        </p:txBody>
      </p:sp>
      <p:grpSp>
        <p:nvGrpSpPr>
          <p:cNvPr id="18" name="Group 17">
            <a:extLst>
              <a:ext uri="{FF2B5EF4-FFF2-40B4-BE49-F238E27FC236}">
                <a16:creationId xmlns:a16="http://schemas.microsoft.com/office/drawing/2014/main" id="{B6D91505-396C-FCEA-9D70-12A729B2E809}"/>
              </a:ext>
            </a:extLst>
          </p:cNvPr>
          <p:cNvGrpSpPr/>
          <p:nvPr/>
        </p:nvGrpSpPr>
        <p:grpSpPr>
          <a:xfrm>
            <a:off x="2867625" y="1509938"/>
            <a:ext cx="6456749" cy="977490"/>
            <a:chOff x="2737695" y="3051735"/>
            <a:chExt cx="6456749" cy="977490"/>
          </a:xfrm>
        </p:grpSpPr>
        <p:sp>
          <p:nvSpPr>
            <p:cNvPr id="10" name="TextBox 9">
              <a:extLst>
                <a:ext uri="{FF2B5EF4-FFF2-40B4-BE49-F238E27FC236}">
                  <a16:creationId xmlns:a16="http://schemas.microsoft.com/office/drawing/2014/main" id="{A3A7277A-F8EF-B6A1-05C6-045DA0F7B73A}"/>
                </a:ext>
              </a:extLst>
            </p:cNvPr>
            <p:cNvSpPr txBox="1">
              <a:spLocks/>
            </p:cNvSpPr>
            <p:nvPr/>
          </p:nvSpPr>
          <p:spPr>
            <a:xfrm>
              <a:off x="2737695" y="3321853"/>
              <a:ext cx="1893468" cy="461665"/>
            </a:xfrm>
            <a:prstGeom prst="rect">
              <a:avLst/>
            </a:prstGeom>
            <a:noFill/>
          </p:spPr>
          <p:txBody>
            <a:bodyPr wrap="none" rtlCol="0">
              <a:spAutoFit/>
            </a:bodyPr>
            <a:lstStyle/>
            <a:p>
              <a:pPr algn="ctr"/>
              <a:r>
                <a:rPr lang="en-US" sz="2400" b="1" dirty="0">
                  <a:solidFill>
                    <a:srgbClr val="C00000"/>
                  </a:solidFill>
                  <a:latin typeface="Helvetica" pitchFamily="2" charset="0"/>
                </a:rPr>
                <a:t>Quick Ratio</a:t>
              </a:r>
            </a:p>
          </p:txBody>
        </p:sp>
        <p:sp>
          <p:nvSpPr>
            <p:cNvPr id="11" name="TextBox 10">
              <a:extLst>
                <a:ext uri="{FF2B5EF4-FFF2-40B4-BE49-F238E27FC236}">
                  <a16:creationId xmlns:a16="http://schemas.microsoft.com/office/drawing/2014/main" id="{0ED3F6B7-D70D-F35A-B66D-B471310C814C}"/>
                </a:ext>
              </a:extLst>
            </p:cNvPr>
            <p:cNvSpPr txBox="1"/>
            <p:nvPr/>
          </p:nvSpPr>
          <p:spPr>
            <a:xfrm>
              <a:off x="4736807"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12" name="TextBox 11">
              <a:extLst>
                <a:ext uri="{FF2B5EF4-FFF2-40B4-BE49-F238E27FC236}">
                  <a16:creationId xmlns:a16="http://schemas.microsoft.com/office/drawing/2014/main" id="{A555BF45-51B7-229C-26D1-305E69A88FBF}"/>
                </a:ext>
              </a:extLst>
            </p:cNvPr>
            <p:cNvSpPr txBox="1">
              <a:spLocks/>
            </p:cNvSpPr>
            <p:nvPr/>
          </p:nvSpPr>
          <p:spPr>
            <a:xfrm>
              <a:off x="5299428" y="3051735"/>
              <a:ext cx="3800912" cy="461665"/>
            </a:xfrm>
            <a:prstGeom prst="rect">
              <a:avLst/>
            </a:prstGeom>
            <a:noFill/>
          </p:spPr>
          <p:txBody>
            <a:bodyPr wrap="none" rtlCol="0">
              <a:spAutoFit/>
            </a:bodyPr>
            <a:lstStyle/>
            <a:p>
              <a:pPr algn="ctr"/>
              <a:r>
                <a:rPr lang="en-US" sz="2400" b="1" dirty="0">
                  <a:solidFill>
                    <a:srgbClr val="C00000"/>
                  </a:solidFill>
                </a:rPr>
                <a:t>Current Assets - Inventory</a:t>
              </a:r>
            </a:p>
          </p:txBody>
        </p:sp>
        <p:sp>
          <p:nvSpPr>
            <p:cNvPr id="13" name="TextBox 12">
              <a:extLst>
                <a:ext uri="{FF2B5EF4-FFF2-40B4-BE49-F238E27FC236}">
                  <a16:creationId xmlns:a16="http://schemas.microsoft.com/office/drawing/2014/main" id="{32E91C19-0417-17F3-A897-F4C0B0986404}"/>
                </a:ext>
              </a:extLst>
            </p:cNvPr>
            <p:cNvSpPr txBox="1">
              <a:spLocks/>
            </p:cNvSpPr>
            <p:nvPr/>
          </p:nvSpPr>
          <p:spPr>
            <a:xfrm>
              <a:off x="5849657" y="3567560"/>
              <a:ext cx="2693110" cy="461665"/>
            </a:xfrm>
            <a:prstGeom prst="rect">
              <a:avLst/>
            </a:prstGeom>
            <a:noFill/>
          </p:spPr>
          <p:txBody>
            <a:bodyPr wrap="none" rtlCol="0">
              <a:spAutoFit/>
            </a:bodyPr>
            <a:lstStyle/>
            <a:p>
              <a:pPr algn="ctr"/>
              <a:r>
                <a:rPr lang="en-US" sz="2400" b="1" dirty="0">
                  <a:solidFill>
                    <a:srgbClr val="C00000"/>
                  </a:solidFill>
                </a:rPr>
                <a:t>Current Liabilities</a:t>
              </a:r>
            </a:p>
          </p:txBody>
        </p:sp>
        <p:cxnSp>
          <p:nvCxnSpPr>
            <p:cNvPr id="15" name="Straight Connector 14">
              <a:extLst>
                <a:ext uri="{FF2B5EF4-FFF2-40B4-BE49-F238E27FC236}">
                  <a16:creationId xmlns:a16="http://schemas.microsoft.com/office/drawing/2014/main" id="{CCF5A744-49C7-9FC0-8D76-B3ADAC1C9F11}"/>
                </a:ext>
              </a:extLst>
            </p:cNvPr>
            <p:cNvCxnSpPr>
              <a:cxnSpLocks/>
            </p:cNvCxnSpPr>
            <p:nvPr/>
          </p:nvCxnSpPr>
          <p:spPr>
            <a:xfrm>
              <a:off x="5177844" y="3546159"/>
              <a:ext cx="401660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9" name="TextBox 18">
            <a:extLst>
              <a:ext uri="{FF2B5EF4-FFF2-40B4-BE49-F238E27FC236}">
                <a16:creationId xmlns:a16="http://schemas.microsoft.com/office/drawing/2014/main" id="{61C82E0B-7E99-A576-F516-892B30223408}"/>
              </a:ext>
            </a:extLst>
          </p:cNvPr>
          <p:cNvSpPr txBox="1"/>
          <p:nvPr/>
        </p:nvSpPr>
        <p:spPr>
          <a:xfrm>
            <a:off x="419559" y="2625144"/>
            <a:ext cx="11455918" cy="830997"/>
          </a:xfrm>
          <a:prstGeom prst="rect">
            <a:avLst/>
          </a:prstGeom>
          <a:noFill/>
        </p:spPr>
        <p:txBody>
          <a:bodyPr wrap="square" rtlCol="0">
            <a:spAutoFit/>
          </a:bodyPr>
          <a:lstStyle/>
          <a:p>
            <a:r>
              <a:rPr lang="en-US" sz="2400" dirty="0">
                <a:latin typeface="Helvetica" pitchFamily="2" charset="0"/>
                <a:cs typeface="Times New Roman" panose="02020603050405020304" pitchFamily="18" charset="0"/>
              </a:rPr>
              <a:t>Inventories are least liquid among current assets and are more prone to losses during liquidation.</a:t>
            </a:r>
          </a:p>
        </p:txBody>
      </p:sp>
      <p:sp>
        <p:nvSpPr>
          <p:cNvPr id="35" name="TextBox 34">
            <a:extLst>
              <a:ext uri="{FF2B5EF4-FFF2-40B4-BE49-F238E27FC236}">
                <a16:creationId xmlns:a16="http://schemas.microsoft.com/office/drawing/2014/main" id="{342D87DD-D50D-92CD-A3C6-3A1D2436CF90}"/>
              </a:ext>
            </a:extLst>
          </p:cNvPr>
          <p:cNvSpPr txBox="1"/>
          <p:nvPr/>
        </p:nvSpPr>
        <p:spPr>
          <a:xfrm>
            <a:off x="8019479" y="3939138"/>
            <a:ext cx="297455" cy="461665"/>
          </a:xfrm>
          <a:prstGeom prst="rect">
            <a:avLst/>
          </a:prstGeom>
          <a:noFill/>
        </p:spPr>
        <p:txBody>
          <a:bodyPr wrap="square" rtlCol="0">
            <a:spAutoFit/>
          </a:bodyPr>
          <a:lstStyle/>
          <a:p>
            <a:r>
              <a:rPr lang="en-US" sz="2400" b="1" dirty="0"/>
              <a:t>=</a:t>
            </a:r>
          </a:p>
        </p:txBody>
      </p:sp>
      <p:sp>
        <p:nvSpPr>
          <p:cNvPr id="36" name="TextBox 35">
            <a:extLst>
              <a:ext uri="{FF2B5EF4-FFF2-40B4-BE49-F238E27FC236}">
                <a16:creationId xmlns:a16="http://schemas.microsoft.com/office/drawing/2014/main" id="{93C8EE27-CB78-A262-E256-0D475EADA6B0}"/>
              </a:ext>
            </a:extLst>
          </p:cNvPr>
          <p:cNvSpPr txBox="1">
            <a:spLocks/>
          </p:cNvSpPr>
          <p:nvPr/>
        </p:nvSpPr>
        <p:spPr>
          <a:xfrm>
            <a:off x="8408377" y="3724385"/>
            <a:ext cx="1300357" cy="430887"/>
          </a:xfrm>
          <a:prstGeom prst="rect">
            <a:avLst/>
          </a:prstGeom>
          <a:noFill/>
        </p:spPr>
        <p:txBody>
          <a:bodyPr wrap="none" rtlCol="0">
            <a:spAutoFit/>
          </a:bodyPr>
          <a:lstStyle/>
          <a:p>
            <a:pPr algn="ctr"/>
            <a:r>
              <a:rPr lang="en-US" sz="2200" b="1" dirty="0">
                <a:solidFill>
                  <a:srgbClr val="C00000"/>
                </a:solidFill>
              </a:rPr>
              <a:t>966 - 385</a:t>
            </a:r>
          </a:p>
        </p:txBody>
      </p:sp>
      <p:sp>
        <p:nvSpPr>
          <p:cNvPr id="37" name="TextBox 36">
            <a:extLst>
              <a:ext uri="{FF2B5EF4-FFF2-40B4-BE49-F238E27FC236}">
                <a16:creationId xmlns:a16="http://schemas.microsoft.com/office/drawing/2014/main" id="{DDA482B9-A19E-CE2D-C711-56C6BF3AEFB6}"/>
              </a:ext>
            </a:extLst>
          </p:cNvPr>
          <p:cNvSpPr txBox="1">
            <a:spLocks/>
          </p:cNvSpPr>
          <p:nvPr/>
        </p:nvSpPr>
        <p:spPr>
          <a:xfrm>
            <a:off x="8746502" y="4138655"/>
            <a:ext cx="636713" cy="430887"/>
          </a:xfrm>
          <a:prstGeom prst="rect">
            <a:avLst/>
          </a:prstGeom>
          <a:noFill/>
        </p:spPr>
        <p:txBody>
          <a:bodyPr wrap="none" rtlCol="0">
            <a:spAutoFit/>
          </a:bodyPr>
          <a:lstStyle/>
          <a:p>
            <a:pPr algn="ctr"/>
            <a:r>
              <a:rPr lang="en-US" sz="2200" b="1" dirty="0">
                <a:solidFill>
                  <a:srgbClr val="C00000"/>
                </a:solidFill>
              </a:rPr>
              <a:t>708</a:t>
            </a:r>
          </a:p>
        </p:txBody>
      </p:sp>
      <p:cxnSp>
        <p:nvCxnSpPr>
          <p:cNvPr id="38" name="Straight Connector 37">
            <a:extLst>
              <a:ext uri="{FF2B5EF4-FFF2-40B4-BE49-F238E27FC236}">
                <a16:creationId xmlns:a16="http://schemas.microsoft.com/office/drawing/2014/main" id="{7B884E6E-B129-0CC4-E0EA-FDB6ED05F9A2}"/>
              </a:ext>
            </a:extLst>
          </p:cNvPr>
          <p:cNvCxnSpPr>
            <a:cxnSpLocks/>
          </p:cNvCxnSpPr>
          <p:nvPr/>
        </p:nvCxnSpPr>
        <p:spPr>
          <a:xfrm flipV="1">
            <a:off x="8462351" y="4147941"/>
            <a:ext cx="1179926" cy="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ECBF816-B36E-121D-047B-237723AB4449}"/>
                  </a:ext>
                </a:extLst>
              </p:cNvPr>
              <p:cNvSpPr txBox="1"/>
              <p:nvPr/>
            </p:nvSpPr>
            <p:spPr>
              <a:xfrm>
                <a:off x="9725536" y="3916575"/>
                <a:ext cx="29745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a:solidFill>
                            <a:schemeClr val="accent6">
                              <a:lumMod val="50000"/>
                            </a:schemeClr>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2400" b="1" dirty="0">
                  <a:solidFill>
                    <a:srgbClr val="C00000"/>
                  </a:solidFill>
                </a:endParaRPr>
              </a:p>
            </p:txBody>
          </p:sp>
        </mc:Choice>
        <mc:Fallback xmlns="">
          <p:sp>
            <p:nvSpPr>
              <p:cNvPr id="40" name="TextBox 39">
                <a:extLst>
                  <a:ext uri="{FF2B5EF4-FFF2-40B4-BE49-F238E27FC236}">
                    <a16:creationId xmlns:a16="http://schemas.microsoft.com/office/drawing/2014/main" id="{8ECBF816-B36E-121D-047B-237723AB4449}"/>
                  </a:ext>
                </a:extLst>
              </p:cNvPr>
              <p:cNvSpPr txBox="1">
                <a:spLocks noRot="1" noChangeAspect="1" noMove="1" noResize="1" noEditPoints="1" noAdjustHandles="1" noChangeArrowheads="1" noChangeShapeType="1" noTextEdit="1"/>
              </p:cNvSpPr>
              <p:nvPr/>
            </p:nvSpPr>
            <p:spPr>
              <a:xfrm>
                <a:off x="9725536" y="3916575"/>
                <a:ext cx="297455" cy="461665"/>
              </a:xfrm>
              <a:prstGeom prst="rect">
                <a:avLst/>
              </a:prstGeom>
              <a:blipFill>
                <a:blip r:embed="rId2"/>
                <a:stretch>
                  <a:fillRect r="-28000"/>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8522BBC2-7695-FAB5-9884-B23A8E37390A}"/>
              </a:ext>
            </a:extLst>
          </p:cNvPr>
          <p:cNvSpPr txBox="1"/>
          <p:nvPr/>
        </p:nvSpPr>
        <p:spPr>
          <a:xfrm>
            <a:off x="10175812" y="3917527"/>
            <a:ext cx="734496" cy="430887"/>
          </a:xfrm>
          <a:prstGeom prst="rect">
            <a:avLst/>
          </a:prstGeom>
          <a:noFill/>
        </p:spPr>
        <p:txBody>
          <a:bodyPr wrap="none" rtlCol="0">
            <a:spAutoFit/>
          </a:bodyPr>
          <a:lstStyle/>
          <a:p>
            <a:r>
              <a:rPr lang="en-US" sz="2200" b="1" dirty="0">
                <a:solidFill>
                  <a:srgbClr val="C00000"/>
                </a:solidFill>
                <a:latin typeface="Helvetica" pitchFamily="2" charset="0"/>
              </a:rPr>
              <a:t>0.82</a:t>
            </a:r>
          </a:p>
        </p:txBody>
      </p:sp>
      <p:grpSp>
        <p:nvGrpSpPr>
          <p:cNvPr id="20" name="Group 19">
            <a:extLst>
              <a:ext uri="{FF2B5EF4-FFF2-40B4-BE49-F238E27FC236}">
                <a16:creationId xmlns:a16="http://schemas.microsoft.com/office/drawing/2014/main" id="{8DCF8591-958A-8647-A4DB-1F2D1D121A5A}"/>
              </a:ext>
            </a:extLst>
          </p:cNvPr>
          <p:cNvGrpSpPr/>
          <p:nvPr/>
        </p:nvGrpSpPr>
        <p:grpSpPr>
          <a:xfrm>
            <a:off x="1039177" y="3739901"/>
            <a:ext cx="6951454" cy="878488"/>
            <a:chOff x="2042033" y="3119960"/>
            <a:chExt cx="5809612" cy="878488"/>
          </a:xfrm>
        </p:grpSpPr>
        <p:sp>
          <p:nvSpPr>
            <p:cNvPr id="21" name="TextBox 20">
              <a:extLst>
                <a:ext uri="{FF2B5EF4-FFF2-40B4-BE49-F238E27FC236}">
                  <a16:creationId xmlns:a16="http://schemas.microsoft.com/office/drawing/2014/main" id="{20F2D208-79AB-EC5F-1ECC-F168FDD61071}"/>
                </a:ext>
              </a:extLst>
            </p:cNvPr>
            <p:cNvSpPr txBox="1">
              <a:spLocks/>
            </p:cNvSpPr>
            <p:nvPr/>
          </p:nvSpPr>
          <p:spPr>
            <a:xfrm>
              <a:off x="2042033" y="3318659"/>
              <a:ext cx="2990626" cy="400110"/>
            </a:xfrm>
            <a:prstGeom prst="rect">
              <a:avLst/>
            </a:prstGeom>
            <a:noFill/>
          </p:spPr>
          <p:txBody>
            <a:bodyPr wrap="square" rtlCol="0">
              <a:spAutoFit/>
            </a:bodyPr>
            <a:lstStyle/>
            <a:p>
              <a:r>
                <a:rPr lang="en-US" sz="2000" b="1" dirty="0">
                  <a:latin typeface="Helvetica" pitchFamily="2" charset="0"/>
                </a:rPr>
                <a:t>Quick Ratio of XYZ for 2024</a:t>
              </a:r>
            </a:p>
          </p:txBody>
        </p:sp>
        <p:sp>
          <p:nvSpPr>
            <p:cNvPr id="22" name="TextBox 21">
              <a:extLst>
                <a:ext uri="{FF2B5EF4-FFF2-40B4-BE49-F238E27FC236}">
                  <a16:creationId xmlns:a16="http://schemas.microsoft.com/office/drawing/2014/main" id="{707FC19F-1A86-89C4-75C8-6511C7EF20FC}"/>
                </a:ext>
              </a:extLst>
            </p:cNvPr>
            <p:cNvSpPr txBox="1"/>
            <p:nvPr/>
          </p:nvSpPr>
          <p:spPr>
            <a:xfrm>
              <a:off x="4927530" y="3349919"/>
              <a:ext cx="297455" cy="400110"/>
            </a:xfrm>
            <a:prstGeom prst="rect">
              <a:avLst/>
            </a:prstGeom>
            <a:noFill/>
          </p:spPr>
          <p:txBody>
            <a:bodyPr wrap="square" rtlCol="0">
              <a:spAutoFit/>
            </a:bodyPr>
            <a:lstStyle/>
            <a:p>
              <a:r>
                <a:rPr lang="en-US" sz="2000" b="1" dirty="0"/>
                <a:t>=</a:t>
              </a:r>
            </a:p>
          </p:txBody>
        </p:sp>
        <p:sp>
          <p:nvSpPr>
            <p:cNvPr id="23" name="TextBox 22">
              <a:extLst>
                <a:ext uri="{FF2B5EF4-FFF2-40B4-BE49-F238E27FC236}">
                  <a16:creationId xmlns:a16="http://schemas.microsoft.com/office/drawing/2014/main" id="{592A70A7-25D6-FDF3-3955-5C1E77177297}"/>
                </a:ext>
              </a:extLst>
            </p:cNvPr>
            <p:cNvSpPr txBox="1">
              <a:spLocks/>
            </p:cNvSpPr>
            <p:nvPr/>
          </p:nvSpPr>
          <p:spPr>
            <a:xfrm>
              <a:off x="5163684" y="3119960"/>
              <a:ext cx="2687961" cy="400110"/>
            </a:xfrm>
            <a:prstGeom prst="rect">
              <a:avLst/>
            </a:prstGeom>
            <a:noFill/>
          </p:spPr>
          <p:txBody>
            <a:bodyPr wrap="square" rtlCol="0">
              <a:spAutoFit/>
            </a:bodyPr>
            <a:lstStyle/>
            <a:p>
              <a:pPr algn="ctr"/>
              <a:r>
                <a:rPr lang="en-US" sz="2000" b="1" dirty="0"/>
                <a:t>Current Assets - Inventory</a:t>
              </a:r>
            </a:p>
          </p:txBody>
        </p:sp>
        <p:sp>
          <p:nvSpPr>
            <p:cNvPr id="24" name="TextBox 23">
              <a:extLst>
                <a:ext uri="{FF2B5EF4-FFF2-40B4-BE49-F238E27FC236}">
                  <a16:creationId xmlns:a16="http://schemas.microsoft.com/office/drawing/2014/main" id="{D67647FD-F640-5AFA-C501-D009770DD1BC}"/>
                </a:ext>
              </a:extLst>
            </p:cNvPr>
            <p:cNvSpPr txBox="1">
              <a:spLocks/>
            </p:cNvSpPr>
            <p:nvPr/>
          </p:nvSpPr>
          <p:spPr>
            <a:xfrm>
              <a:off x="5529224" y="3598338"/>
              <a:ext cx="1956883" cy="400110"/>
            </a:xfrm>
            <a:prstGeom prst="rect">
              <a:avLst/>
            </a:prstGeom>
            <a:noFill/>
          </p:spPr>
          <p:txBody>
            <a:bodyPr wrap="square" rtlCol="0">
              <a:spAutoFit/>
            </a:bodyPr>
            <a:lstStyle/>
            <a:p>
              <a:pPr algn="ctr"/>
              <a:r>
                <a:rPr lang="en-US" sz="2000" b="1" dirty="0"/>
                <a:t>Current Liabilities</a:t>
              </a:r>
            </a:p>
          </p:txBody>
        </p:sp>
        <p:cxnSp>
          <p:nvCxnSpPr>
            <p:cNvPr id="25" name="Straight Connector 24">
              <a:extLst>
                <a:ext uri="{FF2B5EF4-FFF2-40B4-BE49-F238E27FC236}">
                  <a16:creationId xmlns:a16="http://schemas.microsoft.com/office/drawing/2014/main" id="{291291D3-05FF-D496-52A1-97D6E0CFB1C2}"/>
                </a:ext>
              </a:extLst>
            </p:cNvPr>
            <p:cNvCxnSpPr>
              <a:cxnSpLocks/>
            </p:cNvCxnSpPr>
            <p:nvPr/>
          </p:nvCxnSpPr>
          <p:spPr>
            <a:xfrm>
              <a:off x="5177844" y="3546159"/>
              <a:ext cx="265964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9" name="TextBox 38">
            <a:extLst>
              <a:ext uri="{FF2B5EF4-FFF2-40B4-BE49-F238E27FC236}">
                <a16:creationId xmlns:a16="http://schemas.microsoft.com/office/drawing/2014/main" id="{4D854618-760A-F209-D22E-1FD7CB39D45A}"/>
              </a:ext>
            </a:extLst>
          </p:cNvPr>
          <p:cNvSpPr txBox="1"/>
          <p:nvPr/>
        </p:nvSpPr>
        <p:spPr>
          <a:xfrm>
            <a:off x="419559" y="4993098"/>
            <a:ext cx="11455919" cy="1354217"/>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400" dirty="0">
                <a:latin typeface="Helvetica" pitchFamily="2" charset="0"/>
              </a:rPr>
              <a:t>A quick ratio of 0.82 means that:</a:t>
            </a:r>
          </a:p>
          <a:p>
            <a:pPr marL="800100" lvl="1" indent="-342900">
              <a:spcBef>
                <a:spcPts val="600"/>
              </a:spcBef>
              <a:spcAft>
                <a:spcPts val="600"/>
              </a:spcAft>
              <a:buFont typeface="Arial" panose="020B0604020202020204" pitchFamily="34" charset="0"/>
              <a:buChar char="•"/>
            </a:pPr>
            <a:r>
              <a:rPr lang="en-US" sz="2400" dirty="0">
                <a:latin typeface="Helvetica" pitchFamily="2" charset="0"/>
              </a:rPr>
              <a:t>The company has $0.82 of liquid assets (excluding inventories) available to cover every $1 of current liabilities.</a:t>
            </a:r>
          </a:p>
        </p:txBody>
      </p:sp>
      <p:sp>
        <p:nvSpPr>
          <p:cNvPr id="43" name="TextBox 42">
            <a:extLst>
              <a:ext uri="{FF2B5EF4-FFF2-40B4-BE49-F238E27FC236}">
                <a16:creationId xmlns:a16="http://schemas.microsoft.com/office/drawing/2014/main" id="{48B733C4-ACEC-6B1B-6700-91B4208BD953}"/>
              </a:ext>
            </a:extLst>
          </p:cNvPr>
          <p:cNvSpPr txBox="1"/>
          <p:nvPr/>
        </p:nvSpPr>
        <p:spPr>
          <a:xfrm>
            <a:off x="1717288" y="3501483"/>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4013019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40" grpId="0"/>
      <p:bldP spid="41" grpId="0"/>
      <p:bldP spid="3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FE128-4288-3BBF-113E-AEB0727A04A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F41A509-1F50-402B-2053-BBFC3AFA9298}"/>
              </a:ext>
            </a:extLst>
          </p:cNvPr>
          <p:cNvSpPr/>
          <p:nvPr/>
        </p:nvSpPr>
        <p:spPr>
          <a:xfrm>
            <a:off x="0" y="-2"/>
            <a:ext cx="12192000" cy="107852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FEAB20-3AED-FC20-F4B8-52566C2D7CE9}"/>
              </a:ext>
            </a:extLst>
          </p:cNvPr>
          <p:cNvSpPr>
            <a:spLocks noGrp="1"/>
          </p:cNvSpPr>
          <p:nvPr>
            <p:ph type="title"/>
          </p:nvPr>
        </p:nvSpPr>
        <p:spPr>
          <a:xfrm>
            <a:off x="419559" y="86556"/>
            <a:ext cx="10515600" cy="982663"/>
          </a:xfrm>
        </p:spPr>
        <p:txBody>
          <a:bodyPr>
            <a:normAutofit/>
          </a:bodyPr>
          <a:lstStyle/>
          <a:p>
            <a:r>
              <a:rPr lang="en-US" b="1" dirty="0">
                <a:solidFill>
                  <a:schemeClr val="bg1"/>
                </a:solidFill>
                <a:latin typeface="Helvetica" pitchFamily="2" charset="0"/>
              </a:rPr>
              <a:t>1-2.</a:t>
            </a:r>
            <a:r>
              <a:rPr lang="en-US" b="1" dirty="0">
                <a:solidFill>
                  <a:schemeClr val="bg1"/>
                </a:solidFill>
                <a:latin typeface="Helvetica" pitchFamily="2" charset="0"/>
                <a:cs typeface="Times New Roman" panose="02020603050405020304" pitchFamily="18" charset="0"/>
              </a:rPr>
              <a:t>Quick Ratio or Acid Test</a:t>
            </a:r>
            <a:endParaRPr lang="en-US" b="1" dirty="0">
              <a:solidFill>
                <a:schemeClr val="bg1"/>
              </a:solidFill>
              <a:latin typeface="Helvetica" pitchFamily="2" charset="0"/>
            </a:endParaRPr>
          </a:p>
        </p:txBody>
      </p:sp>
      <p:sp>
        <p:nvSpPr>
          <p:cNvPr id="3" name="TextBox 2">
            <a:extLst>
              <a:ext uri="{FF2B5EF4-FFF2-40B4-BE49-F238E27FC236}">
                <a16:creationId xmlns:a16="http://schemas.microsoft.com/office/drawing/2014/main" id="{CCC8F197-DD3B-4D73-AC0A-83A5604485A5}"/>
              </a:ext>
            </a:extLst>
          </p:cNvPr>
          <p:cNvSpPr txBox="1"/>
          <p:nvPr/>
        </p:nvSpPr>
        <p:spPr>
          <a:xfrm>
            <a:off x="356318" y="1724696"/>
            <a:ext cx="11730174" cy="1200329"/>
          </a:xfrm>
          <a:prstGeom prst="rect">
            <a:avLst/>
          </a:prstGeom>
          <a:noFill/>
        </p:spPr>
        <p:txBody>
          <a:bodyPr wrap="square" rtlCol="0">
            <a:spAutoFit/>
          </a:bodyPr>
          <a:lstStyle/>
          <a:p>
            <a:pPr>
              <a:spcBef>
                <a:spcPts val="600"/>
              </a:spcBef>
              <a:spcAft>
                <a:spcPts val="600"/>
              </a:spcAft>
            </a:pPr>
            <a:r>
              <a:rPr lang="en-US" sz="2400" dirty="0">
                <a:latin typeface="Helvetica" pitchFamily="2" charset="0"/>
              </a:rPr>
              <a:t>A company has current liabilities of $500 million and a current ratio of 2.50. What is the total value of its current assets? If the firm’s inventory is $450 million, what is the quick ratio?</a:t>
            </a:r>
            <a:endParaRPr lang="en-US" sz="2400" dirty="0">
              <a:latin typeface="Helvetica" pitchFamily="2" charset="0"/>
              <a:cs typeface="Times New Roman" panose="02020603050405020304" pitchFamily="18" charset="0"/>
            </a:endParaRPr>
          </a:p>
        </p:txBody>
      </p:sp>
      <p:sp>
        <p:nvSpPr>
          <p:cNvPr id="23" name="TextBox 22">
            <a:extLst>
              <a:ext uri="{FF2B5EF4-FFF2-40B4-BE49-F238E27FC236}">
                <a16:creationId xmlns:a16="http://schemas.microsoft.com/office/drawing/2014/main" id="{0CE763D2-9350-DA48-89CC-435FA2036716}"/>
              </a:ext>
            </a:extLst>
          </p:cNvPr>
          <p:cNvSpPr txBox="1"/>
          <p:nvPr/>
        </p:nvSpPr>
        <p:spPr>
          <a:xfrm>
            <a:off x="356318" y="1223816"/>
            <a:ext cx="1790875" cy="461665"/>
          </a:xfrm>
          <a:prstGeom prst="rect">
            <a:avLst/>
          </a:prstGeom>
          <a:noFill/>
        </p:spPr>
        <p:txBody>
          <a:bodyPr wrap="none" rtlCol="0">
            <a:spAutoFit/>
          </a:bodyPr>
          <a:lstStyle/>
          <a:p>
            <a:r>
              <a:rPr lang="en-US" sz="2400" b="1" dirty="0">
                <a:latin typeface="Helvetica" pitchFamily="2" charset="0"/>
                <a:cs typeface="Times New Roman" panose="02020603050405020304" pitchFamily="18" charset="0"/>
              </a:rPr>
              <a:t>Question-2</a:t>
            </a:r>
          </a:p>
        </p:txBody>
      </p:sp>
      <p:grpSp>
        <p:nvGrpSpPr>
          <p:cNvPr id="13" name="Group 12">
            <a:extLst>
              <a:ext uri="{FF2B5EF4-FFF2-40B4-BE49-F238E27FC236}">
                <a16:creationId xmlns:a16="http://schemas.microsoft.com/office/drawing/2014/main" id="{D30D2D30-D013-25D3-36CC-1D44B8965A4F}"/>
              </a:ext>
            </a:extLst>
          </p:cNvPr>
          <p:cNvGrpSpPr/>
          <p:nvPr/>
        </p:nvGrpSpPr>
        <p:grpSpPr>
          <a:xfrm>
            <a:off x="575250" y="3640729"/>
            <a:ext cx="4230921" cy="889553"/>
            <a:chOff x="2396037" y="3018490"/>
            <a:chExt cx="5168952" cy="889553"/>
          </a:xfrm>
        </p:grpSpPr>
        <p:sp>
          <p:nvSpPr>
            <p:cNvPr id="15" name="TextBox 14">
              <a:extLst>
                <a:ext uri="{FF2B5EF4-FFF2-40B4-BE49-F238E27FC236}">
                  <a16:creationId xmlns:a16="http://schemas.microsoft.com/office/drawing/2014/main" id="{ADD72C84-D202-C83B-D087-771EA1D1E0C7}"/>
                </a:ext>
              </a:extLst>
            </p:cNvPr>
            <p:cNvSpPr txBox="1">
              <a:spLocks/>
            </p:cNvSpPr>
            <p:nvPr/>
          </p:nvSpPr>
          <p:spPr>
            <a:xfrm>
              <a:off x="2396037" y="3321852"/>
              <a:ext cx="2200095" cy="384721"/>
            </a:xfrm>
            <a:prstGeom prst="rect">
              <a:avLst/>
            </a:prstGeom>
            <a:noFill/>
          </p:spPr>
          <p:txBody>
            <a:bodyPr wrap="none" rtlCol="0">
              <a:spAutoFit/>
            </a:bodyPr>
            <a:lstStyle/>
            <a:p>
              <a:pPr algn="ctr"/>
              <a:r>
                <a:rPr lang="en-US" sz="1900" b="1" dirty="0">
                  <a:latin typeface="Helvetica" pitchFamily="2" charset="0"/>
                </a:rPr>
                <a:t>Current Ratio</a:t>
              </a:r>
              <a:endParaRPr lang="en-US" sz="1900" b="1" dirty="0"/>
            </a:p>
          </p:txBody>
        </p:sp>
        <p:sp>
          <p:nvSpPr>
            <p:cNvPr id="18" name="TextBox 17">
              <a:extLst>
                <a:ext uri="{FF2B5EF4-FFF2-40B4-BE49-F238E27FC236}">
                  <a16:creationId xmlns:a16="http://schemas.microsoft.com/office/drawing/2014/main" id="{6D5B7C1B-6A1F-9BBE-8F74-5931A788BE1F}"/>
                </a:ext>
              </a:extLst>
            </p:cNvPr>
            <p:cNvSpPr txBox="1"/>
            <p:nvPr/>
          </p:nvSpPr>
          <p:spPr>
            <a:xfrm>
              <a:off x="4568037" y="3321852"/>
              <a:ext cx="297455" cy="384721"/>
            </a:xfrm>
            <a:prstGeom prst="rect">
              <a:avLst/>
            </a:prstGeom>
            <a:noFill/>
          </p:spPr>
          <p:txBody>
            <a:bodyPr wrap="square" rtlCol="0">
              <a:spAutoFit/>
            </a:bodyPr>
            <a:lstStyle/>
            <a:p>
              <a:r>
                <a:rPr lang="en-US" sz="1900" b="1" dirty="0"/>
                <a:t>=</a:t>
              </a:r>
            </a:p>
          </p:txBody>
        </p:sp>
        <p:sp>
          <p:nvSpPr>
            <p:cNvPr id="19" name="TextBox 18">
              <a:extLst>
                <a:ext uri="{FF2B5EF4-FFF2-40B4-BE49-F238E27FC236}">
                  <a16:creationId xmlns:a16="http://schemas.microsoft.com/office/drawing/2014/main" id="{28D7B126-A7E2-8E2F-0F07-7D65362DBFF4}"/>
                </a:ext>
              </a:extLst>
            </p:cNvPr>
            <p:cNvSpPr txBox="1">
              <a:spLocks/>
            </p:cNvSpPr>
            <p:nvPr/>
          </p:nvSpPr>
          <p:spPr>
            <a:xfrm>
              <a:off x="5035301" y="3018490"/>
              <a:ext cx="2318894" cy="384721"/>
            </a:xfrm>
            <a:prstGeom prst="rect">
              <a:avLst/>
            </a:prstGeom>
            <a:noFill/>
          </p:spPr>
          <p:txBody>
            <a:bodyPr wrap="none" rtlCol="0">
              <a:spAutoFit/>
            </a:bodyPr>
            <a:lstStyle/>
            <a:p>
              <a:pPr algn="ctr"/>
              <a:r>
                <a:rPr lang="en-US" sz="1900" b="1" dirty="0"/>
                <a:t>Current Assets</a:t>
              </a:r>
            </a:p>
          </p:txBody>
        </p:sp>
        <p:sp>
          <p:nvSpPr>
            <p:cNvPr id="21" name="TextBox 20">
              <a:extLst>
                <a:ext uri="{FF2B5EF4-FFF2-40B4-BE49-F238E27FC236}">
                  <a16:creationId xmlns:a16="http://schemas.microsoft.com/office/drawing/2014/main" id="{2E722F90-71CF-EB50-0201-03F050F79EAB}"/>
                </a:ext>
              </a:extLst>
            </p:cNvPr>
            <p:cNvSpPr txBox="1">
              <a:spLocks/>
            </p:cNvSpPr>
            <p:nvPr/>
          </p:nvSpPr>
          <p:spPr>
            <a:xfrm>
              <a:off x="4824514" y="3523322"/>
              <a:ext cx="2740475" cy="384721"/>
            </a:xfrm>
            <a:prstGeom prst="rect">
              <a:avLst/>
            </a:prstGeom>
            <a:noFill/>
          </p:spPr>
          <p:txBody>
            <a:bodyPr wrap="none" rtlCol="0">
              <a:spAutoFit/>
            </a:bodyPr>
            <a:lstStyle/>
            <a:p>
              <a:pPr algn="ctr"/>
              <a:r>
                <a:rPr lang="en-US" sz="1900" b="1" dirty="0"/>
                <a:t>Current Liabilities</a:t>
              </a:r>
            </a:p>
          </p:txBody>
        </p:sp>
        <p:cxnSp>
          <p:nvCxnSpPr>
            <p:cNvPr id="24" name="Straight Connector 23">
              <a:extLst>
                <a:ext uri="{FF2B5EF4-FFF2-40B4-BE49-F238E27FC236}">
                  <a16:creationId xmlns:a16="http://schemas.microsoft.com/office/drawing/2014/main" id="{20173E8D-2F91-62CA-DCB5-18A8C17C457E}"/>
                </a:ext>
              </a:extLst>
            </p:cNvPr>
            <p:cNvCxnSpPr>
              <a:cxnSpLocks/>
            </p:cNvCxnSpPr>
            <p:nvPr/>
          </p:nvCxnSpPr>
          <p:spPr>
            <a:xfrm>
              <a:off x="4980946" y="3501555"/>
              <a:ext cx="2427609"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8C5C506C-E248-ABF5-4996-1594A3D225FB}"/>
              </a:ext>
            </a:extLst>
          </p:cNvPr>
          <p:cNvGrpSpPr/>
          <p:nvPr/>
        </p:nvGrpSpPr>
        <p:grpSpPr>
          <a:xfrm>
            <a:off x="1325114" y="4756042"/>
            <a:ext cx="2840535" cy="904942"/>
            <a:chOff x="3253589" y="3029641"/>
            <a:chExt cx="3582601" cy="904942"/>
          </a:xfrm>
        </p:grpSpPr>
        <p:sp>
          <p:nvSpPr>
            <p:cNvPr id="26" name="TextBox 25">
              <a:extLst>
                <a:ext uri="{FF2B5EF4-FFF2-40B4-BE49-F238E27FC236}">
                  <a16:creationId xmlns:a16="http://schemas.microsoft.com/office/drawing/2014/main" id="{34B9ADAA-D5BA-7844-C632-0F54FB0EB481}"/>
                </a:ext>
              </a:extLst>
            </p:cNvPr>
            <p:cNvSpPr txBox="1">
              <a:spLocks/>
            </p:cNvSpPr>
            <p:nvPr/>
          </p:nvSpPr>
          <p:spPr>
            <a:xfrm>
              <a:off x="3253589" y="3321853"/>
              <a:ext cx="861680" cy="400110"/>
            </a:xfrm>
            <a:prstGeom prst="rect">
              <a:avLst/>
            </a:prstGeom>
            <a:noFill/>
          </p:spPr>
          <p:txBody>
            <a:bodyPr wrap="none" rtlCol="0">
              <a:spAutoFit/>
            </a:bodyPr>
            <a:lstStyle/>
            <a:p>
              <a:pPr algn="ctr"/>
              <a:r>
                <a:rPr lang="en-US" sz="2000" b="1" dirty="0">
                  <a:latin typeface="Helvetica" pitchFamily="2" charset="0"/>
                </a:rPr>
                <a:t>2.50</a:t>
              </a:r>
              <a:endParaRPr lang="en-US" sz="2000" b="1" dirty="0"/>
            </a:p>
          </p:txBody>
        </p:sp>
        <p:sp>
          <p:nvSpPr>
            <p:cNvPr id="27" name="TextBox 26">
              <a:extLst>
                <a:ext uri="{FF2B5EF4-FFF2-40B4-BE49-F238E27FC236}">
                  <a16:creationId xmlns:a16="http://schemas.microsoft.com/office/drawing/2014/main" id="{64EFC2E4-8BF8-70F8-879D-8149C211FB4A}"/>
                </a:ext>
              </a:extLst>
            </p:cNvPr>
            <p:cNvSpPr txBox="1"/>
            <p:nvPr/>
          </p:nvSpPr>
          <p:spPr>
            <a:xfrm>
              <a:off x="3949205" y="3321852"/>
              <a:ext cx="297455" cy="400110"/>
            </a:xfrm>
            <a:prstGeom prst="rect">
              <a:avLst/>
            </a:prstGeom>
            <a:noFill/>
          </p:spPr>
          <p:txBody>
            <a:bodyPr wrap="square" rtlCol="0">
              <a:spAutoFit/>
            </a:bodyPr>
            <a:lstStyle/>
            <a:p>
              <a:r>
                <a:rPr lang="en-US" sz="2000" b="1" dirty="0"/>
                <a:t>=</a:t>
              </a:r>
            </a:p>
          </p:txBody>
        </p:sp>
        <p:sp>
          <p:nvSpPr>
            <p:cNvPr id="28" name="TextBox 27">
              <a:extLst>
                <a:ext uri="{FF2B5EF4-FFF2-40B4-BE49-F238E27FC236}">
                  <a16:creationId xmlns:a16="http://schemas.microsoft.com/office/drawing/2014/main" id="{60F4D312-6BFD-9B39-B841-990931AFF7E9}"/>
                </a:ext>
              </a:extLst>
            </p:cNvPr>
            <p:cNvSpPr txBox="1">
              <a:spLocks/>
            </p:cNvSpPr>
            <p:nvPr/>
          </p:nvSpPr>
          <p:spPr>
            <a:xfrm>
              <a:off x="4400033" y="3029641"/>
              <a:ext cx="2436157" cy="400110"/>
            </a:xfrm>
            <a:prstGeom prst="rect">
              <a:avLst/>
            </a:prstGeom>
            <a:noFill/>
          </p:spPr>
          <p:txBody>
            <a:bodyPr wrap="none" rtlCol="0">
              <a:spAutoFit/>
            </a:bodyPr>
            <a:lstStyle/>
            <a:p>
              <a:pPr algn="ctr"/>
              <a:r>
                <a:rPr lang="en-US" sz="2000" b="1" dirty="0">
                  <a:solidFill>
                    <a:schemeClr val="accent5">
                      <a:lumMod val="75000"/>
                    </a:schemeClr>
                  </a:solidFill>
                </a:rPr>
                <a:t>Current Assets</a:t>
              </a:r>
            </a:p>
          </p:txBody>
        </p:sp>
        <p:sp>
          <p:nvSpPr>
            <p:cNvPr id="29" name="TextBox 28">
              <a:extLst>
                <a:ext uri="{FF2B5EF4-FFF2-40B4-BE49-F238E27FC236}">
                  <a16:creationId xmlns:a16="http://schemas.microsoft.com/office/drawing/2014/main" id="{2045E058-A9CC-2B21-2DE0-5EC62C757FE6}"/>
                </a:ext>
              </a:extLst>
            </p:cNvPr>
            <p:cNvSpPr txBox="1">
              <a:spLocks/>
            </p:cNvSpPr>
            <p:nvPr/>
          </p:nvSpPr>
          <p:spPr>
            <a:xfrm>
              <a:off x="5243882" y="3534473"/>
              <a:ext cx="748461" cy="400110"/>
            </a:xfrm>
            <a:prstGeom prst="rect">
              <a:avLst/>
            </a:prstGeom>
            <a:noFill/>
          </p:spPr>
          <p:txBody>
            <a:bodyPr wrap="none" rtlCol="0">
              <a:spAutoFit/>
            </a:bodyPr>
            <a:lstStyle/>
            <a:p>
              <a:pPr algn="ctr"/>
              <a:r>
                <a:rPr lang="en-US" sz="2000" b="1" dirty="0"/>
                <a:t>500</a:t>
              </a:r>
            </a:p>
          </p:txBody>
        </p:sp>
        <p:cxnSp>
          <p:nvCxnSpPr>
            <p:cNvPr id="30" name="Straight Connector 29">
              <a:extLst>
                <a:ext uri="{FF2B5EF4-FFF2-40B4-BE49-F238E27FC236}">
                  <a16:creationId xmlns:a16="http://schemas.microsoft.com/office/drawing/2014/main" id="{0B838199-60F3-EC23-B3C1-0B71F0CFABA7}"/>
                </a:ext>
              </a:extLst>
            </p:cNvPr>
            <p:cNvCxnSpPr>
              <a:cxnSpLocks/>
            </p:cNvCxnSpPr>
            <p:nvPr/>
          </p:nvCxnSpPr>
          <p:spPr>
            <a:xfrm>
              <a:off x="4404306" y="3512706"/>
              <a:ext cx="242760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2" name="TextBox 31">
            <a:extLst>
              <a:ext uri="{FF2B5EF4-FFF2-40B4-BE49-F238E27FC236}">
                <a16:creationId xmlns:a16="http://schemas.microsoft.com/office/drawing/2014/main" id="{44A41C05-3D54-207D-81B5-F094D3874C9C}"/>
              </a:ext>
            </a:extLst>
          </p:cNvPr>
          <p:cNvSpPr txBox="1">
            <a:spLocks/>
          </p:cNvSpPr>
          <p:nvPr/>
        </p:nvSpPr>
        <p:spPr>
          <a:xfrm>
            <a:off x="931951" y="5785111"/>
            <a:ext cx="3518227" cy="430887"/>
          </a:xfrm>
          <a:prstGeom prst="rect">
            <a:avLst/>
          </a:prstGeom>
          <a:noFill/>
        </p:spPr>
        <p:txBody>
          <a:bodyPr wrap="square" rtlCol="0">
            <a:spAutoFit/>
          </a:bodyPr>
          <a:lstStyle/>
          <a:p>
            <a:pPr algn="ctr"/>
            <a:r>
              <a:rPr lang="en-US" sz="2200" b="1" dirty="0">
                <a:solidFill>
                  <a:schemeClr val="accent5">
                    <a:lumMod val="75000"/>
                  </a:schemeClr>
                </a:solidFill>
              </a:rPr>
              <a:t>Current Assets = $1,250</a:t>
            </a:r>
          </a:p>
        </p:txBody>
      </p:sp>
      <p:sp>
        <p:nvSpPr>
          <p:cNvPr id="33" name="Rectangle 32">
            <a:extLst>
              <a:ext uri="{FF2B5EF4-FFF2-40B4-BE49-F238E27FC236}">
                <a16:creationId xmlns:a16="http://schemas.microsoft.com/office/drawing/2014/main" id="{54B20853-7FB1-3B7D-AB8A-DE7E5D63CCA5}"/>
              </a:ext>
            </a:extLst>
          </p:cNvPr>
          <p:cNvSpPr/>
          <p:nvPr/>
        </p:nvSpPr>
        <p:spPr>
          <a:xfrm>
            <a:off x="240955" y="3299849"/>
            <a:ext cx="5212877" cy="3107785"/>
          </a:xfrm>
          <a:prstGeom prst="rect">
            <a:avLst/>
          </a:prstGeom>
          <a:noFill/>
          <a:ln w="57150">
            <a:solidFill>
              <a:srgbClr val="00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98B2EDC5-FF80-1240-9088-981C96DA77D5}"/>
              </a:ext>
            </a:extLst>
          </p:cNvPr>
          <p:cNvGrpSpPr/>
          <p:nvPr/>
        </p:nvGrpSpPr>
        <p:grpSpPr>
          <a:xfrm>
            <a:off x="6803220" y="3639046"/>
            <a:ext cx="4933416" cy="891236"/>
            <a:chOff x="2776993" y="3007697"/>
            <a:chExt cx="6027196" cy="891236"/>
          </a:xfrm>
        </p:grpSpPr>
        <p:sp>
          <p:nvSpPr>
            <p:cNvPr id="35" name="TextBox 34">
              <a:extLst>
                <a:ext uri="{FF2B5EF4-FFF2-40B4-BE49-F238E27FC236}">
                  <a16:creationId xmlns:a16="http://schemas.microsoft.com/office/drawing/2014/main" id="{BD4065D3-1446-467F-70F5-5A0B03FA089C}"/>
                </a:ext>
              </a:extLst>
            </p:cNvPr>
            <p:cNvSpPr txBox="1">
              <a:spLocks/>
            </p:cNvSpPr>
            <p:nvPr/>
          </p:nvSpPr>
          <p:spPr>
            <a:xfrm>
              <a:off x="2776993" y="3312742"/>
              <a:ext cx="1858916" cy="400110"/>
            </a:xfrm>
            <a:prstGeom prst="rect">
              <a:avLst/>
            </a:prstGeom>
            <a:noFill/>
          </p:spPr>
          <p:txBody>
            <a:bodyPr wrap="none" rtlCol="0">
              <a:spAutoFit/>
            </a:bodyPr>
            <a:lstStyle/>
            <a:p>
              <a:pPr algn="ctr"/>
              <a:r>
                <a:rPr lang="en-US" sz="2000" b="1" dirty="0">
                  <a:latin typeface="Helvetica" pitchFamily="2" charset="0"/>
                </a:rPr>
                <a:t>Quick ratio</a:t>
              </a:r>
              <a:endParaRPr lang="en-US" sz="2000" b="1" dirty="0"/>
            </a:p>
          </p:txBody>
        </p:sp>
        <p:sp>
          <p:nvSpPr>
            <p:cNvPr id="36" name="TextBox 35">
              <a:extLst>
                <a:ext uri="{FF2B5EF4-FFF2-40B4-BE49-F238E27FC236}">
                  <a16:creationId xmlns:a16="http://schemas.microsoft.com/office/drawing/2014/main" id="{BF9398CA-4D80-F19A-7A4F-DB4AA7D0033D}"/>
                </a:ext>
              </a:extLst>
            </p:cNvPr>
            <p:cNvSpPr txBox="1"/>
            <p:nvPr/>
          </p:nvSpPr>
          <p:spPr>
            <a:xfrm>
              <a:off x="4568037" y="3321852"/>
              <a:ext cx="297455" cy="384721"/>
            </a:xfrm>
            <a:prstGeom prst="rect">
              <a:avLst/>
            </a:prstGeom>
            <a:noFill/>
          </p:spPr>
          <p:txBody>
            <a:bodyPr wrap="square" rtlCol="0">
              <a:spAutoFit/>
            </a:bodyPr>
            <a:lstStyle/>
            <a:p>
              <a:r>
                <a:rPr lang="en-US" sz="1900" b="1" dirty="0"/>
                <a:t>=</a:t>
              </a:r>
            </a:p>
          </p:txBody>
        </p:sp>
        <p:sp>
          <p:nvSpPr>
            <p:cNvPr id="37" name="TextBox 36">
              <a:extLst>
                <a:ext uri="{FF2B5EF4-FFF2-40B4-BE49-F238E27FC236}">
                  <a16:creationId xmlns:a16="http://schemas.microsoft.com/office/drawing/2014/main" id="{0EBE20F5-7A61-0D39-41BB-F2BE1A361CB7}"/>
                </a:ext>
              </a:extLst>
            </p:cNvPr>
            <p:cNvSpPr txBox="1">
              <a:spLocks/>
            </p:cNvSpPr>
            <p:nvPr/>
          </p:nvSpPr>
          <p:spPr>
            <a:xfrm>
              <a:off x="5019080" y="3007697"/>
              <a:ext cx="3746973" cy="384721"/>
            </a:xfrm>
            <a:prstGeom prst="rect">
              <a:avLst/>
            </a:prstGeom>
            <a:noFill/>
          </p:spPr>
          <p:txBody>
            <a:bodyPr wrap="none" rtlCol="0">
              <a:spAutoFit/>
            </a:bodyPr>
            <a:lstStyle/>
            <a:p>
              <a:pPr algn="ctr"/>
              <a:r>
                <a:rPr lang="en-US" sz="1900" b="1" dirty="0"/>
                <a:t>Current Assets - Inventory</a:t>
              </a:r>
            </a:p>
          </p:txBody>
        </p:sp>
        <p:sp>
          <p:nvSpPr>
            <p:cNvPr id="38" name="TextBox 37">
              <a:extLst>
                <a:ext uri="{FF2B5EF4-FFF2-40B4-BE49-F238E27FC236}">
                  <a16:creationId xmlns:a16="http://schemas.microsoft.com/office/drawing/2014/main" id="{98D543B0-9736-7130-C1B4-616F040437AE}"/>
                </a:ext>
              </a:extLst>
            </p:cNvPr>
            <p:cNvSpPr txBox="1">
              <a:spLocks/>
            </p:cNvSpPr>
            <p:nvPr/>
          </p:nvSpPr>
          <p:spPr>
            <a:xfrm>
              <a:off x="5522329" y="3514212"/>
              <a:ext cx="2740475" cy="384721"/>
            </a:xfrm>
            <a:prstGeom prst="rect">
              <a:avLst/>
            </a:prstGeom>
            <a:noFill/>
          </p:spPr>
          <p:txBody>
            <a:bodyPr wrap="none" rtlCol="0">
              <a:spAutoFit/>
            </a:bodyPr>
            <a:lstStyle/>
            <a:p>
              <a:pPr algn="ctr"/>
              <a:r>
                <a:rPr lang="en-US" sz="1900" b="1" dirty="0"/>
                <a:t>Current Liabilities</a:t>
              </a:r>
            </a:p>
          </p:txBody>
        </p:sp>
        <p:cxnSp>
          <p:nvCxnSpPr>
            <p:cNvPr id="39" name="Straight Connector 38">
              <a:extLst>
                <a:ext uri="{FF2B5EF4-FFF2-40B4-BE49-F238E27FC236}">
                  <a16:creationId xmlns:a16="http://schemas.microsoft.com/office/drawing/2014/main" id="{D36022A6-056C-4619-53A4-71A74D58A8F3}"/>
                </a:ext>
              </a:extLst>
            </p:cNvPr>
            <p:cNvCxnSpPr>
              <a:cxnSpLocks/>
            </p:cNvCxnSpPr>
            <p:nvPr/>
          </p:nvCxnSpPr>
          <p:spPr>
            <a:xfrm>
              <a:off x="4980946" y="3501555"/>
              <a:ext cx="382324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0B8A225F-512C-4F76-0F95-C6F8B2A58C83}"/>
              </a:ext>
            </a:extLst>
          </p:cNvPr>
          <p:cNvGrpSpPr/>
          <p:nvPr/>
        </p:nvGrpSpPr>
        <p:grpSpPr>
          <a:xfrm>
            <a:off x="7296103" y="4756042"/>
            <a:ext cx="3800530" cy="904942"/>
            <a:chOff x="2038528" y="3029641"/>
            <a:chExt cx="4793386" cy="904942"/>
          </a:xfrm>
        </p:grpSpPr>
        <p:sp>
          <p:nvSpPr>
            <p:cNvPr id="42" name="TextBox 41">
              <a:extLst>
                <a:ext uri="{FF2B5EF4-FFF2-40B4-BE49-F238E27FC236}">
                  <a16:creationId xmlns:a16="http://schemas.microsoft.com/office/drawing/2014/main" id="{58238B35-8D2A-43E7-252B-08B5BE8FB9D5}"/>
                </a:ext>
              </a:extLst>
            </p:cNvPr>
            <p:cNvSpPr txBox="1">
              <a:spLocks/>
            </p:cNvSpPr>
            <p:nvPr/>
          </p:nvSpPr>
          <p:spPr>
            <a:xfrm>
              <a:off x="2038528" y="3312651"/>
              <a:ext cx="1919067" cy="400110"/>
            </a:xfrm>
            <a:prstGeom prst="rect">
              <a:avLst/>
            </a:prstGeom>
            <a:noFill/>
          </p:spPr>
          <p:txBody>
            <a:bodyPr wrap="none" rtlCol="0">
              <a:spAutoFit/>
            </a:bodyPr>
            <a:lstStyle/>
            <a:p>
              <a:pPr algn="ctr"/>
              <a:r>
                <a:rPr lang="en-US" sz="2000" b="1" dirty="0">
                  <a:latin typeface="Helvetica" pitchFamily="2" charset="0"/>
                </a:rPr>
                <a:t>Quick ratio</a:t>
              </a:r>
              <a:endParaRPr lang="en-US" sz="2000" b="1" dirty="0"/>
            </a:p>
          </p:txBody>
        </p:sp>
        <p:sp>
          <p:nvSpPr>
            <p:cNvPr id="43" name="TextBox 42">
              <a:extLst>
                <a:ext uri="{FF2B5EF4-FFF2-40B4-BE49-F238E27FC236}">
                  <a16:creationId xmlns:a16="http://schemas.microsoft.com/office/drawing/2014/main" id="{F0169B21-9A50-22E6-3460-A896CFBCCC81}"/>
                </a:ext>
              </a:extLst>
            </p:cNvPr>
            <p:cNvSpPr txBox="1"/>
            <p:nvPr/>
          </p:nvSpPr>
          <p:spPr>
            <a:xfrm>
              <a:off x="3949205" y="3321852"/>
              <a:ext cx="297455" cy="400110"/>
            </a:xfrm>
            <a:prstGeom prst="rect">
              <a:avLst/>
            </a:prstGeom>
            <a:noFill/>
          </p:spPr>
          <p:txBody>
            <a:bodyPr wrap="square" rtlCol="0">
              <a:spAutoFit/>
            </a:bodyPr>
            <a:lstStyle/>
            <a:p>
              <a:r>
                <a:rPr lang="en-US" sz="2000" b="1" dirty="0"/>
                <a:t>=</a:t>
              </a:r>
            </a:p>
          </p:txBody>
        </p:sp>
        <p:sp>
          <p:nvSpPr>
            <p:cNvPr id="44" name="TextBox 43">
              <a:extLst>
                <a:ext uri="{FF2B5EF4-FFF2-40B4-BE49-F238E27FC236}">
                  <a16:creationId xmlns:a16="http://schemas.microsoft.com/office/drawing/2014/main" id="{DCF77D31-A115-2653-DF77-F88E44350668}"/>
                </a:ext>
              </a:extLst>
            </p:cNvPr>
            <p:cNvSpPr txBox="1">
              <a:spLocks/>
            </p:cNvSpPr>
            <p:nvPr/>
          </p:nvSpPr>
          <p:spPr>
            <a:xfrm>
              <a:off x="4730352" y="3029641"/>
              <a:ext cx="1775523" cy="400110"/>
            </a:xfrm>
            <a:prstGeom prst="rect">
              <a:avLst/>
            </a:prstGeom>
            <a:noFill/>
          </p:spPr>
          <p:txBody>
            <a:bodyPr wrap="none" rtlCol="0">
              <a:spAutoFit/>
            </a:bodyPr>
            <a:lstStyle/>
            <a:p>
              <a:pPr algn="ctr"/>
              <a:r>
                <a:rPr lang="en-US" sz="2000" b="1" dirty="0"/>
                <a:t>1,250 - 450</a:t>
              </a:r>
            </a:p>
          </p:txBody>
        </p:sp>
        <p:sp>
          <p:nvSpPr>
            <p:cNvPr id="45" name="TextBox 44">
              <a:extLst>
                <a:ext uri="{FF2B5EF4-FFF2-40B4-BE49-F238E27FC236}">
                  <a16:creationId xmlns:a16="http://schemas.microsoft.com/office/drawing/2014/main" id="{32040BC3-38BD-C6E7-06CE-0DD9091A39A1}"/>
                </a:ext>
              </a:extLst>
            </p:cNvPr>
            <p:cNvSpPr txBox="1">
              <a:spLocks/>
            </p:cNvSpPr>
            <p:nvPr/>
          </p:nvSpPr>
          <p:spPr>
            <a:xfrm>
              <a:off x="5243882" y="3534473"/>
              <a:ext cx="748461" cy="400110"/>
            </a:xfrm>
            <a:prstGeom prst="rect">
              <a:avLst/>
            </a:prstGeom>
            <a:noFill/>
          </p:spPr>
          <p:txBody>
            <a:bodyPr wrap="none" rtlCol="0">
              <a:spAutoFit/>
            </a:bodyPr>
            <a:lstStyle/>
            <a:p>
              <a:pPr algn="ctr"/>
              <a:r>
                <a:rPr lang="en-US" sz="2000" b="1" dirty="0"/>
                <a:t>500</a:t>
              </a:r>
            </a:p>
          </p:txBody>
        </p:sp>
        <p:cxnSp>
          <p:nvCxnSpPr>
            <p:cNvPr id="46" name="Straight Connector 45">
              <a:extLst>
                <a:ext uri="{FF2B5EF4-FFF2-40B4-BE49-F238E27FC236}">
                  <a16:creationId xmlns:a16="http://schemas.microsoft.com/office/drawing/2014/main" id="{A2C42DE8-213D-C16D-9224-69D87F8C9FB7}"/>
                </a:ext>
              </a:extLst>
            </p:cNvPr>
            <p:cNvCxnSpPr>
              <a:cxnSpLocks/>
            </p:cNvCxnSpPr>
            <p:nvPr/>
          </p:nvCxnSpPr>
          <p:spPr>
            <a:xfrm>
              <a:off x="4404306" y="3512706"/>
              <a:ext cx="242760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7" name="TextBox 46">
            <a:extLst>
              <a:ext uri="{FF2B5EF4-FFF2-40B4-BE49-F238E27FC236}">
                <a16:creationId xmlns:a16="http://schemas.microsoft.com/office/drawing/2014/main" id="{A79BAEE9-9E2E-9960-9918-9AA9BF514818}"/>
              </a:ext>
            </a:extLst>
          </p:cNvPr>
          <p:cNvSpPr txBox="1"/>
          <p:nvPr/>
        </p:nvSpPr>
        <p:spPr>
          <a:xfrm>
            <a:off x="8163835" y="5851003"/>
            <a:ext cx="2533066" cy="430887"/>
          </a:xfrm>
          <a:prstGeom prst="rect">
            <a:avLst/>
          </a:prstGeom>
          <a:noFill/>
        </p:spPr>
        <p:txBody>
          <a:bodyPr wrap="none" rtlCol="0">
            <a:spAutoFit/>
          </a:bodyPr>
          <a:lstStyle/>
          <a:p>
            <a:r>
              <a:rPr lang="en-US" sz="2200" b="1" dirty="0">
                <a:solidFill>
                  <a:srgbClr val="C00000"/>
                </a:solidFill>
                <a:latin typeface="Helvetica" pitchFamily="2" charset="0"/>
              </a:rPr>
              <a:t>Quick ratio = 1.60</a:t>
            </a:r>
            <a:endParaRPr lang="en-US" sz="2200" b="1" dirty="0">
              <a:solidFill>
                <a:srgbClr val="C00000"/>
              </a:solidFill>
            </a:endParaRPr>
          </a:p>
        </p:txBody>
      </p:sp>
      <p:sp>
        <p:nvSpPr>
          <p:cNvPr id="48" name="Rectangle 47">
            <a:extLst>
              <a:ext uri="{FF2B5EF4-FFF2-40B4-BE49-F238E27FC236}">
                <a16:creationId xmlns:a16="http://schemas.microsoft.com/office/drawing/2014/main" id="{ACAEC88A-27E6-2E2F-9CBA-F82541279C08}"/>
              </a:ext>
            </a:extLst>
          </p:cNvPr>
          <p:cNvSpPr/>
          <p:nvPr/>
        </p:nvSpPr>
        <p:spPr>
          <a:xfrm>
            <a:off x="6738166" y="3284084"/>
            <a:ext cx="5212877" cy="3107785"/>
          </a:xfrm>
          <a:prstGeom prst="rect">
            <a:avLst/>
          </a:prstGeom>
          <a:noFill/>
          <a:ln w="57150">
            <a:solidFill>
              <a:srgbClr val="00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7328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animBg="1"/>
      <p:bldP spid="47" grpId="0"/>
      <p:bldP spid="4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DF426-82AB-214F-BE35-F57D27D7B62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524A239-F264-4A97-60E4-D44322CDF07D}"/>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028A51-69EB-5876-B288-6E3D99C9492A}"/>
              </a:ext>
            </a:extLst>
          </p:cNvPr>
          <p:cNvSpPr>
            <a:spLocks noGrp="1"/>
          </p:cNvSpPr>
          <p:nvPr>
            <p:ph type="title"/>
          </p:nvPr>
        </p:nvSpPr>
        <p:spPr>
          <a:xfrm>
            <a:off x="419559" y="192063"/>
            <a:ext cx="10515600" cy="982663"/>
          </a:xfrm>
        </p:spPr>
        <p:txBody>
          <a:bodyPr>
            <a:normAutofit/>
          </a:bodyPr>
          <a:lstStyle/>
          <a:p>
            <a:r>
              <a:rPr lang="en-US" b="1" dirty="0">
                <a:solidFill>
                  <a:schemeClr val="bg1"/>
                </a:solidFill>
                <a:latin typeface="Helvetica" pitchFamily="2" charset="0"/>
              </a:rPr>
              <a:t>1-3.</a:t>
            </a:r>
            <a:r>
              <a:rPr lang="en-US" b="1" dirty="0">
                <a:solidFill>
                  <a:schemeClr val="bg1"/>
                </a:solidFill>
                <a:latin typeface="Helvetica" pitchFamily="2" charset="0"/>
                <a:cs typeface="Times New Roman" panose="02020603050405020304" pitchFamily="18" charset="0"/>
              </a:rPr>
              <a:t>Cash Ratio</a:t>
            </a:r>
            <a:endParaRPr lang="en-US" b="1" dirty="0">
              <a:solidFill>
                <a:schemeClr val="bg1"/>
              </a:solidFill>
              <a:latin typeface="Helvetica" pitchFamily="2" charset="0"/>
            </a:endParaRPr>
          </a:p>
        </p:txBody>
      </p:sp>
      <p:grpSp>
        <p:nvGrpSpPr>
          <p:cNvPr id="18" name="Group 17">
            <a:extLst>
              <a:ext uri="{FF2B5EF4-FFF2-40B4-BE49-F238E27FC236}">
                <a16:creationId xmlns:a16="http://schemas.microsoft.com/office/drawing/2014/main" id="{555B196A-6610-A4EC-009D-814FE85E93DD}"/>
              </a:ext>
            </a:extLst>
          </p:cNvPr>
          <p:cNvGrpSpPr/>
          <p:nvPr/>
        </p:nvGrpSpPr>
        <p:grpSpPr>
          <a:xfrm>
            <a:off x="2918120" y="1509938"/>
            <a:ext cx="6406254" cy="977490"/>
            <a:chOff x="2788190" y="3051735"/>
            <a:chExt cx="6406254" cy="977490"/>
          </a:xfrm>
        </p:grpSpPr>
        <p:sp>
          <p:nvSpPr>
            <p:cNvPr id="10" name="TextBox 9">
              <a:extLst>
                <a:ext uri="{FF2B5EF4-FFF2-40B4-BE49-F238E27FC236}">
                  <a16:creationId xmlns:a16="http://schemas.microsoft.com/office/drawing/2014/main" id="{C323537A-598E-E588-EF89-436907F7915C}"/>
                </a:ext>
              </a:extLst>
            </p:cNvPr>
            <p:cNvSpPr txBox="1">
              <a:spLocks/>
            </p:cNvSpPr>
            <p:nvPr/>
          </p:nvSpPr>
          <p:spPr>
            <a:xfrm>
              <a:off x="2788190" y="3321853"/>
              <a:ext cx="1792478" cy="461665"/>
            </a:xfrm>
            <a:prstGeom prst="rect">
              <a:avLst/>
            </a:prstGeom>
            <a:noFill/>
          </p:spPr>
          <p:txBody>
            <a:bodyPr wrap="none" rtlCol="0">
              <a:spAutoFit/>
            </a:bodyPr>
            <a:lstStyle/>
            <a:p>
              <a:pPr algn="ctr"/>
              <a:r>
                <a:rPr lang="en-US" sz="2400" b="1" dirty="0">
                  <a:solidFill>
                    <a:srgbClr val="C00000"/>
                  </a:solidFill>
                  <a:latin typeface="Helvetica" pitchFamily="2" charset="0"/>
                </a:rPr>
                <a:t>Cash Ratio</a:t>
              </a:r>
            </a:p>
          </p:txBody>
        </p:sp>
        <p:sp>
          <p:nvSpPr>
            <p:cNvPr id="11" name="TextBox 10">
              <a:extLst>
                <a:ext uri="{FF2B5EF4-FFF2-40B4-BE49-F238E27FC236}">
                  <a16:creationId xmlns:a16="http://schemas.microsoft.com/office/drawing/2014/main" id="{E3AAF2CD-74CB-CB9C-4225-BF5145717E99}"/>
                </a:ext>
              </a:extLst>
            </p:cNvPr>
            <p:cNvSpPr txBox="1"/>
            <p:nvPr/>
          </p:nvSpPr>
          <p:spPr>
            <a:xfrm>
              <a:off x="4736807"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12" name="TextBox 11">
              <a:extLst>
                <a:ext uri="{FF2B5EF4-FFF2-40B4-BE49-F238E27FC236}">
                  <a16:creationId xmlns:a16="http://schemas.microsoft.com/office/drawing/2014/main" id="{EF9D406D-FB08-86A8-B252-22E3DE882F6D}"/>
                </a:ext>
              </a:extLst>
            </p:cNvPr>
            <p:cNvSpPr txBox="1">
              <a:spLocks/>
            </p:cNvSpPr>
            <p:nvPr/>
          </p:nvSpPr>
          <p:spPr>
            <a:xfrm>
              <a:off x="5383809" y="3051735"/>
              <a:ext cx="3632149" cy="461665"/>
            </a:xfrm>
            <a:prstGeom prst="rect">
              <a:avLst/>
            </a:prstGeom>
            <a:noFill/>
          </p:spPr>
          <p:txBody>
            <a:bodyPr wrap="none" rtlCol="0">
              <a:spAutoFit/>
            </a:bodyPr>
            <a:lstStyle/>
            <a:p>
              <a:pPr algn="ctr"/>
              <a:r>
                <a:rPr lang="en-US" sz="2400" b="1" dirty="0">
                  <a:solidFill>
                    <a:srgbClr val="C00000"/>
                  </a:solidFill>
                </a:rPr>
                <a:t>Cash + Cash Equivalents</a:t>
              </a:r>
            </a:p>
          </p:txBody>
        </p:sp>
        <p:sp>
          <p:nvSpPr>
            <p:cNvPr id="13" name="TextBox 12">
              <a:extLst>
                <a:ext uri="{FF2B5EF4-FFF2-40B4-BE49-F238E27FC236}">
                  <a16:creationId xmlns:a16="http://schemas.microsoft.com/office/drawing/2014/main" id="{E70BC808-AB6A-BA25-665C-1EB0CFF95598}"/>
                </a:ext>
              </a:extLst>
            </p:cNvPr>
            <p:cNvSpPr txBox="1">
              <a:spLocks/>
            </p:cNvSpPr>
            <p:nvPr/>
          </p:nvSpPr>
          <p:spPr>
            <a:xfrm>
              <a:off x="5849657" y="3567560"/>
              <a:ext cx="2693110" cy="461665"/>
            </a:xfrm>
            <a:prstGeom prst="rect">
              <a:avLst/>
            </a:prstGeom>
            <a:noFill/>
          </p:spPr>
          <p:txBody>
            <a:bodyPr wrap="none" rtlCol="0">
              <a:spAutoFit/>
            </a:bodyPr>
            <a:lstStyle/>
            <a:p>
              <a:pPr algn="ctr"/>
              <a:r>
                <a:rPr lang="en-US" sz="2400" b="1" dirty="0">
                  <a:solidFill>
                    <a:srgbClr val="C00000"/>
                  </a:solidFill>
                </a:rPr>
                <a:t>Current Liabilities</a:t>
              </a:r>
            </a:p>
          </p:txBody>
        </p:sp>
        <p:cxnSp>
          <p:nvCxnSpPr>
            <p:cNvPr id="15" name="Straight Connector 14">
              <a:extLst>
                <a:ext uri="{FF2B5EF4-FFF2-40B4-BE49-F238E27FC236}">
                  <a16:creationId xmlns:a16="http://schemas.microsoft.com/office/drawing/2014/main" id="{4268B5F4-BD6B-5A0C-D573-4C2DB53B331E}"/>
                </a:ext>
              </a:extLst>
            </p:cNvPr>
            <p:cNvCxnSpPr>
              <a:cxnSpLocks/>
            </p:cNvCxnSpPr>
            <p:nvPr/>
          </p:nvCxnSpPr>
          <p:spPr>
            <a:xfrm>
              <a:off x="5177844" y="3546159"/>
              <a:ext cx="401660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5" name="TextBox 34">
            <a:extLst>
              <a:ext uri="{FF2B5EF4-FFF2-40B4-BE49-F238E27FC236}">
                <a16:creationId xmlns:a16="http://schemas.microsoft.com/office/drawing/2014/main" id="{48D47093-BD41-8794-A1AA-C9705FA50415}"/>
              </a:ext>
            </a:extLst>
          </p:cNvPr>
          <p:cNvSpPr txBox="1"/>
          <p:nvPr/>
        </p:nvSpPr>
        <p:spPr>
          <a:xfrm>
            <a:off x="8019479" y="4496697"/>
            <a:ext cx="297455" cy="461665"/>
          </a:xfrm>
          <a:prstGeom prst="rect">
            <a:avLst/>
          </a:prstGeom>
          <a:noFill/>
        </p:spPr>
        <p:txBody>
          <a:bodyPr wrap="square" rtlCol="0">
            <a:spAutoFit/>
          </a:bodyPr>
          <a:lstStyle/>
          <a:p>
            <a:r>
              <a:rPr lang="en-US" sz="2400" b="1" dirty="0"/>
              <a:t>=</a:t>
            </a:r>
          </a:p>
        </p:txBody>
      </p:sp>
      <p:sp>
        <p:nvSpPr>
          <p:cNvPr id="36" name="TextBox 35">
            <a:extLst>
              <a:ext uri="{FF2B5EF4-FFF2-40B4-BE49-F238E27FC236}">
                <a16:creationId xmlns:a16="http://schemas.microsoft.com/office/drawing/2014/main" id="{D9927AD1-B5A1-E5B7-9B98-77F8D5D4F7BB}"/>
              </a:ext>
            </a:extLst>
          </p:cNvPr>
          <p:cNvSpPr txBox="1">
            <a:spLocks/>
          </p:cNvSpPr>
          <p:nvPr/>
        </p:nvSpPr>
        <p:spPr>
          <a:xfrm>
            <a:off x="8607150" y="4281944"/>
            <a:ext cx="902812" cy="430887"/>
          </a:xfrm>
          <a:prstGeom prst="rect">
            <a:avLst/>
          </a:prstGeom>
          <a:noFill/>
        </p:spPr>
        <p:txBody>
          <a:bodyPr wrap="none" rtlCol="0">
            <a:spAutoFit/>
          </a:bodyPr>
          <a:lstStyle/>
          <a:p>
            <a:pPr algn="ctr"/>
            <a:r>
              <a:rPr lang="en-US" sz="2200" b="1" dirty="0">
                <a:solidFill>
                  <a:srgbClr val="C00000"/>
                </a:solidFill>
              </a:rPr>
              <a:t>20 + 0</a:t>
            </a:r>
          </a:p>
        </p:txBody>
      </p:sp>
      <p:sp>
        <p:nvSpPr>
          <p:cNvPr id="37" name="TextBox 36">
            <a:extLst>
              <a:ext uri="{FF2B5EF4-FFF2-40B4-BE49-F238E27FC236}">
                <a16:creationId xmlns:a16="http://schemas.microsoft.com/office/drawing/2014/main" id="{885A8B59-77A8-20A3-6FA1-BEC0BF1A287E}"/>
              </a:ext>
            </a:extLst>
          </p:cNvPr>
          <p:cNvSpPr txBox="1">
            <a:spLocks/>
          </p:cNvSpPr>
          <p:nvPr/>
        </p:nvSpPr>
        <p:spPr>
          <a:xfrm>
            <a:off x="8746502" y="4696214"/>
            <a:ext cx="636713" cy="430887"/>
          </a:xfrm>
          <a:prstGeom prst="rect">
            <a:avLst/>
          </a:prstGeom>
          <a:noFill/>
        </p:spPr>
        <p:txBody>
          <a:bodyPr wrap="none" rtlCol="0">
            <a:spAutoFit/>
          </a:bodyPr>
          <a:lstStyle/>
          <a:p>
            <a:pPr algn="ctr"/>
            <a:r>
              <a:rPr lang="en-US" sz="2200" b="1" dirty="0">
                <a:solidFill>
                  <a:srgbClr val="C00000"/>
                </a:solidFill>
              </a:rPr>
              <a:t>708</a:t>
            </a:r>
          </a:p>
        </p:txBody>
      </p:sp>
      <p:cxnSp>
        <p:nvCxnSpPr>
          <p:cNvPr id="38" name="Straight Connector 37">
            <a:extLst>
              <a:ext uri="{FF2B5EF4-FFF2-40B4-BE49-F238E27FC236}">
                <a16:creationId xmlns:a16="http://schemas.microsoft.com/office/drawing/2014/main" id="{BB008EB7-091B-EBAA-6D00-32F38BE8C9D3}"/>
              </a:ext>
            </a:extLst>
          </p:cNvPr>
          <p:cNvCxnSpPr>
            <a:cxnSpLocks/>
          </p:cNvCxnSpPr>
          <p:nvPr/>
        </p:nvCxnSpPr>
        <p:spPr>
          <a:xfrm flipV="1">
            <a:off x="8462351" y="4705500"/>
            <a:ext cx="1179926" cy="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B092D5C-702E-365B-B77B-4920B6254EF8}"/>
                  </a:ext>
                </a:extLst>
              </p:cNvPr>
              <p:cNvSpPr txBox="1"/>
              <p:nvPr/>
            </p:nvSpPr>
            <p:spPr>
              <a:xfrm>
                <a:off x="9725536" y="4474134"/>
                <a:ext cx="29745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a:solidFill>
                            <a:schemeClr val="accent6">
                              <a:lumMod val="50000"/>
                            </a:schemeClr>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2400" b="1" dirty="0">
                  <a:solidFill>
                    <a:srgbClr val="C00000"/>
                  </a:solidFill>
                </a:endParaRPr>
              </a:p>
            </p:txBody>
          </p:sp>
        </mc:Choice>
        <mc:Fallback xmlns="">
          <p:sp>
            <p:nvSpPr>
              <p:cNvPr id="40" name="TextBox 39">
                <a:extLst>
                  <a:ext uri="{FF2B5EF4-FFF2-40B4-BE49-F238E27FC236}">
                    <a16:creationId xmlns:a16="http://schemas.microsoft.com/office/drawing/2014/main" id="{BB092D5C-702E-365B-B77B-4920B6254EF8}"/>
                  </a:ext>
                </a:extLst>
              </p:cNvPr>
              <p:cNvSpPr txBox="1">
                <a:spLocks noRot="1" noChangeAspect="1" noMove="1" noResize="1" noEditPoints="1" noAdjustHandles="1" noChangeArrowheads="1" noChangeShapeType="1" noTextEdit="1"/>
              </p:cNvSpPr>
              <p:nvPr/>
            </p:nvSpPr>
            <p:spPr>
              <a:xfrm>
                <a:off x="9725536" y="4474134"/>
                <a:ext cx="297455" cy="461665"/>
              </a:xfrm>
              <a:prstGeom prst="rect">
                <a:avLst/>
              </a:prstGeom>
              <a:blipFill>
                <a:blip r:embed="rId2"/>
                <a:stretch>
                  <a:fillRect r="-28000"/>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859EF708-EE66-F2AF-E9C0-AC01363110BE}"/>
              </a:ext>
            </a:extLst>
          </p:cNvPr>
          <p:cNvSpPr txBox="1"/>
          <p:nvPr/>
        </p:nvSpPr>
        <p:spPr>
          <a:xfrm>
            <a:off x="10175812" y="4475086"/>
            <a:ext cx="734496" cy="430887"/>
          </a:xfrm>
          <a:prstGeom prst="rect">
            <a:avLst/>
          </a:prstGeom>
          <a:noFill/>
        </p:spPr>
        <p:txBody>
          <a:bodyPr wrap="none" rtlCol="0">
            <a:spAutoFit/>
          </a:bodyPr>
          <a:lstStyle/>
          <a:p>
            <a:r>
              <a:rPr lang="en-US" sz="2200" b="1" dirty="0">
                <a:solidFill>
                  <a:srgbClr val="C00000"/>
                </a:solidFill>
                <a:latin typeface="Helvetica" pitchFamily="2" charset="0"/>
              </a:rPr>
              <a:t>0.03</a:t>
            </a:r>
          </a:p>
        </p:txBody>
      </p:sp>
      <p:grpSp>
        <p:nvGrpSpPr>
          <p:cNvPr id="20" name="Group 19">
            <a:extLst>
              <a:ext uri="{FF2B5EF4-FFF2-40B4-BE49-F238E27FC236}">
                <a16:creationId xmlns:a16="http://schemas.microsoft.com/office/drawing/2014/main" id="{B771A3B5-8EDB-A55F-D823-D896AF7875E7}"/>
              </a:ext>
            </a:extLst>
          </p:cNvPr>
          <p:cNvGrpSpPr/>
          <p:nvPr/>
        </p:nvGrpSpPr>
        <p:grpSpPr>
          <a:xfrm>
            <a:off x="945788" y="4297460"/>
            <a:ext cx="7044841" cy="878488"/>
            <a:chOff x="1963984" y="3119960"/>
            <a:chExt cx="5887661" cy="878488"/>
          </a:xfrm>
        </p:grpSpPr>
        <p:sp>
          <p:nvSpPr>
            <p:cNvPr id="21" name="TextBox 20">
              <a:extLst>
                <a:ext uri="{FF2B5EF4-FFF2-40B4-BE49-F238E27FC236}">
                  <a16:creationId xmlns:a16="http://schemas.microsoft.com/office/drawing/2014/main" id="{AF46285C-5EE7-AC3B-F284-B8BA275482F9}"/>
                </a:ext>
              </a:extLst>
            </p:cNvPr>
            <p:cNvSpPr txBox="1">
              <a:spLocks/>
            </p:cNvSpPr>
            <p:nvPr/>
          </p:nvSpPr>
          <p:spPr>
            <a:xfrm>
              <a:off x="1963984" y="3327411"/>
              <a:ext cx="2990626" cy="400110"/>
            </a:xfrm>
            <a:prstGeom prst="rect">
              <a:avLst/>
            </a:prstGeom>
            <a:noFill/>
          </p:spPr>
          <p:txBody>
            <a:bodyPr wrap="square" rtlCol="0">
              <a:spAutoFit/>
            </a:bodyPr>
            <a:lstStyle/>
            <a:p>
              <a:r>
                <a:rPr lang="en-US" sz="2000" b="1" dirty="0">
                  <a:latin typeface="Helvetica" pitchFamily="2" charset="0"/>
                </a:rPr>
                <a:t>Quick Ratio of XYZ for 2024</a:t>
              </a:r>
            </a:p>
          </p:txBody>
        </p:sp>
        <p:sp>
          <p:nvSpPr>
            <p:cNvPr id="22" name="TextBox 21">
              <a:extLst>
                <a:ext uri="{FF2B5EF4-FFF2-40B4-BE49-F238E27FC236}">
                  <a16:creationId xmlns:a16="http://schemas.microsoft.com/office/drawing/2014/main" id="{2C2CB321-A7C2-C93F-5394-84854D06C60A}"/>
                </a:ext>
              </a:extLst>
            </p:cNvPr>
            <p:cNvSpPr txBox="1"/>
            <p:nvPr/>
          </p:nvSpPr>
          <p:spPr>
            <a:xfrm>
              <a:off x="4813711" y="3349919"/>
              <a:ext cx="297455" cy="400110"/>
            </a:xfrm>
            <a:prstGeom prst="rect">
              <a:avLst/>
            </a:prstGeom>
            <a:noFill/>
          </p:spPr>
          <p:txBody>
            <a:bodyPr wrap="square" rtlCol="0">
              <a:spAutoFit/>
            </a:bodyPr>
            <a:lstStyle/>
            <a:p>
              <a:r>
                <a:rPr lang="en-US" sz="2000" b="1" dirty="0"/>
                <a:t>=</a:t>
              </a:r>
            </a:p>
          </p:txBody>
        </p:sp>
        <p:sp>
          <p:nvSpPr>
            <p:cNvPr id="23" name="TextBox 22">
              <a:extLst>
                <a:ext uri="{FF2B5EF4-FFF2-40B4-BE49-F238E27FC236}">
                  <a16:creationId xmlns:a16="http://schemas.microsoft.com/office/drawing/2014/main" id="{9AA68657-1FAF-12BB-FABC-72EF8EDCAAFA}"/>
                </a:ext>
              </a:extLst>
            </p:cNvPr>
            <p:cNvSpPr txBox="1">
              <a:spLocks/>
            </p:cNvSpPr>
            <p:nvPr/>
          </p:nvSpPr>
          <p:spPr>
            <a:xfrm>
              <a:off x="5102242" y="3119960"/>
              <a:ext cx="2749403" cy="400110"/>
            </a:xfrm>
            <a:prstGeom prst="rect">
              <a:avLst/>
            </a:prstGeom>
            <a:noFill/>
          </p:spPr>
          <p:txBody>
            <a:bodyPr wrap="square" rtlCol="0">
              <a:spAutoFit/>
            </a:bodyPr>
            <a:lstStyle/>
            <a:p>
              <a:pPr algn="ctr"/>
              <a:r>
                <a:rPr lang="en-US" sz="2000" b="1" dirty="0"/>
                <a:t>Cash + Cash Equivalents</a:t>
              </a:r>
            </a:p>
          </p:txBody>
        </p:sp>
        <p:sp>
          <p:nvSpPr>
            <p:cNvPr id="24" name="TextBox 23">
              <a:extLst>
                <a:ext uri="{FF2B5EF4-FFF2-40B4-BE49-F238E27FC236}">
                  <a16:creationId xmlns:a16="http://schemas.microsoft.com/office/drawing/2014/main" id="{04F76CD7-EAD3-5D40-A5BA-A7F0EACBF22E}"/>
                </a:ext>
              </a:extLst>
            </p:cNvPr>
            <p:cNvSpPr txBox="1">
              <a:spLocks/>
            </p:cNvSpPr>
            <p:nvPr/>
          </p:nvSpPr>
          <p:spPr>
            <a:xfrm>
              <a:off x="5529224" y="3598338"/>
              <a:ext cx="1956883" cy="400110"/>
            </a:xfrm>
            <a:prstGeom prst="rect">
              <a:avLst/>
            </a:prstGeom>
            <a:noFill/>
          </p:spPr>
          <p:txBody>
            <a:bodyPr wrap="square" rtlCol="0">
              <a:spAutoFit/>
            </a:bodyPr>
            <a:lstStyle/>
            <a:p>
              <a:pPr algn="ctr"/>
              <a:r>
                <a:rPr lang="en-US" sz="2000" b="1" dirty="0"/>
                <a:t>Current Liabilities</a:t>
              </a:r>
            </a:p>
          </p:txBody>
        </p:sp>
        <p:cxnSp>
          <p:nvCxnSpPr>
            <p:cNvPr id="25" name="Straight Connector 24">
              <a:extLst>
                <a:ext uri="{FF2B5EF4-FFF2-40B4-BE49-F238E27FC236}">
                  <a16:creationId xmlns:a16="http://schemas.microsoft.com/office/drawing/2014/main" id="{8BA156F1-8D24-6C6E-7630-F1485A736B6F}"/>
                </a:ext>
              </a:extLst>
            </p:cNvPr>
            <p:cNvCxnSpPr>
              <a:cxnSpLocks/>
            </p:cNvCxnSpPr>
            <p:nvPr/>
          </p:nvCxnSpPr>
          <p:spPr>
            <a:xfrm flipV="1">
              <a:off x="5132883" y="3546159"/>
              <a:ext cx="2704605" cy="3815"/>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9" name="TextBox 38">
            <a:extLst>
              <a:ext uri="{FF2B5EF4-FFF2-40B4-BE49-F238E27FC236}">
                <a16:creationId xmlns:a16="http://schemas.microsoft.com/office/drawing/2014/main" id="{5F22F08C-4E3C-F129-69B9-A1BEF5261663}"/>
              </a:ext>
            </a:extLst>
          </p:cNvPr>
          <p:cNvSpPr txBox="1"/>
          <p:nvPr/>
        </p:nvSpPr>
        <p:spPr>
          <a:xfrm>
            <a:off x="419559" y="5294181"/>
            <a:ext cx="11455919" cy="1354217"/>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400" dirty="0">
                <a:latin typeface="Helvetica" pitchFamily="2" charset="0"/>
              </a:rPr>
              <a:t>A cash ratio of 0.03 means that:</a:t>
            </a:r>
          </a:p>
          <a:p>
            <a:pPr marL="800100" lvl="1" indent="-342900">
              <a:spcBef>
                <a:spcPts val="600"/>
              </a:spcBef>
              <a:spcAft>
                <a:spcPts val="600"/>
              </a:spcAft>
              <a:buFont typeface="Arial" panose="020B0604020202020204" pitchFamily="34" charset="0"/>
              <a:buChar char="•"/>
            </a:pPr>
            <a:r>
              <a:rPr lang="en-US" sz="2400" dirty="0">
                <a:latin typeface="Helvetica" pitchFamily="2" charset="0"/>
              </a:rPr>
              <a:t>The company has $0.03 of cash available to cover every $1 of current liabilities without selling anything.</a:t>
            </a:r>
          </a:p>
        </p:txBody>
      </p:sp>
      <p:sp>
        <p:nvSpPr>
          <p:cNvPr id="3" name="TextBox 2">
            <a:extLst>
              <a:ext uri="{FF2B5EF4-FFF2-40B4-BE49-F238E27FC236}">
                <a16:creationId xmlns:a16="http://schemas.microsoft.com/office/drawing/2014/main" id="{2852C6A5-B09D-6FAF-2859-163668E9F00B}"/>
              </a:ext>
            </a:extLst>
          </p:cNvPr>
          <p:cNvSpPr txBox="1"/>
          <p:nvPr/>
        </p:nvSpPr>
        <p:spPr>
          <a:xfrm>
            <a:off x="419559" y="2749974"/>
            <a:ext cx="11585546" cy="1261884"/>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200" dirty="0">
                <a:latin typeface="Helvetica" pitchFamily="2" charset="0"/>
              </a:rPr>
              <a:t>Cash equivalents (very short-term, highly liquid investments)</a:t>
            </a:r>
          </a:p>
          <a:p>
            <a:pPr marL="342900" indent="-342900">
              <a:spcBef>
                <a:spcPts val="600"/>
              </a:spcBef>
              <a:spcAft>
                <a:spcPts val="600"/>
              </a:spcAft>
              <a:buFont typeface="Arial" panose="020B0604020202020204" pitchFamily="34" charset="0"/>
              <a:buChar char="•"/>
            </a:pPr>
            <a:r>
              <a:rPr lang="en-US" sz="2200" dirty="0">
                <a:latin typeface="Helvetica" pitchFamily="2" charset="0"/>
              </a:rPr>
              <a:t>It is the most conservative measure of liquidity and measures a company’s ability to pay short-term obligations using only cash.</a:t>
            </a:r>
          </a:p>
        </p:txBody>
      </p:sp>
    </p:spTree>
    <p:extLst>
      <p:ext uri="{BB962C8B-B14F-4D97-AF65-F5344CB8AC3E}">
        <p14:creationId xmlns:p14="http://schemas.microsoft.com/office/powerpoint/2010/main" val="303992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40" grpId="0"/>
      <p:bldP spid="41" grpId="0"/>
      <p:bldP spid="3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90B1-7365-71D8-15BF-B3168E2A4A5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72F2C72-6F92-422E-0EB9-838728970AB9}"/>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85D396-3AA5-12D9-9482-C2613815CFD1}"/>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2- Asset Management Ratios</a:t>
            </a:r>
            <a:endParaRPr lang="en-US" b="1" dirty="0">
              <a:solidFill>
                <a:schemeClr val="bg1"/>
              </a:solidFill>
              <a:latin typeface="Helvetica" pitchFamily="2" charset="0"/>
            </a:endParaRPr>
          </a:p>
        </p:txBody>
      </p:sp>
      <p:sp>
        <p:nvSpPr>
          <p:cNvPr id="16" name="TextBox 15">
            <a:extLst>
              <a:ext uri="{FF2B5EF4-FFF2-40B4-BE49-F238E27FC236}">
                <a16:creationId xmlns:a16="http://schemas.microsoft.com/office/drawing/2014/main" id="{A6C75AD3-C49E-76CA-C63F-19DCDC834CC4}"/>
              </a:ext>
            </a:extLst>
          </p:cNvPr>
          <p:cNvSpPr txBox="1"/>
          <p:nvPr/>
        </p:nvSpPr>
        <p:spPr>
          <a:xfrm>
            <a:off x="341968" y="1366791"/>
            <a:ext cx="11816825" cy="1146981"/>
          </a:xfrm>
          <a:prstGeom prst="rect">
            <a:avLst/>
          </a:prstGeom>
          <a:noFill/>
        </p:spPr>
        <p:txBody>
          <a:bodyPr wrap="square" rtlCol="0">
            <a:spAutoFit/>
          </a:bodyPr>
          <a:lstStyle/>
          <a:p>
            <a:pPr>
              <a:lnSpc>
                <a:spcPct val="150000"/>
              </a:lnSpc>
            </a:pPr>
            <a:r>
              <a:rPr lang="en-US" sz="2400" dirty="0">
                <a:latin typeface="Helvetica" pitchFamily="2" charset="0"/>
                <a:cs typeface="Times New Roman" panose="02020603050405020304" pitchFamily="18" charset="0"/>
              </a:rPr>
              <a:t>Evaluate </a:t>
            </a:r>
            <a:r>
              <a:rPr lang="en-US" sz="2400" b="1" dirty="0">
                <a:latin typeface="Helvetica" pitchFamily="2" charset="0"/>
                <a:cs typeface="Times New Roman" panose="02020603050405020304" pitchFamily="18" charset="0"/>
              </a:rPr>
              <a:t>how effectively </a:t>
            </a:r>
            <a:r>
              <a:rPr lang="en-US" sz="2400" dirty="0">
                <a:latin typeface="Helvetica" pitchFamily="2" charset="0"/>
                <a:cs typeface="Times New Roman" panose="02020603050405020304" pitchFamily="18" charset="0"/>
              </a:rPr>
              <a:t>a company </a:t>
            </a:r>
            <a:r>
              <a:rPr lang="en-US" sz="2400" u="sng" dirty="0">
                <a:latin typeface="Helvetica" pitchFamily="2" charset="0"/>
                <a:cs typeface="Times New Roman" panose="02020603050405020304" pitchFamily="18" charset="0"/>
              </a:rPr>
              <a:t>uses its assets </a:t>
            </a:r>
            <a:r>
              <a:rPr lang="en-US" sz="2400" dirty="0"/>
              <a:t>and </a:t>
            </a:r>
            <a:r>
              <a:rPr lang="en-US" sz="2400" u="sng" dirty="0"/>
              <a:t>manages operations </a:t>
            </a:r>
            <a:r>
              <a:rPr lang="en-US" sz="2400" dirty="0"/>
              <a:t>to generate sales. </a:t>
            </a:r>
            <a:r>
              <a:rPr lang="en-US" sz="2400" dirty="0">
                <a:latin typeface="Helvetica" pitchFamily="2" charset="0"/>
              </a:rPr>
              <a:t>often called </a:t>
            </a:r>
            <a:r>
              <a:rPr lang="en-US" sz="2400" b="1" dirty="0">
                <a:solidFill>
                  <a:srgbClr val="C00000"/>
                </a:solidFill>
                <a:latin typeface="Helvetica" pitchFamily="2" charset="0"/>
              </a:rPr>
              <a:t>efficiency ratios</a:t>
            </a:r>
            <a:r>
              <a:rPr lang="en-US" sz="2400" dirty="0">
                <a:solidFill>
                  <a:srgbClr val="C00000"/>
                </a:solidFill>
                <a:latin typeface="Helvetica" pitchFamily="2" charset="0"/>
              </a:rPr>
              <a:t>.</a:t>
            </a:r>
            <a:endParaRPr lang="en-US" sz="2400" dirty="0">
              <a:solidFill>
                <a:srgbClr val="C00000"/>
              </a:solidFill>
              <a:latin typeface="Helvetica" pitchFamily="2" charset="0"/>
              <a:cs typeface="Times New Roman" panose="02020603050405020304" pitchFamily="18" charset="0"/>
            </a:endParaRPr>
          </a:p>
        </p:txBody>
      </p:sp>
      <p:sp>
        <p:nvSpPr>
          <p:cNvPr id="4" name="TextBox 3">
            <a:extLst>
              <a:ext uri="{FF2B5EF4-FFF2-40B4-BE49-F238E27FC236}">
                <a16:creationId xmlns:a16="http://schemas.microsoft.com/office/drawing/2014/main" id="{CCD70AC0-05AC-225D-338A-6A147450CB43}"/>
              </a:ext>
            </a:extLst>
          </p:cNvPr>
          <p:cNvSpPr txBox="1"/>
          <p:nvPr/>
        </p:nvSpPr>
        <p:spPr>
          <a:xfrm>
            <a:off x="341967" y="2705837"/>
            <a:ext cx="11816825" cy="1892826"/>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The Big Question: Are the company’s assets:</a:t>
            </a:r>
          </a:p>
          <a:p>
            <a:pPr marL="1257300" lvl="2" indent="-342900">
              <a:spcBef>
                <a:spcPts val="600"/>
              </a:spcBef>
              <a:spcAft>
                <a:spcPts val="600"/>
              </a:spcAft>
              <a:buFont typeface="Arial" panose="020B0604020202020204" pitchFamily="34" charset="0"/>
              <a:buChar char="•"/>
            </a:pPr>
            <a:r>
              <a:rPr lang="en-US" sz="2100" dirty="0">
                <a:latin typeface="Helvetica" pitchFamily="2" charset="0"/>
                <a:cs typeface="Times New Roman" panose="02020603050405020304" pitchFamily="18" charset="0"/>
              </a:rPr>
              <a:t>Reasonable?</a:t>
            </a:r>
          </a:p>
          <a:p>
            <a:pPr marL="1257300" lvl="2" indent="-342900">
              <a:spcBef>
                <a:spcPts val="600"/>
              </a:spcBef>
              <a:spcAft>
                <a:spcPts val="600"/>
              </a:spcAft>
              <a:buFont typeface="Arial" panose="020B0604020202020204" pitchFamily="34" charset="0"/>
              <a:buChar char="•"/>
            </a:pPr>
            <a:r>
              <a:rPr lang="en-US" sz="2100" dirty="0">
                <a:latin typeface="Helvetica" pitchFamily="2" charset="0"/>
                <a:cs typeface="Times New Roman" panose="02020603050405020304" pitchFamily="18" charset="0"/>
              </a:rPr>
              <a:t>Too High? → </a:t>
            </a:r>
            <a:r>
              <a:rPr lang="en-US" sz="2100" dirty="0">
                <a:latin typeface="Helvetica" pitchFamily="2" charset="0"/>
              </a:rPr>
              <a:t>Unused or underused resources </a:t>
            </a:r>
            <a:r>
              <a:rPr lang="en-US" sz="2100" dirty="0">
                <a:latin typeface="Helvetica" pitchFamily="2" charset="0"/>
                <a:cs typeface="Times New Roman" panose="02020603050405020304" pitchFamily="18" charset="0"/>
              </a:rPr>
              <a:t>→</a:t>
            </a:r>
            <a:r>
              <a:rPr lang="en-US" sz="2100" dirty="0">
                <a:latin typeface="Helvetica" pitchFamily="2" charset="0"/>
              </a:rPr>
              <a:t> </a:t>
            </a:r>
            <a:r>
              <a:rPr lang="en-US" sz="2100" dirty="0">
                <a:latin typeface="Helvetica" pitchFamily="2" charset="0"/>
                <a:cs typeface="Times New Roman" panose="02020603050405020304" pitchFamily="18" charset="0"/>
              </a:rPr>
              <a:t>Increases costs and reduces profits.</a:t>
            </a:r>
          </a:p>
          <a:p>
            <a:pPr marL="1257300" lvl="2" indent="-342900">
              <a:spcBef>
                <a:spcPts val="600"/>
              </a:spcBef>
              <a:spcAft>
                <a:spcPts val="600"/>
              </a:spcAft>
              <a:buFont typeface="Arial" panose="020B0604020202020204" pitchFamily="34" charset="0"/>
              <a:buChar char="•"/>
            </a:pPr>
            <a:r>
              <a:rPr lang="en-US" sz="2100" dirty="0">
                <a:latin typeface="Helvetica" pitchFamily="2" charset="0"/>
                <a:cs typeface="Times New Roman" panose="02020603050405020304" pitchFamily="18" charset="0"/>
              </a:rPr>
              <a:t>Too Low? → </a:t>
            </a:r>
            <a:r>
              <a:rPr lang="en-US" sz="2100" dirty="0">
                <a:latin typeface="Helvetica" pitchFamily="2" charset="0"/>
              </a:rPr>
              <a:t>Inability to meet customer demand </a:t>
            </a:r>
            <a:r>
              <a:rPr lang="en-US" sz="2100" dirty="0">
                <a:latin typeface="Helvetica" pitchFamily="2" charset="0"/>
                <a:cs typeface="Times New Roman" panose="02020603050405020304" pitchFamily="18" charset="0"/>
              </a:rPr>
              <a:t>→</a:t>
            </a:r>
            <a:r>
              <a:rPr lang="en-US" sz="2100" dirty="0">
                <a:latin typeface="Helvetica" pitchFamily="2" charset="0"/>
              </a:rPr>
              <a:t> </a:t>
            </a:r>
            <a:r>
              <a:rPr lang="en-US" sz="2100" dirty="0">
                <a:latin typeface="Helvetica" pitchFamily="2" charset="0"/>
                <a:cs typeface="Times New Roman" panose="02020603050405020304" pitchFamily="18" charset="0"/>
              </a:rPr>
              <a:t>Results in lost sales opportunities.</a:t>
            </a:r>
          </a:p>
        </p:txBody>
      </p:sp>
      <p:sp>
        <p:nvSpPr>
          <p:cNvPr id="13" name="TextBox 12">
            <a:extLst>
              <a:ext uri="{FF2B5EF4-FFF2-40B4-BE49-F238E27FC236}">
                <a16:creationId xmlns:a16="http://schemas.microsoft.com/office/drawing/2014/main" id="{43BC14F9-A50A-EE2D-0D0D-A8AF7CCF80B8}"/>
              </a:ext>
            </a:extLst>
          </p:cNvPr>
          <p:cNvSpPr txBox="1"/>
          <p:nvPr/>
        </p:nvSpPr>
        <p:spPr>
          <a:xfrm>
            <a:off x="341967" y="4708664"/>
            <a:ext cx="11500627" cy="1785104"/>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000" dirty="0">
                <a:latin typeface="Helvetica" pitchFamily="2" charset="0"/>
              </a:rPr>
              <a:t>How quickly a company can:</a:t>
            </a:r>
          </a:p>
          <a:p>
            <a:pPr marL="1257300" lvl="2" indent="-342900">
              <a:spcBef>
                <a:spcPts val="600"/>
              </a:spcBef>
              <a:spcAft>
                <a:spcPts val="600"/>
              </a:spcAft>
              <a:buFont typeface="Arial" panose="020B0604020202020204" pitchFamily="34" charset="0"/>
              <a:buChar char="•"/>
            </a:pPr>
            <a:r>
              <a:rPr lang="en-US" sz="2000" dirty="0">
                <a:latin typeface="Helvetica" pitchFamily="2" charset="0"/>
              </a:rPr>
              <a:t>Convert </a:t>
            </a:r>
            <a:r>
              <a:rPr lang="en-US" sz="2000" b="1" dirty="0">
                <a:latin typeface="Helvetica" pitchFamily="2" charset="0"/>
              </a:rPr>
              <a:t>inventory</a:t>
            </a:r>
            <a:r>
              <a:rPr lang="en-US" sz="2000" dirty="0">
                <a:latin typeface="Helvetica" pitchFamily="2" charset="0"/>
              </a:rPr>
              <a:t> into sales, </a:t>
            </a:r>
          </a:p>
          <a:p>
            <a:pPr marL="1257300" lvl="2" indent="-342900">
              <a:spcBef>
                <a:spcPts val="600"/>
              </a:spcBef>
              <a:spcAft>
                <a:spcPts val="600"/>
              </a:spcAft>
              <a:buFont typeface="Arial" panose="020B0604020202020204" pitchFamily="34" charset="0"/>
              <a:buChar char="•"/>
            </a:pPr>
            <a:r>
              <a:rPr lang="en-US" sz="2000" dirty="0">
                <a:latin typeface="Helvetica" pitchFamily="2" charset="0"/>
              </a:rPr>
              <a:t>Collect </a:t>
            </a:r>
            <a:r>
              <a:rPr lang="en-US" sz="2000" b="1" dirty="0">
                <a:latin typeface="Helvetica" pitchFamily="2" charset="0"/>
              </a:rPr>
              <a:t>receivables</a:t>
            </a:r>
            <a:r>
              <a:rPr lang="en-US" sz="2000" dirty="0">
                <a:latin typeface="Helvetica" pitchFamily="2" charset="0"/>
              </a:rPr>
              <a:t> into cash, </a:t>
            </a:r>
          </a:p>
          <a:p>
            <a:pPr marL="1257300" lvl="2" indent="-342900">
              <a:spcBef>
                <a:spcPts val="600"/>
              </a:spcBef>
              <a:spcAft>
                <a:spcPts val="600"/>
              </a:spcAft>
              <a:buFont typeface="Arial" panose="020B0604020202020204" pitchFamily="34" charset="0"/>
              <a:buChar char="•"/>
            </a:pPr>
            <a:r>
              <a:rPr lang="en-US" sz="2000" dirty="0">
                <a:latin typeface="Helvetica" pitchFamily="2" charset="0"/>
              </a:rPr>
              <a:t>Use </a:t>
            </a:r>
            <a:r>
              <a:rPr lang="en-US" sz="2000" b="1" dirty="0">
                <a:latin typeface="Helvetica" pitchFamily="2" charset="0"/>
              </a:rPr>
              <a:t>assets</a:t>
            </a:r>
            <a:r>
              <a:rPr lang="en-US" sz="2000" dirty="0">
                <a:latin typeface="Helvetica" pitchFamily="2" charset="0"/>
              </a:rPr>
              <a:t> to support revenue generation</a:t>
            </a:r>
          </a:p>
        </p:txBody>
      </p:sp>
    </p:spTree>
    <p:extLst>
      <p:ext uri="{BB962C8B-B14F-4D97-AF65-F5344CB8AC3E}">
        <p14:creationId xmlns:p14="http://schemas.microsoft.com/office/powerpoint/2010/main" val="1941309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4"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DC993-04B2-90AC-734A-DE4D451A192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12D0BA1-29F2-54F6-8955-75DD1C15205F}"/>
              </a:ext>
            </a:extLst>
          </p:cNvPr>
          <p:cNvSpPr/>
          <p:nvPr/>
        </p:nvSpPr>
        <p:spPr>
          <a:xfrm>
            <a:off x="0" y="-1"/>
            <a:ext cx="12192000" cy="1121028"/>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1A4752-2D5F-1E4C-C845-4E31E59543E3}"/>
              </a:ext>
            </a:extLst>
          </p:cNvPr>
          <p:cNvSpPr>
            <a:spLocks noGrp="1"/>
          </p:cNvSpPr>
          <p:nvPr>
            <p:ph type="title"/>
          </p:nvPr>
        </p:nvSpPr>
        <p:spPr>
          <a:xfrm>
            <a:off x="419559" y="192063"/>
            <a:ext cx="10515600" cy="982663"/>
          </a:xfrm>
        </p:spPr>
        <p:txBody>
          <a:bodyPr>
            <a:normAutofit/>
          </a:bodyPr>
          <a:lstStyle/>
          <a:p>
            <a:r>
              <a:rPr lang="en-US" b="1" dirty="0">
                <a:solidFill>
                  <a:schemeClr val="bg1"/>
                </a:solidFill>
                <a:latin typeface="Helvetica" pitchFamily="2" charset="0"/>
              </a:rPr>
              <a:t>2-1.</a:t>
            </a:r>
            <a:r>
              <a:rPr lang="en-US" b="1" dirty="0">
                <a:solidFill>
                  <a:schemeClr val="bg1"/>
                </a:solidFill>
                <a:latin typeface="Helvetica" pitchFamily="2" charset="0"/>
                <a:cs typeface="Times New Roman" panose="02020603050405020304" pitchFamily="18" charset="0"/>
              </a:rPr>
              <a:t> Inventory Turnover Ratio</a:t>
            </a:r>
            <a:endParaRPr lang="en-US" b="1" dirty="0">
              <a:solidFill>
                <a:schemeClr val="bg1"/>
              </a:solidFill>
              <a:latin typeface="Helvetica" pitchFamily="2" charset="0"/>
            </a:endParaRPr>
          </a:p>
        </p:txBody>
      </p:sp>
      <p:grpSp>
        <p:nvGrpSpPr>
          <p:cNvPr id="18" name="Group 17">
            <a:extLst>
              <a:ext uri="{FF2B5EF4-FFF2-40B4-BE49-F238E27FC236}">
                <a16:creationId xmlns:a16="http://schemas.microsoft.com/office/drawing/2014/main" id="{4D293C53-EB36-3304-11AE-0E1FEB63FEF2}"/>
              </a:ext>
            </a:extLst>
          </p:cNvPr>
          <p:cNvGrpSpPr/>
          <p:nvPr/>
        </p:nvGrpSpPr>
        <p:grpSpPr>
          <a:xfrm>
            <a:off x="1951091" y="1209841"/>
            <a:ext cx="8289817" cy="978115"/>
            <a:chOff x="904627" y="3051735"/>
            <a:chExt cx="8289817" cy="978115"/>
          </a:xfrm>
        </p:grpSpPr>
        <p:sp>
          <p:nvSpPr>
            <p:cNvPr id="10" name="TextBox 9">
              <a:extLst>
                <a:ext uri="{FF2B5EF4-FFF2-40B4-BE49-F238E27FC236}">
                  <a16:creationId xmlns:a16="http://schemas.microsoft.com/office/drawing/2014/main" id="{009F6DA2-E9A3-4414-A1B1-7A3DBEB89F8B}"/>
                </a:ext>
              </a:extLst>
            </p:cNvPr>
            <p:cNvSpPr txBox="1">
              <a:spLocks/>
            </p:cNvSpPr>
            <p:nvPr/>
          </p:nvSpPr>
          <p:spPr>
            <a:xfrm>
              <a:off x="904627" y="3321853"/>
              <a:ext cx="3820020" cy="461665"/>
            </a:xfrm>
            <a:prstGeom prst="rect">
              <a:avLst/>
            </a:prstGeom>
            <a:noFill/>
          </p:spPr>
          <p:txBody>
            <a:bodyPr wrap="none" rtlCol="0">
              <a:spAutoFit/>
            </a:bodyPr>
            <a:lstStyle/>
            <a:p>
              <a:pPr algn="ctr"/>
              <a:r>
                <a:rPr lang="en-US" sz="2400" b="1" dirty="0">
                  <a:solidFill>
                    <a:srgbClr val="C00000"/>
                  </a:solidFill>
                  <a:latin typeface="Helvetica" pitchFamily="2" charset="0"/>
                </a:rPr>
                <a:t>Inventory Turnover Ratio</a:t>
              </a:r>
            </a:p>
          </p:txBody>
        </p:sp>
        <p:sp>
          <p:nvSpPr>
            <p:cNvPr id="11" name="TextBox 10">
              <a:extLst>
                <a:ext uri="{FF2B5EF4-FFF2-40B4-BE49-F238E27FC236}">
                  <a16:creationId xmlns:a16="http://schemas.microsoft.com/office/drawing/2014/main" id="{683D2801-524A-059A-9BF4-2022A4F1C064}"/>
                </a:ext>
              </a:extLst>
            </p:cNvPr>
            <p:cNvSpPr txBox="1"/>
            <p:nvPr/>
          </p:nvSpPr>
          <p:spPr>
            <a:xfrm>
              <a:off x="4736807"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12" name="TextBox 11">
              <a:extLst>
                <a:ext uri="{FF2B5EF4-FFF2-40B4-BE49-F238E27FC236}">
                  <a16:creationId xmlns:a16="http://schemas.microsoft.com/office/drawing/2014/main" id="{8467D6DA-085D-B3D0-F18B-7544BABB25CE}"/>
                </a:ext>
              </a:extLst>
            </p:cNvPr>
            <p:cNvSpPr txBox="1">
              <a:spLocks/>
            </p:cNvSpPr>
            <p:nvPr/>
          </p:nvSpPr>
          <p:spPr>
            <a:xfrm>
              <a:off x="5850480" y="3051735"/>
              <a:ext cx="2698816" cy="461665"/>
            </a:xfrm>
            <a:prstGeom prst="rect">
              <a:avLst/>
            </a:prstGeom>
            <a:noFill/>
          </p:spPr>
          <p:txBody>
            <a:bodyPr wrap="none" rtlCol="0">
              <a:spAutoFit/>
            </a:bodyPr>
            <a:lstStyle/>
            <a:p>
              <a:pPr algn="ctr"/>
              <a:r>
                <a:rPr lang="en-US" sz="2400" b="1" dirty="0">
                  <a:solidFill>
                    <a:srgbClr val="C00000"/>
                  </a:solidFill>
                </a:rPr>
                <a:t>Cost of Good Sold</a:t>
              </a:r>
            </a:p>
          </p:txBody>
        </p:sp>
        <p:sp>
          <p:nvSpPr>
            <p:cNvPr id="13" name="TextBox 12">
              <a:extLst>
                <a:ext uri="{FF2B5EF4-FFF2-40B4-BE49-F238E27FC236}">
                  <a16:creationId xmlns:a16="http://schemas.microsoft.com/office/drawing/2014/main" id="{048A346B-5553-3D96-8E76-6FA9B5EF2E1A}"/>
                </a:ext>
              </a:extLst>
            </p:cNvPr>
            <p:cNvSpPr txBox="1">
              <a:spLocks/>
            </p:cNvSpPr>
            <p:nvPr/>
          </p:nvSpPr>
          <p:spPr>
            <a:xfrm>
              <a:off x="5862534" y="3568185"/>
              <a:ext cx="2674707" cy="461665"/>
            </a:xfrm>
            <a:prstGeom prst="rect">
              <a:avLst/>
            </a:prstGeom>
            <a:noFill/>
          </p:spPr>
          <p:txBody>
            <a:bodyPr wrap="none" rtlCol="0">
              <a:spAutoFit/>
            </a:bodyPr>
            <a:lstStyle/>
            <a:p>
              <a:pPr algn="ctr"/>
              <a:r>
                <a:rPr lang="en-US" sz="2400" b="1" dirty="0">
                  <a:solidFill>
                    <a:srgbClr val="C00000"/>
                  </a:solidFill>
                </a:rPr>
                <a:t>Average Inventory</a:t>
              </a:r>
            </a:p>
          </p:txBody>
        </p:sp>
        <p:cxnSp>
          <p:nvCxnSpPr>
            <p:cNvPr id="15" name="Straight Connector 14">
              <a:extLst>
                <a:ext uri="{FF2B5EF4-FFF2-40B4-BE49-F238E27FC236}">
                  <a16:creationId xmlns:a16="http://schemas.microsoft.com/office/drawing/2014/main" id="{52C13E37-5174-5CA3-617C-BE17794D9E30}"/>
                </a:ext>
              </a:extLst>
            </p:cNvPr>
            <p:cNvCxnSpPr>
              <a:cxnSpLocks/>
            </p:cNvCxnSpPr>
            <p:nvPr/>
          </p:nvCxnSpPr>
          <p:spPr>
            <a:xfrm>
              <a:off x="5177844" y="3546159"/>
              <a:ext cx="401660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41A37728-70AB-D277-240E-384BA05C7C4F}"/>
              </a:ext>
            </a:extLst>
          </p:cNvPr>
          <p:cNvGrpSpPr/>
          <p:nvPr/>
        </p:nvGrpSpPr>
        <p:grpSpPr>
          <a:xfrm>
            <a:off x="2315153" y="2385996"/>
            <a:ext cx="7561693" cy="959311"/>
            <a:chOff x="1464609" y="3062469"/>
            <a:chExt cx="8164167" cy="959311"/>
          </a:xfrm>
        </p:grpSpPr>
        <p:sp>
          <p:nvSpPr>
            <p:cNvPr id="21" name="TextBox 20">
              <a:extLst>
                <a:ext uri="{FF2B5EF4-FFF2-40B4-BE49-F238E27FC236}">
                  <a16:creationId xmlns:a16="http://schemas.microsoft.com/office/drawing/2014/main" id="{970FC73D-DF5C-BBF2-5CC6-F2051B4370A8}"/>
                </a:ext>
              </a:extLst>
            </p:cNvPr>
            <p:cNvSpPr txBox="1">
              <a:spLocks/>
            </p:cNvSpPr>
            <p:nvPr/>
          </p:nvSpPr>
          <p:spPr>
            <a:xfrm>
              <a:off x="1464609" y="3318659"/>
              <a:ext cx="2458202" cy="400110"/>
            </a:xfrm>
            <a:prstGeom prst="rect">
              <a:avLst/>
            </a:prstGeom>
            <a:noFill/>
          </p:spPr>
          <p:txBody>
            <a:bodyPr wrap="square" rtlCol="0">
              <a:spAutoFit/>
            </a:bodyPr>
            <a:lstStyle/>
            <a:p>
              <a:pPr algn="ctr"/>
              <a:r>
                <a:rPr lang="en-US" sz="2000" b="1" dirty="0">
                  <a:solidFill>
                    <a:srgbClr val="C00000"/>
                  </a:solidFill>
                </a:rPr>
                <a:t>Average Inventory</a:t>
              </a:r>
            </a:p>
          </p:txBody>
        </p:sp>
        <p:sp>
          <p:nvSpPr>
            <p:cNvPr id="22" name="TextBox 21">
              <a:extLst>
                <a:ext uri="{FF2B5EF4-FFF2-40B4-BE49-F238E27FC236}">
                  <a16:creationId xmlns:a16="http://schemas.microsoft.com/office/drawing/2014/main" id="{A4A74466-3FAE-B71D-B4C4-EFF7696E81D1}"/>
                </a:ext>
              </a:extLst>
            </p:cNvPr>
            <p:cNvSpPr txBox="1"/>
            <p:nvPr/>
          </p:nvSpPr>
          <p:spPr>
            <a:xfrm>
              <a:off x="3893062" y="3349919"/>
              <a:ext cx="297455" cy="400110"/>
            </a:xfrm>
            <a:prstGeom prst="rect">
              <a:avLst/>
            </a:prstGeom>
            <a:noFill/>
          </p:spPr>
          <p:txBody>
            <a:bodyPr wrap="square" rtlCol="0">
              <a:spAutoFit/>
            </a:bodyPr>
            <a:lstStyle/>
            <a:p>
              <a:r>
                <a:rPr lang="en-US" sz="2000" b="1" dirty="0"/>
                <a:t>=</a:t>
              </a:r>
            </a:p>
          </p:txBody>
        </p:sp>
        <p:sp>
          <p:nvSpPr>
            <p:cNvPr id="23" name="TextBox 22">
              <a:extLst>
                <a:ext uri="{FF2B5EF4-FFF2-40B4-BE49-F238E27FC236}">
                  <a16:creationId xmlns:a16="http://schemas.microsoft.com/office/drawing/2014/main" id="{74CB291D-7BA7-A9D1-DA2D-91072BC95CAE}"/>
                </a:ext>
              </a:extLst>
            </p:cNvPr>
            <p:cNvSpPr txBox="1">
              <a:spLocks/>
            </p:cNvSpPr>
            <p:nvPr/>
          </p:nvSpPr>
          <p:spPr>
            <a:xfrm>
              <a:off x="4103673" y="3062469"/>
              <a:ext cx="5525103" cy="461665"/>
            </a:xfrm>
            <a:prstGeom prst="rect">
              <a:avLst/>
            </a:prstGeom>
            <a:noFill/>
          </p:spPr>
          <p:txBody>
            <a:bodyPr wrap="square" rtlCol="0">
              <a:spAutoFit/>
            </a:bodyPr>
            <a:lstStyle/>
            <a:p>
              <a:pPr algn="ctr"/>
              <a:r>
                <a:rPr lang="en-US" sz="2000" b="1" dirty="0">
                  <a:solidFill>
                    <a:srgbClr val="C00000"/>
                  </a:solidFill>
                </a:rPr>
                <a:t>Beginning Inventory  </a:t>
              </a:r>
              <a:r>
                <a:rPr lang="en-US" sz="2400" b="1" dirty="0"/>
                <a:t>+</a:t>
              </a:r>
              <a:r>
                <a:rPr lang="en-US" sz="2000" b="1" dirty="0"/>
                <a:t>  </a:t>
              </a:r>
              <a:r>
                <a:rPr lang="en-US" sz="2000" b="1" dirty="0">
                  <a:solidFill>
                    <a:srgbClr val="C00000"/>
                  </a:solidFill>
                </a:rPr>
                <a:t>Ending Inventory</a:t>
              </a:r>
              <a:endParaRPr lang="en-US" sz="2000" b="1" dirty="0"/>
            </a:p>
          </p:txBody>
        </p:sp>
        <p:sp>
          <p:nvSpPr>
            <p:cNvPr id="24" name="TextBox 23">
              <a:extLst>
                <a:ext uri="{FF2B5EF4-FFF2-40B4-BE49-F238E27FC236}">
                  <a16:creationId xmlns:a16="http://schemas.microsoft.com/office/drawing/2014/main" id="{85CA957C-9D76-2DDD-23B5-CCFADE1F2147}"/>
                </a:ext>
              </a:extLst>
            </p:cNvPr>
            <p:cNvSpPr txBox="1">
              <a:spLocks/>
            </p:cNvSpPr>
            <p:nvPr/>
          </p:nvSpPr>
          <p:spPr>
            <a:xfrm>
              <a:off x="5887782" y="3621670"/>
              <a:ext cx="1956883" cy="400110"/>
            </a:xfrm>
            <a:prstGeom prst="rect">
              <a:avLst/>
            </a:prstGeom>
            <a:noFill/>
          </p:spPr>
          <p:txBody>
            <a:bodyPr wrap="square" rtlCol="0">
              <a:spAutoFit/>
            </a:bodyPr>
            <a:lstStyle/>
            <a:p>
              <a:pPr algn="ctr"/>
              <a:r>
                <a:rPr lang="en-US" sz="2000" b="1" dirty="0"/>
                <a:t>2</a:t>
              </a:r>
            </a:p>
          </p:txBody>
        </p:sp>
        <p:cxnSp>
          <p:nvCxnSpPr>
            <p:cNvPr id="25" name="Straight Connector 24">
              <a:extLst>
                <a:ext uri="{FF2B5EF4-FFF2-40B4-BE49-F238E27FC236}">
                  <a16:creationId xmlns:a16="http://schemas.microsoft.com/office/drawing/2014/main" id="{AD981425-DBE2-0E9C-9951-3CE0759FB002}"/>
                </a:ext>
              </a:extLst>
            </p:cNvPr>
            <p:cNvCxnSpPr>
              <a:cxnSpLocks/>
            </p:cNvCxnSpPr>
            <p:nvPr/>
          </p:nvCxnSpPr>
          <p:spPr>
            <a:xfrm>
              <a:off x="4171331" y="3546159"/>
              <a:ext cx="5389789"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5" name="TextBox 4">
            <a:extLst>
              <a:ext uri="{FF2B5EF4-FFF2-40B4-BE49-F238E27FC236}">
                <a16:creationId xmlns:a16="http://schemas.microsoft.com/office/drawing/2014/main" id="{01B70495-B444-AF72-224D-A89CDC384554}"/>
              </a:ext>
            </a:extLst>
          </p:cNvPr>
          <p:cNvSpPr txBox="1"/>
          <p:nvPr/>
        </p:nvSpPr>
        <p:spPr>
          <a:xfrm>
            <a:off x="419559" y="5223459"/>
            <a:ext cx="11556851" cy="430887"/>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200" dirty="0">
                <a:latin typeface="Helvetica" pitchFamily="2" charset="0"/>
              </a:rPr>
              <a:t>Indicates how many times inventory is sold and replaced during a period (usually a year).</a:t>
            </a:r>
          </a:p>
        </p:txBody>
      </p:sp>
      <p:sp>
        <p:nvSpPr>
          <p:cNvPr id="7" name="TextBox 6">
            <a:extLst>
              <a:ext uri="{FF2B5EF4-FFF2-40B4-BE49-F238E27FC236}">
                <a16:creationId xmlns:a16="http://schemas.microsoft.com/office/drawing/2014/main" id="{3259EEBA-1269-8E6B-F7A6-FCC89DC987B2}"/>
              </a:ext>
            </a:extLst>
          </p:cNvPr>
          <p:cNvSpPr txBox="1"/>
          <p:nvPr/>
        </p:nvSpPr>
        <p:spPr>
          <a:xfrm>
            <a:off x="419559" y="5725088"/>
            <a:ext cx="9594358" cy="923330"/>
          </a:xfrm>
          <a:prstGeom prst="rect">
            <a:avLst/>
          </a:prstGeom>
          <a:noFill/>
        </p:spPr>
        <p:txBody>
          <a:bodyPr wrap="none" rtlCol="0">
            <a:spAutoFit/>
          </a:bodyPr>
          <a:lstStyle/>
          <a:p>
            <a:pPr marL="800100" lvl="1" indent="-342900">
              <a:spcBef>
                <a:spcPts val="600"/>
              </a:spcBef>
              <a:spcAft>
                <a:spcPts val="600"/>
              </a:spcAft>
              <a:buFont typeface="Arial" panose="020B0604020202020204" pitchFamily="34" charset="0"/>
              <a:buChar char="•"/>
            </a:pPr>
            <a:r>
              <a:rPr lang="en-US" sz="2200" dirty="0">
                <a:latin typeface="Helvetica" pitchFamily="2" charset="0"/>
              </a:rPr>
              <a:t>Higher Inventory turnover </a:t>
            </a:r>
            <a:r>
              <a:rPr lang="en-US" sz="2200" dirty="0">
                <a:latin typeface="Helvetica" pitchFamily="2" charset="0"/>
                <a:cs typeface="Times New Roman" panose="02020603050405020304" pitchFamily="18" charset="0"/>
                <a:sym typeface="Wingdings" pitchFamily="2" charset="2"/>
              </a:rPr>
              <a:t></a:t>
            </a:r>
            <a:r>
              <a:rPr lang="en-US" sz="2200" dirty="0">
                <a:latin typeface="Helvetica" pitchFamily="2" charset="0"/>
              </a:rPr>
              <a:t> better inventory management; </a:t>
            </a:r>
          </a:p>
          <a:p>
            <a:pPr marL="800100" lvl="1" indent="-342900">
              <a:spcBef>
                <a:spcPts val="600"/>
              </a:spcBef>
              <a:spcAft>
                <a:spcPts val="600"/>
              </a:spcAft>
              <a:buFont typeface="Arial" panose="020B0604020202020204" pitchFamily="34" charset="0"/>
              <a:buChar char="•"/>
            </a:pPr>
            <a:r>
              <a:rPr lang="en-US" sz="2200" dirty="0">
                <a:latin typeface="Helvetica" pitchFamily="2" charset="0"/>
              </a:rPr>
              <a:t>lower turnover </a:t>
            </a:r>
            <a:r>
              <a:rPr lang="en-US" sz="2200" dirty="0">
                <a:latin typeface="Helvetica" pitchFamily="2" charset="0"/>
                <a:cs typeface="Times New Roman" panose="02020603050405020304" pitchFamily="18" charset="0"/>
                <a:sym typeface="Wingdings" pitchFamily="2" charset="2"/>
              </a:rPr>
              <a:t></a:t>
            </a:r>
            <a:r>
              <a:rPr lang="en-US" sz="2200" dirty="0">
                <a:latin typeface="Helvetica" pitchFamily="2" charset="0"/>
              </a:rPr>
              <a:t> excess inventory, weak sales, or obsolete products</a:t>
            </a:r>
          </a:p>
        </p:txBody>
      </p:sp>
      <p:grpSp>
        <p:nvGrpSpPr>
          <p:cNvPr id="48" name="Group 47">
            <a:extLst>
              <a:ext uri="{FF2B5EF4-FFF2-40B4-BE49-F238E27FC236}">
                <a16:creationId xmlns:a16="http://schemas.microsoft.com/office/drawing/2014/main" id="{94F23CC1-F81A-6572-4C98-4CDCDDBCDA4B}"/>
              </a:ext>
            </a:extLst>
          </p:cNvPr>
          <p:cNvGrpSpPr>
            <a:grpSpLocks noChangeAspect="1"/>
          </p:cNvGrpSpPr>
          <p:nvPr/>
        </p:nvGrpSpPr>
        <p:grpSpPr>
          <a:xfrm>
            <a:off x="2619818" y="3479861"/>
            <a:ext cx="6975942" cy="1710838"/>
            <a:chOff x="906846" y="1608037"/>
            <a:chExt cx="8117074" cy="2736289"/>
          </a:xfrm>
          <a:noFill/>
        </p:grpSpPr>
        <p:cxnSp>
          <p:nvCxnSpPr>
            <p:cNvPr id="49" name="Straight Arrow Connector 48">
              <a:extLst>
                <a:ext uri="{FF2B5EF4-FFF2-40B4-BE49-F238E27FC236}">
                  <a16:creationId xmlns:a16="http://schemas.microsoft.com/office/drawing/2014/main" id="{0B84F4F3-9376-7AA2-2418-0D512CD02C08}"/>
                </a:ext>
              </a:extLst>
            </p:cNvPr>
            <p:cNvCxnSpPr>
              <a:cxnSpLocks/>
            </p:cNvCxnSpPr>
            <p:nvPr/>
          </p:nvCxnSpPr>
          <p:spPr>
            <a:xfrm>
              <a:off x="1061950" y="3635298"/>
              <a:ext cx="7961970" cy="0"/>
            </a:xfrm>
            <a:prstGeom prst="straightConnector1">
              <a:avLst/>
            </a:prstGeom>
            <a:grpFill/>
            <a:ln w="57150">
              <a:tailEnd type="triangle"/>
            </a:ln>
          </p:spPr>
          <p:style>
            <a:lnRef idx="2">
              <a:schemeClr val="accent1"/>
            </a:lnRef>
            <a:fillRef idx="0">
              <a:schemeClr val="accent1"/>
            </a:fillRef>
            <a:effectRef idx="1">
              <a:schemeClr val="accent1"/>
            </a:effectRef>
            <a:fontRef idx="minor">
              <a:schemeClr val="tx1"/>
            </a:fontRef>
          </p:style>
        </p:cxnSp>
        <p:grpSp>
          <p:nvGrpSpPr>
            <p:cNvPr id="50" name="Group 49">
              <a:extLst>
                <a:ext uri="{FF2B5EF4-FFF2-40B4-BE49-F238E27FC236}">
                  <a16:creationId xmlns:a16="http://schemas.microsoft.com/office/drawing/2014/main" id="{B0294EAB-4EA9-FD75-0B9A-15426399915C}"/>
                </a:ext>
              </a:extLst>
            </p:cNvPr>
            <p:cNvGrpSpPr/>
            <p:nvPr/>
          </p:nvGrpSpPr>
          <p:grpSpPr>
            <a:xfrm>
              <a:off x="906846" y="1612143"/>
              <a:ext cx="2916953" cy="1883651"/>
              <a:chOff x="806487" y="1612143"/>
              <a:chExt cx="2916953" cy="1883651"/>
            </a:xfrm>
            <a:grpFill/>
          </p:grpSpPr>
          <p:sp>
            <p:nvSpPr>
              <p:cNvPr id="62" name="Bent Arrow 61">
                <a:extLst>
                  <a:ext uri="{FF2B5EF4-FFF2-40B4-BE49-F238E27FC236}">
                    <a16:creationId xmlns:a16="http://schemas.microsoft.com/office/drawing/2014/main" id="{7D21942F-4CF7-639A-9903-E22AA40595B7}"/>
                  </a:ext>
                </a:extLst>
              </p:cNvPr>
              <p:cNvSpPr/>
              <p:nvPr/>
            </p:nvSpPr>
            <p:spPr>
              <a:xfrm>
                <a:off x="1652725" y="2095536"/>
                <a:ext cx="813816" cy="868680"/>
              </a:xfrm>
              <a:prstGeom prst="bentArrow">
                <a:avLst>
                  <a:gd name="adj1" fmla="val 16778"/>
                  <a:gd name="adj2" fmla="val 17464"/>
                  <a:gd name="adj3" fmla="val 25000"/>
                  <a:gd name="adj4" fmla="val 75000"/>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63" name="TextBox 62">
                <a:extLst>
                  <a:ext uri="{FF2B5EF4-FFF2-40B4-BE49-F238E27FC236}">
                    <a16:creationId xmlns:a16="http://schemas.microsoft.com/office/drawing/2014/main" id="{E6D5B544-8D2C-5792-A347-5FDE42E56998}"/>
                  </a:ext>
                </a:extLst>
              </p:cNvPr>
              <p:cNvSpPr txBox="1"/>
              <p:nvPr/>
            </p:nvSpPr>
            <p:spPr>
              <a:xfrm>
                <a:off x="806487" y="2992161"/>
                <a:ext cx="1819899" cy="483393"/>
              </a:xfrm>
              <a:prstGeom prst="rect">
                <a:avLst/>
              </a:prstGeom>
              <a:grpFill/>
            </p:spPr>
            <p:txBody>
              <a:bodyPr wrap="square" rtlCol="0">
                <a:spAutoFit/>
              </a:bodyPr>
              <a:lstStyle/>
              <a:p>
                <a:pPr algn="ctr"/>
                <a:r>
                  <a:rPr lang="en-US" sz="1400" dirty="0">
                    <a:solidFill>
                      <a:srgbClr val="00B050"/>
                    </a:solidFill>
                  </a:rPr>
                  <a:t>PURCHASE</a:t>
                </a:r>
              </a:p>
            </p:txBody>
          </p:sp>
          <p:sp>
            <p:nvSpPr>
              <p:cNvPr id="64" name="TextBox 63">
                <a:extLst>
                  <a:ext uri="{FF2B5EF4-FFF2-40B4-BE49-F238E27FC236}">
                    <a16:creationId xmlns:a16="http://schemas.microsoft.com/office/drawing/2014/main" id="{FCDAB7A9-B51D-B44D-C455-16A8D00C9FE5}"/>
                  </a:ext>
                </a:extLst>
              </p:cNvPr>
              <p:cNvSpPr txBox="1"/>
              <p:nvPr/>
            </p:nvSpPr>
            <p:spPr>
              <a:xfrm>
                <a:off x="1262119" y="1612143"/>
                <a:ext cx="2408840" cy="492254"/>
              </a:xfrm>
              <a:prstGeom prst="rect">
                <a:avLst/>
              </a:prstGeom>
              <a:grpFill/>
            </p:spPr>
            <p:txBody>
              <a:bodyPr wrap="square" rtlCol="0">
                <a:spAutoFit/>
              </a:bodyPr>
              <a:lstStyle/>
              <a:p>
                <a:pPr algn="ctr"/>
                <a:r>
                  <a:rPr lang="en-US" sz="1400" dirty="0">
                    <a:solidFill>
                      <a:srgbClr val="00B050"/>
                    </a:solidFill>
                  </a:rPr>
                  <a:t>FINISHED GOOD</a:t>
                </a:r>
              </a:p>
            </p:txBody>
          </p:sp>
          <p:sp>
            <p:nvSpPr>
              <p:cNvPr id="65" name="TextBox 64">
                <a:extLst>
                  <a:ext uri="{FF2B5EF4-FFF2-40B4-BE49-F238E27FC236}">
                    <a16:creationId xmlns:a16="http://schemas.microsoft.com/office/drawing/2014/main" id="{0BBADF1F-823F-6638-8A32-DF75C34C1E90}"/>
                  </a:ext>
                </a:extLst>
              </p:cNvPr>
              <p:cNvSpPr txBox="1"/>
              <p:nvPr/>
            </p:nvSpPr>
            <p:spPr>
              <a:xfrm>
                <a:off x="2813725" y="3003540"/>
                <a:ext cx="909715" cy="492254"/>
              </a:xfrm>
              <a:prstGeom prst="rect">
                <a:avLst/>
              </a:prstGeom>
              <a:grpFill/>
            </p:spPr>
            <p:txBody>
              <a:bodyPr wrap="square" rtlCol="0">
                <a:spAutoFit/>
              </a:bodyPr>
              <a:lstStyle/>
              <a:p>
                <a:pPr algn="ctr"/>
                <a:r>
                  <a:rPr lang="en-US" sz="1400" dirty="0">
                    <a:solidFill>
                      <a:srgbClr val="00B050"/>
                    </a:solidFill>
                  </a:rPr>
                  <a:t>SALE</a:t>
                </a:r>
              </a:p>
            </p:txBody>
          </p:sp>
          <p:sp>
            <p:nvSpPr>
              <p:cNvPr id="66" name="Bent Arrow 65">
                <a:extLst>
                  <a:ext uri="{FF2B5EF4-FFF2-40B4-BE49-F238E27FC236}">
                    <a16:creationId xmlns:a16="http://schemas.microsoft.com/office/drawing/2014/main" id="{2C46DD38-6D24-779F-388F-EEE00514F22F}"/>
                  </a:ext>
                </a:extLst>
              </p:cNvPr>
              <p:cNvSpPr/>
              <p:nvPr/>
            </p:nvSpPr>
            <p:spPr>
              <a:xfrm rot="5400000">
                <a:off x="2556753" y="2134119"/>
                <a:ext cx="813816" cy="868680"/>
              </a:xfrm>
              <a:prstGeom prst="bentArrow">
                <a:avLst>
                  <a:gd name="adj1" fmla="val 16778"/>
                  <a:gd name="adj2" fmla="val 17464"/>
                  <a:gd name="adj3" fmla="val 25000"/>
                  <a:gd name="adj4" fmla="val 75000"/>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grpSp>
        <p:grpSp>
          <p:nvGrpSpPr>
            <p:cNvPr id="51" name="Group 50">
              <a:extLst>
                <a:ext uri="{FF2B5EF4-FFF2-40B4-BE49-F238E27FC236}">
                  <a16:creationId xmlns:a16="http://schemas.microsoft.com/office/drawing/2014/main" id="{AEE78225-3E94-E331-C4D9-D7E75DF49135}"/>
                </a:ext>
              </a:extLst>
            </p:cNvPr>
            <p:cNvGrpSpPr/>
            <p:nvPr/>
          </p:nvGrpSpPr>
          <p:grpSpPr>
            <a:xfrm>
              <a:off x="5759791" y="1608037"/>
              <a:ext cx="3124530" cy="1883035"/>
              <a:chOff x="741502" y="1608037"/>
              <a:chExt cx="3124530" cy="1883035"/>
            </a:xfrm>
            <a:grpFill/>
          </p:grpSpPr>
          <p:sp>
            <p:nvSpPr>
              <p:cNvPr id="57" name="Bent Arrow 56">
                <a:extLst>
                  <a:ext uri="{FF2B5EF4-FFF2-40B4-BE49-F238E27FC236}">
                    <a16:creationId xmlns:a16="http://schemas.microsoft.com/office/drawing/2014/main" id="{E93CCA66-C0E0-209F-43B8-25473A450D43}"/>
                  </a:ext>
                </a:extLst>
              </p:cNvPr>
              <p:cNvSpPr/>
              <p:nvPr/>
            </p:nvSpPr>
            <p:spPr>
              <a:xfrm>
                <a:off x="1652725" y="2095536"/>
                <a:ext cx="813816" cy="868680"/>
              </a:xfrm>
              <a:prstGeom prst="bentArrow">
                <a:avLst>
                  <a:gd name="adj1" fmla="val 16778"/>
                  <a:gd name="adj2" fmla="val 17464"/>
                  <a:gd name="adj3" fmla="val 25000"/>
                  <a:gd name="adj4" fmla="val 75000"/>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58" name="TextBox 57">
                <a:extLst>
                  <a:ext uri="{FF2B5EF4-FFF2-40B4-BE49-F238E27FC236}">
                    <a16:creationId xmlns:a16="http://schemas.microsoft.com/office/drawing/2014/main" id="{D430AF8B-E207-0D0D-A3FB-FFC509BD01C6}"/>
                  </a:ext>
                </a:extLst>
              </p:cNvPr>
              <p:cNvSpPr txBox="1"/>
              <p:nvPr/>
            </p:nvSpPr>
            <p:spPr>
              <a:xfrm>
                <a:off x="741502" y="3007679"/>
                <a:ext cx="1822443" cy="483393"/>
              </a:xfrm>
              <a:prstGeom prst="rect">
                <a:avLst/>
              </a:prstGeom>
              <a:grpFill/>
            </p:spPr>
            <p:txBody>
              <a:bodyPr wrap="square" rtlCol="0">
                <a:spAutoFit/>
              </a:bodyPr>
              <a:lstStyle/>
              <a:p>
                <a:pPr algn="ctr"/>
                <a:r>
                  <a:rPr lang="en-US" sz="1400" dirty="0">
                    <a:solidFill>
                      <a:srgbClr val="00B050"/>
                    </a:solidFill>
                  </a:rPr>
                  <a:t>PURCHASE</a:t>
                </a:r>
              </a:p>
            </p:txBody>
          </p:sp>
          <p:sp>
            <p:nvSpPr>
              <p:cNvPr id="59" name="TextBox 58">
                <a:extLst>
                  <a:ext uri="{FF2B5EF4-FFF2-40B4-BE49-F238E27FC236}">
                    <a16:creationId xmlns:a16="http://schemas.microsoft.com/office/drawing/2014/main" id="{32A8D203-B7BB-8A75-5F16-610B0E6D4430}"/>
                  </a:ext>
                </a:extLst>
              </p:cNvPr>
              <p:cNvSpPr txBox="1"/>
              <p:nvPr/>
            </p:nvSpPr>
            <p:spPr>
              <a:xfrm>
                <a:off x="1457192" y="1608037"/>
                <a:ext cx="2408840" cy="492254"/>
              </a:xfrm>
              <a:prstGeom prst="rect">
                <a:avLst/>
              </a:prstGeom>
              <a:grpFill/>
            </p:spPr>
            <p:txBody>
              <a:bodyPr wrap="square" rtlCol="0">
                <a:spAutoFit/>
              </a:bodyPr>
              <a:lstStyle/>
              <a:p>
                <a:pPr algn="ctr"/>
                <a:r>
                  <a:rPr lang="en-US" sz="1400" dirty="0">
                    <a:solidFill>
                      <a:srgbClr val="00B050"/>
                    </a:solidFill>
                  </a:rPr>
                  <a:t>FINISHED GOOD</a:t>
                </a:r>
              </a:p>
            </p:txBody>
          </p:sp>
          <p:sp>
            <p:nvSpPr>
              <p:cNvPr id="60" name="TextBox 59">
                <a:extLst>
                  <a:ext uri="{FF2B5EF4-FFF2-40B4-BE49-F238E27FC236}">
                    <a16:creationId xmlns:a16="http://schemas.microsoft.com/office/drawing/2014/main" id="{50112C6F-E90C-432A-3F58-C8E9F9C043EB}"/>
                  </a:ext>
                </a:extLst>
              </p:cNvPr>
              <p:cNvSpPr txBox="1"/>
              <p:nvPr/>
            </p:nvSpPr>
            <p:spPr>
              <a:xfrm>
                <a:off x="2820492" y="2992160"/>
                <a:ext cx="944935" cy="492254"/>
              </a:xfrm>
              <a:prstGeom prst="rect">
                <a:avLst/>
              </a:prstGeom>
              <a:grpFill/>
            </p:spPr>
            <p:txBody>
              <a:bodyPr wrap="square" rtlCol="0">
                <a:spAutoFit/>
              </a:bodyPr>
              <a:lstStyle/>
              <a:p>
                <a:pPr algn="ctr"/>
                <a:r>
                  <a:rPr lang="en-US" sz="1400" dirty="0">
                    <a:solidFill>
                      <a:srgbClr val="00B050"/>
                    </a:solidFill>
                  </a:rPr>
                  <a:t>SALE</a:t>
                </a:r>
              </a:p>
            </p:txBody>
          </p:sp>
          <p:sp>
            <p:nvSpPr>
              <p:cNvPr id="61" name="Bent Arrow 60">
                <a:extLst>
                  <a:ext uri="{FF2B5EF4-FFF2-40B4-BE49-F238E27FC236}">
                    <a16:creationId xmlns:a16="http://schemas.microsoft.com/office/drawing/2014/main" id="{4AA44C29-2160-94C8-D66E-6028C0674476}"/>
                  </a:ext>
                </a:extLst>
              </p:cNvPr>
              <p:cNvSpPr/>
              <p:nvPr/>
            </p:nvSpPr>
            <p:spPr>
              <a:xfrm rot="5400000">
                <a:off x="2556753" y="2134119"/>
                <a:ext cx="813816" cy="868680"/>
              </a:xfrm>
              <a:prstGeom prst="bentArrow">
                <a:avLst>
                  <a:gd name="adj1" fmla="val 16778"/>
                  <a:gd name="adj2" fmla="val 17464"/>
                  <a:gd name="adj3" fmla="val 25000"/>
                  <a:gd name="adj4" fmla="val 75000"/>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grpSp>
        <p:sp>
          <p:nvSpPr>
            <p:cNvPr id="52" name="TextBox 51">
              <a:extLst>
                <a:ext uri="{FF2B5EF4-FFF2-40B4-BE49-F238E27FC236}">
                  <a16:creationId xmlns:a16="http://schemas.microsoft.com/office/drawing/2014/main" id="{710AD7BE-456C-E218-CE6B-5155F251E6D3}"/>
                </a:ext>
              </a:extLst>
            </p:cNvPr>
            <p:cNvSpPr txBox="1"/>
            <p:nvPr/>
          </p:nvSpPr>
          <p:spPr>
            <a:xfrm>
              <a:off x="907901" y="3841596"/>
              <a:ext cx="454575" cy="483393"/>
            </a:xfrm>
            <a:prstGeom prst="rect">
              <a:avLst/>
            </a:prstGeom>
            <a:grpFill/>
          </p:spPr>
          <p:txBody>
            <a:bodyPr wrap="square" rtlCol="0">
              <a:spAutoFit/>
            </a:bodyPr>
            <a:lstStyle/>
            <a:p>
              <a:r>
                <a:rPr lang="en-US" sz="1400" dirty="0"/>
                <a:t>0</a:t>
              </a:r>
            </a:p>
          </p:txBody>
        </p:sp>
        <p:cxnSp>
          <p:nvCxnSpPr>
            <p:cNvPr id="53" name="Straight Connector 52">
              <a:extLst>
                <a:ext uri="{FF2B5EF4-FFF2-40B4-BE49-F238E27FC236}">
                  <a16:creationId xmlns:a16="http://schemas.microsoft.com/office/drawing/2014/main" id="{1CFBAF48-EE4C-1DDA-3437-B27D4953911D}"/>
                </a:ext>
              </a:extLst>
            </p:cNvPr>
            <p:cNvCxnSpPr>
              <a:cxnSpLocks/>
            </p:cNvCxnSpPr>
            <p:nvPr/>
          </p:nvCxnSpPr>
          <p:spPr>
            <a:xfrm>
              <a:off x="1061950" y="3501484"/>
              <a:ext cx="0" cy="312234"/>
            </a:xfrm>
            <a:prstGeom prst="line">
              <a:avLst/>
            </a:prstGeom>
            <a:grpFill/>
            <a:ln w="38100"/>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4912AE3F-EA13-B900-1D38-41D84ADE609E}"/>
                </a:ext>
              </a:extLst>
            </p:cNvPr>
            <p:cNvCxnSpPr>
              <a:cxnSpLocks/>
            </p:cNvCxnSpPr>
            <p:nvPr/>
          </p:nvCxnSpPr>
          <p:spPr>
            <a:xfrm>
              <a:off x="8502594" y="3497768"/>
              <a:ext cx="0" cy="312234"/>
            </a:xfrm>
            <a:prstGeom prst="line">
              <a:avLst/>
            </a:prstGeom>
            <a:grpFill/>
            <a:ln w="38100"/>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4C78D35D-C70E-3262-4C73-22503523824B}"/>
                </a:ext>
              </a:extLst>
            </p:cNvPr>
            <p:cNvSpPr txBox="1"/>
            <p:nvPr/>
          </p:nvSpPr>
          <p:spPr>
            <a:xfrm>
              <a:off x="8276182" y="3852072"/>
              <a:ext cx="468031" cy="492254"/>
            </a:xfrm>
            <a:prstGeom prst="rect">
              <a:avLst/>
            </a:prstGeom>
            <a:grpFill/>
          </p:spPr>
          <p:txBody>
            <a:bodyPr wrap="square" rtlCol="0">
              <a:spAutoFit/>
            </a:bodyPr>
            <a:lstStyle/>
            <a:p>
              <a:pPr algn="ctr"/>
              <a:r>
                <a:rPr lang="en-US" sz="1400" dirty="0"/>
                <a:t>1</a:t>
              </a:r>
            </a:p>
          </p:txBody>
        </p:sp>
        <p:sp>
          <p:nvSpPr>
            <p:cNvPr id="56" name="TextBox 55">
              <a:extLst>
                <a:ext uri="{FF2B5EF4-FFF2-40B4-BE49-F238E27FC236}">
                  <a16:creationId xmlns:a16="http://schemas.microsoft.com/office/drawing/2014/main" id="{55FB1B0A-6378-042D-C8C6-23156454EB51}"/>
                </a:ext>
              </a:extLst>
            </p:cNvPr>
            <p:cNvSpPr txBox="1"/>
            <p:nvPr/>
          </p:nvSpPr>
          <p:spPr>
            <a:xfrm>
              <a:off x="4131712" y="2380063"/>
              <a:ext cx="1822443" cy="483393"/>
            </a:xfrm>
            <a:prstGeom prst="rect">
              <a:avLst/>
            </a:prstGeom>
            <a:grpFill/>
          </p:spPr>
          <p:txBody>
            <a:bodyPr wrap="square" rtlCol="0">
              <a:spAutoFit/>
            </a:bodyPr>
            <a:lstStyle/>
            <a:p>
              <a:pPr algn="ctr"/>
              <a:r>
                <a:rPr lang="en-US" sz="1400" dirty="0">
                  <a:latin typeface="Helvetica" pitchFamily="2" charset="0"/>
                </a:rPr>
                <a:t>.……………</a:t>
              </a:r>
            </a:p>
          </p:txBody>
        </p:sp>
      </p:grpSp>
      <p:sp>
        <p:nvSpPr>
          <p:cNvPr id="3" name="Rectangle 2">
            <a:extLst>
              <a:ext uri="{FF2B5EF4-FFF2-40B4-BE49-F238E27FC236}">
                <a16:creationId xmlns:a16="http://schemas.microsoft.com/office/drawing/2014/main" id="{8E0C5D6E-D7FE-1BBA-9158-FAED9F3087F8}"/>
              </a:ext>
            </a:extLst>
          </p:cNvPr>
          <p:cNvSpPr/>
          <p:nvPr/>
        </p:nvSpPr>
        <p:spPr>
          <a:xfrm>
            <a:off x="2290125" y="3375345"/>
            <a:ext cx="7612606" cy="178361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3565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FB67D-17BB-71B0-0E07-9BBAB670116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FD1C188-6AAD-B18A-0D7F-BC8AB34530A1}"/>
              </a:ext>
            </a:extLst>
          </p:cNvPr>
          <p:cNvSpPr/>
          <p:nvPr/>
        </p:nvSpPr>
        <p:spPr>
          <a:xfrm>
            <a:off x="0" y="-2"/>
            <a:ext cx="12192000" cy="107852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9C99AA-AE81-D61B-4C4D-B77B8A8A1743}"/>
              </a:ext>
            </a:extLst>
          </p:cNvPr>
          <p:cNvSpPr>
            <a:spLocks noGrp="1"/>
          </p:cNvSpPr>
          <p:nvPr>
            <p:ph type="title"/>
          </p:nvPr>
        </p:nvSpPr>
        <p:spPr>
          <a:xfrm>
            <a:off x="419559" y="86556"/>
            <a:ext cx="10515600" cy="982663"/>
          </a:xfrm>
        </p:spPr>
        <p:txBody>
          <a:bodyPr>
            <a:normAutofit/>
          </a:bodyPr>
          <a:lstStyle/>
          <a:p>
            <a:r>
              <a:rPr lang="en-US" b="1" dirty="0">
                <a:solidFill>
                  <a:schemeClr val="bg1"/>
                </a:solidFill>
                <a:latin typeface="Helvetica" pitchFamily="2" charset="0"/>
              </a:rPr>
              <a:t>2-1.</a:t>
            </a:r>
            <a:r>
              <a:rPr lang="en-US" b="1" dirty="0">
                <a:solidFill>
                  <a:schemeClr val="bg1"/>
                </a:solidFill>
                <a:latin typeface="Helvetica" pitchFamily="2" charset="0"/>
                <a:cs typeface="Times New Roman" panose="02020603050405020304" pitchFamily="18" charset="0"/>
              </a:rPr>
              <a:t> Inventory Turnover</a:t>
            </a:r>
            <a:endParaRPr lang="en-US" b="1" dirty="0">
              <a:solidFill>
                <a:schemeClr val="bg1"/>
              </a:solidFill>
              <a:latin typeface="Helvetica" pitchFamily="2" charset="0"/>
            </a:endParaRPr>
          </a:p>
        </p:txBody>
      </p:sp>
      <p:sp>
        <p:nvSpPr>
          <p:cNvPr id="3" name="TextBox 2">
            <a:extLst>
              <a:ext uri="{FF2B5EF4-FFF2-40B4-BE49-F238E27FC236}">
                <a16:creationId xmlns:a16="http://schemas.microsoft.com/office/drawing/2014/main" id="{10BEB5BD-1EF6-7927-A0B2-DA4871FC00B0}"/>
              </a:ext>
            </a:extLst>
          </p:cNvPr>
          <p:cNvSpPr txBox="1"/>
          <p:nvPr/>
        </p:nvSpPr>
        <p:spPr>
          <a:xfrm>
            <a:off x="356318" y="1724696"/>
            <a:ext cx="11730174" cy="1107996"/>
          </a:xfrm>
          <a:prstGeom prst="rect">
            <a:avLst/>
          </a:prstGeom>
          <a:noFill/>
        </p:spPr>
        <p:txBody>
          <a:bodyPr wrap="square" rtlCol="0">
            <a:spAutoFit/>
          </a:bodyPr>
          <a:lstStyle/>
          <a:p>
            <a:pPr algn="just">
              <a:spcBef>
                <a:spcPts val="600"/>
              </a:spcBef>
              <a:spcAft>
                <a:spcPts val="600"/>
              </a:spcAft>
            </a:pPr>
            <a:r>
              <a:rPr lang="en-US" sz="2200" dirty="0">
                <a:latin typeface="Helvetica" pitchFamily="2" charset="0"/>
                <a:cs typeface="Times New Roman" panose="02020603050405020304" pitchFamily="18" charset="0"/>
              </a:rPr>
              <a:t>A company has total net sales of $3,625 million, and its </a:t>
            </a:r>
            <a:r>
              <a:rPr lang="en-US" sz="2200" b="1" dirty="0">
                <a:latin typeface="Helvetica" pitchFamily="2" charset="0"/>
                <a:cs typeface="Times New Roman" panose="02020603050405020304" pitchFamily="18" charset="0"/>
              </a:rPr>
              <a:t>cost of goods sold (COGS)</a:t>
            </a:r>
            <a:r>
              <a:rPr lang="en-US" sz="2200" dirty="0">
                <a:latin typeface="Helvetica" pitchFamily="2" charset="0"/>
                <a:cs typeface="Times New Roman" panose="02020603050405020304" pitchFamily="18" charset="0"/>
              </a:rPr>
              <a:t> is 80% of net sales. The inventory at the beginning of the year was $520 million, and at the end of the year, it was $640 million. What is the Inventory Turnover Ratio for this company?</a:t>
            </a:r>
          </a:p>
        </p:txBody>
      </p:sp>
      <p:sp>
        <p:nvSpPr>
          <p:cNvPr id="23" name="TextBox 22">
            <a:extLst>
              <a:ext uri="{FF2B5EF4-FFF2-40B4-BE49-F238E27FC236}">
                <a16:creationId xmlns:a16="http://schemas.microsoft.com/office/drawing/2014/main" id="{98B9A2CA-6860-5B2E-9912-CCF64555BE8E}"/>
              </a:ext>
            </a:extLst>
          </p:cNvPr>
          <p:cNvSpPr txBox="1"/>
          <p:nvPr/>
        </p:nvSpPr>
        <p:spPr>
          <a:xfrm>
            <a:off x="356318" y="1223816"/>
            <a:ext cx="1790875" cy="461665"/>
          </a:xfrm>
          <a:prstGeom prst="rect">
            <a:avLst/>
          </a:prstGeom>
          <a:noFill/>
        </p:spPr>
        <p:txBody>
          <a:bodyPr wrap="none" rtlCol="0">
            <a:spAutoFit/>
          </a:bodyPr>
          <a:lstStyle/>
          <a:p>
            <a:r>
              <a:rPr lang="en-US" sz="2400" b="1" dirty="0">
                <a:latin typeface="Helvetica" pitchFamily="2" charset="0"/>
                <a:cs typeface="Times New Roman" panose="02020603050405020304" pitchFamily="18" charset="0"/>
              </a:rPr>
              <a:t>Question-3</a:t>
            </a:r>
          </a:p>
        </p:txBody>
      </p:sp>
      <p:grpSp>
        <p:nvGrpSpPr>
          <p:cNvPr id="13" name="Group 12">
            <a:extLst>
              <a:ext uri="{FF2B5EF4-FFF2-40B4-BE49-F238E27FC236}">
                <a16:creationId xmlns:a16="http://schemas.microsoft.com/office/drawing/2014/main" id="{A6FD7B51-95C9-16E4-4E73-4700AB556C22}"/>
              </a:ext>
            </a:extLst>
          </p:cNvPr>
          <p:cNvGrpSpPr/>
          <p:nvPr/>
        </p:nvGrpSpPr>
        <p:grpSpPr>
          <a:xfrm>
            <a:off x="1172612" y="3051052"/>
            <a:ext cx="6196887" cy="912220"/>
            <a:chOff x="674112" y="3042353"/>
            <a:chExt cx="7570793" cy="912220"/>
          </a:xfrm>
        </p:grpSpPr>
        <p:sp>
          <p:nvSpPr>
            <p:cNvPr id="15" name="TextBox 14">
              <a:extLst>
                <a:ext uri="{FF2B5EF4-FFF2-40B4-BE49-F238E27FC236}">
                  <a16:creationId xmlns:a16="http://schemas.microsoft.com/office/drawing/2014/main" id="{DF8232EC-4462-6238-06B0-181B80AAC3FA}"/>
                </a:ext>
              </a:extLst>
            </p:cNvPr>
            <p:cNvSpPr txBox="1">
              <a:spLocks/>
            </p:cNvSpPr>
            <p:nvPr/>
          </p:nvSpPr>
          <p:spPr>
            <a:xfrm>
              <a:off x="674112" y="3299550"/>
              <a:ext cx="3927380" cy="400110"/>
            </a:xfrm>
            <a:prstGeom prst="rect">
              <a:avLst/>
            </a:prstGeom>
            <a:noFill/>
          </p:spPr>
          <p:txBody>
            <a:bodyPr wrap="none" rtlCol="0">
              <a:spAutoFit/>
            </a:bodyPr>
            <a:lstStyle/>
            <a:p>
              <a:pPr algn="ctr"/>
              <a:r>
                <a:rPr lang="en-US" sz="2000" b="1" dirty="0">
                  <a:solidFill>
                    <a:srgbClr val="C00000"/>
                  </a:solidFill>
                  <a:latin typeface="Helvetica" pitchFamily="2" charset="0"/>
                </a:rPr>
                <a:t>Inventory Turnover Ratio</a:t>
              </a:r>
            </a:p>
          </p:txBody>
        </p:sp>
        <p:sp>
          <p:nvSpPr>
            <p:cNvPr id="18" name="TextBox 17">
              <a:extLst>
                <a:ext uri="{FF2B5EF4-FFF2-40B4-BE49-F238E27FC236}">
                  <a16:creationId xmlns:a16="http://schemas.microsoft.com/office/drawing/2014/main" id="{B0E69F01-83F5-7B50-CCDD-83D9A7ED6093}"/>
                </a:ext>
              </a:extLst>
            </p:cNvPr>
            <p:cNvSpPr txBox="1"/>
            <p:nvPr/>
          </p:nvSpPr>
          <p:spPr>
            <a:xfrm>
              <a:off x="4568037" y="3299550"/>
              <a:ext cx="297454" cy="384721"/>
            </a:xfrm>
            <a:prstGeom prst="rect">
              <a:avLst/>
            </a:prstGeom>
            <a:noFill/>
          </p:spPr>
          <p:txBody>
            <a:bodyPr wrap="square" rtlCol="0">
              <a:spAutoFit/>
            </a:bodyPr>
            <a:lstStyle/>
            <a:p>
              <a:r>
                <a:rPr lang="en-US" sz="1900" b="1" dirty="0">
                  <a:latin typeface="Helvetica" pitchFamily="2" charset="0"/>
                </a:rPr>
                <a:t>=</a:t>
              </a:r>
            </a:p>
          </p:txBody>
        </p:sp>
        <p:sp>
          <p:nvSpPr>
            <p:cNvPr id="19" name="TextBox 18">
              <a:extLst>
                <a:ext uri="{FF2B5EF4-FFF2-40B4-BE49-F238E27FC236}">
                  <a16:creationId xmlns:a16="http://schemas.microsoft.com/office/drawing/2014/main" id="{4AF5EFE2-5942-961E-11C5-541CEAE239FF}"/>
                </a:ext>
              </a:extLst>
            </p:cNvPr>
            <p:cNvSpPr txBox="1">
              <a:spLocks/>
            </p:cNvSpPr>
            <p:nvPr/>
          </p:nvSpPr>
          <p:spPr>
            <a:xfrm>
              <a:off x="5133987" y="3042353"/>
              <a:ext cx="2975205" cy="400110"/>
            </a:xfrm>
            <a:prstGeom prst="rect">
              <a:avLst/>
            </a:prstGeom>
            <a:noFill/>
          </p:spPr>
          <p:txBody>
            <a:bodyPr wrap="none" rtlCol="0">
              <a:spAutoFit/>
            </a:bodyPr>
            <a:lstStyle/>
            <a:p>
              <a:pPr algn="ctr"/>
              <a:r>
                <a:rPr lang="en-US" sz="2000" b="1" dirty="0">
                  <a:solidFill>
                    <a:srgbClr val="C00000"/>
                  </a:solidFill>
                  <a:latin typeface="Helvetica" pitchFamily="2" charset="0"/>
                </a:rPr>
                <a:t>Cost of Good Sold</a:t>
              </a:r>
            </a:p>
          </p:txBody>
        </p:sp>
        <p:sp>
          <p:nvSpPr>
            <p:cNvPr id="21" name="TextBox 20">
              <a:extLst>
                <a:ext uri="{FF2B5EF4-FFF2-40B4-BE49-F238E27FC236}">
                  <a16:creationId xmlns:a16="http://schemas.microsoft.com/office/drawing/2014/main" id="{AEA37F21-C371-0921-AEEF-2206A2E3BFA4}"/>
                </a:ext>
              </a:extLst>
            </p:cNvPr>
            <p:cNvSpPr txBox="1">
              <a:spLocks/>
            </p:cNvSpPr>
            <p:nvPr/>
          </p:nvSpPr>
          <p:spPr>
            <a:xfrm>
              <a:off x="5130266" y="3554463"/>
              <a:ext cx="2960875" cy="400110"/>
            </a:xfrm>
            <a:prstGeom prst="rect">
              <a:avLst/>
            </a:prstGeom>
            <a:noFill/>
          </p:spPr>
          <p:txBody>
            <a:bodyPr wrap="square" rtlCol="0">
              <a:spAutoFit/>
            </a:bodyPr>
            <a:lstStyle/>
            <a:p>
              <a:pPr algn="ctr"/>
              <a:r>
                <a:rPr lang="en-US" sz="2000" b="1" dirty="0">
                  <a:solidFill>
                    <a:srgbClr val="C00000"/>
                  </a:solidFill>
                  <a:latin typeface="Helvetica" pitchFamily="2" charset="0"/>
                </a:rPr>
                <a:t>Average Inventory</a:t>
              </a:r>
            </a:p>
          </p:txBody>
        </p:sp>
        <p:cxnSp>
          <p:nvCxnSpPr>
            <p:cNvPr id="24" name="Straight Connector 23">
              <a:extLst>
                <a:ext uri="{FF2B5EF4-FFF2-40B4-BE49-F238E27FC236}">
                  <a16:creationId xmlns:a16="http://schemas.microsoft.com/office/drawing/2014/main" id="{70B62286-388F-50B1-E63D-A1D54CD17E90}"/>
                </a:ext>
              </a:extLst>
            </p:cNvPr>
            <p:cNvCxnSpPr>
              <a:cxnSpLocks/>
            </p:cNvCxnSpPr>
            <p:nvPr/>
          </p:nvCxnSpPr>
          <p:spPr>
            <a:xfrm>
              <a:off x="5008192" y="3501555"/>
              <a:ext cx="323671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5" name="TextBox 4">
            <a:extLst>
              <a:ext uri="{FF2B5EF4-FFF2-40B4-BE49-F238E27FC236}">
                <a16:creationId xmlns:a16="http://schemas.microsoft.com/office/drawing/2014/main" id="{96BE6EB6-FE8C-E8D5-7CF3-37D8CD16564B}"/>
              </a:ext>
            </a:extLst>
          </p:cNvPr>
          <p:cNvSpPr txBox="1"/>
          <p:nvPr/>
        </p:nvSpPr>
        <p:spPr>
          <a:xfrm>
            <a:off x="419559" y="4236848"/>
            <a:ext cx="4817344" cy="400110"/>
          </a:xfrm>
          <a:prstGeom prst="rect">
            <a:avLst/>
          </a:prstGeom>
          <a:noFill/>
        </p:spPr>
        <p:txBody>
          <a:bodyPr wrap="none" rtlCol="0">
            <a:spAutoFit/>
          </a:bodyPr>
          <a:lstStyle/>
          <a:p>
            <a:r>
              <a:rPr lang="en-US" sz="2000" b="1" dirty="0">
                <a:solidFill>
                  <a:srgbClr val="0061B4"/>
                </a:solidFill>
                <a:latin typeface="Helvetica" pitchFamily="2" charset="0"/>
                <a:cs typeface="Times New Roman" panose="02020603050405020304" pitchFamily="18" charset="0"/>
              </a:rPr>
              <a:t>Cost of goods sold  = Net sales * 80%,</a:t>
            </a:r>
          </a:p>
        </p:txBody>
      </p:sp>
      <p:sp>
        <p:nvSpPr>
          <p:cNvPr id="7" name="TextBox 6">
            <a:extLst>
              <a:ext uri="{FF2B5EF4-FFF2-40B4-BE49-F238E27FC236}">
                <a16:creationId xmlns:a16="http://schemas.microsoft.com/office/drawing/2014/main" id="{6D436D02-8EDD-93EE-FAF6-28CA753CEC64}"/>
              </a:ext>
            </a:extLst>
          </p:cNvPr>
          <p:cNvSpPr txBox="1"/>
          <p:nvPr/>
        </p:nvSpPr>
        <p:spPr>
          <a:xfrm>
            <a:off x="419559" y="4715675"/>
            <a:ext cx="5479385" cy="400110"/>
          </a:xfrm>
          <a:prstGeom prst="rect">
            <a:avLst/>
          </a:prstGeom>
          <a:noFill/>
        </p:spPr>
        <p:txBody>
          <a:bodyPr wrap="none" rtlCol="0">
            <a:spAutoFit/>
          </a:bodyPr>
          <a:lstStyle/>
          <a:p>
            <a:r>
              <a:rPr lang="en-US" sz="2000" b="1" dirty="0">
                <a:solidFill>
                  <a:srgbClr val="0061B4"/>
                </a:solidFill>
                <a:latin typeface="Helvetica" pitchFamily="2" charset="0"/>
                <a:cs typeface="Times New Roman" panose="02020603050405020304" pitchFamily="18" charset="0"/>
              </a:rPr>
              <a:t>Cost of goods sold  = $3,625 * 80% = $2,900</a:t>
            </a:r>
          </a:p>
        </p:txBody>
      </p:sp>
      <p:grpSp>
        <p:nvGrpSpPr>
          <p:cNvPr id="9" name="Group 8">
            <a:extLst>
              <a:ext uri="{FF2B5EF4-FFF2-40B4-BE49-F238E27FC236}">
                <a16:creationId xmlns:a16="http://schemas.microsoft.com/office/drawing/2014/main" id="{84D222A9-785A-C24E-F4B7-AFD9E6936B0F}"/>
              </a:ext>
            </a:extLst>
          </p:cNvPr>
          <p:cNvGrpSpPr/>
          <p:nvPr/>
        </p:nvGrpSpPr>
        <p:grpSpPr>
          <a:xfrm>
            <a:off x="830159" y="5492684"/>
            <a:ext cx="7591012" cy="959311"/>
            <a:chOff x="1464609" y="3062469"/>
            <a:chExt cx="8212423" cy="959311"/>
          </a:xfrm>
        </p:grpSpPr>
        <p:sp>
          <p:nvSpPr>
            <p:cNvPr id="10" name="TextBox 9">
              <a:extLst>
                <a:ext uri="{FF2B5EF4-FFF2-40B4-BE49-F238E27FC236}">
                  <a16:creationId xmlns:a16="http://schemas.microsoft.com/office/drawing/2014/main" id="{6A79BA5E-AC7A-B7D6-0F49-79A14E92D143}"/>
                </a:ext>
              </a:extLst>
            </p:cNvPr>
            <p:cNvSpPr txBox="1">
              <a:spLocks/>
            </p:cNvSpPr>
            <p:nvPr/>
          </p:nvSpPr>
          <p:spPr>
            <a:xfrm>
              <a:off x="1464609" y="3318659"/>
              <a:ext cx="2458202" cy="400110"/>
            </a:xfrm>
            <a:prstGeom prst="rect">
              <a:avLst/>
            </a:prstGeom>
            <a:noFill/>
          </p:spPr>
          <p:txBody>
            <a:bodyPr wrap="square" rtlCol="0">
              <a:spAutoFit/>
            </a:bodyPr>
            <a:lstStyle/>
            <a:p>
              <a:pPr algn="ctr"/>
              <a:r>
                <a:rPr lang="en-US" sz="2000" b="1" dirty="0">
                  <a:solidFill>
                    <a:schemeClr val="accent6">
                      <a:lumMod val="75000"/>
                    </a:schemeClr>
                  </a:solidFill>
                </a:rPr>
                <a:t>Average Inventory</a:t>
              </a:r>
            </a:p>
          </p:txBody>
        </p:sp>
        <p:sp>
          <p:nvSpPr>
            <p:cNvPr id="11" name="TextBox 10">
              <a:extLst>
                <a:ext uri="{FF2B5EF4-FFF2-40B4-BE49-F238E27FC236}">
                  <a16:creationId xmlns:a16="http://schemas.microsoft.com/office/drawing/2014/main" id="{D70CD9CD-6B85-AE11-373E-555EC67B91BD}"/>
                </a:ext>
              </a:extLst>
            </p:cNvPr>
            <p:cNvSpPr txBox="1"/>
            <p:nvPr/>
          </p:nvSpPr>
          <p:spPr>
            <a:xfrm>
              <a:off x="3893062" y="3349919"/>
              <a:ext cx="297455" cy="400110"/>
            </a:xfrm>
            <a:prstGeom prst="rect">
              <a:avLst/>
            </a:prstGeom>
            <a:noFill/>
          </p:spPr>
          <p:txBody>
            <a:bodyPr wrap="square" rtlCol="0">
              <a:spAutoFit/>
            </a:bodyPr>
            <a:lstStyle/>
            <a:p>
              <a:r>
                <a:rPr lang="en-US" sz="2000" b="1" dirty="0">
                  <a:solidFill>
                    <a:schemeClr val="accent6">
                      <a:lumMod val="75000"/>
                    </a:schemeClr>
                  </a:solidFill>
                </a:rPr>
                <a:t>=</a:t>
              </a:r>
            </a:p>
          </p:txBody>
        </p:sp>
        <p:sp>
          <p:nvSpPr>
            <p:cNvPr id="12" name="TextBox 11">
              <a:extLst>
                <a:ext uri="{FF2B5EF4-FFF2-40B4-BE49-F238E27FC236}">
                  <a16:creationId xmlns:a16="http://schemas.microsoft.com/office/drawing/2014/main" id="{F766E3DF-757C-9357-9A86-405CF603A2EE}"/>
                </a:ext>
              </a:extLst>
            </p:cNvPr>
            <p:cNvSpPr txBox="1">
              <a:spLocks/>
            </p:cNvSpPr>
            <p:nvPr/>
          </p:nvSpPr>
          <p:spPr>
            <a:xfrm>
              <a:off x="4151928" y="3062469"/>
              <a:ext cx="5525104" cy="400110"/>
            </a:xfrm>
            <a:prstGeom prst="rect">
              <a:avLst/>
            </a:prstGeom>
            <a:noFill/>
          </p:spPr>
          <p:txBody>
            <a:bodyPr wrap="square" rtlCol="0">
              <a:spAutoFit/>
            </a:bodyPr>
            <a:lstStyle/>
            <a:p>
              <a:pPr algn="ctr"/>
              <a:r>
                <a:rPr lang="en-US" sz="2000" b="1" dirty="0">
                  <a:solidFill>
                    <a:schemeClr val="accent6">
                      <a:lumMod val="75000"/>
                    </a:schemeClr>
                  </a:solidFill>
                </a:rPr>
                <a:t>Beginning Inventory  +  Ending Inventory</a:t>
              </a:r>
            </a:p>
          </p:txBody>
        </p:sp>
        <p:sp>
          <p:nvSpPr>
            <p:cNvPr id="14" name="TextBox 13">
              <a:extLst>
                <a:ext uri="{FF2B5EF4-FFF2-40B4-BE49-F238E27FC236}">
                  <a16:creationId xmlns:a16="http://schemas.microsoft.com/office/drawing/2014/main" id="{093B48C0-1FDB-E7A8-4906-4ACE2DE48F62}"/>
                </a:ext>
              </a:extLst>
            </p:cNvPr>
            <p:cNvSpPr txBox="1">
              <a:spLocks/>
            </p:cNvSpPr>
            <p:nvPr/>
          </p:nvSpPr>
          <p:spPr>
            <a:xfrm>
              <a:off x="5936037" y="3621670"/>
              <a:ext cx="1956883" cy="400110"/>
            </a:xfrm>
            <a:prstGeom prst="rect">
              <a:avLst/>
            </a:prstGeom>
            <a:noFill/>
          </p:spPr>
          <p:txBody>
            <a:bodyPr wrap="square" rtlCol="0">
              <a:spAutoFit/>
            </a:bodyPr>
            <a:lstStyle/>
            <a:p>
              <a:pPr algn="ctr"/>
              <a:r>
                <a:rPr lang="en-US" sz="2000" b="1" dirty="0">
                  <a:solidFill>
                    <a:schemeClr val="accent6">
                      <a:lumMod val="75000"/>
                    </a:schemeClr>
                  </a:solidFill>
                </a:rPr>
                <a:t>2</a:t>
              </a:r>
            </a:p>
          </p:txBody>
        </p:sp>
        <p:cxnSp>
          <p:nvCxnSpPr>
            <p:cNvPr id="16" name="Straight Connector 15">
              <a:extLst>
                <a:ext uri="{FF2B5EF4-FFF2-40B4-BE49-F238E27FC236}">
                  <a16:creationId xmlns:a16="http://schemas.microsoft.com/office/drawing/2014/main" id="{8F2953B1-82E9-5B72-D314-3EC92D6880D7}"/>
                </a:ext>
              </a:extLst>
            </p:cNvPr>
            <p:cNvCxnSpPr>
              <a:cxnSpLocks/>
            </p:cNvCxnSpPr>
            <p:nvPr/>
          </p:nvCxnSpPr>
          <p:spPr>
            <a:xfrm>
              <a:off x="4219586" y="3546159"/>
              <a:ext cx="5389789"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0" name="TextBox 19">
            <a:extLst>
              <a:ext uri="{FF2B5EF4-FFF2-40B4-BE49-F238E27FC236}">
                <a16:creationId xmlns:a16="http://schemas.microsoft.com/office/drawing/2014/main" id="{FA7CB4E5-BEF2-170B-7E4A-F1FF93E647E9}"/>
              </a:ext>
            </a:extLst>
          </p:cNvPr>
          <p:cNvSpPr txBox="1"/>
          <p:nvPr/>
        </p:nvSpPr>
        <p:spPr>
          <a:xfrm>
            <a:off x="8406269" y="5776319"/>
            <a:ext cx="274947" cy="400110"/>
          </a:xfrm>
          <a:prstGeom prst="rect">
            <a:avLst/>
          </a:prstGeom>
          <a:noFill/>
        </p:spPr>
        <p:txBody>
          <a:bodyPr wrap="square" rtlCol="0">
            <a:spAutoFit/>
          </a:bodyPr>
          <a:lstStyle/>
          <a:p>
            <a:r>
              <a:rPr lang="en-US" sz="2000" b="1" dirty="0">
                <a:solidFill>
                  <a:schemeClr val="accent6">
                    <a:lumMod val="75000"/>
                  </a:schemeClr>
                </a:solidFill>
              </a:rPr>
              <a:t>=</a:t>
            </a:r>
          </a:p>
        </p:txBody>
      </p:sp>
      <p:cxnSp>
        <p:nvCxnSpPr>
          <p:cNvPr id="22" name="Straight Connector 21">
            <a:extLst>
              <a:ext uri="{FF2B5EF4-FFF2-40B4-BE49-F238E27FC236}">
                <a16:creationId xmlns:a16="http://schemas.microsoft.com/office/drawing/2014/main" id="{2F03C4D6-06B9-B282-36F6-EDD44419A818}"/>
              </a:ext>
            </a:extLst>
          </p:cNvPr>
          <p:cNvCxnSpPr>
            <a:cxnSpLocks/>
          </p:cNvCxnSpPr>
          <p:nvPr/>
        </p:nvCxnSpPr>
        <p:spPr>
          <a:xfrm>
            <a:off x="8773455" y="5965409"/>
            <a:ext cx="135385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05307665-EBEA-664B-AB9A-17B3E45D20CB}"/>
              </a:ext>
            </a:extLst>
          </p:cNvPr>
          <p:cNvSpPr txBox="1"/>
          <p:nvPr/>
        </p:nvSpPr>
        <p:spPr>
          <a:xfrm>
            <a:off x="8773455" y="5540231"/>
            <a:ext cx="1516762" cy="400110"/>
          </a:xfrm>
          <a:prstGeom prst="rect">
            <a:avLst/>
          </a:prstGeom>
          <a:noFill/>
        </p:spPr>
        <p:txBody>
          <a:bodyPr wrap="none" rtlCol="0">
            <a:spAutoFit/>
          </a:bodyPr>
          <a:lstStyle/>
          <a:p>
            <a:r>
              <a:rPr lang="en-US" sz="2000" b="1" dirty="0">
                <a:solidFill>
                  <a:schemeClr val="accent6">
                    <a:lumMod val="75000"/>
                  </a:schemeClr>
                </a:solidFill>
              </a:rPr>
              <a:t>$520 + $640</a:t>
            </a:r>
          </a:p>
        </p:txBody>
      </p:sp>
      <p:sp>
        <p:nvSpPr>
          <p:cNvPr id="50" name="TextBox 49">
            <a:extLst>
              <a:ext uri="{FF2B5EF4-FFF2-40B4-BE49-F238E27FC236}">
                <a16:creationId xmlns:a16="http://schemas.microsoft.com/office/drawing/2014/main" id="{59B66421-8EDD-51B4-3210-7172A4245620}"/>
              </a:ext>
            </a:extLst>
          </p:cNvPr>
          <p:cNvSpPr txBox="1"/>
          <p:nvPr/>
        </p:nvSpPr>
        <p:spPr>
          <a:xfrm>
            <a:off x="9313667" y="6051885"/>
            <a:ext cx="320922" cy="400110"/>
          </a:xfrm>
          <a:prstGeom prst="rect">
            <a:avLst/>
          </a:prstGeom>
          <a:noFill/>
        </p:spPr>
        <p:txBody>
          <a:bodyPr wrap="none" rtlCol="0">
            <a:spAutoFit/>
          </a:bodyPr>
          <a:lstStyle/>
          <a:p>
            <a:r>
              <a:rPr lang="en-US" sz="2000" b="1" dirty="0">
                <a:solidFill>
                  <a:schemeClr val="accent6">
                    <a:lumMod val="75000"/>
                  </a:schemeClr>
                </a:solidFill>
              </a:rPr>
              <a:t>2</a:t>
            </a:r>
          </a:p>
        </p:txBody>
      </p:sp>
      <p:sp>
        <p:nvSpPr>
          <p:cNvPr id="51" name="TextBox 50">
            <a:extLst>
              <a:ext uri="{FF2B5EF4-FFF2-40B4-BE49-F238E27FC236}">
                <a16:creationId xmlns:a16="http://schemas.microsoft.com/office/drawing/2014/main" id="{52D01F63-69EE-B3E1-8A50-4198E241CAA6}"/>
              </a:ext>
            </a:extLst>
          </p:cNvPr>
          <p:cNvSpPr txBox="1"/>
          <p:nvPr/>
        </p:nvSpPr>
        <p:spPr>
          <a:xfrm>
            <a:off x="10161977" y="5742961"/>
            <a:ext cx="274947" cy="400110"/>
          </a:xfrm>
          <a:prstGeom prst="rect">
            <a:avLst/>
          </a:prstGeom>
          <a:noFill/>
        </p:spPr>
        <p:txBody>
          <a:bodyPr wrap="square" rtlCol="0">
            <a:spAutoFit/>
          </a:bodyPr>
          <a:lstStyle/>
          <a:p>
            <a:r>
              <a:rPr lang="en-US" sz="2000" b="1" dirty="0">
                <a:solidFill>
                  <a:schemeClr val="accent6">
                    <a:lumMod val="75000"/>
                  </a:schemeClr>
                </a:solidFill>
              </a:rPr>
              <a:t>=</a:t>
            </a:r>
          </a:p>
        </p:txBody>
      </p:sp>
      <p:sp>
        <p:nvSpPr>
          <p:cNvPr id="52" name="TextBox 51">
            <a:extLst>
              <a:ext uri="{FF2B5EF4-FFF2-40B4-BE49-F238E27FC236}">
                <a16:creationId xmlns:a16="http://schemas.microsoft.com/office/drawing/2014/main" id="{3791566F-F24C-2F8D-F7A4-42E435366F7C}"/>
              </a:ext>
            </a:extLst>
          </p:cNvPr>
          <p:cNvSpPr txBox="1"/>
          <p:nvPr/>
        </p:nvSpPr>
        <p:spPr>
          <a:xfrm>
            <a:off x="10428368" y="5742961"/>
            <a:ext cx="729687" cy="400110"/>
          </a:xfrm>
          <a:prstGeom prst="rect">
            <a:avLst/>
          </a:prstGeom>
          <a:noFill/>
        </p:spPr>
        <p:txBody>
          <a:bodyPr wrap="none" rtlCol="0">
            <a:spAutoFit/>
          </a:bodyPr>
          <a:lstStyle/>
          <a:p>
            <a:r>
              <a:rPr lang="en-US" sz="2000" b="1" dirty="0">
                <a:solidFill>
                  <a:schemeClr val="accent6">
                    <a:lumMod val="75000"/>
                  </a:schemeClr>
                </a:solidFill>
              </a:rPr>
              <a:t>$580</a:t>
            </a:r>
          </a:p>
        </p:txBody>
      </p:sp>
      <p:sp>
        <p:nvSpPr>
          <p:cNvPr id="53" name="TextBox 52">
            <a:extLst>
              <a:ext uri="{FF2B5EF4-FFF2-40B4-BE49-F238E27FC236}">
                <a16:creationId xmlns:a16="http://schemas.microsoft.com/office/drawing/2014/main" id="{F0DE73C5-F604-8C09-2F91-5501C4059AB5}"/>
              </a:ext>
            </a:extLst>
          </p:cNvPr>
          <p:cNvSpPr txBox="1"/>
          <p:nvPr/>
        </p:nvSpPr>
        <p:spPr>
          <a:xfrm>
            <a:off x="7460366" y="3328641"/>
            <a:ext cx="243475" cy="384721"/>
          </a:xfrm>
          <a:prstGeom prst="rect">
            <a:avLst/>
          </a:prstGeom>
          <a:noFill/>
        </p:spPr>
        <p:txBody>
          <a:bodyPr wrap="square" rtlCol="0">
            <a:spAutoFit/>
          </a:bodyPr>
          <a:lstStyle/>
          <a:p>
            <a:r>
              <a:rPr lang="en-US" sz="1900" b="1" dirty="0"/>
              <a:t>=</a:t>
            </a:r>
          </a:p>
        </p:txBody>
      </p:sp>
      <p:sp>
        <p:nvSpPr>
          <p:cNvPr id="54" name="TextBox 53">
            <a:extLst>
              <a:ext uri="{FF2B5EF4-FFF2-40B4-BE49-F238E27FC236}">
                <a16:creationId xmlns:a16="http://schemas.microsoft.com/office/drawing/2014/main" id="{2C9512CD-D984-B47F-9EAE-1245EA387462}"/>
              </a:ext>
            </a:extLst>
          </p:cNvPr>
          <p:cNvSpPr txBox="1">
            <a:spLocks/>
          </p:cNvSpPr>
          <p:nvPr/>
        </p:nvSpPr>
        <p:spPr>
          <a:xfrm>
            <a:off x="8107744" y="3051878"/>
            <a:ext cx="968535" cy="400110"/>
          </a:xfrm>
          <a:prstGeom prst="rect">
            <a:avLst/>
          </a:prstGeom>
          <a:noFill/>
        </p:spPr>
        <p:txBody>
          <a:bodyPr wrap="none" rtlCol="0">
            <a:spAutoFit/>
          </a:bodyPr>
          <a:lstStyle/>
          <a:p>
            <a:pPr algn="ctr"/>
            <a:r>
              <a:rPr lang="en-US" sz="2000" b="1" dirty="0">
                <a:solidFill>
                  <a:srgbClr val="C00000"/>
                </a:solidFill>
                <a:latin typeface="Helvetica" pitchFamily="2" charset="0"/>
              </a:rPr>
              <a:t>$2,900</a:t>
            </a:r>
          </a:p>
        </p:txBody>
      </p:sp>
      <p:sp>
        <p:nvSpPr>
          <p:cNvPr id="55" name="TextBox 54">
            <a:extLst>
              <a:ext uri="{FF2B5EF4-FFF2-40B4-BE49-F238E27FC236}">
                <a16:creationId xmlns:a16="http://schemas.microsoft.com/office/drawing/2014/main" id="{EEF3737A-3979-6134-6F16-1477A212FE26}"/>
              </a:ext>
            </a:extLst>
          </p:cNvPr>
          <p:cNvSpPr txBox="1">
            <a:spLocks/>
          </p:cNvSpPr>
          <p:nvPr/>
        </p:nvSpPr>
        <p:spPr>
          <a:xfrm>
            <a:off x="8178700" y="3572762"/>
            <a:ext cx="826625" cy="400110"/>
          </a:xfrm>
          <a:prstGeom prst="rect">
            <a:avLst/>
          </a:prstGeom>
          <a:noFill/>
        </p:spPr>
        <p:txBody>
          <a:bodyPr wrap="square" rtlCol="0">
            <a:spAutoFit/>
          </a:bodyPr>
          <a:lstStyle/>
          <a:p>
            <a:pPr algn="ctr"/>
            <a:r>
              <a:rPr lang="en-US" sz="2000" b="1" dirty="0">
                <a:solidFill>
                  <a:srgbClr val="C00000"/>
                </a:solidFill>
                <a:latin typeface="Helvetica" pitchFamily="2" charset="0"/>
              </a:rPr>
              <a:t>$580</a:t>
            </a:r>
          </a:p>
        </p:txBody>
      </p:sp>
      <p:cxnSp>
        <p:nvCxnSpPr>
          <p:cNvPr id="56" name="Straight Connector 55">
            <a:extLst>
              <a:ext uri="{FF2B5EF4-FFF2-40B4-BE49-F238E27FC236}">
                <a16:creationId xmlns:a16="http://schemas.microsoft.com/office/drawing/2014/main" id="{CEFD1495-2737-E401-89A9-6BD416E18F58}"/>
              </a:ext>
            </a:extLst>
          </p:cNvPr>
          <p:cNvCxnSpPr>
            <a:cxnSpLocks/>
          </p:cNvCxnSpPr>
          <p:nvPr/>
        </p:nvCxnSpPr>
        <p:spPr>
          <a:xfrm>
            <a:off x="7794708" y="3510158"/>
            <a:ext cx="1594611" cy="9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5E0BBD15-A0AA-EE8C-FA3B-B7A084130C27}"/>
              </a:ext>
            </a:extLst>
          </p:cNvPr>
          <p:cNvSpPr txBox="1"/>
          <p:nvPr/>
        </p:nvSpPr>
        <p:spPr>
          <a:xfrm>
            <a:off x="9459791" y="3312947"/>
            <a:ext cx="274947" cy="400110"/>
          </a:xfrm>
          <a:prstGeom prst="rect">
            <a:avLst/>
          </a:prstGeom>
          <a:noFill/>
        </p:spPr>
        <p:txBody>
          <a:bodyPr wrap="square" rtlCol="0">
            <a:spAutoFit/>
          </a:bodyPr>
          <a:lstStyle/>
          <a:p>
            <a:r>
              <a:rPr lang="en-US" sz="2000" b="1" dirty="0"/>
              <a:t>=</a:t>
            </a:r>
          </a:p>
        </p:txBody>
      </p:sp>
      <p:sp>
        <p:nvSpPr>
          <p:cNvPr id="58" name="TextBox 57">
            <a:extLst>
              <a:ext uri="{FF2B5EF4-FFF2-40B4-BE49-F238E27FC236}">
                <a16:creationId xmlns:a16="http://schemas.microsoft.com/office/drawing/2014/main" id="{7D1DF5D3-DB0A-8D8C-726D-29CC993C3F75}"/>
              </a:ext>
            </a:extLst>
          </p:cNvPr>
          <p:cNvSpPr txBox="1"/>
          <p:nvPr/>
        </p:nvSpPr>
        <p:spPr>
          <a:xfrm>
            <a:off x="9721949" y="3268248"/>
            <a:ext cx="356188" cy="461665"/>
          </a:xfrm>
          <a:prstGeom prst="rect">
            <a:avLst/>
          </a:prstGeom>
          <a:noFill/>
        </p:spPr>
        <p:txBody>
          <a:bodyPr wrap="none" rtlCol="0">
            <a:spAutoFit/>
          </a:bodyPr>
          <a:lstStyle/>
          <a:p>
            <a:r>
              <a:rPr lang="en-US" sz="2400" b="1" dirty="0">
                <a:solidFill>
                  <a:srgbClr val="C00000"/>
                </a:solidFill>
                <a:latin typeface="Helvetica" pitchFamily="2" charset="0"/>
              </a:rPr>
              <a:t>5</a:t>
            </a:r>
          </a:p>
        </p:txBody>
      </p:sp>
    </p:spTree>
    <p:extLst>
      <p:ext uri="{BB962C8B-B14F-4D97-AF65-F5344CB8AC3E}">
        <p14:creationId xmlns:p14="http://schemas.microsoft.com/office/powerpoint/2010/main" val="397877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20" grpId="0"/>
      <p:bldP spid="49" grpId="0"/>
      <p:bldP spid="50" grpId="0"/>
      <p:bldP spid="51" grpId="0"/>
      <p:bldP spid="52" grpId="0"/>
      <p:bldP spid="53" grpId="0"/>
      <p:bldP spid="54" grpId="0"/>
      <p:bldP spid="55" grpId="0"/>
      <p:bldP spid="57" grpId="0"/>
      <p:bldP spid="5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79FC4-01D8-0981-E21A-9CF0E22926C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7CFC962-DEEF-E266-F554-CA47B9C12FC9}"/>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9F9D30-D2F7-7EBF-CB4A-F776A993FBC8}"/>
              </a:ext>
            </a:extLst>
          </p:cNvPr>
          <p:cNvSpPr>
            <a:spLocks noGrp="1"/>
          </p:cNvSpPr>
          <p:nvPr>
            <p:ph type="title"/>
          </p:nvPr>
        </p:nvSpPr>
        <p:spPr>
          <a:xfrm>
            <a:off x="419559" y="192063"/>
            <a:ext cx="10515600" cy="982663"/>
          </a:xfrm>
        </p:spPr>
        <p:txBody>
          <a:bodyPr>
            <a:normAutofit/>
          </a:bodyPr>
          <a:lstStyle/>
          <a:p>
            <a:r>
              <a:rPr lang="en-US" b="1" dirty="0">
                <a:solidFill>
                  <a:schemeClr val="bg1"/>
                </a:solidFill>
                <a:latin typeface="Helvetica" pitchFamily="2" charset="0"/>
              </a:rPr>
              <a:t>2-2.</a:t>
            </a:r>
            <a:r>
              <a:rPr lang="en-US" b="1" dirty="0">
                <a:solidFill>
                  <a:schemeClr val="bg1"/>
                </a:solidFill>
                <a:latin typeface="Helvetica" pitchFamily="2" charset="0"/>
                <a:cs typeface="Times New Roman" panose="02020603050405020304" pitchFamily="18" charset="0"/>
              </a:rPr>
              <a:t> Days’ sales in inventories</a:t>
            </a:r>
            <a:endParaRPr lang="en-US" b="1" dirty="0">
              <a:solidFill>
                <a:schemeClr val="bg1"/>
              </a:solidFill>
              <a:latin typeface="Helvetica" pitchFamily="2" charset="0"/>
            </a:endParaRPr>
          </a:p>
        </p:txBody>
      </p:sp>
      <p:grpSp>
        <p:nvGrpSpPr>
          <p:cNvPr id="18" name="Group 17">
            <a:extLst>
              <a:ext uri="{FF2B5EF4-FFF2-40B4-BE49-F238E27FC236}">
                <a16:creationId xmlns:a16="http://schemas.microsoft.com/office/drawing/2014/main" id="{34049410-A7C9-8F55-5698-033BF2242B1F}"/>
              </a:ext>
            </a:extLst>
          </p:cNvPr>
          <p:cNvGrpSpPr/>
          <p:nvPr/>
        </p:nvGrpSpPr>
        <p:grpSpPr>
          <a:xfrm>
            <a:off x="2010293" y="3427795"/>
            <a:ext cx="8344832" cy="978115"/>
            <a:chOff x="849612" y="3051735"/>
            <a:chExt cx="8344832" cy="978115"/>
          </a:xfrm>
        </p:grpSpPr>
        <p:sp>
          <p:nvSpPr>
            <p:cNvPr id="10" name="TextBox 9">
              <a:extLst>
                <a:ext uri="{FF2B5EF4-FFF2-40B4-BE49-F238E27FC236}">
                  <a16:creationId xmlns:a16="http://schemas.microsoft.com/office/drawing/2014/main" id="{E7926DEC-47FE-49B7-6F23-351621559A46}"/>
                </a:ext>
              </a:extLst>
            </p:cNvPr>
            <p:cNvSpPr txBox="1">
              <a:spLocks/>
            </p:cNvSpPr>
            <p:nvPr/>
          </p:nvSpPr>
          <p:spPr>
            <a:xfrm>
              <a:off x="849612" y="3321853"/>
              <a:ext cx="3930051"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Days’ sales in inventories</a:t>
              </a:r>
              <a:endParaRPr lang="en-US" sz="2400" b="1" dirty="0">
                <a:solidFill>
                  <a:srgbClr val="C00000"/>
                </a:solidFill>
                <a:latin typeface="Helvetica" pitchFamily="2" charset="0"/>
              </a:endParaRPr>
            </a:p>
          </p:txBody>
        </p:sp>
        <p:sp>
          <p:nvSpPr>
            <p:cNvPr id="11" name="TextBox 10">
              <a:extLst>
                <a:ext uri="{FF2B5EF4-FFF2-40B4-BE49-F238E27FC236}">
                  <a16:creationId xmlns:a16="http://schemas.microsoft.com/office/drawing/2014/main" id="{5EA59146-EA7F-B780-7DA5-BF9E9303F54F}"/>
                </a:ext>
              </a:extLst>
            </p:cNvPr>
            <p:cNvSpPr txBox="1"/>
            <p:nvPr/>
          </p:nvSpPr>
          <p:spPr>
            <a:xfrm>
              <a:off x="4736807"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12" name="TextBox 11">
              <a:extLst>
                <a:ext uri="{FF2B5EF4-FFF2-40B4-BE49-F238E27FC236}">
                  <a16:creationId xmlns:a16="http://schemas.microsoft.com/office/drawing/2014/main" id="{559E548B-BF77-497C-7863-D072D40A62DB}"/>
                </a:ext>
              </a:extLst>
            </p:cNvPr>
            <p:cNvSpPr txBox="1">
              <a:spLocks/>
            </p:cNvSpPr>
            <p:nvPr/>
          </p:nvSpPr>
          <p:spPr>
            <a:xfrm>
              <a:off x="6859892" y="3051735"/>
              <a:ext cx="679994" cy="461665"/>
            </a:xfrm>
            <a:prstGeom prst="rect">
              <a:avLst/>
            </a:prstGeom>
            <a:noFill/>
          </p:spPr>
          <p:txBody>
            <a:bodyPr wrap="none" rtlCol="0">
              <a:spAutoFit/>
            </a:bodyPr>
            <a:lstStyle/>
            <a:p>
              <a:pPr algn="ctr"/>
              <a:r>
                <a:rPr lang="en-US" sz="2400" b="1" dirty="0">
                  <a:solidFill>
                    <a:srgbClr val="C00000"/>
                  </a:solidFill>
                </a:rPr>
                <a:t>365</a:t>
              </a:r>
            </a:p>
          </p:txBody>
        </p:sp>
        <p:sp>
          <p:nvSpPr>
            <p:cNvPr id="13" name="TextBox 12">
              <a:extLst>
                <a:ext uri="{FF2B5EF4-FFF2-40B4-BE49-F238E27FC236}">
                  <a16:creationId xmlns:a16="http://schemas.microsoft.com/office/drawing/2014/main" id="{DBB414F3-811A-A711-1458-0D014424A587}"/>
                </a:ext>
              </a:extLst>
            </p:cNvPr>
            <p:cNvSpPr txBox="1">
              <a:spLocks/>
            </p:cNvSpPr>
            <p:nvPr/>
          </p:nvSpPr>
          <p:spPr>
            <a:xfrm>
              <a:off x="5717078" y="3568185"/>
              <a:ext cx="2965620" cy="461665"/>
            </a:xfrm>
            <a:prstGeom prst="rect">
              <a:avLst/>
            </a:prstGeom>
            <a:noFill/>
          </p:spPr>
          <p:txBody>
            <a:bodyPr wrap="none" rtlCol="0">
              <a:spAutoFit/>
            </a:bodyPr>
            <a:lstStyle/>
            <a:p>
              <a:pPr algn="ctr"/>
              <a:r>
                <a:rPr lang="en-US" sz="2400" b="1" dirty="0">
                  <a:solidFill>
                    <a:srgbClr val="C00000"/>
                  </a:solidFill>
                  <a:latin typeface="Helvetica" pitchFamily="2" charset="0"/>
                </a:rPr>
                <a:t>Inventory Turnover</a:t>
              </a:r>
              <a:endParaRPr lang="en-US" sz="2400" b="1" dirty="0">
                <a:solidFill>
                  <a:srgbClr val="C00000"/>
                </a:solidFill>
              </a:endParaRPr>
            </a:p>
          </p:txBody>
        </p:sp>
        <p:cxnSp>
          <p:nvCxnSpPr>
            <p:cNvPr id="15" name="Straight Connector 14">
              <a:extLst>
                <a:ext uri="{FF2B5EF4-FFF2-40B4-BE49-F238E27FC236}">
                  <a16:creationId xmlns:a16="http://schemas.microsoft.com/office/drawing/2014/main" id="{2DC6193D-8B2A-2500-222B-46BD7EAB1664}"/>
                </a:ext>
              </a:extLst>
            </p:cNvPr>
            <p:cNvCxnSpPr>
              <a:cxnSpLocks/>
            </p:cNvCxnSpPr>
            <p:nvPr/>
          </p:nvCxnSpPr>
          <p:spPr>
            <a:xfrm>
              <a:off x="5177844" y="3546159"/>
              <a:ext cx="401660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 name="TextBox 3">
            <a:extLst>
              <a:ext uri="{FF2B5EF4-FFF2-40B4-BE49-F238E27FC236}">
                <a16:creationId xmlns:a16="http://schemas.microsoft.com/office/drawing/2014/main" id="{FAAB39BF-93A2-D3DB-E08F-5A8A64768EF1}"/>
              </a:ext>
            </a:extLst>
          </p:cNvPr>
          <p:cNvSpPr txBox="1"/>
          <p:nvPr/>
        </p:nvSpPr>
        <p:spPr>
          <a:xfrm>
            <a:off x="419559" y="4608182"/>
            <a:ext cx="11556851" cy="923330"/>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200" dirty="0">
                <a:latin typeface="Helvetica" pitchFamily="2" charset="0"/>
              </a:rPr>
              <a:t>The </a:t>
            </a:r>
            <a:r>
              <a:rPr lang="en-US" sz="2200" b="1" dirty="0">
                <a:latin typeface="Helvetica" pitchFamily="2" charset="0"/>
              </a:rPr>
              <a:t>average number of days</a:t>
            </a:r>
            <a:r>
              <a:rPr lang="en-US" sz="2200" dirty="0">
                <a:latin typeface="Helvetica" pitchFamily="2" charset="0"/>
              </a:rPr>
              <a:t> inventory stays in the firm</a:t>
            </a:r>
          </a:p>
          <a:p>
            <a:pPr marL="342900" indent="-342900">
              <a:spcBef>
                <a:spcPts val="600"/>
              </a:spcBef>
              <a:spcAft>
                <a:spcPts val="600"/>
              </a:spcAft>
              <a:buFont typeface="Arial" panose="020B0604020202020204" pitchFamily="34" charset="0"/>
              <a:buChar char="•"/>
            </a:pPr>
            <a:r>
              <a:rPr lang="en-US" sz="2200" dirty="0">
                <a:latin typeface="Helvetica" pitchFamily="2" charset="0"/>
              </a:rPr>
              <a:t>The time between </a:t>
            </a:r>
            <a:r>
              <a:rPr lang="en-US" sz="2200" b="1" dirty="0">
                <a:latin typeface="Helvetica" pitchFamily="2" charset="0"/>
              </a:rPr>
              <a:t>purchasing inventory</a:t>
            </a:r>
            <a:r>
              <a:rPr lang="en-US" sz="2200" dirty="0">
                <a:latin typeface="Helvetica" pitchFamily="2" charset="0"/>
              </a:rPr>
              <a:t> and </a:t>
            </a:r>
            <a:r>
              <a:rPr lang="en-US" sz="2200" b="1" dirty="0">
                <a:latin typeface="Helvetica" pitchFamily="2" charset="0"/>
              </a:rPr>
              <a:t>selling it</a:t>
            </a:r>
            <a:endParaRPr lang="en-US" sz="2200" dirty="0">
              <a:latin typeface="Helvetica" pitchFamily="2" charset="0"/>
            </a:endParaRPr>
          </a:p>
        </p:txBody>
      </p:sp>
      <p:sp>
        <p:nvSpPr>
          <p:cNvPr id="7" name="TextBox 6">
            <a:extLst>
              <a:ext uri="{FF2B5EF4-FFF2-40B4-BE49-F238E27FC236}">
                <a16:creationId xmlns:a16="http://schemas.microsoft.com/office/drawing/2014/main" id="{BABD56C8-AC64-D810-7353-EB1F27F5679E}"/>
              </a:ext>
            </a:extLst>
          </p:cNvPr>
          <p:cNvSpPr txBox="1"/>
          <p:nvPr/>
        </p:nvSpPr>
        <p:spPr>
          <a:xfrm>
            <a:off x="425043" y="5733784"/>
            <a:ext cx="5447325" cy="923330"/>
          </a:xfrm>
          <a:prstGeom prst="rect">
            <a:avLst/>
          </a:prstGeom>
          <a:noFill/>
        </p:spPr>
        <p:txBody>
          <a:bodyPr wrap="none" rtlCol="0">
            <a:spAutoFit/>
          </a:bodyPr>
          <a:lstStyle/>
          <a:p>
            <a:pPr marL="342900" indent="-342900">
              <a:spcBef>
                <a:spcPts val="600"/>
              </a:spcBef>
              <a:spcAft>
                <a:spcPts val="600"/>
              </a:spcAft>
              <a:buFont typeface="Arial" panose="020B0604020202020204" pitchFamily="34" charset="0"/>
              <a:buChar char="•"/>
            </a:pPr>
            <a:r>
              <a:rPr lang="en-US" sz="2200" b="1" dirty="0">
                <a:latin typeface="Helvetica" pitchFamily="2" charset="0"/>
              </a:rPr>
              <a:t>Higher DSI</a:t>
            </a:r>
            <a:r>
              <a:rPr lang="en-US" sz="2200" dirty="0">
                <a:latin typeface="Helvetica" pitchFamily="2" charset="0"/>
              </a:rPr>
              <a:t> </a:t>
            </a:r>
            <a:r>
              <a:rPr lang="en-US" sz="2200" dirty="0">
                <a:latin typeface="Helvetica" pitchFamily="2" charset="0"/>
                <a:sym typeface="Wingdings" pitchFamily="2" charset="2"/>
              </a:rPr>
              <a:t></a:t>
            </a:r>
            <a:r>
              <a:rPr lang="en-US" sz="2200" dirty="0">
                <a:latin typeface="Helvetica" pitchFamily="2" charset="0"/>
              </a:rPr>
              <a:t> Inventory moves </a:t>
            </a:r>
            <a:r>
              <a:rPr lang="en-US" sz="2200" b="1" dirty="0">
                <a:latin typeface="Helvetica" pitchFamily="2" charset="0"/>
              </a:rPr>
              <a:t>slowly</a:t>
            </a:r>
            <a:endParaRPr lang="en-US" sz="2200" dirty="0">
              <a:latin typeface="Helvetica" pitchFamily="2" charset="0"/>
            </a:endParaRPr>
          </a:p>
          <a:p>
            <a:pPr marL="342900" indent="-342900">
              <a:spcBef>
                <a:spcPts val="600"/>
              </a:spcBef>
              <a:spcAft>
                <a:spcPts val="600"/>
              </a:spcAft>
              <a:buFont typeface="Arial" panose="020B0604020202020204" pitchFamily="34" charset="0"/>
              <a:buChar char="•"/>
            </a:pPr>
            <a:r>
              <a:rPr lang="en-US" sz="2200" b="1" dirty="0">
                <a:latin typeface="Helvetica" pitchFamily="2" charset="0"/>
              </a:rPr>
              <a:t>Lower DSI</a:t>
            </a:r>
            <a:r>
              <a:rPr lang="en-US" sz="2200" dirty="0">
                <a:latin typeface="Helvetica" pitchFamily="2" charset="0"/>
              </a:rPr>
              <a:t> </a:t>
            </a:r>
            <a:r>
              <a:rPr lang="en-US" sz="2200" dirty="0">
                <a:latin typeface="Helvetica" pitchFamily="2" charset="0"/>
                <a:sym typeface="Wingdings" pitchFamily="2" charset="2"/>
              </a:rPr>
              <a:t></a:t>
            </a:r>
            <a:r>
              <a:rPr lang="en-US" sz="2200" dirty="0">
                <a:latin typeface="Helvetica" pitchFamily="2" charset="0"/>
              </a:rPr>
              <a:t> Inventory moves </a:t>
            </a:r>
            <a:r>
              <a:rPr lang="en-US" sz="2200" b="1" dirty="0">
                <a:latin typeface="Helvetica" pitchFamily="2" charset="0"/>
              </a:rPr>
              <a:t>quickly</a:t>
            </a:r>
            <a:endParaRPr lang="en-US" sz="2200" dirty="0">
              <a:latin typeface="Helvetica" pitchFamily="2" charset="0"/>
            </a:endParaRPr>
          </a:p>
        </p:txBody>
      </p:sp>
      <p:pic>
        <p:nvPicPr>
          <p:cNvPr id="8" name="Picture 7" descr="A diagram of a sales process&#10;&#10;AI-generated content may be incorrect.">
            <a:extLst>
              <a:ext uri="{FF2B5EF4-FFF2-40B4-BE49-F238E27FC236}">
                <a16:creationId xmlns:a16="http://schemas.microsoft.com/office/drawing/2014/main" id="{D6F64F83-6AD8-93B7-DCBB-AD882D04CC28}"/>
              </a:ext>
            </a:extLst>
          </p:cNvPr>
          <p:cNvPicPr>
            <a:picLocks noChangeAspect="1"/>
          </p:cNvPicPr>
          <p:nvPr/>
        </p:nvPicPr>
        <p:blipFill>
          <a:blip r:embed="rId2"/>
          <a:srcRect t="26254" b="22853"/>
          <a:stretch>
            <a:fillRect/>
          </a:stretch>
        </p:blipFill>
        <p:spPr>
          <a:xfrm>
            <a:off x="2840305" y="1661533"/>
            <a:ext cx="6200078" cy="1767467"/>
          </a:xfrm>
          <a:prstGeom prst="rect">
            <a:avLst/>
          </a:prstGeom>
        </p:spPr>
      </p:pic>
    </p:spTree>
    <p:extLst>
      <p:ext uri="{BB962C8B-B14F-4D97-AF65-F5344CB8AC3E}">
        <p14:creationId xmlns:p14="http://schemas.microsoft.com/office/powerpoint/2010/main" val="47075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35C91-AF81-54D3-CF65-48E30F63B83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98DFCFC-3C0E-4191-B338-D33C39B6A3DB}"/>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F9CCF4-90D9-38B9-A4F7-9E9A77231128}"/>
              </a:ext>
            </a:extLst>
          </p:cNvPr>
          <p:cNvSpPr>
            <a:spLocks noGrp="1"/>
          </p:cNvSpPr>
          <p:nvPr>
            <p:ph type="title"/>
          </p:nvPr>
        </p:nvSpPr>
        <p:spPr>
          <a:xfrm>
            <a:off x="419559" y="192063"/>
            <a:ext cx="10515600" cy="982663"/>
          </a:xfrm>
        </p:spPr>
        <p:txBody>
          <a:bodyPr>
            <a:normAutofit/>
          </a:bodyPr>
          <a:lstStyle/>
          <a:p>
            <a:r>
              <a:rPr lang="en-US" b="1" dirty="0">
                <a:solidFill>
                  <a:schemeClr val="bg1"/>
                </a:solidFill>
                <a:latin typeface="Helvetica" pitchFamily="2" charset="0"/>
              </a:rPr>
              <a:t>2-3.</a:t>
            </a:r>
            <a:r>
              <a:rPr lang="en-US" b="1" dirty="0">
                <a:solidFill>
                  <a:schemeClr val="bg1"/>
                </a:solidFill>
                <a:latin typeface="Helvetica" pitchFamily="2" charset="0"/>
                <a:cs typeface="Times New Roman" panose="02020603050405020304" pitchFamily="18" charset="0"/>
              </a:rPr>
              <a:t> Accounts Receivable Turnover</a:t>
            </a:r>
            <a:endParaRPr lang="en-US" b="1" dirty="0">
              <a:solidFill>
                <a:schemeClr val="bg1"/>
              </a:solidFill>
              <a:latin typeface="Helvetica" pitchFamily="2" charset="0"/>
            </a:endParaRPr>
          </a:p>
        </p:txBody>
      </p:sp>
      <p:grpSp>
        <p:nvGrpSpPr>
          <p:cNvPr id="18" name="Group 17">
            <a:extLst>
              <a:ext uri="{FF2B5EF4-FFF2-40B4-BE49-F238E27FC236}">
                <a16:creationId xmlns:a16="http://schemas.microsoft.com/office/drawing/2014/main" id="{D0461FF1-2C65-103B-A792-E2630068A919}"/>
              </a:ext>
            </a:extLst>
          </p:cNvPr>
          <p:cNvGrpSpPr/>
          <p:nvPr/>
        </p:nvGrpSpPr>
        <p:grpSpPr>
          <a:xfrm>
            <a:off x="1296958" y="1576699"/>
            <a:ext cx="9181433" cy="978115"/>
            <a:chOff x="59180" y="3051735"/>
            <a:chExt cx="9181433" cy="978115"/>
          </a:xfrm>
        </p:grpSpPr>
        <p:sp>
          <p:nvSpPr>
            <p:cNvPr id="10" name="TextBox 9">
              <a:extLst>
                <a:ext uri="{FF2B5EF4-FFF2-40B4-BE49-F238E27FC236}">
                  <a16:creationId xmlns:a16="http://schemas.microsoft.com/office/drawing/2014/main" id="{A7EA5CD2-69D2-2FCF-9B5F-34A1DD20115D}"/>
                </a:ext>
              </a:extLst>
            </p:cNvPr>
            <p:cNvSpPr txBox="1">
              <a:spLocks/>
            </p:cNvSpPr>
            <p:nvPr/>
          </p:nvSpPr>
          <p:spPr>
            <a:xfrm>
              <a:off x="59180" y="3315326"/>
              <a:ext cx="4677627"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Accounts Receivable Turnover</a:t>
              </a:r>
              <a:endParaRPr lang="en-US" sz="2400" b="1" dirty="0">
                <a:solidFill>
                  <a:srgbClr val="C00000"/>
                </a:solidFill>
                <a:latin typeface="Helvetica" pitchFamily="2" charset="0"/>
              </a:endParaRPr>
            </a:p>
          </p:txBody>
        </p:sp>
        <p:sp>
          <p:nvSpPr>
            <p:cNvPr id="11" name="TextBox 10">
              <a:extLst>
                <a:ext uri="{FF2B5EF4-FFF2-40B4-BE49-F238E27FC236}">
                  <a16:creationId xmlns:a16="http://schemas.microsoft.com/office/drawing/2014/main" id="{29A72648-46C4-6B05-C3A8-F09BBAF2BE5F}"/>
                </a:ext>
              </a:extLst>
            </p:cNvPr>
            <p:cNvSpPr txBox="1"/>
            <p:nvPr/>
          </p:nvSpPr>
          <p:spPr>
            <a:xfrm>
              <a:off x="4736807"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12" name="TextBox 11">
              <a:extLst>
                <a:ext uri="{FF2B5EF4-FFF2-40B4-BE49-F238E27FC236}">
                  <a16:creationId xmlns:a16="http://schemas.microsoft.com/office/drawing/2014/main" id="{145F612D-0997-B61B-549B-C4D337080F06}"/>
                </a:ext>
              </a:extLst>
            </p:cNvPr>
            <p:cNvSpPr txBox="1">
              <a:spLocks/>
            </p:cNvSpPr>
            <p:nvPr/>
          </p:nvSpPr>
          <p:spPr>
            <a:xfrm>
              <a:off x="6252484" y="3051735"/>
              <a:ext cx="1894814" cy="461665"/>
            </a:xfrm>
            <a:prstGeom prst="rect">
              <a:avLst/>
            </a:prstGeom>
            <a:noFill/>
          </p:spPr>
          <p:txBody>
            <a:bodyPr wrap="none" rtlCol="0">
              <a:spAutoFit/>
            </a:bodyPr>
            <a:lstStyle/>
            <a:p>
              <a:pPr algn="ctr"/>
              <a:r>
                <a:rPr lang="en-US" sz="2400" b="1" dirty="0">
                  <a:solidFill>
                    <a:srgbClr val="C00000"/>
                  </a:solidFill>
                </a:rPr>
                <a:t>Credit Sales</a:t>
              </a:r>
            </a:p>
          </p:txBody>
        </p:sp>
        <p:sp>
          <p:nvSpPr>
            <p:cNvPr id="13" name="TextBox 12">
              <a:extLst>
                <a:ext uri="{FF2B5EF4-FFF2-40B4-BE49-F238E27FC236}">
                  <a16:creationId xmlns:a16="http://schemas.microsoft.com/office/drawing/2014/main" id="{EB55BAEC-76EF-7046-8679-33C2CDCC0CB7}"/>
                </a:ext>
              </a:extLst>
            </p:cNvPr>
            <p:cNvSpPr txBox="1">
              <a:spLocks/>
            </p:cNvSpPr>
            <p:nvPr/>
          </p:nvSpPr>
          <p:spPr>
            <a:xfrm>
              <a:off x="5159175" y="3568185"/>
              <a:ext cx="4081438" cy="461665"/>
            </a:xfrm>
            <a:prstGeom prst="rect">
              <a:avLst/>
            </a:prstGeom>
            <a:noFill/>
          </p:spPr>
          <p:txBody>
            <a:bodyPr wrap="none" rtlCol="0">
              <a:spAutoFit/>
            </a:bodyPr>
            <a:lstStyle/>
            <a:p>
              <a:pPr algn="ctr"/>
              <a:r>
                <a:rPr lang="en-US" sz="2400" b="1" dirty="0">
                  <a:solidFill>
                    <a:srgbClr val="C00000"/>
                  </a:solidFill>
                  <a:latin typeface="Helvetica" pitchFamily="2" charset="0"/>
                </a:rPr>
                <a:t>Ave Accounts Receivables</a:t>
              </a:r>
              <a:endParaRPr lang="en-US" sz="2400" b="1" dirty="0">
                <a:solidFill>
                  <a:srgbClr val="C00000"/>
                </a:solidFill>
              </a:endParaRPr>
            </a:p>
          </p:txBody>
        </p:sp>
        <p:cxnSp>
          <p:nvCxnSpPr>
            <p:cNvPr id="15" name="Straight Connector 14">
              <a:extLst>
                <a:ext uri="{FF2B5EF4-FFF2-40B4-BE49-F238E27FC236}">
                  <a16:creationId xmlns:a16="http://schemas.microsoft.com/office/drawing/2014/main" id="{CEEB226B-C139-987F-BBA6-A5EE34FA4259}"/>
                </a:ext>
              </a:extLst>
            </p:cNvPr>
            <p:cNvCxnSpPr>
              <a:cxnSpLocks/>
            </p:cNvCxnSpPr>
            <p:nvPr/>
          </p:nvCxnSpPr>
          <p:spPr>
            <a:xfrm>
              <a:off x="5177844" y="3546159"/>
              <a:ext cx="401660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7" name="TextBox 6">
            <a:extLst>
              <a:ext uri="{FF2B5EF4-FFF2-40B4-BE49-F238E27FC236}">
                <a16:creationId xmlns:a16="http://schemas.microsoft.com/office/drawing/2014/main" id="{32D987F4-4CF5-B579-B500-153E1DF2EC22}"/>
              </a:ext>
            </a:extLst>
          </p:cNvPr>
          <p:cNvSpPr txBox="1"/>
          <p:nvPr/>
        </p:nvSpPr>
        <p:spPr>
          <a:xfrm>
            <a:off x="419559" y="4737149"/>
            <a:ext cx="11679514" cy="1754326"/>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A higher ratio indicates efficient collection processes.</a:t>
            </a:r>
          </a:p>
          <a:p>
            <a:pPr marL="285750" indent="-28575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A lower ratio may suggest issues in collecting receivables or lenient credit policies.</a:t>
            </a:r>
          </a:p>
          <a:p>
            <a:pPr marL="285750" indent="-28575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It helps assess how well a company manages its receivables and how quickly it can convert them into cash.</a:t>
            </a:r>
          </a:p>
        </p:txBody>
      </p:sp>
      <p:sp>
        <p:nvSpPr>
          <p:cNvPr id="3" name="TextBox 2">
            <a:extLst>
              <a:ext uri="{FF2B5EF4-FFF2-40B4-BE49-F238E27FC236}">
                <a16:creationId xmlns:a16="http://schemas.microsoft.com/office/drawing/2014/main" id="{459C7477-DBFE-A403-F4E2-30D337CC42C8}"/>
              </a:ext>
            </a:extLst>
          </p:cNvPr>
          <p:cNvSpPr txBox="1"/>
          <p:nvPr/>
        </p:nvSpPr>
        <p:spPr>
          <a:xfrm>
            <a:off x="419559" y="3895739"/>
            <a:ext cx="11679514" cy="769441"/>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Helvetica" pitchFamily="2" charset="0"/>
                <a:cs typeface="Times New Roman" panose="02020603050405020304" pitchFamily="18" charset="0"/>
              </a:rPr>
              <a:t>Accounts Receivable Turnover measures how often a company collects its average accounts receivable in a given period, typically a year.</a:t>
            </a:r>
          </a:p>
        </p:txBody>
      </p:sp>
      <p:grpSp>
        <p:nvGrpSpPr>
          <p:cNvPr id="5" name="Group 4">
            <a:extLst>
              <a:ext uri="{FF2B5EF4-FFF2-40B4-BE49-F238E27FC236}">
                <a16:creationId xmlns:a16="http://schemas.microsoft.com/office/drawing/2014/main" id="{B05C0FF4-929D-7E50-DDCA-E02911110031}"/>
              </a:ext>
            </a:extLst>
          </p:cNvPr>
          <p:cNvGrpSpPr/>
          <p:nvPr/>
        </p:nvGrpSpPr>
        <p:grpSpPr>
          <a:xfrm>
            <a:off x="2315153" y="2783654"/>
            <a:ext cx="6722835" cy="959311"/>
            <a:chOff x="1464609" y="3062469"/>
            <a:chExt cx="8447242" cy="959311"/>
          </a:xfrm>
        </p:grpSpPr>
        <p:sp>
          <p:nvSpPr>
            <p:cNvPr id="9" name="TextBox 8">
              <a:extLst>
                <a:ext uri="{FF2B5EF4-FFF2-40B4-BE49-F238E27FC236}">
                  <a16:creationId xmlns:a16="http://schemas.microsoft.com/office/drawing/2014/main" id="{FE9B4B7E-74C6-0D7B-E6E4-7B0A54753D71}"/>
                </a:ext>
              </a:extLst>
            </p:cNvPr>
            <p:cNvSpPr txBox="1">
              <a:spLocks/>
            </p:cNvSpPr>
            <p:nvPr/>
          </p:nvSpPr>
          <p:spPr>
            <a:xfrm>
              <a:off x="1464609" y="3318659"/>
              <a:ext cx="2458202" cy="400110"/>
            </a:xfrm>
            <a:prstGeom prst="rect">
              <a:avLst/>
            </a:prstGeom>
            <a:noFill/>
          </p:spPr>
          <p:txBody>
            <a:bodyPr wrap="square" rtlCol="0">
              <a:spAutoFit/>
            </a:bodyPr>
            <a:lstStyle/>
            <a:p>
              <a:pPr algn="ctr"/>
              <a:r>
                <a:rPr lang="en-US" sz="2000" b="1" dirty="0">
                  <a:solidFill>
                    <a:srgbClr val="C00000"/>
                  </a:solidFill>
                </a:rPr>
                <a:t>Average AR</a:t>
              </a:r>
            </a:p>
          </p:txBody>
        </p:sp>
        <p:sp>
          <p:nvSpPr>
            <p:cNvPr id="14" name="TextBox 13">
              <a:extLst>
                <a:ext uri="{FF2B5EF4-FFF2-40B4-BE49-F238E27FC236}">
                  <a16:creationId xmlns:a16="http://schemas.microsoft.com/office/drawing/2014/main" id="{6318272D-DBDD-41A3-098A-B66CA377C62D}"/>
                </a:ext>
              </a:extLst>
            </p:cNvPr>
            <p:cNvSpPr txBox="1"/>
            <p:nvPr/>
          </p:nvSpPr>
          <p:spPr>
            <a:xfrm>
              <a:off x="3893062" y="3349919"/>
              <a:ext cx="297455" cy="400110"/>
            </a:xfrm>
            <a:prstGeom prst="rect">
              <a:avLst/>
            </a:prstGeom>
            <a:noFill/>
          </p:spPr>
          <p:txBody>
            <a:bodyPr wrap="square" rtlCol="0">
              <a:spAutoFit/>
            </a:bodyPr>
            <a:lstStyle/>
            <a:p>
              <a:r>
                <a:rPr lang="en-US" sz="2000" b="1" dirty="0"/>
                <a:t>=</a:t>
              </a:r>
            </a:p>
          </p:txBody>
        </p:sp>
        <p:sp>
          <p:nvSpPr>
            <p:cNvPr id="16" name="TextBox 15">
              <a:extLst>
                <a:ext uri="{FF2B5EF4-FFF2-40B4-BE49-F238E27FC236}">
                  <a16:creationId xmlns:a16="http://schemas.microsoft.com/office/drawing/2014/main" id="{A1ED97E6-7D8F-E513-7068-5A52C5DE244B}"/>
                </a:ext>
              </a:extLst>
            </p:cNvPr>
            <p:cNvSpPr txBox="1">
              <a:spLocks/>
            </p:cNvSpPr>
            <p:nvPr/>
          </p:nvSpPr>
          <p:spPr>
            <a:xfrm>
              <a:off x="4386741" y="3062469"/>
              <a:ext cx="5525110" cy="461665"/>
            </a:xfrm>
            <a:prstGeom prst="rect">
              <a:avLst/>
            </a:prstGeom>
            <a:noFill/>
          </p:spPr>
          <p:txBody>
            <a:bodyPr wrap="square" rtlCol="0">
              <a:spAutoFit/>
            </a:bodyPr>
            <a:lstStyle/>
            <a:p>
              <a:pPr algn="ctr"/>
              <a:r>
                <a:rPr lang="en-US" sz="2000" b="1" dirty="0">
                  <a:solidFill>
                    <a:srgbClr val="C00000"/>
                  </a:solidFill>
                </a:rPr>
                <a:t>Beginning AR  </a:t>
              </a:r>
              <a:r>
                <a:rPr lang="en-US" sz="2400" b="1" dirty="0"/>
                <a:t>+</a:t>
              </a:r>
              <a:r>
                <a:rPr lang="en-US" sz="2000" b="1" dirty="0"/>
                <a:t>  </a:t>
              </a:r>
              <a:r>
                <a:rPr lang="en-US" sz="2000" b="1" dirty="0">
                  <a:solidFill>
                    <a:srgbClr val="C00000"/>
                  </a:solidFill>
                </a:rPr>
                <a:t>Ending AR</a:t>
              </a:r>
              <a:endParaRPr lang="en-US" sz="2000" b="1" dirty="0"/>
            </a:p>
          </p:txBody>
        </p:sp>
        <p:sp>
          <p:nvSpPr>
            <p:cNvPr id="17" name="TextBox 16">
              <a:extLst>
                <a:ext uri="{FF2B5EF4-FFF2-40B4-BE49-F238E27FC236}">
                  <a16:creationId xmlns:a16="http://schemas.microsoft.com/office/drawing/2014/main" id="{ADB964C1-CE53-1223-8979-F88346307775}"/>
                </a:ext>
              </a:extLst>
            </p:cNvPr>
            <p:cNvSpPr txBox="1">
              <a:spLocks/>
            </p:cNvSpPr>
            <p:nvPr/>
          </p:nvSpPr>
          <p:spPr>
            <a:xfrm>
              <a:off x="6170848" y="3621670"/>
              <a:ext cx="1956882" cy="400110"/>
            </a:xfrm>
            <a:prstGeom prst="rect">
              <a:avLst/>
            </a:prstGeom>
            <a:noFill/>
          </p:spPr>
          <p:txBody>
            <a:bodyPr wrap="square" rtlCol="0">
              <a:spAutoFit/>
            </a:bodyPr>
            <a:lstStyle/>
            <a:p>
              <a:pPr algn="ctr"/>
              <a:r>
                <a:rPr lang="en-US" sz="2000" b="1" dirty="0"/>
                <a:t>2</a:t>
              </a:r>
            </a:p>
          </p:txBody>
        </p:sp>
        <p:cxnSp>
          <p:nvCxnSpPr>
            <p:cNvPr id="19" name="Straight Connector 18">
              <a:extLst>
                <a:ext uri="{FF2B5EF4-FFF2-40B4-BE49-F238E27FC236}">
                  <a16:creationId xmlns:a16="http://schemas.microsoft.com/office/drawing/2014/main" id="{3CCF1E65-7A43-7717-D6C1-18076837AA7B}"/>
                </a:ext>
              </a:extLst>
            </p:cNvPr>
            <p:cNvCxnSpPr>
              <a:cxnSpLocks/>
            </p:cNvCxnSpPr>
            <p:nvPr/>
          </p:nvCxnSpPr>
          <p:spPr>
            <a:xfrm>
              <a:off x="4454399" y="3546159"/>
              <a:ext cx="538979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64397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086E8-AFE4-AFA5-A376-361BDE90561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5103365-7C5C-1910-1B79-C3BDF517C323}"/>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C3FF0-2EE6-913E-C539-1C6359377CD9}"/>
              </a:ext>
            </a:extLst>
          </p:cNvPr>
          <p:cNvSpPr>
            <a:spLocks noGrp="1"/>
          </p:cNvSpPr>
          <p:nvPr>
            <p:ph type="title"/>
          </p:nvPr>
        </p:nvSpPr>
        <p:spPr>
          <a:xfrm>
            <a:off x="419559" y="192063"/>
            <a:ext cx="10515600" cy="982663"/>
          </a:xfrm>
        </p:spPr>
        <p:txBody>
          <a:bodyPr>
            <a:normAutofit/>
          </a:bodyPr>
          <a:lstStyle/>
          <a:p>
            <a:r>
              <a:rPr lang="en-US" b="1" dirty="0">
                <a:solidFill>
                  <a:schemeClr val="bg1"/>
                </a:solidFill>
                <a:latin typeface="Helvetica" pitchFamily="2" charset="0"/>
              </a:rPr>
              <a:t>2-4.</a:t>
            </a:r>
            <a:r>
              <a:rPr lang="en-US" b="1" dirty="0">
                <a:solidFill>
                  <a:schemeClr val="bg1"/>
                </a:solidFill>
                <a:latin typeface="Helvetica" pitchFamily="2" charset="0"/>
                <a:cs typeface="Times New Roman" panose="02020603050405020304" pitchFamily="18" charset="0"/>
              </a:rPr>
              <a:t> Days Sales Outstanding (DSO)</a:t>
            </a:r>
            <a:endParaRPr lang="en-US" b="1" dirty="0">
              <a:solidFill>
                <a:schemeClr val="bg1"/>
              </a:solidFill>
              <a:latin typeface="Helvetica" pitchFamily="2" charset="0"/>
            </a:endParaRPr>
          </a:p>
        </p:txBody>
      </p:sp>
      <p:grpSp>
        <p:nvGrpSpPr>
          <p:cNvPr id="18" name="Group 17">
            <a:extLst>
              <a:ext uri="{FF2B5EF4-FFF2-40B4-BE49-F238E27FC236}">
                <a16:creationId xmlns:a16="http://schemas.microsoft.com/office/drawing/2014/main" id="{D738F9F2-2CE1-F8FF-BC66-45869873A0A3}"/>
              </a:ext>
            </a:extLst>
          </p:cNvPr>
          <p:cNvGrpSpPr/>
          <p:nvPr/>
        </p:nvGrpSpPr>
        <p:grpSpPr>
          <a:xfrm>
            <a:off x="1795063" y="3726368"/>
            <a:ext cx="8870995" cy="972470"/>
            <a:chOff x="905430" y="3068114"/>
            <a:chExt cx="8870995" cy="972470"/>
          </a:xfrm>
        </p:grpSpPr>
        <p:sp>
          <p:nvSpPr>
            <p:cNvPr id="10" name="TextBox 9">
              <a:extLst>
                <a:ext uri="{FF2B5EF4-FFF2-40B4-BE49-F238E27FC236}">
                  <a16:creationId xmlns:a16="http://schemas.microsoft.com/office/drawing/2014/main" id="{90B11E35-082C-7945-717D-B1D1005F5068}"/>
                </a:ext>
              </a:extLst>
            </p:cNvPr>
            <p:cNvSpPr txBox="1">
              <a:spLocks/>
            </p:cNvSpPr>
            <p:nvPr/>
          </p:nvSpPr>
          <p:spPr>
            <a:xfrm>
              <a:off x="905430" y="3315326"/>
              <a:ext cx="3706464"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Days Sales Outstanding</a:t>
              </a:r>
              <a:endParaRPr lang="en-US" sz="2400" b="1" dirty="0">
                <a:solidFill>
                  <a:srgbClr val="C00000"/>
                </a:solidFill>
                <a:latin typeface="Helvetica" pitchFamily="2" charset="0"/>
              </a:endParaRPr>
            </a:p>
          </p:txBody>
        </p:sp>
        <p:sp>
          <p:nvSpPr>
            <p:cNvPr id="11" name="TextBox 10">
              <a:extLst>
                <a:ext uri="{FF2B5EF4-FFF2-40B4-BE49-F238E27FC236}">
                  <a16:creationId xmlns:a16="http://schemas.microsoft.com/office/drawing/2014/main" id="{67450702-49D1-796E-9D2D-1D18E762D5F0}"/>
                </a:ext>
              </a:extLst>
            </p:cNvPr>
            <p:cNvSpPr txBox="1"/>
            <p:nvPr/>
          </p:nvSpPr>
          <p:spPr>
            <a:xfrm>
              <a:off x="4736807"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12" name="TextBox 11">
              <a:extLst>
                <a:ext uri="{FF2B5EF4-FFF2-40B4-BE49-F238E27FC236}">
                  <a16:creationId xmlns:a16="http://schemas.microsoft.com/office/drawing/2014/main" id="{2479B49D-3764-A2B8-1E1C-708BD6932477}"/>
                </a:ext>
              </a:extLst>
            </p:cNvPr>
            <p:cNvSpPr txBox="1">
              <a:spLocks/>
            </p:cNvSpPr>
            <p:nvPr/>
          </p:nvSpPr>
          <p:spPr>
            <a:xfrm>
              <a:off x="7097614" y="3068114"/>
              <a:ext cx="679994" cy="461665"/>
            </a:xfrm>
            <a:prstGeom prst="rect">
              <a:avLst/>
            </a:prstGeom>
            <a:noFill/>
          </p:spPr>
          <p:txBody>
            <a:bodyPr wrap="none" rtlCol="0">
              <a:spAutoFit/>
            </a:bodyPr>
            <a:lstStyle/>
            <a:p>
              <a:pPr algn="ctr"/>
              <a:r>
                <a:rPr lang="en-US" sz="2400" b="1" dirty="0">
                  <a:solidFill>
                    <a:srgbClr val="C00000"/>
                  </a:solidFill>
                </a:rPr>
                <a:t>365</a:t>
              </a:r>
            </a:p>
          </p:txBody>
        </p:sp>
        <p:sp>
          <p:nvSpPr>
            <p:cNvPr id="13" name="TextBox 12">
              <a:extLst>
                <a:ext uri="{FF2B5EF4-FFF2-40B4-BE49-F238E27FC236}">
                  <a16:creationId xmlns:a16="http://schemas.microsoft.com/office/drawing/2014/main" id="{7C397EE8-E197-7198-BF4A-2F542A1CE980}"/>
                </a:ext>
              </a:extLst>
            </p:cNvPr>
            <p:cNvSpPr txBox="1">
              <a:spLocks/>
            </p:cNvSpPr>
            <p:nvPr/>
          </p:nvSpPr>
          <p:spPr>
            <a:xfrm>
              <a:off x="5098798" y="3578919"/>
              <a:ext cx="4677627"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Accounts Receivable Turnover</a:t>
              </a:r>
              <a:endParaRPr lang="en-US" sz="2400" b="1" dirty="0">
                <a:solidFill>
                  <a:srgbClr val="C00000"/>
                </a:solidFill>
                <a:latin typeface="Helvetica" pitchFamily="2" charset="0"/>
              </a:endParaRPr>
            </a:p>
          </p:txBody>
        </p:sp>
        <p:cxnSp>
          <p:nvCxnSpPr>
            <p:cNvPr id="15" name="Straight Connector 14">
              <a:extLst>
                <a:ext uri="{FF2B5EF4-FFF2-40B4-BE49-F238E27FC236}">
                  <a16:creationId xmlns:a16="http://schemas.microsoft.com/office/drawing/2014/main" id="{5E4DB83C-45AE-CCA5-6746-A06040DC5BC9}"/>
                </a:ext>
              </a:extLst>
            </p:cNvPr>
            <p:cNvCxnSpPr>
              <a:cxnSpLocks/>
            </p:cNvCxnSpPr>
            <p:nvPr/>
          </p:nvCxnSpPr>
          <p:spPr>
            <a:xfrm>
              <a:off x="5177844" y="3546159"/>
              <a:ext cx="4519537"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20" name="Picture 19">
            <a:extLst>
              <a:ext uri="{FF2B5EF4-FFF2-40B4-BE49-F238E27FC236}">
                <a16:creationId xmlns:a16="http://schemas.microsoft.com/office/drawing/2014/main" id="{1D61D5DC-5E88-CB6D-5989-BA1F1A2BA90E}"/>
              </a:ext>
            </a:extLst>
          </p:cNvPr>
          <p:cNvPicPr>
            <a:picLocks/>
          </p:cNvPicPr>
          <p:nvPr/>
        </p:nvPicPr>
        <p:blipFill>
          <a:blip r:embed="rId3"/>
          <a:stretch>
            <a:fillRect/>
          </a:stretch>
        </p:blipFill>
        <p:spPr>
          <a:xfrm>
            <a:off x="4060496" y="1435512"/>
            <a:ext cx="4340130" cy="2079666"/>
          </a:xfrm>
          <a:prstGeom prst="rect">
            <a:avLst/>
          </a:prstGeom>
        </p:spPr>
      </p:pic>
      <p:sp>
        <p:nvSpPr>
          <p:cNvPr id="21" name="TextBox 20">
            <a:extLst>
              <a:ext uri="{FF2B5EF4-FFF2-40B4-BE49-F238E27FC236}">
                <a16:creationId xmlns:a16="http://schemas.microsoft.com/office/drawing/2014/main" id="{45D52ABC-425A-5D63-68A5-D3DC0F383E20}"/>
              </a:ext>
            </a:extLst>
          </p:cNvPr>
          <p:cNvSpPr txBox="1"/>
          <p:nvPr/>
        </p:nvSpPr>
        <p:spPr>
          <a:xfrm>
            <a:off x="87503" y="5151047"/>
            <a:ext cx="12016993" cy="1261884"/>
          </a:xfrm>
          <a:prstGeom prst="rect">
            <a:avLst/>
          </a:prstGeom>
          <a:noFill/>
        </p:spPr>
        <p:txBody>
          <a:bodyPr wrap="square" rtlCol="0">
            <a:spAutoFit/>
          </a:bodyPr>
          <a:lstStyle/>
          <a:p>
            <a:pPr marL="742950" lvl="1" indent="-28575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A high DSO </a:t>
            </a:r>
            <a:r>
              <a:rPr lang="en-US" sz="2200" dirty="0">
                <a:latin typeface="Helvetica" pitchFamily="2" charset="0"/>
                <a:cs typeface="Times New Roman" panose="02020603050405020304" pitchFamily="18" charset="0"/>
                <a:sym typeface="Wingdings" pitchFamily="2" charset="2"/>
              </a:rPr>
              <a:t> C</a:t>
            </a:r>
            <a:r>
              <a:rPr lang="en-US" sz="2200" dirty="0">
                <a:latin typeface="Helvetica" pitchFamily="2" charset="0"/>
                <a:cs typeface="Times New Roman" panose="02020603050405020304" pitchFamily="18" charset="0"/>
              </a:rPr>
              <a:t>ompany is taking longer to collect payments, which could indicate liquidity problems.</a:t>
            </a:r>
          </a:p>
          <a:p>
            <a:pPr marL="742950" lvl="1" indent="-28575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A low DSO </a:t>
            </a:r>
            <a:r>
              <a:rPr lang="en-US" sz="2200" dirty="0">
                <a:latin typeface="Helvetica" pitchFamily="2" charset="0"/>
                <a:cs typeface="Times New Roman" panose="02020603050405020304" pitchFamily="18" charset="0"/>
                <a:sym typeface="Wingdings" pitchFamily="2" charset="2"/>
              </a:rPr>
              <a:t></a:t>
            </a:r>
            <a:r>
              <a:rPr lang="en-US" sz="2200" dirty="0">
                <a:latin typeface="Helvetica" pitchFamily="2" charset="0"/>
                <a:cs typeface="Times New Roman" panose="02020603050405020304" pitchFamily="18" charset="0"/>
              </a:rPr>
              <a:t> Faster collections and better cash flow. </a:t>
            </a:r>
          </a:p>
        </p:txBody>
      </p:sp>
    </p:spTree>
    <p:extLst>
      <p:ext uri="{BB962C8B-B14F-4D97-AF65-F5344CB8AC3E}">
        <p14:creationId xmlns:p14="http://schemas.microsoft.com/office/powerpoint/2010/main" val="1744874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E0BB6-0D6A-26E4-C0C6-23915FE5404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1F2CC13-A1F0-B9B0-FAFC-3953713D1366}"/>
              </a:ext>
            </a:extLst>
          </p:cNvPr>
          <p:cNvSpPr/>
          <p:nvPr/>
        </p:nvSpPr>
        <p:spPr>
          <a:xfrm>
            <a:off x="0" y="-1"/>
            <a:ext cx="12192000" cy="982663"/>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67DF4B-7287-AAB1-D277-6FE65ABA7861}"/>
              </a:ext>
            </a:extLst>
          </p:cNvPr>
          <p:cNvSpPr>
            <a:spLocks noGrp="1"/>
          </p:cNvSpPr>
          <p:nvPr>
            <p:ph type="title"/>
          </p:nvPr>
        </p:nvSpPr>
        <p:spPr>
          <a:xfrm>
            <a:off x="419559" y="59543"/>
            <a:ext cx="10515600" cy="982663"/>
          </a:xfrm>
        </p:spPr>
        <p:txBody>
          <a:bodyPr>
            <a:normAutofit/>
          </a:bodyPr>
          <a:lstStyle/>
          <a:p>
            <a:r>
              <a:rPr lang="en-US" b="1" dirty="0">
                <a:solidFill>
                  <a:schemeClr val="bg1"/>
                </a:solidFill>
                <a:latin typeface="Helvetica" pitchFamily="2" charset="0"/>
              </a:rPr>
              <a:t>2-4.</a:t>
            </a:r>
            <a:r>
              <a:rPr lang="en-US" b="1" dirty="0">
                <a:solidFill>
                  <a:schemeClr val="bg1"/>
                </a:solidFill>
                <a:latin typeface="Helvetica" pitchFamily="2" charset="0"/>
                <a:cs typeface="Times New Roman" panose="02020603050405020304" pitchFamily="18" charset="0"/>
              </a:rPr>
              <a:t> Days Sales Outstanding (DSO)</a:t>
            </a:r>
            <a:endParaRPr lang="en-US" b="1" dirty="0">
              <a:solidFill>
                <a:schemeClr val="bg1"/>
              </a:solidFill>
              <a:latin typeface="Helvetica" pitchFamily="2" charset="0"/>
            </a:endParaRPr>
          </a:p>
        </p:txBody>
      </p:sp>
      <p:sp>
        <p:nvSpPr>
          <p:cNvPr id="3" name="TextBox 2">
            <a:extLst>
              <a:ext uri="{FF2B5EF4-FFF2-40B4-BE49-F238E27FC236}">
                <a16:creationId xmlns:a16="http://schemas.microsoft.com/office/drawing/2014/main" id="{43D7033D-4682-CA15-F10B-14B0FC56A500}"/>
              </a:ext>
            </a:extLst>
          </p:cNvPr>
          <p:cNvSpPr txBox="1"/>
          <p:nvPr/>
        </p:nvSpPr>
        <p:spPr>
          <a:xfrm>
            <a:off x="304800" y="1574331"/>
            <a:ext cx="11816429" cy="1200329"/>
          </a:xfrm>
          <a:prstGeom prst="rect">
            <a:avLst/>
          </a:prstGeom>
          <a:noFill/>
        </p:spPr>
        <p:txBody>
          <a:bodyPr wrap="square" rtlCol="0">
            <a:spAutoFit/>
          </a:bodyPr>
          <a:lstStyle/>
          <a:p>
            <a:r>
              <a:rPr lang="en-US" sz="2400" dirty="0">
                <a:latin typeface="Helvetica" pitchFamily="2" charset="0"/>
              </a:rPr>
              <a:t>A company has total credit sales of $3,600 million. The Accounts </a:t>
            </a:r>
            <a:r>
              <a:rPr lang="en-US" sz="2400" dirty="0" err="1">
                <a:latin typeface="Helvetica" pitchFamily="2" charset="0"/>
              </a:rPr>
              <a:t>recievable</a:t>
            </a:r>
            <a:r>
              <a:rPr lang="en-US" sz="2400" dirty="0">
                <a:latin typeface="Helvetica" pitchFamily="2" charset="0"/>
              </a:rPr>
              <a:t> at the beginning of the year was $330 million, and at the end of the year, it was $270 million. What is the Days Sales Outstanding (DSO) for this company?</a:t>
            </a:r>
          </a:p>
        </p:txBody>
      </p:sp>
      <p:sp>
        <p:nvSpPr>
          <p:cNvPr id="4" name="TextBox 3">
            <a:extLst>
              <a:ext uri="{FF2B5EF4-FFF2-40B4-BE49-F238E27FC236}">
                <a16:creationId xmlns:a16="http://schemas.microsoft.com/office/drawing/2014/main" id="{F8D9DF43-9C70-D912-64F1-7861062AA678}"/>
              </a:ext>
            </a:extLst>
          </p:cNvPr>
          <p:cNvSpPr txBox="1"/>
          <p:nvPr/>
        </p:nvSpPr>
        <p:spPr>
          <a:xfrm>
            <a:off x="419559" y="1079192"/>
            <a:ext cx="1691489" cy="461665"/>
          </a:xfrm>
          <a:prstGeom prst="rect">
            <a:avLst/>
          </a:prstGeom>
          <a:noFill/>
        </p:spPr>
        <p:txBody>
          <a:bodyPr wrap="none" rtlCol="0">
            <a:spAutoFit/>
          </a:bodyPr>
          <a:lstStyle/>
          <a:p>
            <a:r>
              <a:rPr lang="en-US" sz="2400" dirty="0">
                <a:latin typeface="Helvetica" pitchFamily="2" charset="0"/>
              </a:rPr>
              <a:t>Question-4</a:t>
            </a:r>
          </a:p>
        </p:txBody>
      </p:sp>
      <p:grpSp>
        <p:nvGrpSpPr>
          <p:cNvPr id="5" name="Group 4">
            <a:extLst>
              <a:ext uri="{FF2B5EF4-FFF2-40B4-BE49-F238E27FC236}">
                <a16:creationId xmlns:a16="http://schemas.microsoft.com/office/drawing/2014/main" id="{3E1DC6F0-0A62-61EC-8744-92D3476766F2}"/>
              </a:ext>
            </a:extLst>
          </p:cNvPr>
          <p:cNvGrpSpPr/>
          <p:nvPr/>
        </p:nvGrpSpPr>
        <p:grpSpPr>
          <a:xfrm>
            <a:off x="562894" y="3054710"/>
            <a:ext cx="6845071" cy="983190"/>
            <a:chOff x="981837" y="3032150"/>
            <a:chExt cx="6845071" cy="983190"/>
          </a:xfrm>
        </p:grpSpPr>
        <p:sp>
          <p:nvSpPr>
            <p:cNvPr id="7" name="TextBox 6">
              <a:extLst>
                <a:ext uri="{FF2B5EF4-FFF2-40B4-BE49-F238E27FC236}">
                  <a16:creationId xmlns:a16="http://schemas.microsoft.com/office/drawing/2014/main" id="{04428499-BE75-13B1-FC9E-E488E6B57832}"/>
                </a:ext>
              </a:extLst>
            </p:cNvPr>
            <p:cNvSpPr txBox="1">
              <a:spLocks/>
            </p:cNvSpPr>
            <p:nvPr/>
          </p:nvSpPr>
          <p:spPr>
            <a:xfrm>
              <a:off x="981837" y="3315326"/>
              <a:ext cx="3421129" cy="430887"/>
            </a:xfrm>
            <a:prstGeom prst="rect">
              <a:avLst/>
            </a:prstGeom>
            <a:noFill/>
          </p:spPr>
          <p:txBody>
            <a:bodyPr wrap="none" rtlCol="0">
              <a:spAutoFit/>
            </a:bodyPr>
            <a:lstStyle/>
            <a:p>
              <a:pPr algn="ctr"/>
              <a:r>
                <a:rPr lang="en-US" sz="2200" b="1" dirty="0">
                  <a:solidFill>
                    <a:srgbClr val="C00000"/>
                  </a:solidFill>
                  <a:latin typeface="Helvetica" pitchFamily="2" charset="0"/>
                  <a:cs typeface="Times New Roman" panose="02020603050405020304" pitchFamily="18" charset="0"/>
                </a:rPr>
                <a:t>Days Sales Outstanding</a:t>
              </a:r>
              <a:endParaRPr lang="en-US" sz="2200" b="1" dirty="0">
                <a:solidFill>
                  <a:srgbClr val="C00000"/>
                </a:solidFill>
                <a:latin typeface="Helvetica" pitchFamily="2" charset="0"/>
              </a:endParaRPr>
            </a:p>
          </p:txBody>
        </p:sp>
        <p:sp>
          <p:nvSpPr>
            <p:cNvPr id="8" name="TextBox 7">
              <a:extLst>
                <a:ext uri="{FF2B5EF4-FFF2-40B4-BE49-F238E27FC236}">
                  <a16:creationId xmlns:a16="http://schemas.microsoft.com/office/drawing/2014/main" id="{05EEEAA1-6E2D-0705-F750-BBEE2916BD76}"/>
                </a:ext>
              </a:extLst>
            </p:cNvPr>
            <p:cNvSpPr txBox="1"/>
            <p:nvPr/>
          </p:nvSpPr>
          <p:spPr>
            <a:xfrm>
              <a:off x="4405507" y="3321852"/>
              <a:ext cx="297455" cy="430887"/>
            </a:xfrm>
            <a:prstGeom prst="rect">
              <a:avLst/>
            </a:prstGeom>
            <a:noFill/>
          </p:spPr>
          <p:txBody>
            <a:bodyPr wrap="square" rtlCol="0">
              <a:spAutoFit/>
            </a:bodyPr>
            <a:lstStyle/>
            <a:p>
              <a:r>
                <a:rPr lang="en-US" sz="2200" b="1" dirty="0">
                  <a:solidFill>
                    <a:srgbClr val="C00000"/>
                  </a:solidFill>
                </a:rPr>
                <a:t>=</a:t>
              </a:r>
            </a:p>
          </p:txBody>
        </p:sp>
        <p:sp>
          <p:nvSpPr>
            <p:cNvPr id="9" name="TextBox 8">
              <a:extLst>
                <a:ext uri="{FF2B5EF4-FFF2-40B4-BE49-F238E27FC236}">
                  <a16:creationId xmlns:a16="http://schemas.microsoft.com/office/drawing/2014/main" id="{9D61D09A-C8FE-2F97-ABD2-16CEB918C37A}"/>
                </a:ext>
              </a:extLst>
            </p:cNvPr>
            <p:cNvSpPr txBox="1">
              <a:spLocks/>
            </p:cNvSpPr>
            <p:nvPr/>
          </p:nvSpPr>
          <p:spPr>
            <a:xfrm>
              <a:off x="5925605" y="3032150"/>
              <a:ext cx="636713" cy="430887"/>
            </a:xfrm>
            <a:prstGeom prst="rect">
              <a:avLst/>
            </a:prstGeom>
            <a:noFill/>
          </p:spPr>
          <p:txBody>
            <a:bodyPr wrap="none" rtlCol="0">
              <a:spAutoFit/>
            </a:bodyPr>
            <a:lstStyle/>
            <a:p>
              <a:pPr algn="ctr"/>
              <a:r>
                <a:rPr lang="en-US" sz="2200" b="1" dirty="0">
                  <a:solidFill>
                    <a:srgbClr val="C00000"/>
                  </a:solidFill>
                </a:rPr>
                <a:t>365</a:t>
              </a:r>
            </a:p>
          </p:txBody>
        </p:sp>
        <p:sp>
          <p:nvSpPr>
            <p:cNvPr id="14" name="TextBox 13">
              <a:extLst>
                <a:ext uri="{FF2B5EF4-FFF2-40B4-BE49-F238E27FC236}">
                  <a16:creationId xmlns:a16="http://schemas.microsoft.com/office/drawing/2014/main" id="{9AB82F27-CDF2-9E0C-4E6E-8F56F9E54515}"/>
                </a:ext>
              </a:extLst>
            </p:cNvPr>
            <p:cNvSpPr txBox="1">
              <a:spLocks/>
            </p:cNvSpPr>
            <p:nvPr/>
          </p:nvSpPr>
          <p:spPr>
            <a:xfrm>
              <a:off x="5357390" y="3584453"/>
              <a:ext cx="1874296" cy="430887"/>
            </a:xfrm>
            <a:prstGeom prst="rect">
              <a:avLst/>
            </a:prstGeom>
            <a:noFill/>
          </p:spPr>
          <p:txBody>
            <a:bodyPr wrap="none" rtlCol="0">
              <a:spAutoFit/>
            </a:bodyPr>
            <a:lstStyle/>
            <a:p>
              <a:pPr algn="ctr"/>
              <a:r>
                <a:rPr lang="en-US" sz="2200" b="1" dirty="0">
                  <a:solidFill>
                    <a:srgbClr val="C00000"/>
                  </a:solidFill>
                  <a:latin typeface="Helvetica" pitchFamily="2" charset="0"/>
                  <a:cs typeface="Times New Roman" panose="02020603050405020304" pitchFamily="18" charset="0"/>
                </a:rPr>
                <a:t>AR Turnover</a:t>
              </a:r>
              <a:endParaRPr lang="en-US" sz="2200" b="1" dirty="0">
                <a:solidFill>
                  <a:srgbClr val="C00000"/>
                </a:solidFill>
                <a:latin typeface="Helvetica" pitchFamily="2" charset="0"/>
              </a:endParaRPr>
            </a:p>
          </p:txBody>
        </p:sp>
        <p:cxnSp>
          <p:nvCxnSpPr>
            <p:cNvPr id="16" name="Straight Connector 15">
              <a:extLst>
                <a:ext uri="{FF2B5EF4-FFF2-40B4-BE49-F238E27FC236}">
                  <a16:creationId xmlns:a16="http://schemas.microsoft.com/office/drawing/2014/main" id="{862F42CF-86EB-46EB-19D0-D3A61185FC6C}"/>
                </a:ext>
              </a:extLst>
            </p:cNvPr>
            <p:cNvCxnSpPr>
              <a:cxnSpLocks/>
            </p:cNvCxnSpPr>
            <p:nvPr/>
          </p:nvCxnSpPr>
          <p:spPr>
            <a:xfrm>
              <a:off x="4767032" y="3532907"/>
              <a:ext cx="3059876" cy="438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59F6C56E-3D40-A63A-0F91-AFD0F6653B9D}"/>
              </a:ext>
            </a:extLst>
          </p:cNvPr>
          <p:cNvGrpSpPr/>
          <p:nvPr/>
        </p:nvGrpSpPr>
        <p:grpSpPr>
          <a:xfrm>
            <a:off x="692350" y="4212731"/>
            <a:ext cx="5183245" cy="978994"/>
            <a:chOff x="1460845" y="3051735"/>
            <a:chExt cx="5183245" cy="978994"/>
          </a:xfrm>
        </p:grpSpPr>
        <p:sp>
          <p:nvSpPr>
            <p:cNvPr id="19" name="TextBox 18">
              <a:extLst>
                <a:ext uri="{FF2B5EF4-FFF2-40B4-BE49-F238E27FC236}">
                  <a16:creationId xmlns:a16="http://schemas.microsoft.com/office/drawing/2014/main" id="{C5DAB876-D2DA-B0A0-FD80-F8F19F3C01D9}"/>
                </a:ext>
              </a:extLst>
            </p:cNvPr>
            <p:cNvSpPr txBox="1">
              <a:spLocks/>
            </p:cNvSpPr>
            <p:nvPr/>
          </p:nvSpPr>
          <p:spPr>
            <a:xfrm>
              <a:off x="1460845" y="3315326"/>
              <a:ext cx="1874296" cy="430887"/>
            </a:xfrm>
            <a:prstGeom prst="rect">
              <a:avLst/>
            </a:prstGeom>
            <a:noFill/>
          </p:spPr>
          <p:txBody>
            <a:bodyPr wrap="none" rtlCol="0">
              <a:spAutoFit/>
            </a:bodyPr>
            <a:lstStyle/>
            <a:p>
              <a:pPr algn="ctr"/>
              <a:r>
                <a:rPr lang="en-US" sz="2200" b="1" dirty="0">
                  <a:solidFill>
                    <a:schemeClr val="accent6">
                      <a:lumMod val="75000"/>
                    </a:schemeClr>
                  </a:solidFill>
                  <a:latin typeface="Helvetica" pitchFamily="2" charset="0"/>
                  <a:cs typeface="Times New Roman" panose="02020603050405020304" pitchFamily="18" charset="0"/>
                </a:rPr>
                <a:t>AR Turnover</a:t>
              </a:r>
              <a:endParaRPr lang="en-US" sz="2200" b="1" dirty="0">
                <a:solidFill>
                  <a:schemeClr val="accent6">
                    <a:lumMod val="75000"/>
                  </a:schemeClr>
                </a:solidFill>
                <a:latin typeface="Helvetica" pitchFamily="2" charset="0"/>
              </a:endParaRPr>
            </a:p>
          </p:txBody>
        </p:sp>
        <p:sp>
          <p:nvSpPr>
            <p:cNvPr id="22" name="TextBox 21">
              <a:extLst>
                <a:ext uri="{FF2B5EF4-FFF2-40B4-BE49-F238E27FC236}">
                  <a16:creationId xmlns:a16="http://schemas.microsoft.com/office/drawing/2014/main" id="{25A7C585-35D9-BDBA-AC48-A9CE64D61BEC}"/>
                </a:ext>
              </a:extLst>
            </p:cNvPr>
            <p:cNvSpPr txBox="1"/>
            <p:nvPr/>
          </p:nvSpPr>
          <p:spPr>
            <a:xfrm>
              <a:off x="3305574" y="3321852"/>
              <a:ext cx="297455" cy="430887"/>
            </a:xfrm>
            <a:prstGeom prst="rect">
              <a:avLst/>
            </a:prstGeom>
            <a:noFill/>
          </p:spPr>
          <p:txBody>
            <a:bodyPr wrap="square" rtlCol="0">
              <a:spAutoFit/>
            </a:bodyPr>
            <a:lstStyle/>
            <a:p>
              <a:r>
                <a:rPr lang="en-US" sz="2200" b="1" dirty="0">
                  <a:solidFill>
                    <a:schemeClr val="accent6">
                      <a:lumMod val="75000"/>
                    </a:schemeClr>
                  </a:solidFill>
                </a:rPr>
                <a:t>=</a:t>
              </a:r>
            </a:p>
          </p:txBody>
        </p:sp>
        <p:sp>
          <p:nvSpPr>
            <p:cNvPr id="23" name="TextBox 22">
              <a:extLst>
                <a:ext uri="{FF2B5EF4-FFF2-40B4-BE49-F238E27FC236}">
                  <a16:creationId xmlns:a16="http://schemas.microsoft.com/office/drawing/2014/main" id="{93CB723B-E832-2E2F-25EC-0CC688C96693}"/>
                </a:ext>
              </a:extLst>
            </p:cNvPr>
            <p:cNvSpPr txBox="1">
              <a:spLocks/>
            </p:cNvSpPr>
            <p:nvPr/>
          </p:nvSpPr>
          <p:spPr>
            <a:xfrm>
              <a:off x="4304438" y="3051735"/>
              <a:ext cx="1750864" cy="430887"/>
            </a:xfrm>
            <a:prstGeom prst="rect">
              <a:avLst/>
            </a:prstGeom>
            <a:noFill/>
          </p:spPr>
          <p:txBody>
            <a:bodyPr wrap="none" rtlCol="0">
              <a:spAutoFit/>
            </a:bodyPr>
            <a:lstStyle/>
            <a:p>
              <a:pPr algn="ctr"/>
              <a:r>
                <a:rPr lang="en-US" sz="2200" b="1" dirty="0">
                  <a:solidFill>
                    <a:schemeClr val="accent6">
                      <a:lumMod val="75000"/>
                    </a:schemeClr>
                  </a:solidFill>
                </a:rPr>
                <a:t>Credit Sales</a:t>
              </a:r>
            </a:p>
          </p:txBody>
        </p:sp>
        <p:sp>
          <p:nvSpPr>
            <p:cNvPr id="24" name="TextBox 23">
              <a:extLst>
                <a:ext uri="{FF2B5EF4-FFF2-40B4-BE49-F238E27FC236}">
                  <a16:creationId xmlns:a16="http://schemas.microsoft.com/office/drawing/2014/main" id="{EE513257-66FD-AE6E-D116-55098E06202C}"/>
                </a:ext>
              </a:extLst>
            </p:cNvPr>
            <p:cNvSpPr txBox="1">
              <a:spLocks/>
            </p:cNvSpPr>
            <p:nvPr/>
          </p:nvSpPr>
          <p:spPr>
            <a:xfrm>
              <a:off x="4611600" y="3599842"/>
              <a:ext cx="1167499" cy="430887"/>
            </a:xfrm>
            <a:prstGeom prst="rect">
              <a:avLst/>
            </a:prstGeom>
            <a:noFill/>
          </p:spPr>
          <p:txBody>
            <a:bodyPr wrap="none" rtlCol="0">
              <a:spAutoFit/>
            </a:bodyPr>
            <a:lstStyle/>
            <a:p>
              <a:pPr algn="ctr"/>
              <a:r>
                <a:rPr lang="en-US" sz="2200" b="1" dirty="0">
                  <a:solidFill>
                    <a:schemeClr val="accent6">
                      <a:lumMod val="75000"/>
                    </a:schemeClr>
                  </a:solidFill>
                  <a:latin typeface="Helvetica" pitchFamily="2" charset="0"/>
                </a:rPr>
                <a:t>Ave AR</a:t>
              </a:r>
              <a:endParaRPr lang="en-US" sz="2200" b="1" dirty="0">
                <a:solidFill>
                  <a:schemeClr val="accent6">
                    <a:lumMod val="75000"/>
                  </a:schemeClr>
                </a:solidFill>
              </a:endParaRPr>
            </a:p>
          </p:txBody>
        </p:sp>
        <p:cxnSp>
          <p:nvCxnSpPr>
            <p:cNvPr id="25" name="Straight Connector 24">
              <a:extLst>
                <a:ext uri="{FF2B5EF4-FFF2-40B4-BE49-F238E27FC236}">
                  <a16:creationId xmlns:a16="http://schemas.microsoft.com/office/drawing/2014/main" id="{E9896A49-EE41-8DC3-89B7-FA3FCA26561B}"/>
                </a:ext>
              </a:extLst>
            </p:cNvPr>
            <p:cNvCxnSpPr>
              <a:cxnSpLocks/>
            </p:cNvCxnSpPr>
            <p:nvPr/>
          </p:nvCxnSpPr>
          <p:spPr>
            <a:xfrm>
              <a:off x="3746611" y="3546159"/>
              <a:ext cx="2897479"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8" name="Group 27">
            <a:extLst>
              <a:ext uri="{FF2B5EF4-FFF2-40B4-BE49-F238E27FC236}">
                <a16:creationId xmlns:a16="http://schemas.microsoft.com/office/drawing/2014/main" id="{FE89D94E-BE5D-1655-6328-C0BC08ADE124}"/>
              </a:ext>
            </a:extLst>
          </p:cNvPr>
          <p:cNvGrpSpPr/>
          <p:nvPr/>
        </p:nvGrpSpPr>
        <p:grpSpPr>
          <a:xfrm>
            <a:off x="291548" y="5459431"/>
            <a:ext cx="5883964" cy="995864"/>
            <a:chOff x="1364453" y="3052725"/>
            <a:chExt cx="6352765" cy="995864"/>
          </a:xfrm>
        </p:grpSpPr>
        <p:sp>
          <p:nvSpPr>
            <p:cNvPr id="29" name="TextBox 28">
              <a:extLst>
                <a:ext uri="{FF2B5EF4-FFF2-40B4-BE49-F238E27FC236}">
                  <a16:creationId xmlns:a16="http://schemas.microsoft.com/office/drawing/2014/main" id="{97DEEBDC-DD6A-1DC6-6010-70BE4334DD77}"/>
                </a:ext>
              </a:extLst>
            </p:cNvPr>
            <p:cNvSpPr txBox="1">
              <a:spLocks/>
            </p:cNvSpPr>
            <p:nvPr/>
          </p:nvSpPr>
          <p:spPr>
            <a:xfrm>
              <a:off x="1364453" y="3318659"/>
              <a:ext cx="2458202" cy="400110"/>
            </a:xfrm>
            <a:prstGeom prst="rect">
              <a:avLst/>
            </a:prstGeom>
            <a:noFill/>
          </p:spPr>
          <p:txBody>
            <a:bodyPr wrap="square" rtlCol="0">
              <a:spAutoFit/>
            </a:bodyPr>
            <a:lstStyle/>
            <a:p>
              <a:pPr algn="ctr"/>
              <a:r>
                <a:rPr lang="en-US" sz="2000" b="1" dirty="0">
                  <a:solidFill>
                    <a:srgbClr val="0070C0"/>
                  </a:solidFill>
                </a:rPr>
                <a:t>Average AR</a:t>
              </a:r>
            </a:p>
          </p:txBody>
        </p:sp>
        <p:sp>
          <p:nvSpPr>
            <p:cNvPr id="30" name="TextBox 29">
              <a:extLst>
                <a:ext uri="{FF2B5EF4-FFF2-40B4-BE49-F238E27FC236}">
                  <a16:creationId xmlns:a16="http://schemas.microsoft.com/office/drawing/2014/main" id="{2327CA88-B9DB-6FFA-638B-6CE85930E01A}"/>
                </a:ext>
              </a:extLst>
            </p:cNvPr>
            <p:cNvSpPr txBox="1"/>
            <p:nvPr/>
          </p:nvSpPr>
          <p:spPr>
            <a:xfrm>
              <a:off x="3349358" y="3349919"/>
              <a:ext cx="297455" cy="400110"/>
            </a:xfrm>
            <a:prstGeom prst="rect">
              <a:avLst/>
            </a:prstGeom>
            <a:noFill/>
          </p:spPr>
          <p:txBody>
            <a:bodyPr wrap="square" rtlCol="0">
              <a:spAutoFit/>
            </a:bodyPr>
            <a:lstStyle/>
            <a:p>
              <a:r>
                <a:rPr lang="en-US" sz="2000" b="1" dirty="0">
                  <a:solidFill>
                    <a:srgbClr val="0070C0"/>
                  </a:solidFill>
                </a:rPr>
                <a:t>=</a:t>
              </a:r>
            </a:p>
          </p:txBody>
        </p:sp>
        <p:sp>
          <p:nvSpPr>
            <p:cNvPr id="31" name="TextBox 30">
              <a:extLst>
                <a:ext uri="{FF2B5EF4-FFF2-40B4-BE49-F238E27FC236}">
                  <a16:creationId xmlns:a16="http://schemas.microsoft.com/office/drawing/2014/main" id="{382945DB-615D-16AC-946F-66F0B48D2239}"/>
                </a:ext>
              </a:extLst>
            </p:cNvPr>
            <p:cNvSpPr txBox="1">
              <a:spLocks/>
            </p:cNvSpPr>
            <p:nvPr/>
          </p:nvSpPr>
          <p:spPr>
            <a:xfrm>
              <a:off x="3874743" y="3052725"/>
              <a:ext cx="3693706" cy="461665"/>
            </a:xfrm>
            <a:prstGeom prst="rect">
              <a:avLst/>
            </a:prstGeom>
            <a:noFill/>
          </p:spPr>
          <p:txBody>
            <a:bodyPr wrap="square" rtlCol="0">
              <a:spAutoFit/>
            </a:bodyPr>
            <a:lstStyle/>
            <a:p>
              <a:pPr algn="ctr"/>
              <a:r>
                <a:rPr lang="en-US" sz="2000" b="1" dirty="0">
                  <a:solidFill>
                    <a:srgbClr val="0070C0"/>
                  </a:solidFill>
                </a:rPr>
                <a:t>Beginning AR  </a:t>
              </a:r>
              <a:r>
                <a:rPr lang="en-US" sz="2400" b="1" dirty="0">
                  <a:solidFill>
                    <a:srgbClr val="0070C0"/>
                  </a:solidFill>
                </a:rPr>
                <a:t>+</a:t>
              </a:r>
              <a:r>
                <a:rPr lang="en-US" sz="2000" b="1" dirty="0">
                  <a:solidFill>
                    <a:srgbClr val="0070C0"/>
                  </a:solidFill>
                </a:rPr>
                <a:t>  Ending AR</a:t>
              </a:r>
            </a:p>
          </p:txBody>
        </p:sp>
        <p:sp>
          <p:nvSpPr>
            <p:cNvPr id="32" name="TextBox 31">
              <a:extLst>
                <a:ext uri="{FF2B5EF4-FFF2-40B4-BE49-F238E27FC236}">
                  <a16:creationId xmlns:a16="http://schemas.microsoft.com/office/drawing/2014/main" id="{367F3BEF-6222-0283-A6CE-8E83B76D2111}"/>
                </a:ext>
              </a:extLst>
            </p:cNvPr>
            <p:cNvSpPr txBox="1">
              <a:spLocks/>
            </p:cNvSpPr>
            <p:nvPr/>
          </p:nvSpPr>
          <p:spPr>
            <a:xfrm>
              <a:off x="5429276" y="3648479"/>
              <a:ext cx="584639" cy="400110"/>
            </a:xfrm>
            <a:prstGeom prst="rect">
              <a:avLst/>
            </a:prstGeom>
            <a:noFill/>
          </p:spPr>
          <p:txBody>
            <a:bodyPr wrap="square" rtlCol="0">
              <a:spAutoFit/>
            </a:bodyPr>
            <a:lstStyle/>
            <a:p>
              <a:pPr algn="ctr"/>
              <a:r>
                <a:rPr lang="en-US" sz="2000" b="1" dirty="0">
                  <a:solidFill>
                    <a:srgbClr val="0070C0"/>
                  </a:solidFill>
                </a:rPr>
                <a:t>2</a:t>
              </a:r>
            </a:p>
          </p:txBody>
        </p:sp>
        <p:cxnSp>
          <p:nvCxnSpPr>
            <p:cNvPr id="33" name="Straight Connector 32">
              <a:extLst>
                <a:ext uri="{FF2B5EF4-FFF2-40B4-BE49-F238E27FC236}">
                  <a16:creationId xmlns:a16="http://schemas.microsoft.com/office/drawing/2014/main" id="{D0A6BA89-6449-636A-92AB-C0984057A2A2}"/>
                </a:ext>
              </a:extLst>
            </p:cNvPr>
            <p:cNvCxnSpPr>
              <a:cxnSpLocks/>
            </p:cNvCxnSpPr>
            <p:nvPr/>
          </p:nvCxnSpPr>
          <p:spPr>
            <a:xfrm>
              <a:off x="3727781" y="3546159"/>
              <a:ext cx="3989437" cy="3815"/>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5" name="TextBox 34">
            <a:extLst>
              <a:ext uri="{FF2B5EF4-FFF2-40B4-BE49-F238E27FC236}">
                <a16:creationId xmlns:a16="http://schemas.microsoft.com/office/drawing/2014/main" id="{65783DBB-58BA-4827-6FE5-8BAC064FF764}"/>
              </a:ext>
            </a:extLst>
          </p:cNvPr>
          <p:cNvSpPr txBox="1"/>
          <p:nvPr/>
        </p:nvSpPr>
        <p:spPr>
          <a:xfrm>
            <a:off x="6251094" y="5725365"/>
            <a:ext cx="275504" cy="400110"/>
          </a:xfrm>
          <a:prstGeom prst="rect">
            <a:avLst/>
          </a:prstGeom>
          <a:noFill/>
        </p:spPr>
        <p:txBody>
          <a:bodyPr wrap="square" rtlCol="0">
            <a:spAutoFit/>
          </a:bodyPr>
          <a:lstStyle/>
          <a:p>
            <a:r>
              <a:rPr lang="en-US" sz="2000" b="1" dirty="0">
                <a:solidFill>
                  <a:srgbClr val="0070C0"/>
                </a:solidFill>
              </a:rPr>
              <a:t>=</a:t>
            </a:r>
          </a:p>
        </p:txBody>
      </p:sp>
      <p:sp>
        <p:nvSpPr>
          <p:cNvPr id="36" name="TextBox 35">
            <a:extLst>
              <a:ext uri="{FF2B5EF4-FFF2-40B4-BE49-F238E27FC236}">
                <a16:creationId xmlns:a16="http://schemas.microsoft.com/office/drawing/2014/main" id="{162B10C9-6D4B-1AC1-3840-E7315020343D}"/>
              </a:ext>
            </a:extLst>
          </p:cNvPr>
          <p:cNvSpPr txBox="1">
            <a:spLocks/>
          </p:cNvSpPr>
          <p:nvPr/>
        </p:nvSpPr>
        <p:spPr>
          <a:xfrm>
            <a:off x="6693627" y="5472683"/>
            <a:ext cx="1874296" cy="400110"/>
          </a:xfrm>
          <a:prstGeom prst="rect">
            <a:avLst/>
          </a:prstGeom>
          <a:noFill/>
        </p:spPr>
        <p:txBody>
          <a:bodyPr wrap="square" rtlCol="0">
            <a:spAutoFit/>
          </a:bodyPr>
          <a:lstStyle/>
          <a:p>
            <a:pPr algn="ctr"/>
            <a:r>
              <a:rPr lang="en-US" sz="2000" b="1" dirty="0">
                <a:solidFill>
                  <a:srgbClr val="0070C0"/>
                </a:solidFill>
              </a:rPr>
              <a:t>$330 + $270</a:t>
            </a:r>
          </a:p>
        </p:txBody>
      </p:sp>
      <p:sp>
        <p:nvSpPr>
          <p:cNvPr id="37" name="TextBox 36">
            <a:extLst>
              <a:ext uri="{FF2B5EF4-FFF2-40B4-BE49-F238E27FC236}">
                <a16:creationId xmlns:a16="http://schemas.microsoft.com/office/drawing/2014/main" id="{A0C06829-79B9-2ADC-F6BD-3BA76E162964}"/>
              </a:ext>
            </a:extLst>
          </p:cNvPr>
          <p:cNvSpPr txBox="1">
            <a:spLocks/>
          </p:cNvSpPr>
          <p:nvPr/>
        </p:nvSpPr>
        <p:spPr>
          <a:xfrm>
            <a:off x="7339311" y="6007361"/>
            <a:ext cx="541496" cy="400110"/>
          </a:xfrm>
          <a:prstGeom prst="rect">
            <a:avLst/>
          </a:prstGeom>
          <a:noFill/>
        </p:spPr>
        <p:txBody>
          <a:bodyPr wrap="square" rtlCol="0">
            <a:spAutoFit/>
          </a:bodyPr>
          <a:lstStyle/>
          <a:p>
            <a:pPr algn="ctr"/>
            <a:r>
              <a:rPr lang="en-US" sz="2000" b="1" dirty="0">
                <a:solidFill>
                  <a:srgbClr val="0070C0"/>
                </a:solidFill>
              </a:rPr>
              <a:t>2</a:t>
            </a:r>
          </a:p>
        </p:txBody>
      </p:sp>
      <p:cxnSp>
        <p:nvCxnSpPr>
          <p:cNvPr id="38" name="Straight Connector 37">
            <a:extLst>
              <a:ext uri="{FF2B5EF4-FFF2-40B4-BE49-F238E27FC236}">
                <a16:creationId xmlns:a16="http://schemas.microsoft.com/office/drawing/2014/main" id="{F2EF2310-1EC2-1B8F-8BBA-7BEAB20C2838}"/>
              </a:ext>
            </a:extLst>
          </p:cNvPr>
          <p:cNvCxnSpPr>
            <a:cxnSpLocks/>
          </p:cNvCxnSpPr>
          <p:nvPr/>
        </p:nvCxnSpPr>
        <p:spPr>
          <a:xfrm>
            <a:off x="6686718" y="5909623"/>
            <a:ext cx="1846682"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4B21E01D-F1B4-47F7-C112-3C7DADB06BB7}"/>
              </a:ext>
            </a:extLst>
          </p:cNvPr>
          <p:cNvSpPr txBox="1"/>
          <p:nvPr/>
        </p:nvSpPr>
        <p:spPr>
          <a:xfrm>
            <a:off x="8693520" y="5709568"/>
            <a:ext cx="275504" cy="400110"/>
          </a:xfrm>
          <a:prstGeom prst="rect">
            <a:avLst/>
          </a:prstGeom>
          <a:noFill/>
        </p:spPr>
        <p:txBody>
          <a:bodyPr wrap="square" rtlCol="0">
            <a:spAutoFit/>
          </a:bodyPr>
          <a:lstStyle/>
          <a:p>
            <a:r>
              <a:rPr lang="en-US" sz="2000" b="1" dirty="0">
                <a:solidFill>
                  <a:srgbClr val="0070C0"/>
                </a:solidFill>
              </a:rPr>
              <a:t>=</a:t>
            </a:r>
          </a:p>
        </p:txBody>
      </p:sp>
      <p:sp>
        <p:nvSpPr>
          <p:cNvPr id="42" name="TextBox 41">
            <a:extLst>
              <a:ext uri="{FF2B5EF4-FFF2-40B4-BE49-F238E27FC236}">
                <a16:creationId xmlns:a16="http://schemas.microsoft.com/office/drawing/2014/main" id="{5B7976CA-3820-6F2C-0885-EF10FFCD3A5F}"/>
              </a:ext>
            </a:extLst>
          </p:cNvPr>
          <p:cNvSpPr txBox="1"/>
          <p:nvPr/>
        </p:nvSpPr>
        <p:spPr>
          <a:xfrm>
            <a:off x="9094621" y="5709568"/>
            <a:ext cx="755335" cy="400110"/>
          </a:xfrm>
          <a:prstGeom prst="rect">
            <a:avLst/>
          </a:prstGeom>
          <a:noFill/>
        </p:spPr>
        <p:txBody>
          <a:bodyPr wrap="none" rtlCol="0">
            <a:spAutoFit/>
          </a:bodyPr>
          <a:lstStyle/>
          <a:p>
            <a:r>
              <a:rPr lang="en-US" sz="2000" b="1" dirty="0">
                <a:solidFill>
                  <a:srgbClr val="0070C0"/>
                </a:solidFill>
                <a:latin typeface="Helvetica" pitchFamily="2" charset="0"/>
              </a:rPr>
              <a:t>$300</a:t>
            </a:r>
          </a:p>
        </p:txBody>
      </p:sp>
      <p:sp>
        <p:nvSpPr>
          <p:cNvPr id="43" name="TextBox 42">
            <a:extLst>
              <a:ext uri="{FF2B5EF4-FFF2-40B4-BE49-F238E27FC236}">
                <a16:creationId xmlns:a16="http://schemas.microsoft.com/office/drawing/2014/main" id="{B17C7996-870B-80C4-6EE3-A06CB2552E13}"/>
              </a:ext>
            </a:extLst>
          </p:cNvPr>
          <p:cNvSpPr txBox="1">
            <a:spLocks/>
          </p:cNvSpPr>
          <p:nvPr/>
        </p:nvSpPr>
        <p:spPr>
          <a:xfrm>
            <a:off x="6818240" y="4206411"/>
            <a:ext cx="1159573" cy="430887"/>
          </a:xfrm>
          <a:prstGeom prst="rect">
            <a:avLst/>
          </a:prstGeom>
          <a:noFill/>
        </p:spPr>
        <p:txBody>
          <a:bodyPr wrap="square" rtlCol="0">
            <a:spAutoFit/>
          </a:bodyPr>
          <a:lstStyle/>
          <a:p>
            <a:pPr algn="ctr"/>
            <a:r>
              <a:rPr lang="en-US" sz="2200" b="1" dirty="0">
                <a:solidFill>
                  <a:schemeClr val="accent6">
                    <a:lumMod val="75000"/>
                  </a:schemeClr>
                </a:solidFill>
              </a:rPr>
              <a:t>$3,600</a:t>
            </a:r>
          </a:p>
        </p:txBody>
      </p:sp>
      <p:sp>
        <p:nvSpPr>
          <p:cNvPr id="44" name="TextBox 43">
            <a:extLst>
              <a:ext uri="{FF2B5EF4-FFF2-40B4-BE49-F238E27FC236}">
                <a16:creationId xmlns:a16="http://schemas.microsoft.com/office/drawing/2014/main" id="{888D3A2D-DC7D-B0DA-F1E6-D5066153FA9E}"/>
              </a:ext>
            </a:extLst>
          </p:cNvPr>
          <p:cNvSpPr txBox="1">
            <a:spLocks/>
          </p:cNvSpPr>
          <p:nvPr/>
        </p:nvSpPr>
        <p:spPr>
          <a:xfrm>
            <a:off x="6967705" y="4749606"/>
            <a:ext cx="827511" cy="430887"/>
          </a:xfrm>
          <a:prstGeom prst="rect">
            <a:avLst/>
          </a:prstGeom>
          <a:noFill/>
        </p:spPr>
        <p:txBody>
          <a:bodyPr wrap="square" rtlCol="0">
            <a:spAutoFit/>
          </a:bodyPr>
          <a:lstStyle/>
          <a:p>
            <a:r>
              <a:rPr lang="en-US" sz="2200" b="1" dirty="0">
                <a:solidFill>
                  <a:schemeClr val="accent6">
                    <a:lumMod val="75000"/>
                  </a:schemeClr>
                </a:solidFill>
                <a:latin typeface="Helvetica" pitchFamily="2" charset="0"/>
              </a:rPr>
              <a:t>$300</a:t>
            </a:r>
          </a:p>
        </p:txBody>
      </p:sp>
      <p:cxnSp>
        <p:nvCxnSpPr>
          <p:cNvPr id="45" name="Straight Connector 44">
            <a:extLst>
              <a:ext uri="{FF2B5EF4-FFF2-40B4-BE49-F238E27FC236}">
                <a16:creationId xmlns:a16="http://schemas.microsoft.com/office/drawing/2014/main" id="{316646B5-9C56-5567-9C3D-EAD2764E14FA}"/>
              </a:ext>
            </a:extLst>
          </p:cNvPr>
          <p:cNvCxnSpPr>
            <a:cxnSpLocks/>
          </p:cNvCxnSpPr>
          <p:nvPr/>
        </p:nvCxnSpPr>
        <p:spPr>
          <a:xfrm>
            <a:off x="6440266" y="4693367"/>
            <a:ext cx="1846682"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48AD85A5-15D9-38C2-61E3-07E33FC4FE94}"/>
              </a:ext>
            </a:extLst>
          </p:cNvPr>
          <p:cNvSpPr txBox="1"/>
          <p:nvPr/>
        </p:nvSpPr>
        <p:spPr>
          <a:xfrm>
            <a:off x="8447068" y="4493312"/>
            <a:ext cx="275504" cy="400110"/>
          </a:xfrm>
          <a:prstGeom prst="rect">
            <a:avLst/>
          </a:prstGeom>
          <a:noFill/>
        </p:spPr>
        <p:txBody>
          <a:bodyPr wrap="square" rtlCol="0">
            <a:spAutoFit/>
          </a:bodyPr>
          <a:lstStyle/>
          <a:p>
            <a:r>
              <a:rPr lang="en-US" sz="2000" b="1" dirty="0">
                <a:solidFill>
                  <a:schemeClr val="accent6">
                    <a:lumMod val="75000"/>
                  </a:schemeClr>
                </a:solidFill>
              </a:rPr>
              <a:t>=</a:t>
            </a:r>
          </a:p>
        </p:txBody>
      </p:sp>
      <p:sp>
        <p:nvSpPr>
          <p:cNvPr id="47" name="TextBox 46">
            <a:extLst>
              <a:ext uri="{FF2B5EF4-FFF2-40B4-BE49-F238E27FC236}">
                <a16:creationId xmlns:a16="http://schemas.microsoft.com/office/drawing/2014/main" id="{CE0DDE3E-F7FF-1333-07FE-1E48E376ACC5}"/>
              </a:ext>
            </a:extLst>
          </p:cNvPr>
          <p:cNvSpPr txBox="1"/>
          <p:nvPr/>
        </p:nvSpPr>
        <p:spPr>
          <a:xfrm>
            <a:off x="8848169" y="4493312"/>
            <a:ext cx="498855" cy="430887"/>
          </a:xfrm>
          <a:prstGeom prst="rect">
            <a:avLst/>
          </a:prstGeom>
          <a:noFill/>
        </p:spPr>
        <p:txBody>
          <a:bodyPr wrap="none" rtlCol="0">
            <a:spAutoFit/>
          </a:bodyPr>
          <a:lstStyle/>
          <a:p>
            <a:r>
              <a:rPr lang="en-US" sz="2200" b="1" dirty="0">
                <a:solidFill>
                  <a:schemeClr val="accent6">
                    <a:lumMod val="75000"/>
                  </a:schemeClr>
                </a:solidFill>
                <a:latin typeface="Helvetica" pitchFamily="2" charset="0"/>
              </a:rPr>
              <a:t>12</a:t>
            </a:r>
          </a:p>
        </p:txBody>
      </p:sp>
      <p:sp>
        <p:nvSpPr>
          <p:cNvPr id="48" name="TextBox 47">
            <a:extLst>
              <a:ext uri="{FF2B5EF4-FFF2-40B4-BE49-F238E27FC236}">
                <a16:creationId xmlns:a16="http://schemas.microsoft.com/office/drawing/2014/main" id="{6EEAFA61-94DC-3588-5AB3-46417CBE3C01}"/>
              </a:ext>
            </a:extLst>
          </p:cNvPr>
          <p:cNvSpPr txBox="1"/>
          <p:nvPr/>
        </p:nvSpPr>
        <p:spPr>
          <a:xfrm>
            <a:off x="5983364" y="4522433"/>
            <a:ext cx="275504" cy="400110"/>
          </a:xfrm>
          <a:prstGeom prst="rect">
            <a:avLst/>
          </a:prstGeom>
          <a:noFill/>
        </p:spPr>
        <p:txBody>
          <a:bodyPr wrap="square" rtlCol="0">
            <a:spAutoFit/>
          </a:bodyPr>
          <a:lstStyle/>
          <a:p>
            <a:r>
              <a:rPr lang="en-US" sz="2000" b="1" dirty="0">
                <a:solidFill>
                  <a:schemeClr val="accent6">
                    <a:lumMod val="75000"/>
                  </a:schemeClr>
                </a:solidFill>
              </a:rPr>
              <a:t>=</a:t>
            </a:r>
          </a:p>
        </p:txBody>
      </p:sp>
      <p:sp>
        <p:nvSpPr>
          <p:cNvPr id="49" name="TextBox 48">
            <a:extLst>
              <a:ext uri="{FF2B5EF4-FFF2-40B4-BE49-F238E27FC236}">
                <a16:creationId xmlns:a16="http://schemas.microsoft.com/office/drawing/2014/main" id="{C2F389CE-42AD-4C92-78BF-7EDCD0DEDE5A}"/>
              </a:ext>
            </a:extLst>
          </p:cNvPr>
          <p:cNvSpPr txBox="1">
            <a:spLocks/>
          </p:cNvSpPr>
          <p:nvPr/>
        </p:nvSpPr>
        <p:spPr>
          <a:xfrm>
            <a:off x="8268382" y="3062449"/>
            <a:ext cx="1159573" cy="430887"/>
          </a:xfrm>
          <a:prstGeom prst="rect">
            <a:avLst/>
          </a:prstGeom>
          <a:noFill/>
        </p:spPr>
        <p:txBody>
          <a:bodyPr wrap="square" rtlCol="0">
            <a:spAutoFit/>
          </a:bodyPr>
          <a:lstStyle/>
          <a:p>
            <a:pPr algn="ctr"/>
            <a:r>
              <a:rPr lang="en-US" sz="2200" b="1" dirty="0">
                <a:solidFill>
                  <a:srgbClr val="C00000"/>
                </a:solidFill>
              </a:rPr>
              <a:t>365</a:t>
            </a:r>
          </a:p>
        </p:txBody>
      </p:sp>
      <p:sp>
        <p:nvSpPr>
          <p:cNvPr id="50" name="TextBox 49">
            <a:extLst>
              <a:ext uri="{FF2B5EF4-FFF2-40B4-BE49-F238E27FC236}">
                <a16:creationId xmlns:a16="http://schemas.microsoft.com/office/drawing/2014/main" id="{F5139F10-DFFB-12B5-271B-319897DB3F20}"/>
              </a:ext>
            </a:extLst>
          </p:cNvPr>
          <p:cNvSpPr txBox="1">
            <a:spLocks/>
          </p:cNvSpPr>
          <p:nvPr/>
        </p:nvSpPr>
        <p:spPr>
          <a:xfrm>
            <a:off x="8605664" y="3591073"/>
            <a:ext cx="498855" cy="430887"/>
          </a:xfrm>
          <a:prstGeom prst="rect">
            <a:avLst/>
          </a:prstGeom>
          <a:noFill/>
        </p:spPr>
        <p:txBody>
          <a:bodyPr wrap="square" rtlCol="0">
            <a:spAutoFit/>
          </a:bodyPr>
          <a:lstStyle/>
          <a:p>
            <a:r>
              <a:rPr lang="en-US" sz="2200" b="1" dirty="0">
                <a:solidFill>
                  <a:srgbClr val="C00000"/>
                </a:solidFill>
                <a:latin typeface="Helvetica" pitchFamily="2" charset="0"/>
              </a:rPr>
              <a:t>12</a:t>
            </a:r>
          </a:p>
        </p:txBody>
      </p:sp>
      <p:cxnSp>
        <p:nvCxnSpPr>
          <p:cNvPr id="51" name="Straight Connector 50">
            <a:extLst>
              <a:ext uri="{FF2B5EF4-FFF2-40B4-BE49-F238E27FC236}">
                <a16:creationId xmlns:a16="http://schemas.microsoft.com/office/drawing/2014/main" id="{88D5C4FA-4C18-79DE-5D76-5FE278913F5F}"/>
              </a:ext>
            </a:extLst>
          </p:cNvPr>
          <p:cNvCxnSpPr>
            <a:cxnSpLocks/>
          </p:cNvCxnSpPr>
          <p:nvPr/>
        </p:nvCxnSpPr>
        <p:spPr>
          <a:xfrm>
            <a:off x="7931751" y="3550608"/>
            <a:ext cx="1846682"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5F13FF30-17D6-B5F8-6D04-523714485D6D}"/>
                  </a:ext>
                </a:extLst>
              </p:cNvPr>
              <p:cNvSpPr txBox="1"/>
              <p:nvPr/>
            </p:nvSpPr>
            <p:spPr>
              <a:xfrm>
                <a:off x="9938553" y="3350553"/>
                <a:ext cx="27550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2000" b="1" dirty="0">
                  <a:solidFill>
                    <a:srgbClr val="C00000"/>
                  </a:solidFill>
                </a:endParaRPr>
              </a:p>
            </p:txBody>
          </p:sp>
        </mc:Choice>
        <mc:Fallback xmlns="">
          <p:sp>
            <p:nvSpPr>
              <p:cNvPr id="52" name="TextBox 51">
                <a:extLst>
                  <a:ext uri="{FF2B5EF4-FFF2-40B4-BE49-F238E27FC236}">
                    <a16:creationId xmlns:a16="http://schemas.microsoft.com/office/drawing/2014/main" id="{5F13FF30-17D6-B5F8-6D04-523714485D6D}"/>
                  </a:ext>
                </a:extLst>
              </p:cNvPr>
              <p:cNvSpPr txBox="1">
                <a:spLocks noRot="1" noChangeAspect="1" noMove="1" noResize="1" noEditPoints="1" noAdjustHandles="1" noChangeArrowheads="1" noChangeShapeType="1" noTextEdit="1"/>
              </p:cNvSpPr>
              <p:nvPr/>
            </p:nvSpPr>
            <p:spPr>
              <a:xfrm>
                <a:off x="9938553" y="3350553"/>
                <a:ext cx="275504" cy="400110"/>
              </a:xfrm>
              <a:prstGeom prst="rect">
                <a:avLst/>
              </a:prstGeom>
              <a:blipFill>
                <a:blip r:embed="rId3"/>
                <a:stretch>
                  <a:fillRect r="-21739"/>
                </a:stretch>
              </a:blipFill>
            </p:spPr>
            <p:txBody>
              <a:bodyPr/>
              <a:lstStyle/>
              <a:p>
                <a:r>
                  <a:rPr lang="en-US">
                    <a:noFill/>
                  </a:rPr>
                  <a:t> </a:t>
                </a:r>
              </a:p>
            </p:txBody>
          </p:sp>
        </mc:Fallback>
      </mc:AlternateContent>
      <p:sp>
        <p:nvSpPr>
          <p:cNvPr id="53" name="TextBox 52">
            <a:extLst>
              <a:ext uri="{FF2B5EF4-FFF2-40B4-BE49-F238E27FC236}">
                <a16:creationId xmlns:a16="http://schemas.microsoft.com/office/drawing/2014/main" id="{4C8BD851-30B9-D126-7A3B-7D70CFE22C79}"/>
              </a:ext>
            </a:extLst>
          </p:cNvPr>
          <p:cNvSpPr txBox="1"/>
          <p:nvPr/>
        </p:nvSpPr>
        <p:spPr>
          <a:xfrm>
            <a:off x="10339654" y="3350553"/>
            <a:ext cx="891591" cy="430887"/>
          </a:xfrm>
          <a:prstGeom prst="rect">
            <a:avLst/>
          </a:prstGeom>
          <a:noFill/>
        </p:spPr>
        <p:txBody>
          <a:bodyPr wrap="none" rtlCol="0">
            <a:spAutoFit/>
          </a:bodyPr>
          <a:lstStyle/>
          <a:p>
            <a:r>
              <a:rPr lang="en-US" sz="2200" b="1" dirty="0">
                <a:solidFill>
                  <a:srgbClr val="C00000"/>
                </a:solidFill>
                <a:latin typeface="Helvetica" pitchFamily="2" charset="0"/>
              </a:rPr>
              <a:t>30.42</a:t>
            </a:r>
          </a:p>
        </p:txBody>
      </p:sp>
      <p:sp>
        <p:nvSpPr>
          <p:cNvPr id="54" name="TextBox 53">
            <a:extLst>
              <a:ext uri="{FF2B5EF4-FFF2-40B4-BE49-F238E27FC236}">
                <a16:creationId xmlns:a16="http://schemas.microsoft.com/office/drawing/2014/main" id="{B5459D58-2B1B-AAA3-7811-0999D5FC4CC3}"/>
              </a:ext>
            </a:extLst>
          </p:cNvPr>
          <p:cNvSpPr txBox="1"/>
          <p:nvPr/>
        </p:nvSpPr>
        <p:spPr>
          <a:xfrm>
            <a:off x="7474849" y="3379674"/>
            <a:ext cx="275504" cy="400110"/>
          </a:xfrm>
          <a:prstGeom prst="rect">
            <a:avLst/>
          </a:prstGeom>
          <a:noFill/>
        </p:spPr>
        <p:txBody>
          <a:bodyPr wrap="square" rtlCol="0">
            <a:spAutoFit/>
          </a:bodyPr>
          <a:lstStyle/>
          <a:p>
            <a:r>
              <a:rPr lang="en-US" sz="2000" b="1" dirty="0">
                <a:solidFill>
                  <a:srgbClr val="C00000"/>
                </a:solidFill>
              </a:rPr>
              <a:t>=</a:t>
            </a:r>
          </a:p>
        </p:txBody>
      </p:sp>
    </p:spTree>
    <p:extLst>
      <p:ext uri="{BB962C8B-B14F-4D97-AF65-F5344CB8AC3E}">
        <p14:creationId xmlns:p14="http://schemas.microsoft.com/office/powerpoint/2010/main" val="2571281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41" grpId="0"/>
      <p:bldP spid="42" grpId="0"/>
      <p:bldP spid="43" grpId="0"/>
      <p:bldP spid="44" grpId="0"/>
      <p:bldP spid="46" grpId="0"/>
      <p:bldP spid="47" grpId="0"/>
      <p:bldP spid="48" grpId="0"/>
      <p:bldP spid="49" grpId="0"/>
      <p:bldP spid="50" grpId="0"/>
      <p:bldP spid="52" grpId="0"/>
      <p:bldP spid="53" grpId="0"/>
      <p:bldP spid="5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58D14-289B-05EF-95F9-898F14BF3CD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5E97009-E5D1-7100-E3C2-48323A00EF45}"/>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EA364D-E87D-5E2C-37E2-FE28A0C36CC6}"/>
              </a:ext>
            </a:extLst>
          </p:cNvPr>
          <p:cNvSpPr>
            <a:spLocks noGrp="1"/>
          </p:cNvSpPr>
          <p:nvPr>
            <p:ph type="title"/>
          </p:nvPr>
        </p:nvSpPr>
        <p:spPr>
          <a:xfrm>
            <a:off x="419559" y="192063"/>
            <a:ext cx="10515600" cy="982663"/>
          </a:xfrm>
        </p:spPr>
        <p:txBody>
          <a:bodyPr>
            <a:normAutofit/>
          </a:bodyPr>
          <a:lstStyle/>
          <a:p>
            <a:r>
              <a:rPr lang="en-US" b="1" dirty="0">
                <a:solidFill>
                  <a:schemeClr val="bg1"/>
                </a:solidFill>
                <a:latin typeface="Helvetica" pitchFamily="2" charset="0"/>
              </a:rPr>
              <a:t>2-5.</a:t>
            </a:r>
            <a:r>
              <a:rPr lang="en-US" b="1" dirty="0">
                <a:solidFill>
                  <a:schemeClr val="bg1"/>
                </a:solidFill>
                <a:latin typeface="Helvetica" pitchFamily="2" charset="0"/>
                <a:cs typeface="Times New Roman" panose="02020603050405020304" pitchFamily="18" charset="0"/>
              </a:rPr>
              <a:t> Accounts Payable Turnover</a:t>
            </a:r>
            <a:endParaRPr lang="en-US" b="1" dirty="0">
              <a:solidFill>
                <a:schemeClr val="bg1"/>
              </a:solidFill>
              <a:latin typeface="Helvetica" pitchFamily="2" charset="0"/>
            </a:endParaRPr>
          </a:p>
        </p:txBody>
      </p:sp>
      <p:grpSp>
        <p:nvGrpSpPr>
          <p:cNvPr id="18" name="Group 17">
            <a:extLst>
              <a:ext uri="{FF2B5EF4-FFF2-40B4-BE49-F238E27FC236}">
                <a16:creationId xmlns:a16="http://schemas.microsoft.com/office/drawing/2014/main" id="{2B45DD23-1354-18CC-F4DD-3C2328205204}"/>
              </a:ext>
            </a:extLst>
          </p:cNvPr>
          <p:cNvGrpSpPr/>
          <p:nvPr/>
        </p:nvGrpSpPr>
        <p:grpSpPr>
          <a:xfrm>
            <a:off x="1519775" y="1576699"/>
            <a:ext cx="8912447" cy="978115"/>
            <a:chOff x="281997" y="3051735"/>
            <a:chExt cx="8912447" cy="978115"/>
          </a:xfrm>
        </p:grpSpPr>
        <p:sp>
          <p:nvSpPr>
            <p:cNvPr id="10" name="TextBox 9">
              <a:extLst>
                <a:ext uri="{FF2B5EF4-FFF2-40B4-BE49-F238E27FC236}">
                  <a16:creationId xmlns:a16="http://schemas.microsoft.com/office/drawing/2014/main" id="{493BBC29-69D5-71D4-421A-7482D44E7F20}"/>
                </a:ext>
              </a:extLst>
            </p:cNvPr>
            <p:cNvSpPr txBox="1">
              <a:spLocks/>
            </p:cNvSpPr>
            <p:nvPr/>
          </p:nvSpPr>
          <p:spPr>
            <a:xfrm>
              <a:off x="281997" y="3315326"/>
              <a:ext cx="4231992"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Accounts Payable Turnover</a:t>
              </a:r>
            </a:p>
          </p:txBody>
        </p:sp>
        <p:sp>
          <p:nvSpPr>
            <p:cNvPr id="11" name="TextBox 10">
              <a:extLst>
                <a:ext uri="{FF2B5EF4-FFF2-40B4-BE49-F238E27FC236}">
                  <a16:creationId xmlns:a16="http://schemas.microsoft.com/office/drawing/2014/main" id="{557D8E4C-01E3-7137-94C6-E5BA4939EE49}"/>
                </a:ext>
              </a:extLst>
            </p:cNvPr>
            <p:cNvSpPr txBox="1"/>
            <p:nvPr/>
          </p:nvSpPr>
          <p:spPr>
            <a:xfrm>
              <a:off x="4736807"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12" name="TextBox 11">
              <a:extLst>
                <a:ext uri="{FF2B5EF4-FFF2-40B4-BE49-F238E27FC236}">
                  <a16:creationId xmlns:a16="http://schemas.microsoft.com/office/drawing/2014/main" id="{774750C8-04A1-4649-B900-10C84EE379A3}"/>
                </a:ext>
              </a:extLst>
            </p:cNvPr>
            <p:cNvSpPr txBox="1">
              <a:spLocks/>
            </p:cNvSpPr>
            <p:nvPr/>
          </p:nvSpPr>
          <p:spPr>
            <a:xfrm>
              <a:off x="5926947" y="3051735"/>
              <a:ext cx="2545890" cy="461665"/>
            </a:xfrm>
            <a:prstGeom prst="rect">
              <a:avLst/>
            </a:prstGeom>
            <a:noFill/>
          </p:spPr>
          <p:txBody>
            <a:bodyPr wrap="none" rtlCol="0">
              <a:spAutoFit/>
            </a:bodyPr>
            <a:lstStyle/>
            <a:p>
              <a:pPr algn="ctr"/>
              <a:r>
                <a:rPr lang="en-US" sz="2400" b="1" dirty="0">
                  <a:solidFill>
                    <a:srgbClr val="C00000"/>
                  </a:solidFill>
                  <a:latin typeface="Helvetica" pitchFamily="2" charset="0"/>
                </a:rPr>
                <a:t>Credit Purchase</a:t>
              </a:r>
            </a:p>
          </p:txBody>
        </p:sp>
        <p:sp>
          <p:nvSpPr>
            <p:cNvPr id="13" name="TextBox 12">
              <a:extLst>
                <a:ext uri="{FF2B5EF4-FFF2-40B4-BE49-F238E27FC236}">
                  <a16:creationId xmlns:a16="http://schemas.microsoft.com/office/drawing/2014/main" id="{1296FADA-92B5-4C74-311B-61AFBBEEFD0B}"/>
                </a:ext>
              </a:extLst>
            </p:cNvPr>
            <p:cNvSpPr txBox="1">
              <a:spLocks/>
            </p:cNvSpPr>
            <p:nvPr/>
          </p:nvSpPr>
          <p:spPr>
            <a:xfrm>
              <a:off x="5467754" y="3568185"/>
              <a:ext cx="3464283" cy="461665"/>
            </a:xfrm>
            <a:prstGeom prst="rect">
              <a:avLst/>
            </a:prstGeom>
            <a:noFill/>
          </p:spPr>
          <p:txBody>
            <a:bodyPr wrap="none" rtlCol="0">
              <a:spAutoFit/>
            </a:bodyPr>
            <a:lstStyle/>
            <a:p>
              <a:pPr algn="ctr"/>
              <a:r>
                <a:rPr lang="en-US" sz="2400" b="1" dirty="0">
                  <a:solidFill>
                    <a:srgbClr val="C00000"/>
                  </a:solidFill>
                  <a:latin typeface="Helvetica" pitchFamily="2" charset="0"/>
                </a:rPr>
                <a:t>Ave Accounts Payable</a:t>
              </a:r>
              <a:endParaRPr lang="en-US" sz="2400" b="1" dirty="0">
                <a:solidFill>
                  <a:srgbClr val="C00000"/>
                </a:solidFill>
              </a:endParaRPr>
            </a:p>
          </p:txBody>
        </p:sp>
        <p:cxnSp>
          <p:nvCxnSpPr>
            <p:cNvPr id="15" name="Straight Connector 14">
              <a:extLst>
                <a:ext uri="{FF2B5EF4-FFF2-40B4-BE49-F238E27FC236}">
                  <a16:creationId xmlns:a16="http://schemas.microsoft.com/office/drawing/2014/main" id="{024D1400-DE4B-0005-B0E1-5DA62B74C41A}"/>
                </a:ext>
              </a:extLst>
            </p:cNvPr>
            <p:cNvCxnSpPr>
              <a:cxnSpLocks/>
            </p:cNvCxnSpPr>
            <p:nvPr/>
          </p:nvCxnSpPr>
          <p:spPr>
            <a:xfrm>
              <a:off x="5177844" y="3546159"/>
              <a:ext cx="401660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7" name="TextBox 6">
            <a:extLst>
              <a:ext uri="{FF2B5EF4-FFF2-40B4-BE49-F238E27FC236}">
                <a16:creationId xmlns:a16="http://schemas.microsoft.com/office/drawing/2014/main" id="{3CC7ED9C-29F5-621A-432B-6CAE1486A92A}"/>
              </a:ext>
            </a:extLst>
          </p:cNvPr>
          <p:cNvSpPr txBox="1"/>
          <p:nvPr/>
        </p:nvSpPr>
        <p:spPr>
          <a:xfrm>
            <a:off x="419559" y="4943886"/>
            <a:ext cx="11679514" cy="984885"/>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400" dirty="0">
                <a:latin typeface="Helvetica" pitchFamily="2" charset="0"/>
              </a:rPr>
              <a:t>Paying too quickly may strain cash</a:t>
            </a:r>
          </a:p>
          <a:p>
            <a:pPr marL="342900" indent="-342900">
              <a:spcBef>
                <a:spcPts val="600"/>
              </a:spcBef>
              <a:spcAft>
                <a:spcPts val="600"/>
              </a:spcAft>
              <a:buFont typeface="Arial" panose="020B0604020202020204" pitchFamily="34" charset="0"/>
              <a:buChar char="•"/>
            </a:pPr>
            <a:r>
              <a:rPr lang="en-US" sz="2400" dirty="0">
                <a:latin typeface="Helvetica" pitchFamily="2" charset="0"/>
              </a:rPr>
              <a:t>Paying too slowly may damage supplier relationships</a:t>
            </a:r>
          </a:p>
        </p:txBody>
      </p:sp>
      <p:sp>
        <p:nvSpPr>
          <p:cNvPr id="3" name="TextBox 2">
            <a:extLst>
              <a:ext uri="{FF2B5EF4-FFF2-40B4-BE49-F238E27FC236}">
                <a16:creationId xmlns:a16="http://schemas.microsoft.com/office/drawing/2014/main" id="{8046B8F6-F311-E88A-71DE-6AECB2249F42}"/>
              </a:ext>
            </a:extLst>
          </p:cNvPr>
          <p:cNvSpPr txBox="1"/>
          <p:nvPr/>
        </p:nvSpPr>
        <p:spPr>
          <a:xfrm>
            <a:off x="419559" y="3983208"/>
            <a:ext cx="11679514" cy="830997"/>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Helvetica" pitchFamily="2" charset="0"/>
                <a:cs typeface="Times New Roman" panose="02020603050405020304" pitchFamily="18" charset="0"/>
              </a:rPr>
              <a:t>Accounts Payable Turnover measures </a:t>
            </a:r>
            <a:r>
              <a:rPr lang="en-US" sz="2400" dirty="0">
                <a:latin typeface="Helvetica" pitchFamily="2" charset="0"/>
              </a:rPr>
              <a:t>how quickly a company </a:t>
            </a:r>
            <a:r>
              <a:rPr lang="en-US" sz="2400" b="1" dirty="0">
                <a:latin typeface="Helvetica" pitchFamily="2" charset="0"/>
              </a:rPr>
              <a:t>pays its suppliers. </a:t>
            </a:r>
            <a:r>
              <a:rPr lang="en-US" sz="2400" dirty="0">
                <a:latin typeface="Helvetica" pitchFamily="2" charset="0"/>
              </a:rPr>
              <a:t>It shows the speed at which accounts payable are </a:t>
            </a:r>
            <a:r>
              <a:rPr lang="en-US" sz="2400" b="1" dirty="0">
                <a:latin typeface="Helvetica" pitchFamily="2" charset="0"/>
              </a:rPr>
              <a:t>paid off. </a:t>
            </a:r>
            <a:endParaRPr lang="en-US" sz="2400" dirty="0">
              <a:latin typeface="Helvetica" pitchFamily="2" charset="0"/>
            </a:endParaRPr>
          </a:p>
        </p:txBody>
      </p:sp>
      <p:grpSp>
        <p:nvGrpSpPr>
          <p:cNvPr id="5" name="Group 4">
            <a:extLst>
              <a:ext uri="{FF2B5EF4-FFF2-40B4-BE49-F238E27FC236}">
                <a16:creationId xmlns:a16="http://schemas.microsoft.com/office/drawing/2014/main" id="{913BFE43-3E29-0331-E756-D4A9222DD2AD}"/>
              </a:ext>
            </a:extLst>
          </p:cNvPr>
          <p:cNvGrpSpPr/>
          <p:nvPr/>
        </p:nvGrpSpPr>
        <p:grpSpPr>
          <a:xfrm>
            <a:off x="2315153" y="2783654"/>
            <a:ext cx="6722835" cy="959311"/>
            <a:chOff x="1464609" y="3062469"/>
            <a:chExt cx="8447242" cy="959311"/>
          </a:xfrm>
        </p:grpSpPr>
        <p:sp>
          <p:nvSpPr>
            <p:cNvPr id="9" name="TextBox 8">
              <a:extLst>
                <a:ext uri="{FF2B5EF4-FFF2-40B4-BE49-F238E27FC236}">
                  <a16:creationId xmlns:a16="http://schemas.microsoft.com/office/drawing/2014/main" id="{119BCAC2-2246-B314-3DDF-39D4CDE12DBC}"/>
                </a:ext>
              </a:extLst>
            </p:cNvPr>
            <p:cNvSpPr txBox="1">
              <a:spLocks/>
            </p:cNvSpPr>
            <p:nvPr/>
          </p:nvSpPr>
          <p:spPr>
            <a:xfrm>
              <a:off x="1464609" y="3318659"/>
              <a:ext cx="2458202" cy="400110"/>
            </a:xfrm>
            <a:prstGeom prst="rect">
              <a:avLst/>
            </a:prstGeom>
            <a:noFill/>
          </p:spPr>
          <p:txBody>
            <a:bodyPr wrap="square" rtlCol="0">
              <a:spAutoFit/>
            </a:bodyPr>
            <a:lstStyle/>
            <a:p>
              <a:pPr algn="ctr"/>
              <a:r>
                <a:rPr lang="en-US" sz="2000" b="1" dirty="0">
                  <a:solidFill>
                    <a:srgbClr val="C00000"/>
                  </a:solidFill>
                  <a:latin typeface="Helvetica" pitchFamily="2" charset="0"/>
                </a:rPr>
                <a:t>Average AP</a:t>
              </a:r>
            </a:p>
          </p:txBody>
        </p:sp>
        <p:sp>
          <p:nvSpPr>
            <p:cNvPr id="14" name="TextBox 13">
              <a:extLst>
                <a:ext uri="{FF2B5EF4-FFF2-40B4-BE49-F238E27FC236}">
                  <a16:creationId xmlns:a16="http://schemas.microsoft.com/office/drawing/2014/main" id="{E34C0D68-4C95-BF94-3E0A-0F225B8CB2AF}"/>
                </a:ext>
              </a:extLst>
            </p:cNvPr>
            <p:cNvSpPr txBox="1"/>
            <p:nvPr/>
          </p:nvSpPr>
          <p:spPr>
            <a:xfrm>
              <a:off x="3893062" y="3349919"/>
              <a:ext cx="297455" cy="400110"/>
            </a:xfrm>
            <a:prstGeom prst="rect">
              <a:avLst/>
            </a:prstGeom>
            <a:noFill/>
          </p:spPr>
          <p:txBody>
            <a:bodyPr wrap="square" rtlCol="0">
              <a:spAutoFit/>
            </a:bodyPr>
            <a:lstStyle/>
            <a:p>
              <a:r>
                <a:rPr lang="en-US" sz="2000" b="1" dirty="0"/>
                <a:t>=</a:t>
              </a:r>
            </a:p>
          </p:txBody>
        </p:sp>
        <p:sp>
          <p:nvSpPr>
            <p:cNvPr id="16" name="TextBox 15">
              <a:extLst>
                <a:ext uri="{FF2B5EF4-FFF2-40B4-BE49-F238E27FC236}">
                  <a16:creationId xmlns:a16="http://schemas.microsoft.com/office/drawing/2014/main" id="{9F2E70C8-60EB-3C53-854B-CA25C0885D14}"/>
                </a:ext>
              </a:extLst>
            </p:cNvPr>
            <p:cNvSpPr txBox="1">
              <a:spLocks/>
            </p:cNvSpPr>
            <p:nvPr/>
          </p:nvSpPr>
          <p:spPr>
            <a:xfrm>
              <a:off x="4386741" y="3062469"/>
              <a:ext cx="5525110" cy="461665"/>
            </a:xfrm>
            <a:prstGeom prst="rect">
              <a:avLst/>
            </a:prstGeom>
            <a:noFill/>
          </p:spPr>
          <p:txBody>
            <a:bodyPr wrap="square" rtlCol="0">
              <a:spAutoFit/>
            </a:bodyPr>
            <a:lstStyle/>
            <a:p>
              <a:pPr algn="ctr"/>
              <a:r>
                <a:rPr lang="en-US" sz="2000" b="1" dirty="0">
                  <a:solidFill>
                    <a:srgbClr val="C00000"/>
                  </a:solidFill>
                  <a:latin typeface="Helvetica" pitchFamily="2" charset="0"/>
                </a:rPr>
                <a:t>Beginning AP  </a:t>
              </a:r>
              <a:r>
                <a:rPr lang="en-US" sz="2400" b="1" dirty="0">
                  <a:latin typeface="Helvetica" pitchFamily="2" charset="0"/>
                </a:rPr>
                <a:t>+</a:t>
              </a:r>
              <a:r>
                <a:rPr lang="en-US" sz="2000" b="1" dirty="0">
                  <a:latin typeface="Helvetica" pitchFamily="2" charset="0"/>
                </a:rPr>
                <a:t>  </a:t>
              </a:r>
              <a:r>
                <a:rPr lang="en-US" sz="2000" b="1" dirty="0">
                  <a:solidFill>
                    <a:srgbClr val="C00000"/>
                  </a:solidFill>
                  <a:latin typeface="Helvetica" pitchFamily="2" charset="0"/>
                </a:rPr>
                <a:t>Ending AP</a:t>
              </a:r>
              <a:endParaRPr lang="en-US" sz="2000" b="1" dirty="0">
                <a:latin typeface="Helvetica" pitchFamily="2" charset="0"/>
              </a:endParaRPr>
            </a:p>
          </p:txBody>
        </p:sp>
        <p:sp>
          <p:nvSpPr>
            <p:cNvPr id="17" name="TextBox 16">
              <a:extLst>
                <a:ext uri="{FF2B5EF4-FFF2-40B4-BE49-F238E27FC236}">
                  <a16:creationId xmlns:a16="http://schemas.microsoft.com/office/drawing/2014/main" id="{A9D4484F-59F8-AE7D-A3CB-9FE778825D1B}"/>
                </a:ext>
              </a:extLst>
            </p:cNvPr>
            <p:cNvSpPr txBox="1">
              <a:spLocks/>
            </p:cNvSpPr>
            <p:nvPr/>
          </p:nvSpPr>
          <p:spPr>
            <a:xfrm>
              <a:off x="6170848" y="3621670"/>
              <a:ext cx="1956882" cy="400110"/>
            </a:xfrm>
            <a:prstGeom prst="rect">
              <a:avLst/>
            </a:prstGeom>
            <a:noFill/>
          </p:spPr>
          <p:txBody>
            <a:bodyPr wrap="square" rtlCol="0">
              <a:spAutoFit/>
            </a:bodyPr>
            <a:lstStyle/>
            <a:p>
              <a:pPr algn="ctr"/>
              <a:r>
                <a:rPr lang="en-US" sz="2000" b="1" dirty="0"/>
                <a:t>2</a:t>
              </a:r>
            </a:p>
          </p:txBody>
        </p:sp>
        <p:cxnSp>
          <p:nvCxnSpPr>
            <p:cNvPr id="19" name="Straight Connector 18">
              <a:extLst>
                <a:ext uri="{FF2B5EF4-FFF2-40B4-BE49-F238E27FC236}">
                  <a16:creationId xmlns:a16="http://schemas.microsoft.com/office/drawing/2014/main" id="{E05CC609-640C-DE74-3282-DF5C0AEC25D2}"/>
                </a:ext>
              </a:extLst>
            </p:cNvPr>
            <p:cNvCxnSpPr>
              <a:cxnSpLocks/>
            </p:cNvCxnSpPr>
            <p:nvPr/>
          </p:nvCxnSpPr>
          <p:spPr>
            <a:xfrm>
              <a:off x="4454399" y="3546159"/>
              <a:ext cx="538979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99686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298C9-3B45-39AD-3DB8-FFDECF22455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D8877C9-24B1-36D9-75AE-14E900521DBE}"/>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0E18FB-AD20-EBC4-E08B-CCF453F06990}"/>
              </a:ext>
            </a:extLst>
          </p:cNvPr>
          <p:cNvSpPr>
            <a:spLocks noGrp="1"/>
          </p:cNvSpPr>
          <p:nvPr>
            <p:ph type="title"/>
          </p:nvPr>
        </p:nvSpPr>
        <p:spPr>
          <a:xfrm>
            <a:off x="419559" y="192063"/>
            <a:ext cx="10515600" cy="982663"/>
          </a:xfrm>
        </p:spPr>
        <p:txBody>
          <a:bodyPr>
            <a:normAutofit/>
          </a:bodyPr>
          <a:lstStyle/>
          <a:p>
            <a:r>
              <a:rPr lang="en-US" b="1" dirty="0">
                <a:solidFill>
                  <a:schemeClr val="bg1"/>
                </a:solidFill>
                <a:latin typeface="Helvetica" pitchFamily="2" charset="0"/>
              </a:rPr>
              <a:t>2-6.</a:t>
            </a:r>
            <a:r>
              <a:rPr lang="en-US" b="1" dirty="0">
                <a:solidFill>
                  <a:schemeClr val="bg1"/>
                </a:solidFill>
                <a:latin typeface="Helvetica" pitchFamily="2" charset="0"/>
                <a:cs typeface="Times New Roman" panose="02020603050405020304" pitchFamily="18" charset="0"/>
              </a:rPr>
              <a:t> Fixed Asset Turnover</a:t>
            </a:r>
            <a:endParaRPr lang="en-US" b="1" dirty="0">
              <a:solidFill>
                <a:schemeClr val="bg1"/>
              </a:solidFill>
              <a:latin typeface="Helvetica" pitchFamily="2" charset="0"/>
            </a:endParaRPr>
          </a:p>
        </p:txBody>
      </p:sp>
      <p:grpSp>
        <p:nvGrpSpPr>
          <p:cNvPr id="18" name="Group 17">
            <a:extLst>
              <a:ext uri="{FF2B5EF4-FFF2-40B4-BE49-F238E27FC236}">
                <a16:creationId xmlns:a16="http://schemas.microsoft.com/office/drawing/2014/main" id="{C692A56E-ECC0-2E04-3D26-34E16CA18DA9}"/>
              </a:ext>
            </a:extLst>
          </p:cNvPr>
          <p:cNvGrpSpPr/>
          <p:nvPr/>
        </p:nvGrpSpPr>
        <p:grpSpPr>
          <a:xfrm>
            <a:off x="1987082" y="1523691"/>
            <a:ext cx="7782532" cy="1057627"/>
            <a:chOff x="749304" y="2998727"/>
            <a:chExt cx="7782532" cy="1057627"/>
          </a:xfrm>
        </p:grpSpPr>
        <p:sp>
          <p:nvSpPr>
            <p:cNvPr id="10" name="TextBox 9">
              <a:extLst>
                <a:ext uri="{FF2B5EF4-FFF2-40B4-BE49-F238E27FC236}">
                  <a16:creationId xmlns:a16="http://schemas.microsoft.com/office/drawing/2014/main" id="{F21F7CCE-9295-7C78-DD3C-6713D4181918}"/>
                </a:ext>
              </a:extLst>
            </p:cNvPr>
            <p:cNvSpPr txBox="1">
              <a:spLocks/>
            </p:cNvSpPr>
            <p:nvPr/>
          </p:nvSpPr>
          <p:spPr>
            <a:xfrm>
              <a:off x="749304" y="3315326"/>
              <a:ext cx="3297378"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Fixed Asset Turnover</a:t>
              </a:r>
            </a:p>
          </p:txBody>
        </p:sp>
        <p:sp>
          <p:nvSpPr>
            <p:cNvPr id="11" name="TextBox 10">
              <a:extLst>
                <a:ext uri="{FF2B5EF4-FFF2-40B4-BE49-F238E27FC236}">
                  <a16:creationId xmlns:a16="http://schemas.microsoft.com/office/drawing/2014/main" id="{E5C9B6FF-4F27-F8BD-C6CD-AB3BCBBA4E99}"/>
                </a:ext>
              </a:extLst>
            </p:cNvPr>
            <p:cNvSpPr txBox="1"/>
            <p:nvPr/>
          </p:nvSpPr>
          <p:spPr>
            <a:xfrm>
              <a:off x="4074199"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12" name="TextBox 11">
              <a:extLst>
                <a:ext uri="{FF2B5EF4-FFF2-40B4-BE49-F238E27FC236}">
                  <a16:creationId xmlns:a16="http://schemas.microsoft.com/office/drawing/2014/main" id="{59FD961C-6FA2-739A-A8C1-5D710D8B6C35}"/>
                </a:ext>
              </a:extLst>
            </p:cNvPr>
            <p:cNvSpPr txBox="1">
              <a:spLocks/>
            </p:cNvSpPr>
            <p:nvPr/>
          </p:nvSpPr>
          <p:spPr>
            <a:xfrm>
              <a:off x="5751654" y="2998727"/>
              <a:ext cx="1571264" cy="461665"/>
            </a:xfrm>
            <a:prstGeom prst="rect">
              <a:avLst/>
            </a:prstGeom>
            <a:noFill/>
          </p:spPr>
          <p:txBody>
            <a:bodyPr wrap="none" rtlCol="0">
              <a:spAutoFit/>
            </a:bodyPr>
            <a:lstStyle/>
            <a:p>
              <a:pPr algn="ctr"/>
              <a:r>
                <a:rPr lang="en-US" sz="2400" b="1" dirty="0">
                  <a:solidFill>
                    <a:srgbClr val="C00000"/>
                  </a:solidFill>
                  <a:latin typeface="Helvetica" pitchFamily="2" charset="0"/>
                </a:rPr>
                <a:t>Net Sales</a:t>
              </a:r>
            </a:p>
          </p:txBody>
        </p:sp>
        <p:sp>
          <p:nvSpPr>
            <p:cNvPr id="13" name="TextBox 12">
              <a:extLst>
                <a:ext uri="{FF2B5EF4-FFF2-40B4-BE49-F238E27FC236}">
                  <a16:creationId xmlns:a16="http://schemas.microsoft.com/office/drawing/2014/main" id="{5ED68478-0C0C-CE6D-5739-CFF808B35F20}"/>
                </a:ext>
              </a:extLst>
            </p:cNvPr>
            <p:cNvSpPr txBox="1">
              <a:spLocks/>
            </p:cNvSpPr>
            <p:nvPr/>
          </p:nvSpPr>
          <p:spPr>
            <a:xfrm>
              <a:off x="5102602" y="3594689"/>
              <a:ext cx="2869376" cy="461665"/>
            </a:xfrm>
            <a:prstGeom prst="rect">
              <a:avLst/>
            </a:prstGeom>
            <a:noFill/>
          </p:spPr>
          <p:txBody>
            <a:bodyPr wrap="none" rtlCol="0">
              <a:spAutoFit/>
            </a:bodyPr>
            <a:lstStyle/>
            <a:p>
              <a:pPr algn="ctr"/>
              <a:r>
                <a:rPr lang="en-US" sz="2400" b="1" dirty="0">
                  <a:solidFill>
                    <a:srgbClr val="C00000"/>
                  </a:solidFill>
                  <a:latin typeface="Helvetica" pitchFamily="2" charset="0"/>
                </a:rPr>
                <a:t>Total Fixed Assets</a:t>
              </a:r>
              <a:endParaRPr lang="en-US" sz="2400" b="1" dirty="0">
                <a:solidFill>
                  <a:srgbClr val="C00000"/>
                </a:solidFill>
              </a:endParaRPr>
            </a:p>
          </p:txBody>
        </p:sp>
        <p:cxnSp>
          <p:nvCxnSpPr>
            <p:cNvPr id="15" name="Straight Connector 14">
              <a:extLst>
                <a:ext uri="{FF2B5EF4-FFF2-40B4-BE49-F238E27FC236}">
                  <a16:creationId xmlns:a16="http://schemas.microsoft.com/office/drawing/2014/main" id="{F775B74B-2AEA-A0CB-DC88-F3E1E577E74B}"/>
                </a:ext>
              </a:extLst>
            </p:cNvPr>
            <p:cNvCxnSpPr>
              <a:cxnSpLocks/>
            </p:cNvCxnSpPr>
            <p:nvPr/>
          </p:nvCxnSpPr>
          <p:spPr>
            <a:xfrm>
              <a:off x="4515236" y="3546159"/>
              <a:ext cx="401660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 name="TextBox 2">
            <a:extLst>
              <a:ext uri="{FF2B5EF4-FFF2-40B4-BE49-F238E27FC236}">
                <a16:creationId xmlns:a16="http://schemas.microsoft.com/office/drawing/2014/main" id="{0FEF0356-A82C-A66B-3A26-042AA382BBDE}"/>
              </a:ext>
            </a:extLst>
          </p:cNvPr>
          <p:cNvSpPr txBox="1"/>
          <p:nvPr/>
        </p:nvSpPr>
        <p:spPr>
          <a:xfrm>
            <a:off x="256243" y="2967456"/>
            <a:ext cx="11679514" cy="769441"/>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Measures how effectively a company is using its fixed assets (such as plant and equipment) to generate sales. </a:t>
            </a:r>
          </a:p>
        </p:txBody>
      </p:sp>
      <p:sp>
        <p:nvSpPr>
          <p:cNvPr id="4" name="TextBox 3">
            <a:extLst>
              <a:ext uri="{FF2B5EF4-FFF2-40B4-BE49-F238E27FC236}">
                <a16:creationId xmlns:a16="http://schemas.microsoft.com/office/drawing/2014/main" id="{63B9EAF5-CB4F-D8AF-8691-FE8AA3888073}"/>
              </a:ext>
            </a:extLst>
          </p:cNvPr>
          <p:cNvSpPr txBox="1"/>
          <p:nvPr/>
        </p:nvSpPr>
        <p:spPr>
          <a:xfrm>
            <a:off x="256243" y="4047434"/>
            <a:ext cx="10626499" cy="923330"/>
          </a:xfrm>
          <a:prstGeom prst="rect">
            <a:avLst/>
          </a:prstGeom>
          <a:noFill/>
        </p:spPr>
        <p:txBody>
          <a:bodyPr wrap="none" rtlCol="0">
            <a:spAutoFit/>
          </a:bodyPr>
          <a:lstStyle/>
          <a:p>
            <a:pPr marL="285750" indent="-285750">
              <a:spcBef>
                <a:spcPts val="600"/>
              </a:spcBef>
              <a:spcAft>
                <a:spcPts val="600"/>
              </a:spcAft>
              <a:buFont typeface="Arial" panose="020B0604020202020204" pitchFamily="34" charset="0"/>
              <a:buChar char="•"/>
            </a:pPr>
            <a:r>
              <a:rPr lang="en-US" sz="2200" b="1" dirty="0">
                <a:latin typeface="Helvetica" pitchFamily="2" charset="0"/>
              </a:rPr>
              <a:t>Higher Ratio: </a:t>
            </a:r>
            <a:r>
              <a:rPr lang="en-US" sz="2200" dirty="0">
                <a:latin typeface="Helvetica" pitchFamily="2" charset="0"/>
              </a:rPr>
              <a:t>The firm is using its fixed assets more efficiently to generate sales.</a:t>
            </a:r>
          </a:p>
          <a:p>
            <a:pPr marL="285750" indent="-285750">
              <a:spcBef>
                <a:spcPts val="600"/>
              </a:spcBef>
              <a:spcAft>
                <a:spcPts val="600"/>
              </a:spcAft>
              <a:buFont typeface="Arial" panose="020B0604020202020204" pitchFamily="34" charset="0"/>
              <a:buChar char="•"/>
            </a:pPr>
            <a:r>
              <a:rPr lang="en-US" sz="2200" b="1" dirty="0">
                <a:latin typeface="Helvetica" pitchFamily="2" charset="0"/>
              </a:rPr>
              <a:t>Lower Ratio: </a:t>
            </a:r>
            <a:r>
              <a:rPr lang="en-US" sz="2200" dirty="0">
                <a:latin typeface="Helvetica" pitchFamily="2" charset="0"/>
              </a:rPr>
              <a:t>Underutilization of fixed assets or a need for asset replacement. </a:t>
            </a:r>
          </a:p>
        </p:txBody>
      </p:sp>
      <p:sp>
        <p:nvSpPr>
          <p:cNvPr id="8" name="TextBox 7">
            <a:extLst>
              <a:ext uri="{FF2B5EF4-FFF2-40B4-BE49-F238E27FC236}">
                <a16:creationId xmlns:a16="http://schemas.microsoft.com/office/drawing/2014/main" id="{42C42FAE-5E87-858F-6087-1717326AFEE7}"/>
              </a:ext>
            </a:extLst>
          </p:cNvPr>
          <p:cNvSpPr txBox="1"/>
          <p:nvPr/>
        </p:nvSpPr>
        <p:spPr>
          <a:xfrm>
            <a:off x="256243" y="5281301"/>
            <a:ext cx="11679514" cy="1261884"/>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Potential Issues with Interpretation:</a:t>
            </a:r>
          </a:p>
          <a:p>
            <a:pPr marL="800100" lvl="1" indent="-342900">
              <a:spcBef>
                <a:spcPts val="600"/>
              </a:spcBef>
              <a:spcAft>
                <a:spcPts val="600"/>
              </a:spcAft>
              <a:buFont typeface="Arial" panose="020B0604020202020204" pitchFamily="34" charset="0"/>
              <a:buChar char="•"/>
            </a:pPr>
            <a:r>
              <a:rPr lang="en-US" sz="2200" b="1" dirty="0">
                <a:latin typeface="Helvetica" pitchFamily="2" charset="0"/>
                <a:cs typeface="Times New Roman" panose="02020603050405020304" pitchFamily="18" charset="0"/>
              </a:rPr>
              <a:t>Historical Cost vs. Current Value</a:t>
            </a:r>
            <a:r>
              <a:rPr lang="en-US" sz="2200" dirty="0">
                <a:latin typeface="Helvetica" pitchFamily="2" charset="0"/>
                <a:cs typeface="Times New Roman" panose="02020603050405020304" pitchFamily="18" charset="0"/>
              </a:rPr>
              <a:t>: This can make older firms appear more efficient than newer ones.</a:t>
            </a:r>
          </a:p>
        </p:txBody>
      </p:sp>
    </p:spTree>
    <p:extLst>
      <p:ext uri="{BB962C8B-B14F-4D97-AF65-F5344CB8AC3E}">
        <p14:creationId xmlns:p14="http://schemas.microsoft.com/office/powerpoint/2010/main" val="910957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9C72B-22EA-B636-DA14-B067AFFADD5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1D3C0C8-4A56-0146-13DE-FB17C3A22AAF}"/>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A0B19E-8EB6-154C-9990-EAA190A70B3B}"/>
              </a:ext>
            </a:extLst>
          </p:cNvPr>
          <p:cNvSpPr>
            <a:spLocks noGrp="1"/>
          </p:cNvSpPr>
          <p:nvPr>
            <p:ph type="title"/>
          </p:nvPr>
        </p:nvSpPr>
        <p:spPr>
          <a:xfrm>
            <a:off x="419559" y="192063"/>
            <a:ext cx="10515600" cy="982663"/>
          </a:xfrm>
        </p:spPr>
        <p:txBody>
          <a:bodyPr>
            <a:normAutofit/>
          </a:bodyPr>
          <a:lstStyle/>
          <a:p>
            <a:r>
              <a:rPr lang="en-US" b="1" dirty="0">
                <a:solidFill>
                  <a:schemeClr val="bg1"/>
                </a:solidFill>
                <a:latin typeface="Helvetica" pitchFamily="2" charset="0"/>
              </a:rPr>
              <a:t>2-6.</a:t>
            </a:r>
            <a:r>
              <a:rPr lang="en-US" b="1" dirty="0">
                <a:solidFill>
                  <a:schemeClr val="bg1"/>
                </a:solidFill>
                <a:latin typeface="Helvetica" pitchFamily="2" charset="0"/>
                <a:cs typeface="Times New Roman" panose="02020603050405020304" pitchFamily="18" charset="0"/>
              </a:rPr>
              <a:t> Fixed Asset Turnover</a:t>
            </a:r>
            <a:endParaRPr lang="en-US" b="1" dirty="0">
              <a:solidFill>
                <a:schemeClr val="bg1"/>
              </a:solidFill>
              <a:latin typeface="Helvetica" pitchFamily="2" charset="0"/>
            </a:endParaRPr>
          </a:p>
        </p:txBody>
      </p:sp>
      <p:grpSp>
        <p:nvGrpSpPr>
          <p:cNvPr id="18" name="Group 17">
            <a:extLst>
              <a:ext uri="{FF2B5EF4-FFF2-40B4-BE49-F238E27FC236}">
                <a16:creationId xmlns:a16="http://schemas.microsoft.com/office/drawing/2014/main" id="{362D3729-BCE0-7EE3-CFBF-52DAE16B5317}"/>
              </a:ext>
            </a:extLst>
          </p:cNvPr>
          <p:cNvGrpSpPr/>
          <p:nvPr/>
        </p:nvGrpSpPr>
        <p:grpSpPr>
          <a:xfrm>
            <a:off x="429342" y="3046514"/>
            <a:ext cx="6209997" cy="998901"/>
            <a:chOff x="876102" y="3069563"/>
            <a:chExt cx="6515582" cy="998901"/>
          </a:xfrm>
        </p:grpSpPr>
        <p:sp>
          <p:nvSpPr>
            <p:cNvPr id="10" name="TextBox 9">
              <a:extLst>
                <a:ext uri="{FF2B5EF4-FFF2-40B4-BE49-F238E27FC236}">
                  <a16:creationId xmlns:a16="http://schemas.microsoft.com/office/drawing/2014/main" id="{F2AC1228-9A5F-9460-6F38-930C149390A7}"/>
                </a:ext>
              </a:extLst>
            </p:cNvPr>
            <p:cNvSpPr txBox="1">
              <a:spLocks/>
            </p:cNvSpPr>
            <p:nvPr/>
          </p:nvSpPr>
          <p:spPr>
            <a:xfrm>
              <a:off x="876102" y="3315326"/>
              <a:ext cx="3043782" cy="430887"/>
            </a:xfrm>
            <a:prstGeom prst="rect">
              <a:avLst/>
            </a:prstGeom>
            <a:noFill/>
          </p:spPr>
          <p:txBody>
            <a:bodyPr wrap="none" rtlCol="0">
              <a:spAutoFit/>
            </a:bodyPr>
            <a:lstStyle/>
            <a:p>
              <a:pPr algn="ctr"/>
              <a:r>
                <a:rPr lang="en-US" sz="2200" b="1" dirty="0">
                  <a:solidFill>
                    <a:srgbClr val="C00000"/>
                  </a:solidFill>
                  <a:latin typeface="Helvetica" pitchFamily="2" charset="0"/>
                  <a:cs typeface="Times New Roman" panose="02020603050405020304" pitchFamily="18" charset="0"/>
                </a:rPr>
                <a:t>Fixed Asset Turnover</a:t>
              </a:r>
            </a:p>
          </p:txBody>
        </p:sp>
        <p:sp>
          <p:nvSpPr>
            <p:cNvPr id="11" name="TextBox 10">
              <a:extLst>
                <a:ext uri="{FF2B5EF4-FFF2-40B4-BE49-F238E27FC236}">
                  <a16:creationId xmlns:a16="http://schemas.microsoft.com/office/drawing/2014/main" id="{AC9B5FCA-F748-050B-ADAC-3761155D7B33}"/>
                </a:ext>
              </a:extLst>
            </p:cNvPr>
            <p:cNvSpPr txBox="1"/>
            <p:nvPr/>
          </p:nvSpPr>
          <p:spPr>
            <a:xfrm>
              <a:off x="4074199" y="3321852"/>
              <a:ext cx="297455" cy="430887"/>
            </a:xfrm>
            <a:prstGeom prst="rect">
              <a:avLst/>
            </a:prstGeom>
            <a:noFill/>
          </p:spPr>
          <p:txBody>
            <a:bodyPr wrap="square" rtlCol="0">
              <a:spAutoFit/>
            </a:bodyPr>
            <a:lstStyle/>
            <a:p>
              <a:r>
                <a:rPr lang="en-US" sz="2200" b="1" dirty="0">
                  <a:solidFill>
                    <a:srgbClr val="C00000"/>
                  </a:solidFill>
                </a:rPr>
                <a:t>=</a:t>
              </a:r>
            </a:p>
          </p:txBody>
        </p:sp>
        <p:sp>
          <p:nvSpPr>
            <p:cNvPr id="12" name="TextBox 11">
              <a:extLst>
                <a:ext uri="{FF2B5EF4-FFF2-40B4-BE49-F238E27FC236}">
                  <a16:creationId xmlns:a16="http://schemas.microsoft.com/office/drawing/2014/main" id="{B7929D10-DCD2-E133-4B83-7C4F16C72BB7}"/>
                </a:ext>
              </a:extLst>
            </p:cNvPr>
            <p:cNvSpPr txBox="1">
              <a:spLocks/>
            </p:cNvSpPr>
            <p:nvPr/>
          </p:nvSpPr>
          <p:spPr>
            <a:xfrm>
              <a:off x="5189716" y="3069563"/>
              <a:ext cx="1527488" cy="430887"/>
            </a:xfrm>
            <a:prstGeom prst="rect">
              <a:avLst/>
            </a:prstGeom>
            <a:noFill/>
          </p:spPr>
          <p:txBody>
            <a:bodyPr wrap="none" rtlCol="0">
              <a:spAutoFit/>
            </a:bodyPr>
            <a:lstStyle/>
            <a:p>
              <a:pPr algn="ctr"/>
              <a:r>
                <a:rPr lang="en-US" sz="2200" b="1" dirty="0">
                  <a:solidFill>
                    <a:srgbClr val="C00000"/>
                  </a:solidFill>
                  <a:latin typeface="Helvetica" pitchFamily="2" charset="0"/>
                </a:rPr>
                <a:t>Net Sales</a:t>
              </a:r>
            </a:p>
          </p:txBody>
        </p:sp>
        <p:sp>
          <p:nvSpPr>
            <p:cNvPr id="13" name="TextBox 12">
              <a:extLst>
                <a:ext uri="{FF2B5EF4-FFF2-40B4-BE49-F238E27FC236}">
                  <a16:creationId xmlns:a16="http://schemas.microsoft.com/office/drawing/2014/main" id="{AF7CBF0C-4472-D86B-465D-1F8AF0CEFB65}"/>
                </a:ext>
              </a:extLst>
            </p:cNvPr>
            <p:cNvSpPr txBox="1">
              <a:spLocks/>
            </p:cNvSpPr>
            <p:nvPr/>
          </p:nvSpPr>
          <p:spPr>
            <a:xfrm>
              <a:off x="4627135" y="3637577"/>
              <a:ext cx="2652649" cy="430887"/>
            </a:xfrm>
            <a:prstGeom prst="rect">
              <a:avLst/>
            </a:prstGeom>
            <a:noFill/>
          </p:spPr>
          <p:txBody>
            <a:bodyPr wrap="none" rtlCol="0">
              <a:spAutoFit/>
            </a:bodyPr>
            <a:lstStyle/>
            <a:p>
              <a:pPr algn="ctr"/>
              <a:r>
                <a:rPr lang="en-US" sz="2200" b="1" dirty="0">
                  <a:solidFill>
                    <a:srgbClr val="C00000"/>
                  </a:solidFill>
                  <a:latin typeface="Helvetica" pitchFamily="2" charset="0"/>
                </a:rPr>
                <a:t>Total Fixed Assets</a:t>
              </a:r>
              <a:endParaRPr lang="en-US" sz="2200" b="1" dirty="0">
                <a:solidFill>
                  <a:srgbClr val="C00000"/>
                </a:solidFill>
              </a:endParaRPr>
            </a:p>
          </p:txBody>
        </p:sp>
        <p:cxnSp>
          <p:nvCxnSpPr>
            <p:cNvPr id="15" name="Straight Connector 14">
              <a:extLst>
                <a:ext uri="{FF2B5EF4-FFF2-40B4-BE49-F238E27FC236}">
                  <a16:creationId xmlns:a16="http://schemas.microsoft.com/office/drawing/2014/main" id="{23DEB75A-B8FC-AA1D-F6DC-D619A90E5024}"/>
                </a:ext>
              </a:extLst>
            </p:cNvPr>
            <p:cNvCxnSpPr>
              <a:cxnSpLocks/>
            </p:cNvCxnSpPr>
            <p:nvPr/>
          </p:nvCxnSpPr>
          <p:spPr>
            <a:xfrm>
              <a:off x="4515236" y="3546159"/>
              <a:ext cx="287644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5" name="TextBox 4">
            <a:extLst>
              <a:ext uri="{FF2B5EF4-FFF2-40B4-BE49-F238E27FC236}">
                <a16:creationId xmlns:a16="http://schemas.microsoft.com/office/drawing/2014/main" id="{F11D6A24-2BC5-0921-262F-9B426C06D514}"/>
              </a:ext>
            </a:extLst>
          </p:cNvPr>
          <p:cNvSpPr txBox="1"/>
          <p:nvPr/>
        </p:nvSpPr>
        <p:spPr>
          <a:xfrm>
            <a:off x="214289" y="1925679"/>
            <a:ext cx="11816429" cy="830997"/>
          </a:xfrm>
          <a:prstGeom prst="rect">
            <a:avLst/>
          </a:prstGeom>
          <a:noFill/>
        </p:spPr>
        <p:txBody>
          <a:bodyPr wrap="square" rtlCol="0">
            <a:spAutoFit/>
          </a:bodyPr>
          <a:lstStyle/>
          <a:p>
            <a:r>
              <a:rPr lang="en-US" sz="2400" dirty="0">
                <a:latin typeface="Helvetica" pitchFamily="2" charset="0"/>
              </a:rPr>
              <a:t>A company has total net sales of $ 3.6 billion and total fixed assets of $2.4 billion. What is the fixed asset turnover for this company? </a:t>
            </a:r>
          </a:p>
        </p:txBody>
      </p:sp>
      <p:sp>
        <p:nvSpPr>
          <p:cNvPr id="7" name="TextBox 6">
            <a:extLst>
              <a:ext uri="{FF2B5EF4-FFF2-40B4-BE49-F238E27FC236}">
                <a16:creationId xmlns:a16="http://schemas.microsoft.com/office/drawing/2014/main" id="{91420E55-C2D7-553F-1434-BE48993E6515}"/>
              </a:ext>
            </a:extLst>
          </p:cNvPr>
          <p:cNvSpPr txBox="1"/>
          <p:nvPr/>
        </p:nvSpPr>
        <p:spPr>
          <a:xfrm>
            <a:off x="302544" y="1430540"/>
            <a:ext cx="1691489" cy="461665"/>
          </a:xfrm>
          <a:prstGeom prst="rect">
            <a:avLst/>
          </a:prstGeom>
          <a:noFill/>
        </p:spPr>
        <p:txBody>
          <a:bodyPr wrap="none" rtlCol="0">
            <a:spAutoFit/>
          </a:bodyPr>
          <a:lstStyle/>
          <a:p>
            <a:r>
              <a:rPr lang="en-US" sz="2400" dirty="0">
                <a:latin typeface="Helvetica" pitchFamily="2" charset="0"/>
              </a:rPr>
              <a:t>Question-4</a:t>
            </a:r>
          </a:p>
        </p:txBody>
      </p:sp>
      <p:sp>
        <p:nvSpPr>
          <p:cNvPr id="14" name="TextBox 13">
            <a:extLst>
              <a:ext uri="{FF2B5EF4-FFF2-40B4-BE49-F238E27FC236}">
                <a16:creationId xmlns:a16="http://schemas.microsoft.com/office/drawing/2014/main" id="{1B3F44B3-5B07-7D1F-A3A4-C18EAF72773A}"/>
              </a:ext>
            </a:extLst>
          </p:cNvPr>
          <p:cNvSpPr txBox="1"/>
          <p:nvPr/>
        </p:nvSpPr>
        <p:spPr>
          <a:xfrm>
            <a:off x="6741086" y="3334890"/>
            <a:ext cx="283504" cy="430887"/>
          </a:xfrm>
          <a:prstGeom prst="rect">
            <a:avLst/>
          </a:prstGeom>
          <a:noFill/>
        </p:spPr>
        <p:txBody>
          <a:bodyPr wrap="square" rtlCol="0">
            <a:spAutoFit/>
          </a:bodyPr>
          <a:lstStyle/>
          <a:p>
            <a:r>
              <a:rPr lang="en-US" sz="2200" b="1" dirty="0">
                <a:solidFill>
                  <a:srgbClr val="C00000"/>
                </a:solidFill>
              </a:rPr>
              <a:t>=</a:t>
            </a:r>
          </a:p>
        </p:txBody>
      </p:sp>
      <p:sp>
        <p:nvSpPr>
          <p:cNvPr id="16" name="TextBox 15">
            <a:extLst>
              <a:ext uri="{FF2B5EF4-FFF2-40B4-BE49-F238E27FC236}">
                <a16:creationId xmlns:a16="http://schemas.microsoft.com/office/drawing/2014/main" id="{FA2A5B5A-9D47-3661-D5DF-D153B1017198}"/>
              </a:ext>
            </a:extLst>
          </p:cNvPr>
          <p:cNvSpPr txBox="1">
            <a:spLocks/>
          </p:cNvSpPr>
          <p:nvPr/>
        </p:nvSpPr>
        <p:spPr>
          <a:xfrm>
            <a:off x="7298142" y="3067083"/>
            <a:ext cx="1646605" cy="430887"/>
          </a:xfrm>
          <a:prstGeom prst="rect">
            <a:avLst/>
          </a:prstGeom>
          <a:noFill/>
        </p:spPr>
        <p:txBody>
          <a:bodyPr wrap="none" rtlCol="0">
            <a:spAutoFit/>
          </a:bodyPr>
          <a:lstStyle/>
          <a:p>
            <a:pPr algn="ctr"/>
            <a:r>
              <a:rPr lang="en-US" sz="2200" b="1" dirty="0">
                <a:solidFill>
                  <a:srgbClr val="C00000"/>
                </a:solidFill>
                <a:latin typeface="Helvetica" pitchFamily="2" charset="0"/>
              </a:rPr>
              <a:t>$3.6 billion</a:t>
            </a:r>
          </a:p>
        </p:txBody>
      </p:sp>
      <p:sp>
        <p:nvSpPr>
          <p:cNvPr id="17" name="TextBox 16">
            <a:extLst>
              <a:ext uri="{FF2B5EF4-FFF2-40B4-BE49-F238E27FC236}">
                <a16:creationId xmlns:a16="http://schemas.microsoft.com/office/drawing/2014/main" id="{7029BDA4-60B6-8742-8AED-A62B92C41AF6}"/>
              </a:ext>
            </a:extLst>
          </p:cNvPr>
          <p:cNvSpPr txBox="1">
            <a:spLocks/>
          </p:cNvSpPr>
          <p:nvPr/>
        </p:nvSpPr>
        <p:spPr>
          <a:xfrm>
            <a:off x="7298143" y="3635097"/>
            <a:ext cx="1646605" cy="430887"/>
          </a:xfrm>
          <a:prstGeom prst="rect">
            <a:avLst/>
          </a:prstGeom>
          <a:noFill/>
        </p:spPr>
        <p:txBody>
          <a:bodyPr wrap="none" rtlCol="0">
            <a:spAutoFit/>
          </a:bodyPr>
          <a:lstStyle/>
          <a:p>
            <a:pPr algn="ctr"/>
            <a:r>
              <a:rPr lang="en-US" sz="2200" b="1" dirty="0">
                <a:solidFill>
                  <a:srgbClr val="C00000"/>
                </a:solidFill>
                <a:latin typeface="Helvetica" pitchFamily="2" charset="0"/>
              </a:rPr>
              <a:t>$2.4 billion</a:t>
            </a:r>
            <a:endParaRPr lang="en-US" sz="2200" b="1" dirty="0">
              <a:solidFill>
                <a:srgbClr val="C00000"/>
              </a:solidFill>
            </a:endParaRPr>
          </a:p>
        </p:txBody>
      </p:sp>
      <p:cxnSp>
        <p:nvCxnSpPr>
          <p:cNvPr id="19" name="Straight Connector 18">
            <a:extLst>
              <a:ext uri="{FF2B5EF4-FFF2-40B4-BE49-F238E27FC236}">
                <a16:creationId xmlns:a16="http://schemas.microsoft.com/office/drawing/2014/main" id="{7D661279-C5A6-E06D-59F7-E898CD49EF3A}"/>
              </a:ext>
            </a:extLst>
          </p:cNvPr>
          <p:cNvCxnSpPr>
            <a:cxnSpLocks/>
          </p:cNvCxnSpPr>
          <p:nvPr/>
        </p:nvCxnSpPr>
        <p:spPr>
          <a:xfrm>
            <a:off x="7161824" y="3523110"/>
            <a:ext cx="1929167"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597EEFF7-5722-794F-FCB8-6F075DB471DF}"/>
              </a:ext>
            </a:extLst>
          </p:cNvPr>
          <p:cNvSpPr txBox="1"/>
          <p:nvPr/>
        </p:nvSpPr>
        <p:spPr>
          <a:xfrm>
            <a:off x="9218299" y="3334890"/>
            <a:ext cx="283504" cy="430887"/>
          </a:xfrm>
          <a:prstGeom prst="rect">
            <a:avLst/>
          </a:prstGeom>
          <a:noFill/>
        </p:spPr>
        <p:txBody>
          <a:bodyPr wrap="square" rtlCol="0">
            <a:spAutoFit/>
          </a:bodyPr>
          <a:lstStyle/>
          <a:p>
            <a:r>
              <a:rPr lang="en-US" sz="2200" b="1" dirty="0">
                <a:solidFill>
                  <a:srgbClr val="C00000"/>
                </a:solidFill>
              </a:rPr>
              <a:t>=</a:t>
            </a:r>
          </a:p>
        </p:txBody>
      </p:sp>
      <p:sp>
        <p:nvSpPr>
          <p:cNvPr id="21" name="TextBox 20">
            <a:extLst>
              <a:ext uri="{FF2B5EF4-FFF2-40B4-BE49-F238E27FC236}">
                <a16:creationId xmlns:a16="http://schemas.microsoft.com/office/drawing/2014/main" id="{97F5608F-7285-08B1-6DC8-9F5270493D07}"/>
              </a:ext>
            </a:extLst>
          </p:cNvPr>
          <p:cNvSpPr txBox="1">
            <a:spLocks/>
          </p:cNvSpPr>
          <p:nvPr/>
        </p:nvSpPr>
        <p:spPr>
          <a:xfrm>
            <a:off x="9550113" y="3315562"/>
            <a:ext cx="612668" cy="461665"/>
          </a:xfrm>
          <a:prstGeom prst="rect">
            <a:avLst/>
          </a:prstGeom>
          <a:noFill/>
        </p:spPr>
        <p:txBody>
          <a:bodyPr wrap="none" rtlCol="0">
            <a:spAutoFit/>
          </a:bodyPr>
          <a:lstStyle/>
          <a:p>
            <a:pPr algn="ctr"/>
            <a:r>
              <a:rPr lang="en-US" sz="2400" b="1" dirty="0">
                <a:solidFill>
                  <a:srgbClr val="C00000"/>
                </a:solidFill>
                <a:latin typeface="Helvetica" pitchFamily="2" charset="0"/>
              </a:rPr>
              <a:t>1.5</a:t>
            </a:r>
          </a:p>
        </p:txBody>
      </p:sp>
      <p:sp>
        <p:nvSpPr>
          <p:cNvPr id="25" name="TextBox 24">
            <a:extLst>
              <a:ext uri="{FF2B5EF4-FFF2-40B4-BE49-F238E27FC236}">
                <a16:creationId xmlns:a16="http://schemas.microsoft.com/office/drawing/2014/main" id="{725DC3FB-CD89-9B48-EFDB-D085FC025B0B}"/>
              </a:ext>
            </a:extLst>
          </p:cNvPr>
          <p:cNvSpPr txBox="1"/>
          <p:nvPr/>
        </p:nvSpPr>
        <p:spPr>
          <a:xfrm>
            <a:off x="302544" y="4265291"/>
            <a:ext cx="11792592" cy="830997"/>
          </a:xfrm>
          <a:prstGeom prst="rect">
            <a:avLst/>
          </a:prstGeom>
          <a:noFill/>
        </p:spPr>
        <p:txBody>
          <a:bodyPr wrap="square" rtlCol="0">
            <a:spAutoFit/>
          </a:bodyPr>
          <a:lstStyle/>
          <a:p>
            <a:r>
              <a:rPr lang="en-US" sz="2400" dirty="0">
                <a:latin typeface="Helvetica" pitchFamily="2" charset="0"/>
              </a:rPr>
              <a:t>For every $1 invested in fixed assets, the company generates $1.50 in sales during the period (usually a year).</a:t>
            </a:r>
          </a:p>
        </p:txBody>
      </p:sp>
    </p:spTree>
    <p:extLst>
      <p:ext uri="{BB962C8B-B14F-4D97-AF65-F5344CB8AC3E}">
        <p14:creationId xmlns:p14="http://schemas.microsoft.com/office/powerpoint/2010/main" val="709750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P spid="20" grpId="0"/>
      <p:bldP spid="21" grpId="0"/>
      <p:bldP spid="2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C7E72-E753-C961-EDFE-077D7436621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7B23DF6-4107-3D1D-85A3-6B08F54E2081}"/>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A240E8-EDC6-5C9B-5917-493C1F92DE2A}"/>
              </a:ext>
            </a:extLst>
          </p:cNvPr>
          <p:cNvSpPr>
            <a:spLocks noGrp="1"/>
          </p:cNvSpPr>
          <p:nvPr>
            <p:ph type="title"/>
          </p:nvPr>
        </p:nvSpPr>
        <p:spPr>
          <a:xfrm>
            <a:off x="419559" y="192063"/>
            <a:ext cx="10515600" cy="982663"/>
          </a:xfrm>
        </p:spPr>
        <p:txBody>
          <a:bodyPr>
            <a:normAutofit/>
          </a:bodyPr>
          <a:lstStyle/>
          <a:p>
            <a:r>
              <a:rPr lang="en-US" b="1" dirty="0">
                <a:solidFill>
                  <a:schemeClr val="bg1"/>
                </a:solidFill>
                <a:latin typeface="Helvetica" pitchFamily="2" charset="0"/>
              </a:rPr>
              <a:t>2-7.</a:t>
            </a:r>
            <a:r>
              <a:rPr lang="en-US" b="1" dirty="0">
                <a:solidFill>
                  <a:schemeClr val="bg1"/>
                </a:solidFill>
                <a:latin typeface="Helvetica" pitchFamily="2" charset="0"/>
                <a:cs typeface="Times New Roman" panose="02020603050405020304" pitchFamily="18" charset="0"/>
              </a:rPr>
              <a:t> Total Asset Turnover</a:t>
            </a:r>
            <a:endParaRPr lang="en-US" b="1" dirty="0">
              <a:solidFill>
                <a:schemeClr val="bg1"/>
              </a:solidFill>
              <a:latin typeface="Helvetica" pitchFamily="2" charset="0"/>
            </a:endParaRPr>
          </a:p>
        </p:txBody>
      </p:sp>
      <p:grpSp>
        <p:nvGrpSpPr>
          <p:cNvPr id="18" name="Group 17">
            <a:extLst>
              <a:ext uri="{FF2B5EF4-FFF2-40B4-BE49-F238E27FC236}">
                <a16:creationId xmlns:a16="http://schemas.microsoft.com/office/drawing/2014/main" id="{FE6025A1-12D9-2FEC-6CD7-4FD8C539FD1C}"/>
              </a:ext>
            </a:extLst>
          </p:cNvPr>
          <p:cNvGrpSpPr/>
          <p:nvPr/>
        </p:nvGrpSpPr>
        <p:grpSpPr>
          <a:xfrm>
            <a:off x="2032897" y="1523691"/>
            <a:ext cx="7736717" cy="1057627"/>
            <a:chOff x="795119" y="2998727"/>
            <a:chExt cx="7736717" cy="1057627"/>
          </a:xfrm>
        </p:grpSpPr>
        <p:sp>
          <p:nvSpPr>
            <p:cNvPr id="10" name="TextBox 9">
              <a:extLst>
                <a:ext uri="{FF2B5EF4-FFF2-40B4-BE49-F238E27FC236}">
                  <a16:creationId xmlns:a16="http://schemas.microsoft.com/office/drawing/2014/main" id="{40DFA77D-7ADE-B7DE-3CF5-F73600973EF4}"/>
                </a:ext>
              </a:extLst>
            </p:cNvPr>
            <p:cNvSpPr txBox="1">
              <a:spLocks/>
            </p:cNvSpPr>
            <p:nvPr/>
          </p:nvSpPr>
          <p:spPr>
            <a:xfrm>
              <a:off x="795119" y="3315326"/>
              <a:ext cx="3205750"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Total Asset Turnover</a:t>
              </a:r>
            </a:p>
          </p:txBody>
        </p:sp>
        <p:sp>
          <p:nvSpPr>
            <p:cNvPr id="11" name="TextBox 10">
              <a:extLst>
                <a:ext uri="{FF2B5EF4-FFF2-40B4-BE49-F238E27FC236}">
                  <a16:creationId xmlns:a16="http://schemas.microsoft.com/office/drawing/2014/main" id="{55039AD7-8498-FE98-E5DA-3192B701F7DB}"/>
                </a:ext>
              </a:extLst>
            </p:cNvPr>
            <p:cNvSpPr txBox="1"/>
            <p:nvPr/>
          </p:nvSpPr>
          <p:spPr>
            <a:xfrm>
              <a:off x="4074199"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12" name="TextBox 11">
              <a:extLst>
                <a:ext uri="{FF2B5EF4-FFF2-40B4-BE49-F238E27FC236}">
                  <a16:creationId xmlns:a16="http://schemas.microsoft.com/office/drawing/2014/main" id="{F96F5B9C-B5CB-685F-E9C5-19B3C0F78F91}"/>
                </a:ext>
              </a:extLst>
            </p:cNvPr>
            <p:cNvSpPr txBox="1">
              <a:spLocks/>
            </p:cNvSpPr>
            <p:nvPr/>
          </p:nvSpPr>
          <p:spPr>
            <a:xfrm>
              <a:off x="5751654" y="2998727"/>
              <a:ext cx="1571264" cy="461665"/>
            </a:xfrm>
            <a:prstGeom prst="rect">
              <a:avLst/>
            </a:prstGeom>
            <a:noFill/>
          </p:spPr>
          <p:txBody>
            <a:bodyPr wrap="none" rtlCol="0">
              <a:spAutoFit/>
            </a:bodyPr>
            <a:lstStyle/>
            <a:p>
              <a:pPr algn="ctr"/>
              <a:r>
                <a:rPr lang="en-US" sz="2400" b="1" dirty="0">
                  <a:solidFill>
                    <a:srgbClr val="C00000"/>
                  </a:solidFill>
                  <a:latin typeface="Helvetica" pitchFamily="2" charset="0"/>
                </a:rPr>
                <a:t>Net Sales</a:t>
              </a:r>
            </a:p>
          </p:txBody>
        </p:sp>
        <p:sp>
          <p:nvSpPr>
            <p:cNvPr id="13" name="TextBox 12">
              <a:extLst>
                <a:ext uri="{FF2B5EF4-FFF2-40B4-BE49-F238E27FC236}">
                  <a16:creationId xmlns:a16="http://schemas.microsoft.com/office/drawing/2014/main" id="{5C5DE292-0913-E3EE-EAB0-75F43F151BB8}"/>
                </a:ext>
              </a:extLst>
            </p:cNvPr>
            <p:cNvSpPr txBox="1">
              <a:spLocks/>
            </p:cNvSpPr>
            <p:nvPr/>
          </p:nvSpPr>
          <p:spPr>
            <a:xfrm>
              <a:off x="5546634" y="3594689"/>
              <a:ext cx="1981312" cy="461665"/>
            </a:xfrm>
            <a:prstGeom prst="rect">
              <a:avLst/>
            </a:prstGeom>
            <a:noFill/>
          </p:spPr>
          <p:txBody>
            <a:bodyPr wrap="none" rtlCol="0">
              <a:spAutoFit/>
            </a:bodyPr>
            <a:lstStyle/>
            <a:p>
              <a:pPr algn="ctr"/>
              <a:r>
                <a:rPr lang="en-US" sz="2400" b="1" dirty="0">
                  <a:solidFill>
                    <a:srgbClr val="C00000"/>
                  </a:solidFill>
                  <a:latin typeface="Helvetica" pitchFamily="2" charset="0"/>
                </a:rPr>
                <a:t>Total Assets</a:t>
              </a:r>
              <a:endParaRPr lang="en-US" sz="2400" b="1" dirty="0">
                <a:solidFill>
                  <a:srgbClr val="C00000"/>
                </a:solidFill>
              </a:endParaRPr>
            </a:p>
          </p:txBody>
        </p:sp>
        <p:cxnSp>
          <p:nvCxnSpPr>
            <p:cNvPr id="15" name="Straight Connector 14">
              <a:extLst>
                <a:ext uri="{FF2B5EF4-FFF2-40B4-BE49-F238E27FC236}">
                  <a16:creationId xmlns:a16="http://schemas.microsoft.com/office/drawing/2014/main" id="{EAAE1F82-5002-575D-47EC-F4D8F20C053D}"/>
                </a:ext>
              </a:extLst>
            </p:cNvPr>
            <p:cNvCxnSpPr>
              <a:cxnSpLocks/>
            </p:cNvCxnSpPr>
            <p:nvPr/>
          </p:nvCxnSpPr>
          <p:spPr>
            <a:xfrm>
              <a:off x="4515236" y="3546159"/>
              <a:ext cx="401660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 name="TextBox 2">
            <a:extLst>
              <a:ext uri="{FF2B5EF4-FFF2-40B4-BE49-F238E27FC236}">
                <a16:creationId xmlns:a16="http://schemas.microsoft.com/office/drawing/2014/main" id="{1D73D266-4604-5CF9-D2EE-3D8945220518}"/>
              </a:ext>
            </a:extLst>
          </p:cNvPr>
          <p:cNvSpPr txBox="1"/>
          <p:nvPr/>
        </p:nvSpPr>
        <p:spPr>
          <a:xfrm>
            <a:off x="189983" y="2940952"/>
            <a:ext cx="11679514" cy="592726"/>
          </a:xfrm>
          <a:prstGeom prst="rect">
            <a:avLst/>
          </a:prstGeom>
          <a:noFill/>
        </p:spPr>
        <p:txBody>
          <a:bodyPr wrap="square" rtlCol="0">
            <a:spAutoFit/>
          </a:bodyPr>
          <a:lstStyle/>
          <a:p>
            <a:pPr marL="342900" indent="-342900">
              <a:lnSpc>
                <a:spcPct val="150000"/>
              </a:lnSpc>
              <a:spcBef>
                <a:spcPts val="600"/>
              </a:spcBef>
              <a:spcAft>
                <a:spcPts val="600"/>
              </a:spcAft>
              <a:buFont typeface="Arial" panose="020B0604020202020204" pitchFamily="34" charset="0"/>
              <a:buChar char="•"/>
            </a:pPr>
            <a:r>
              <a:rPr lang="en-US" sz="2400" dirty="0">
                <a:latin typeface="Helvetica" pitchFamily="2" charset="0"/>
                <a:cs typeface="Times New Roman" panose="02020603050405020304" pitchFamily="18" charset="0"/>
              </a:rPr>
              <a:t>Measures how effectively a company is using its total assets to generate sales. </a:t>
            </a:r>
          </a:p>
        </p:txBody>
      </p:sp>
      <p:sp>
        <p:nvSpPr>
          <p:cNvPr id="8" name="TextBox 7">
            <a:extLst>
              <a:ext uri="{FF2B5EF4-FFF2-40B4-BE49-F238E27FC236}">
                <a16:creationId xmlns:a16="http://schemas.microsoft.com/office/drawing/2014/main" id="{CA2096CD-765B-F39B-E8E5-529D5B8491FA}"/>
              </a:ext>
            </a:extLst>
          </p:cNvPr>
          <p:cNvSpPr txBox="1"/>
          <p:nvPr/>
        </p:nvSpPr>
        <p:spPr>
          <a:xfrm>
            <a:off x="189982" y="5129719"/>
            <a:ext cx="11935757" cy="1354217"/>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400" dirty="0">
                <a:latin typeface="Helvetica" pitchFamily="2" charset="0"/>
                <a:cs typeface="Times New Roman" panose="02020603050405020304" pitchFamily="18" charset="0"/>
              </a:rPr>
              <a:t>This ratio is crucial for understanding overall asset efficiency. </a:t>
            </a:r>
          </a:p>
          <a:p>
            <a:pPr marL="342900" indent="-342900">
              <a:spcBef>
                <a:spcPts val="600"/>
              </a:spcBef>
              <a:spcAft>
                <a:spcPts val="600"/>
              </a:spcAft>
              <a:buFont typeface="Arial" panose="020B0604020202020204" pitchFamily="34" charset="0"/>
              <a:buChar char="•"/>
            </a:pPr>
            <a:r>
              <a:rPr lang="en-US" sz="2400" dirty="0">
                <a:latin typeface="Helvetica" pitchFamily="2" charset="0"/>
                <a:cs typeface="Times New Roman" panose="02020603050405020304" pitchFamily="18" charset="0"/>
              </a:rPr>
              <a:t>A low Total Assets Turnover Ratio may signal the need for better asset management or a reassessment of investment strategies.</a:t>
            </a:r>
          </a:p>
        </p:txBody>
      </p:sp>
      <p:sp>
        <p:nvSpPr>
          <p:cNvPr id="5" name="TextBox 4">
            <a:extLst>
              <a:ext uri="{FF2B5EF4-FFF2-40B4-BE49-F238E27FC236}">
                <a16:creationId xmlns:a16="http://schemas.microsoft.com/office/drawing/2014/main" id="{1CC9FC31-264A-638E-8059-95C51E05FBB4}"/>
              </a:ext>
            </a:extLst>
          </p:cNvPr>
          <p:cNvSpPr txBox="1"/>
          <p:nvPr/>
        </p:nvSpPr>
        <p:spPr>
          <a:xfrm>
            <a:off x="189983" y="3810184"/>
            <a:ext cx="11427738" cy="984885"/>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400" dirty="0">
                <a:latin typeface="Helvetica" pitchFamily="2" charset="0"/>
              </a:rPr>
              <a:t>Higher Ratio: The firm is using its total assets more efficiently to generate sales.</a:t>
            </a:r>
          </a:p>
          <a:p>
            <a:pPr marL="342900" indent="-342900">
              <a:spcBef>
                <a:spcPts val="600"/>
              </a:spcBef>
              <a:spcAft>
                <a:spcPts val="600"/>
              </a:spcAft>
              <a:buFont typeface="Arial" panose="020B0604020202020204" pitchFamily="34" charset="0"/>
              <a:buChar char="•"/>
            </a:pPr>
            <a:r>
              <a:rPr lang="en-US" sz="2400" dirty="0">
                <a:latin typeface="Helvetica" pitchFamily="2" charset="0"/>
              </a:rPr>
              <a:t>Lower Ratio: Underutilization of total assets or a need for asset replacement. </a:t>
            </a:r>
          </a:p>
        </p:txBody>
      </p:sp>
    </p:spTree>
    <p:extLst>
      <p:ext uri="{BB962C8B-B14F-4D97-AF65-F5344CB8AC3E}">
        <p14:creationId xmlns:p14="http://schemas.microsoft.com/office/powerpoint/2010/main" val="1676861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45076-BDA0-C94F-C8C0-BF10798479F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AF244A6-6F50-FB3C-0CEE-6498BAC76ACC}"/>
              </a:ext>
            </a:extLst>
          </p:cNvPr>
          <p:cNvSpPr/>
          <p:nvPr/>
        </p:nvSpPr>
        <p:spPr>
          <a:xfrm>
            <a:off x="0" y="-1"/>
            <a:ext cx="12192000" cy="1033494"/>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3777B2-9914-0BB3-72AC-B28BE2568ADF}"/>
              </a:ext>
            </a:extLst>
          </p:cNvPr>
          <p:cNvSpPr>
            <a:spLocks noGrp="1"/>
          </p:cNvSpPr>
          <p:nvPr>
            <p:ph type="title"/>
          </p:nvPr>
        </p:nvSpPr>
        <p:spPr>
          <a:xfrm>
            <a:off x="419559" y="59543"/>
            <a:ext cx="10515600" cy="982663"/>
          </a:xfrm>
        </p:spPr>
        <p:txBody>
          <a:bodyPr>
            <a:normAutofit/>
          </a:bodyPr>
          <a:lstStyle/>
          <a:p>
            <a:r>
              <a:rPr lang="en-US" b="1" dirty="0">
                <a:solidFill>
                  <a:schemeClr val="bg1"/>
                </a:solidFill>
                <a:latin typeface="Helvetica" pitchFamily="2" charset="0"/>
              </a:rPr>
              <a:t>2-7.</a:t>
            </a:r>
            <a:r>
              <a:rPr lang="en-US" b="1" dirty="0">
                <a:solidFill>
                  <a:schemeClr val="bg1"/>
                </a:solidFill>
                <a:latin typeface="Helvetica" pitchFamily="2" charset="0"/>
                <a:cs typeface="Times New Roman" panose="02020603050405020304" pitchFamily="18" charset="0"/>
              </a:rPr>
              <a:t> Total Asset Turnover</a:t>
            </a:r>
            <a:endParaRPr lang="en-US" b="1" dirty="0">
              <a:solidFill>
                <a:schemeClr val="bg1"/>
              </a:solidFill>
              <a:latin typeface="Helvetica" pitchFamily="2" charset="0"/>
            </a:endParaRPr>
          </a:p>
        </p:txBody>
      </p:sp>
      <p:grpSp>
        <p:nvGrpSpPr>
          <p:cNvPr id="18" name="Group 17">
            <a:extLst>
              <a:ext uri="{FF2B5EF4-FFF2-40B4-BE49-F238E27FC236}">
                <a16:creationId xmlns:a16="http://schemas.microsoft.com/office/drawing/2014/main" id="{054C766C-4290-8530-E89B-BF1A8AD8122A}"/>
              </a:ext>
            </a:extLst>
          </p:cNvPr>
          <p:cNvGrpSpPr/>
          <p:nvPr/>
        </p:nvGrpSpPr>
        <p:grpSpPr>
          <a:xfrm>
            <a:off x="1534259" y="2994417"/>
            <a:ext cx="5448428" cy="961397"/>
            <a:chOff x="1046855" y="3041208"/>
            <a:chExt cx="5448428" cy="961397"/>
          </a:xfrm>
        </p:grpSpPr>
        <p:sp>
          <p:nvSpPr>
            <p:cNvPr id="10" name="TextBox 9">
              <a:extLst>
                <a:ext uri="{FF2B5EF4-FFF2-40B4-BE49-F238E27FC236}">
                  <a16:creationId xmlns:a16="http://schemas.microsoft.com/office/drawing/2014/main" id="{D8FDB47A-1B4A-0F1F-8F58-3461E9BE2CC8}"/>
                </a:ext>
              </a:extLst>
            </p:cNvPr>
            <p:cNvSpPr txBox="1">
              <a:spLocks/>
            </p:cNvSpPr>
            <p:nvPr/>
          </p:nvSpPr>
          <p:spPr>
            <a:xfrm>
              <a:off x="1046855" y="3315326"/>
              <a:ext cx="2702278" cy="400110"/>
            </a:xfrm>
            <a:prstGeom prst="rect">
              <a:avLst/>
            </a:prstGeom>
            <a:noFill/>
          </p:spPr>
          <p:txBody>
            <a:bodyPr wrap="none" rtlCol="0">
              <a:spAutoFit/>
            </a:bodyPr>
            <a:lstStyle/>
            <a:p>
              <a:pPr algn="ctr"/>
              <a:r>
                <a:rPr lang="en-US" sz="2000" b="1" dirty="0">
                  <a:solidFill>
                    <a:schemeClr val="accent6">
                      <a:lumMod val="75000"/>
                    </a:schemeClr>
                  </a:solidFill>
                  <a:latin typeface="Helvetica" pitchFamily="2" charset="0"/>
                  <a:cs typeface="Times New Roman" panose="02020603050405020304" pitchFamily="18" charset="0"/>
                </a:rPr>
                <a:t>Total Asset Turnover</a:t>
              </a:r>
            </a:p>
          </p:txBody>
        </p:sp>
        <p:sp>
          <p:nvSpPr>
            <p:cNvPr id="11" name="TextBox 10">
              <a:extLst>
                <a:ext uri="{FF2B5EF4-FFF2-40B4-BE49-F238E27FC236}">
                  <a16:creationId xmlns:a16="http://schemas.microsoft.com/office/drawing/2014/main" id="{43C779E4-B442-4940-5057-B37D2244C91B}"/>
                </a:ext>
              </a:extLst>
            </p:cNvPr>
            <p:cNvSpPr txBox="1"/>
            <p:nvPr/>
          </p:nvSpPr>
          <p:spPr>
            <a:xfrm>
              <a:off x="3880229" y="3321852"/>
              <a:ext cx="297455" cy="400110"/>
            </a:xfrm>
            <a:prstGeom prst="rect">
              <a:avLst/>
            </a:prstGeom>
            <a:noFill/>
          </p:spPr>
          <p:txBody>
            <a:bodyPr wrap="square" rtlCol="0">
              <a:spAutoFit/>
            </a:bodyPr>
            <a:lstStyle/>
            <a:p>
              <a:r>
                <a:rPr lang="en-US" sz="2000" b="1" dirty="0">
                  <a:solidFill>
                    <a:schemeClr val="accent6">
                      <a:lumMod val="75000"/>
                    </a:schemeClr>
                  </a:solidFill>
                  <a:latin typeface="Helvetica" pitchFamily="2" charset="0"/>
                </a:rPr>
                <a:t>=</a:t>
              </a:r>
            </a:p>
          </p:txBody>
        </p:sp>
        <p:sp>
          <p:nvSpPr>
            <p:cNvPr id="12" name="TextBox 11">
              <a:extLst>
                <a:ext uri="{FF2B5EF4-FFF2-40B4-BE49-F238E27FC236}">
                  <a16:creationId xmlns:a16="http://schemas.microsoft.com/office/drawing/2014/main" id="{BD74F0AF-DDED-CA3D-C382-25A90BBE57EF}"/>
                </a:ext>
              </a:extLst>
            </p:cNvPr>
            <p:cNvSpPr txBox="1">
              <a:spLocks/>
            </p:cNvSpPr>
            <p:nvPr/>
          </p:nvSpPr>
          <p:spPr>
            <a:xfrm>
              <a:off x="4756347" y="3041208"/>
              <a:ext cx="1338828" cy="400110"/>
            </a:xfrm>
            <a:prstGeom prst="rect">
              <a:avLst/>
            </a:prstGeom>
            <a:noFill/>
          </p:spPr>
          <p:txBody>
            <a:bodyPr wrap="none" rtlCol="0">
              <a:spAutoFit/>
            </a:bodyPr>
            <a:lstStyle/>
            <a:p>
              <a:pPr algn="ctr"/>
              <a:r>
                <a:rPr lang="en-US" sz="2000" b="1" dirty="0">
                  <a:solidFill>
                    <a:schemeClr val="accent6">
                      <a:lumMod val="75000"/>
                    </a:schemeClr>
                  </a:solidFill>
                  <a:latin typeface="Helvetica" pitchFamily="2" charset="0"/>
                </a:rPr>
                <a:t>Net Sales</a:t>
              </a:r>
            </a:p>
          </p:txBody>
        </p:sp>
        <p:sp>
          <p:nvSpPr>
            <p:cNvPr id="13" name="TextBox 12">
              <a:extLst>
                <a:ext uri="{FF2B5EF4-FFF2-40B4-BE49-F238E27FC236}">
                  <a16:creationId xmlns:a16="http://schemas.microsoft.com/office/drawing/2014/main" id="{B0A1F4C6-7F54-B113-04DD-4C71541B11B4}"/>
                </a:ext>
              </a:extLst>
            </p:cNvPr>
            <p:cNvSpPr txBox="1">
              <a:spLocks/>
            </p:cNvSpPr>
            <p:nvPr/>
          </p:nvSpPr>
          <p:spPr>
            <a:xfrm>
              <a:off x="4567851" y="3602495"/>
              <a:ext cx="1680845" cy="400110"/>
            </a:xfrm>
            <a:prstGeom prst="rect">
              <a:avLst/>
            </a:prstGeom>
            <a:noFill/>
          </p:spPr>
          <p:txBody>
            <a:bodyPr wrap="none" rtlCol="0">
              <a:spAutoFit/>
            </a:bodyPr>
            <a:lstStyle/>
            <a:p>
              <a:pPr algn="ctr"/>
              <a:r>
                <a:rPr lang="en-US" sz="2000" b="1" dirty="0">
                  <a:solidFill>
                    <a:schemeClr val="accent6">
                      <a:lumMod val="75000"/>
                    </a:schemeClr>
                  </a:solidFill>
                  <a:latin typeface="Helvetica" pitchFamily="2" charset="0"/>
                </a:rPr>
                <a:t>Total Assets</a:t>
              </a:r>
            </a:p>
          </p:txBody>
        </p:sp>
        <p:cxnSp>
          <p:nvCxnSpPr>
            <p:cNvPr id="15" name="Straight Connector 14">
              <a:extLst>
                <a:ext uri="{FF2B5EF4-FFF2-40B4-BE49-F238E27FC236}">
                  <a16:creationId xmlns:a16="http://schemas.microsoft.com/office/drawing/2014/main" id="{BA05B143-80A1-2BE6-305E-46A49E844BFB}"/>
                </a:ext>
              </a:extLst>
            </p:cNvPr>
            <p:cNvCxnSpPr>
              <a:cxnSpLocks/>
            </p:cNvCxnSpPr>
            <p:nvPr/>
          </p:nvCxnSpPr>
          <p:spPr>
            <a:xfrm>
              <a:off x="4321266" y="3546159"/>
              <a:ext cx="2174017"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7" name="TextBox 6">
            <a:extLst>
              <a:ext uri="{FF2B5EF4-FFF2-40B4-BE49-F238E27FC236}">
                <a16:creationId xmlns:a16="http://schemas.microsoft.com/office/drawing/2014/main" id="{F41E95F5-3DE7-F698-1D4C-780381EDE45A}"/>
              </a:ext>
            </a:extLst>
          </p:cNvPr>
          <p:cNvSpPr txBox="1"/>
          <p:nvPr/>
        </p:nvSpPr>
        <p:spPr>
          <a:xfrm>
            <a:off x="278297" y="1491590"/>
            <a:ext cx="11755648" cy="1432636"/>
          </a:xfrm>
          <a:prstGeom prst="rect">
            <a:avLst/>
          </a:prstGeom>
          <a:noFill/>
        </p:spPr>
        <p:txBody>
          <a:bodyPr wrap="square" rtlCol="0">
            <a:spAutoFit/>
          </a:bodyPr>
          <a:lstStyle/>
          <a:p>
            <a:pPr algn="just">
              <a:lnSpc>
                <a:spcPct val="150000"/>
              </a:lnSpc>
              <a:spcAft>
                <a:spcPts val="600"/>
              </a:spcAft>
            </a:pPr>
            <a:r>
              <a:rPr lang="en-US" sz="2000" dirty="0">
                <a:latin typeface="Helvetica" pitchFamily="2" charset="0"/>
                <a:cs typeface="Times New Roman" panose="02020603050405020304" pitchFamily="18" charset="0"/>
              </a:rPr>
              <a:t>Wie Corp's sales last year were $370,000, and its year-end total assets were $360,000. The average firm in </a:t>
            </a:r>
            <a:r>
              <a:rPr lang="en-US" sz="2000" b="1" dirty="0">
                <a:latin typeface="Helvetica" pitchFamily="2" charset="0"/>
                <a:cs typeface="Times New Roman" panose="02020603050405020304" pitchFamily="18" charset="0"/>
              </a:rPr>
              <a:t>the industry has a total assets turnover ratio (TATO) of 2.4</a:t>
            </a:r>
            <a:r>
              <a:rPr lang="en-US" sz="2000" dirty="0">
                <a:latin typeface="Helvetica" pitchFamily="2" charset="0"/>
                <a:cs typeface="Times New Roman" panose="02020603050405020304" pitchFamily="18" charset="0"/>
              </a:rPr>
              <a:t>. By how much must the assets be reduced to bring the TATO to the industry average, holding sales constant? </a:t>
            </a:r>
          </a:p>
        </p:txBody>
      </p:sp>
      <p:sp>
        <p:nvSpPr>
          <p:cNvPr id="9" name="TextBox 8">
            <a:extLst>
              <a:ext uri="{FF2B5EF4-FFF2-40B4-BE49-F238E27FC236}">
                <a16:creationId xmlns:a16="http://schemas.microsoft.com/office/drawing/2014/main" id="{4929A31F-F3A3-7AB8-2157-124B5071A07F}"/>
              </a:ext>
            </a:extLst>
          </p:cNvPr>
          <p:cNvSpPr txBox="1"/>
          <p:nvPr/>
        </p:nvSpPr>
        <p:spPr>
          <a:xfrm>
            <a:off x="475420" y="1136716"/>
            <a:ext cx="1843710" cy="400110"/>
          </a:xfrm>
          <a:prstGeom prst="rect">
            <a:avLst/>
          </a:prstGeom>
          <a:noFill/>
        </p:spPr>
        <p:txBody>
          <a:bodyPr wrap="square" rtlCol="0">
            <a:spAutoFit/>
          </a:bodyPr>
          <a:lstStyle/>
          <a:p>
            <a:r>
              <a:rPr lang="en-US" sz="2000" b="1" dirty="0">
                <a:latin typeface="Helvetica" pitchFamily="2" charset="0"/>
                <a:cs typeface="Times New Roman" panose="02020603050405020304" pitchFamily="18" charset="0"/>
              </a:rPr>
              <a:t>Question-5</a:t>
            </a:r>
          </a:p>
        </p:txBody>
      </p:sp>
      <p:sp>
        <p:nvSpPr>
          <p:cNvPr id="16" name="TextBox 15">
            <a:extLst>
              <a:ext uri="{FF2B5EF4-FFF2-40B4-BE49-F238E27FC236}">
                <a16:creationId xmlns:a16="http://schemas.microsoft.com/office/drawing/2014/main" id="{F9873A0F-72D7-E244-704A-3373AFEE4011}"/>
              </a:ext>
            </a:extLst>
          </p:cNvPr>
          <p:cNvSpPr txBox="1"/>
          <p:nvPr/>
        </p:nvSpPr>
        <p:spPr>
          <a:xfrm>
            <a:off x="7126268" y="3306001"/>
            <a:ext cx="297455" cy="400110"/>
          </a:xfrm>
          <a:prstGeom prst="rect">
            <a:avLst/>
          </a:prstGeom>
          <a:noFill/>
        </p:spPr>
        <p:txBody>
          <a:bodyPr wrap="square" rtlCol="0">
            <a:spAutoFit/>
          </a:bodyPr>
          <a:lstStyle/>
          <a:p>
            <a:r>
              <a:rPr lang="en-US" sz="2000" b="1" dirty="0">
                <a:solidFill>
                  <a:schemeClr val="accent6">
                    <a:lumMod val="75000"/>
                  </a:schemeClr>
                </a:solidFill>
                <a:latin typeface="Helvetica" pitchFamily="2" charset="0"/>
              </a:rPr>
              <a:t>=</a:t>
            </a:r>
          </a:p>
        </p:txBody>
      </p:sp>
      <p:sp>
        <p:nvSpPr>
          <p:cNvPr id="17" name="TextBox 16">
            <a:extLst>
              <a:ext uri="{FF2B5EF4-FFF2-40B4-BE49-F238E27FC236}">
                <a16:creationId xmlns:a16="http://schemas.microsoft.com/office/drawing/2014/main" id="{B641C2A7-0CD2-C9DD-A0CB-253BC1F65548}"/>
              </a:ext>
            </a:extLst>
          </p:cNvPr>
          <p:cNvSpPr txBox="1">
            <a:spLocks/>
          </p:cNvSpPr>
          <p:nvPr/>
        </p:nvSpPr>
        <p:spPr>
          <a:xfrm>
            <a:off x="7786393" y="2994417"/>
            <a:ext cx="1253869" cy="400110"/>
          </a:xfrm>
          <a:prstGeom prst="rect">
            <a:avLst/>
          </a:prstGeom>
          <a:noFill/>
        </p:spPr>
        <p:txBody>
          <a:bodyPr wrap="none" rtlCol="0">
            <a:spAutoFit/>
          </a:bodyPr>
          <a:lstStyle/>
          <a:p>
            <a:pPr algn="ctr"/>
            <a:r>
              <a:rPr lang="en-US" sz="2000" b="1" dirty="0">
                <a:solidFill>
                  <a:schemeClr val="accent6">
                    <a:lumMod val="75000"/>
                  </a:schemeClr>
                </a:solidFill>
                <a:latin typeface="Helvetica" pitchFamily="2" charset="0"/>
              </a:rPr>
              <a:t>$370,000</a:t>
            </a:r>
          </a:p>
        </p:txBody>
      </p:sp>
      <p:sp>
        <p:nvSpPr>
          <p:cNvPr id="19" name="TextBox 18">
            <a:extLst>
              <a:ext uri="{FF2B5EF4-FFF2-40B4-BE49-F238E27FC236}">
                <a16:creationId xmlns:a16="http://schemas.microsoft.com/office/drawing/2014/main" id="{2CB66CB9-5189-B0BA-1E21-31B7E1D4FFAC}"/>
              </a:ext>
            </a:extLst>
          </p:cNvPr>
          <p:cNvSpPr txBox="1">
            <a:spLocks/>
          </p:cNvSpPr>
          <p:nvPr/>
        </p:nvSpPr>
        <p:spPr>
          <a:xfrm>
            <a:off x="7782761" y="3555704"/>
            <a:ext cx="1253869" cy="400110"/>
          </a:xfrm>
          <a:prstGeom prst="rect">
            <a:avLst/>
          </a:prstGeom>
          <a:noFill/>
        </p:spPr>
        <p:txBody>
          <a:bodyPr wrap="none" rtlCol="0">
            <a:spAutoFit/>
          </a:bodyPr>
          <a:lstStyle/>
          <a:p>
            <a:pPr algn="ctr"/>
            <a:r>
              <a:rPr lang="en-US" sz="2000" b="1" dirty="0">
                <a:solidFill>
                  <a:schemeClr val="accent6">
                    <a:lumMod val="75000"/>
                  </a:schemeClr>
                </a:solidFill>
                <a:latin typeface="Helvetica" pitchFamily="2" charset="0"/>
              </a:rPr>
              <a:t>$360,000</a:t>
            </a:r>
          </a:p>
        </p:txBody>
      </p:sp>
      <p:cxnSp>
        <p:nvCxnSpPr>
          <p:cNvPr id="20" name="Straight Connector 19">
            <a:extLst>
              <a:ext uri="{FF2B5EF4-FFF2-40B4-BE49-F238E27FC236}">
                <a16:creationId xmlns:a16="http://schemas.microsoft.com/office/drawing/2014/main" id="{F9A34D0D-59EB-E2D0-8D80-8778BA868F02}"/>
              </a:ext>
            </a:extLst>
          </p:cNvPr>
          <p:cNvCxnSpPr>
            <a:cxnSpLocks/>
          </p:cNvCxnSpPr>
          <p:nvPr/>
        </p:nvCxnSpPr>
        <p:spPr>
          <a:xfrm>
            <a:off x="7599780" y="3499368"/>
            <a:ext cx="1613489"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CBBD9052-3A13-E912-3AD1-795FAC9F711E}"/>
              </a:ext>
            </a:extLst>
          </p:cNvPr>
          <p:cNvSpPr txBox="1"/>
          <p:nvPr/>
        </p:nvSpPr>
        <p:spPr>
          <a:xfrm>
            <a:off x="9244399" y="3275061"/>
            <a:ext cx="297455" cy="430887"/>
          </a:xfrm>
          <a:prstGeom prst="rect">
            <a:avLst/>
          </a:prstGeom>
          <a:noFill/>
        </p:spPr>
        <p:txBody>
          <a:bodyPr wrap="square" rtlCol="0">
            <a:spAutoFit/>
          </a:bodyPr>
          <a:lstStyle/>
          <a:p>
            <a:r>
              <a:rPr lang="en-US" sz="2200" b="1" dirty="0">
                <a:solidFill>
                  <a:schemeClr val="accent6">
                    <a:lumMod val="75000"/>
                  </a:schemeClr>
                </a:solidFill>
                <a:latin typeface="Helvetica" pitchFamily="2" charset="0"/>
              </a:rPr>
              <a:t>=</a:t>
            </a:r>
          </a:p>
        </p:txBody>
      </p:sp>
      <p:sp>
        <p:nvSpPr>
          <p:cNvPr id="23" name="TextBox 22">
            <a:extLst>
              <a:ext uri="{FF2B5EF4-FFF2-40B4-BE49-F238E27FC236}">
                <a16:creationId xmlns:a16="http://schemas.microsoft.com/office/drawing/2014/main" id="{1D01AAE3-9045-8836-6331-018E5C52AEDD}"/>
              </a:ext>
            </a:extLst>
          </p:cNvPr>
          <p:cNvSpPr txBox="1"/>
          <p:nvPr/>
        </p:nvSpPr>
        <p:spPr>
          <a:xfrm>
            <a:off x="9691488" y="3239290"/>
            <a:ext cx="784189" cy="461665"/>
          </a:xfrm>
          <a:prstGeom prst="rect">
            <a:avLst/>
          </a:prstGeom>
          <a:noFill/>
        </p:spPr>
        <p:txBody>
          <a:bodyPr wrap="none" rtlCol="0">
            <a:spAutoFit/>
          </a:bodyPr>
          <a:lstStyle/>
          <a:p>
            <a:r>
              <a:rPr lang="en-US" sz="2400" b="1" dirty="0">
                <a:solidFill>
                  <a:schemeClr val="accent6">
                    <a:lumMod val="75000"/>
                  </a:schemeClr>
                </a:solidFill>
                <a:latin typeface="Helvetica" pitchFamily="2" charset="0"/>
              </a:rPr>
              <a:t>1.03</a:t>
            </a:r>
          </a:p>
        </p:txBody>
      </p:sp>
      <p:grpSp>
        <p:nvGrpSpPr>
          <p:cNvPr id="24" name="Group 23">
            <a:extLst>
              <a:ext uri="{FF2B5EF4-FFF2-40B4-BE49-F238E27FC236}">
                <a16:creationId xmlns:a16="http://schemas.microsoft.com/office/drawing/2014/main" id="{FAB6DE81-ECC9-4502-554D-BBBA77B6908D}"/>
              </a:ext>
            </a:extLst>
          </p:cNvPr>
          <p:cNvGrpSpPr/>
          <p:nvPr/>
        </p:nvGrpSpPr>
        <p:grpSpPr>
          <a:xfrm>
            <a:off x="528121" y="4081097"/>
            <a:ext cx="5169825" cy="950107"/>
            <a:chOff x="2127727" y="3083276"/>
            <a:chExt cx="5169825" cy="950107"/>
          </a:xfrm>
        </p:grpSpPr>
        <p:sp>
          <p:nvSpPr>
            <p:cNvPr id="25" name="TextBox 24">
              <a:extLst>
                <a:ext uri="{FF2B5EF4-FFF2-40B4-BE49-F238E27FC236}">
                  <a16:creationId xmlns:a16="http://schemas.microsoft.com/office/drawing/2014/main" id="{BBB479DF-A62D-2055-4DE2-8FFEACC3CEA2}"/>
                </a:ext>
              </a:extLst>
            </p:cNvPr>
            <p:cNvSpPr txBox="1">
              <a:spLocks/>
            </p:cNvSpPr>
            <p:nvPr/>
          </p:nvSpPr>
          <p:spPr>
            <a:xfrm>
              <a:off x="2127727" y="3315326"/>
              <a:ext cx="540533" cy="400110"/>
            </a:xfrm>
            <a:prstGeom prst="rect">
              <a:avLst/>
            </a:prstGeom>
            <a:noFill/>
          </p:spPr>
          <p:txBody>
            <a:bodyPr wrap="none" rtlCol="0">
              <a:spAutoFit/>
            </a:bodyPr>
            <a:lstStyle/>
            <a:p>
              <a:pPr algn="ctr"/>
              <a:r>
                <a:rPr lang="en-US" sz="2000" b="1" dirty="0">
                  <a:solidFill>
                    <a:srgbClr val="0070C0"/>
                  </a:solidFill>
                  <a:latin typeface="Helvetica" pitchFamily="2" charset="0"/>
                  <a:cs typeface="Times New Roman" panose="02020603050405020304" pitchFamily="18" charset="0"/>
                </a:rPr>
                <a:t>2.4</a:t>
              </a:r>
            </a:p>
          </p:txBody>
        </p:sp>
        <p:sp>
          <p:nvSpPr>
            <p:cNvPr id="26" name="TextBox 25">
              <a:extLst>
                <a:ext uri="{FF2B5EF4-FFF2-40B4-BE49-F238E27FC236}">
                  <a16:creationId xmlns:a16="http://schemas.microsoft.com/office/drawing/2014/main" id="{28ACD1F7-3993-3537-6953-1DCB40FED238}"/>
                </a:ext>
              </a:extLst>
            </p:cNvPr>
            <p:cNvSpPr txBox="1"/>
            <p:nvPr/>
          </p:nvSpPr>
          <p:spPr>
            <a:xfrm>
              <a:off x="2661025" y="3321852"/>
              <a:ext cx="297455" cy="400110"/>
            </a:xfrm>
            <a:prstGeom prst="rect">
              <a:avLst/>
            </a:prstGeom>
            <a:noFill/>
          </p:spPr>
          <p:txBody>
            <a:bodyPr wrap="square" rtlCol="0">
              <a:spAutoFit/>
            </a:bodyPr>
            <a:lstStyle/>
            <a:p>
              <a:r>
                <a:rPr lang="en-US" sz="2000" b="1" dirty="0">
                  <a:solidFill>
                    <a:srgbClr val="0070C0"/>
                  </a:solidFill>
                  <a:latin typeface="Helvetica" pitchFamily="2" charset="0"/>
                </a:rPr>
                <a:t>=</a:t>
              </a:r>
            </a:p>
          </p:txBody>
        </p:sp>
        <p:sp>
          <p:nvSpPr>
            <p:cNvPr id="27" name="TextBox 26">
              <a:extLst>
                <a:ext uri="{FF2B5EF4-FFF2-40B4-BE49-F238E27FC236}">
                  <a16:creationId xmlns:a16="http://schemas.microsoft.com/office/drawing/2014/main" id="{12295D21-C5C8-34B2-601D-711EC3564261}"/>
                </a:ext>
              </a:extLst>
            </p:cNvPr>
            <p:cNvSpPr txBox="1">
              <a:spLocks/>
            </p:cNvSpPr>
            <p:nvPr/>
          </p:nvSpPr>
          <p:spPr>
            <a:xfrm>
              <a:off x="4562578" y="3083276"/>
              <a:ext cx="1253869" cy="400110"/>
            </a:xfrm>
            <a:prstGeom prst="rect">
              <a:avLst/>
            </a:prstGeom>
            <a:noFill/>
          </p:spPr>
          <p:txBody>
            <a:bodyPr wrap="none" rtlCol="0">
              <a:spAutoFit/>
            </a:bodyPr>
            <a:lstStyle/>
            <a:p>
              <a:pPr algn="ctr"/>
              <a:r>
                <a:rPr lang="en-US" sz="2000" b="1" dirty="0">
                  <a:solidFill>
                    <a:srgbClr val="0070C0"/>
                  </a:solidFill>
                  <a:latin typeface="Helvetica" pitchFamily="2" charset="0"/>
                </a:rPr>
                <a:t>$370,000</a:t>
              </a:r>
            </a:p>
          </p:txBody>
        </p:sp>
        <p:sp>
          <p:nvSpPr>
            <p:cNvPr id="28" name="TextBox 27">
              <a:extLst>
                <a:ext uri="{FF2B5EF4-FFF2-40B4-BE49-F238E27FC236}">
                  <a16:creationId xmlns:a16="http://schemas.microsoft.com/office/drawing/2014/main" id="{BC4C851F-3C72-8D85-9984-209D0837B188}"/>
                </a:ext>
              </a:extLst>
            </p:cNvPr>
            <p:cNvSpPr txBox="1">
              <a:spLocks/>
            </p:cNvSpPr>
            <p:nvPr/>
          </p:nvSpPr>
          <p:spPr>
            <a:xfrm>
              <a:off x="3091721" y="3633273"/>
              <a:ext cx="4205831" cy="400110"/>
            </a:xfrm>
            <a:prstGeom prst="rect">
              <a:avLst/>
            </a:prstGeom>
            <a:noFill/>
          </p:spPr>
          <p:txBody>
            <a:bodyPr wrap="none" rtlCol="0">
              <a:spAutoFit/>
            </a:bodyPr>
            <a:lstStyle/>
            <a:p>
              <a:pPr algn="ctr"/>
              <a:r>
                <a:rPr lang="en-US" sz="2000" b="1" dirty="0">
                  <a:solidFill>
                    <a:srgbClr val="0070C0"/>
                  </a:solidFill>
                  <a:latin typeface="Helvetica" pitchFamily="2" charset="0"/>
                </a:rPr>
                <a:t>Total Assets After Selling Excess</a:t>
              </a:r>
            </a:p>
          </p:txBody>
        </p:sp>
        <p:cxnSp>
          <p:nvCxnSpPr>
            <p:cNvPr id="29" name="Straight Connector 28">
              <a:extLst>
                <a:ext uri="{FF2B5EF4-FFF2-40B4-BE49-F238E27FC236}">
                  <a16:creationId xmlns:a16="http://schemas.microsoft.com/office/drawing/2014/main" id="{61440A73-FF47-62A1-6234-C42D383E31F9}"/>
                </a:ext>
              </a:extLst>
            </p:cNvPr>
            <p:cNvCxnSpPr>
              <a:cxnSpLocks/>
            </p:cNvCxnSpPr>
            <p:nvPr/>
          </p:nvCxnSpPr>
          <p:spPr>
            <a:xfrm>
              <a:off x="3102062" y="3546159"/>
              <a:ext cx="417490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1" name="TextBox 30">
            <a:extLst>
              <a:ext uri="{FF2B5EF4-FFF2-40B4-BE49-F238E27FC236}">
                <a16:creationId xmlns:a16="http://schemas.microsoft.com/office/drawing/2014/main" id="{03FDFBB2-EF05-E5B0-FEFC-FEF623C61F2D}"/>
              </a:ext>
            </a:extLst>
          </p:cNvPr>
          <p:cNvSpPr txBox="1"/>
          <p:nvPr/>
        </p:nvSpPr>
        <p:spPr>
          <a:xfrm>
            <a:off x="5954730" y="4341996"/>
            <a:ext cx="6127831" cy="461665"/>
          </a:xfrm>
          <a:prstGeom prst="rect">
            <a:avLst/>
          </a:prstGeom>
          <a:noFill/>
        </p:spPr>
        <p:txBody>
          <a:bodyPr wrap="none" rtlCol="0">
            <a:spAutoFit/>
          </a:bodyPr>
          <a:lstStyle/>
          <a:p>
            <a:r>
              <a:rPr lang="en-US" sz="2000" b="1" dirty="0">
                <a:solidFill>
                  <a:srgbClr val="0070C0"/>
                </a:solidFill>
                <a:latin typeface="Helvetica" pitchFamily="2" charset="0"/>
              </a:rPr>
              <a:t>Total Assets After Selling Excess = </a:t>
            </a:r>
            <a:r>
              <a:rPr lang="en-US" sz="2400" b="1" dirty="0">
                <a:solidFill>
                  <a:srgbClr val="0070C0"/>
                </a:solidFill>
                <a:latin typeface="Helvetica" pitchFamily="2" charset="0"/>
              </a:rPr>
              <a:t>$𝟏𝟓𝟒,𝟏𝟔𝟔.𝟕</a:t>
            </a:r>
            <a:endParaRPr lang="en-US" sz="2000" b="1" dirty="0">
              <a:solidFill>
                <a:srgbClr val="0070C0"/>
              </a:solidFill>
              <a:latin typeface="Helvetica" pitchFamily="2" charset="0"/>
            </a:endParaRPr>
          </a:p>
        </p:txBody>
      </p:sp>
      <p:sp>
        <p:nvSpPr>
          <p:cNvPr id="37" name="TextBox 36">
            <a:extLst>
              <a:ext uri="{FF2B5EF4-FFF2-40B4-BE49-F238E27FC236}">
                <a16:creationId xmlns:a16="http://schemas.microsoft.com/office/drawing/2014/main" id="{83517978-7DBF-70D3-0445-5E05FC5C8949}"/>
              </a:ext>
            </a:extLst>
          </p:cNvPr>
          <p:cNvSpPr txBox="1"/>
          <p:nvPr/>
        </p:nvSpPr>
        <p:spPr>
          <a:xfrm>
            <a:off x="419559" y="5405701"/>
            <a:ext cx="11361765" cy="1146724"/>
          </a:xfrm>
          <a:prstGeom prst="rect">
            <a:avLst/>
          </a:prstGeom>
          <a:noFill/>
        </p:spPr>
        <p:txBody>
          <a:bodyPr wrap="none" rtlCol="0">
            <a:spAutoFit/>
          </a:bodyPr>
          <a:lstStyle/>
          <a:p>
            <a:pPr algn="ctr">
              <a:lnSpc>
                <a:spcPct val="150000"/>
              </a:lnSpc>
            </a:pPr>
            <a:r>
              <a:rPr lang="en-US" sz="2400" b="1" dirty="0">
                <a:solidFill>
                  <a:schemeClr val="accent2">
                    <a:lumMod val="75000"/>
                  </a:schemeClr>
                </a:solidFill>
                <a:latin typeface="Helvetica" pitchFamily="2" charset="0"/>
              </a:rPr>
              <a:t>Reduction in assets = Total assets - Total Assets After selling excess assets,</a:t>
            </a:r>
          </a:p>
          <a:p>
            <a:pPr algn="ctr">
              <a:lnSpc>
                <a:spcPct val="150000"/>
              </a:lnSpc>
            </a:pPr>
            <a:r>
              <a:rPr lang="en-US" sz="2400" b="1" dirty="0">
                <a:solidFill>
                  <a:schemeClr val="accent2">
                    <a:lumMod val="75000"/>
                  </a:schemeClr>
                </a:solidFill>
                <a:latin typeface="Helvetica" pitchFamily="2" charset="0"/>
              </a:rPr>
              <a:t>Reduction in assets = $360,000 – $154,166.7 = $205,833.3</a:t>
            </a:r>
          </a:p>
        </p:txBody>
      </p:sp>
      <p:sp>
        <p:nvSpPr>
          <p:cNvPr id="39" name="TextBox 38">
            <a:extLst>
              <a:ext uri="{FF2B5EF4-FFF2-40B4-BE49-F238E27FC236}">
                <a16:creationId xmlns:a16="http://schemas.microsoft.com/office/drawing/2014/main" id="{8F5CB05A-6579-E871-105D-8CF9A4016D88}"/>
              </a:ext>
            </a:extLst>
          </p:cNvPr>
          <p:cNvSpPr txBox="1"/>
          <p:nvPr/>
        </p:nvSpPr>
        <p:spPr>
          <a:xfrm>
            <a:off x="5716333" y="4286576"/>
            <a:ext cx="269626" cy="461665"/>
          </a:xfrm>
          <a:prstGeom prst="rect">
            <a:avLst/>
          </a:prstGeom>
          <a:noFill/>
        </p:spPr>
        <p:txBody>
          <a:bodyPr wrap="none" rtlCol="0">
            <a:spAutoFit/>
          </a:bodyPr>
          <a:lstStyle/>
          <a:p>
            <a:r>
              <a:rPr lang="en-US" sz="2400" b="1" dirty="0">
                <a:solidFill>
                  <a:srgbClr val="0070C0"/>
                </a:solidFill>
                <a:latin typeface="Helvetica" pitchFamily="2" charset="0"/>
              </a:rPr>
              <a:t>,</a:t>
            </a:r>
          </a:p>
        </p:txBody>
      </p:sp>
    </p:spTree>
    <p:extLst>
      <p:ext uri="{BB962C8B-B14F-4D97-AF65-F5344CB8AC3E}">
        <p14:creationId xmlns:p14="http://schemas.microsoft.com/office/powerpoint/2010/main" val="1257477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9" grpId="0"/>
      <p:bldP spid="22" grpId="0"/>
      <p:bldP spid="23" grpId="0"/>
      <p:bldP spid="31" grpId="0"/>
      <p:bldP spid="37" grpId="0"/>
      <p:bldP spid="3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EDA72-69D9-7E0A-C9A0-C55E49611A9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CADCB15-D4EF-5108-79C2-7D02A49FC364}"/>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794D8D-BD58-BA0E-B6C9-84464CFA5301}"/>
              </a:ext>
            </a:extLst>
          </p:cNvPr>
          <p:cNvSpPr>
            <a:spLocks noGrp="1"/>
          </p:cNvSpPr>
          <p:nvPr>
            <p:ph type="title"/>
          </p:nvPr>
        </p:nvSpPr>
        <p:spPr>
          <a:xfrm>
            <a:off x="341970" y="192063"/>
            <a:ext cx="10515600" cy="982663"/>
          </a:xfrm>
        </p:spPr>
        <p:txBody>
          <a:bodyPr>
            <a:normAutofit fontScale="90000"/>
          </a:bodyPr>
          <a:lstStyle/>
          <a:p>
            <a:r>
              <a:rPr lang="en-US" b="1" dirty="0">
                <a:solidFill>
                  <a:schemeClr val="bg1"/>
                </a:solidFill>
                <a:latin typeface="Helvetica" pitchFamily="2" charset="0"/>
                <a:cs typeface="Times New Roman" panose="02020603050405020304" pitchFamily="18" charset="0"/>
              </a:rPr>
              <a:t>3- Debt Management Ratios </a:t>
            </a:r>
            <a:r>
              <a:rPr lang="en-US" sz="2600" b="1" dirty="0">
                <a:solidFill>
                  <a:schemeClr val="bg1"/>
                </a:solidFill>
                <a:latin typeface="Helvetica" pitchFamily="2" charset="0"/>
              </a:rPr>
              <a:t>(Also called Leverage or Solvency Ratios)</a:t>
            </a:r>
            <a:endParaRPr lang="en-US" b="1" dirty="0">
              <a:solidFill>
                <a:schemeClr val="bg1"/>
              </a:solidFill>
              <a:latin typeface="Helvetica" pitchFamily="2" charset="0"/>
            </a:endParaRPr>
          </a:p>
        </p:txBody>
      </p:sp>
      <p:sp>
        <p:nvSpPr>
          <p:cNvPr id="4" name="TextBox 3">
            <a:extLst>
              <a:ext uri="{FF2B5EF4-FFF2-40B4-BE49-F238E27FC236}">
                <a16:creationId xmlns:a16="http://schemas.microsoft.com/office/drawing/2014/main" id="{5936A979-4A6F-99B7-C8BB-BB2B2C5FD6DC}"/>
              </a:ext>
            </a:extLst>
          </p:cNvPr>
          <p:cNvSpPr txBox="1"/>
          <p:nvPr/>
        </p:nvSpPr>
        <p:spPr>
          <a:xfrm>
            <a:off x="187587" y="1562084"/>
            <a:ext cx="11816825" cy="923330"/>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200" dirty="0">
                <a:latin typeface="Helvetica" pitchFamily="2" charset="0"/>
              </a:rPr>
              <a:t>Debt management ratios evaluate how a company </a:t>
            </a:r>
            <a:r>
              <a:rPr lang="en-US" sz="2200" b="1" dirty="0">
                <a:latin typeface="Helvetica" pitchFamily="2" charset="0"/>
              </a:rPr>
              <a:t>finances its assets and operations</a:t>
            </a:r>
            <a:endParaRPr lang="en-US" sz="2200" dirty="0">
              <a:latin typeface="Helvetica" pitchFamily="2" charset="0"/>
            </a:endParaRPr>
          </a:p>
          <a:p>
            <a:pPr marL="342900" indent="-342900">
              <a:spcBef>
                <a:spcPts val="600"/>
              </a:spcBef>
              <a:spcAft>
                <a:spcPts val="600"/>
              </a:spcAft>
              <a:buFont typeface="Arial" panose="020B0604020202020204" pitchFamily="34" charset="0"/>
              <a:buChar char="•"/>
            </a:pPr>
            <a:r>
              <a:rPr lang="en-US" sz="2200" dirty="0">
                <a:latin typeface="Helvetica" pitchFamily="2" charset="0"/>
              </a:rPr>
              <a:t>They focus on the </a:t>
            </a:r>
            <a:r>
              <a:rPr lang="en-US" sz="2200" b="1" dirty="0">
                <a:latin typeface="Helvetica" pitchFamily="2" charset="0"/>
              </a:rPr>
              <a:t>use of debt relative to equity and earnings</a:t>
            </a:r>
            <a:endParaRPr lang="en-US" sz="2200" dirty="0">
              <a:latin typeface="Helvetica" pitchFamily="2" charset="0"/>
            </a:endParaRPr>
          </a:p>
        </p:txBody>
      </p:sp>
      <p:sp>
        <p:nvSpPr>
          <p:cNvPr id="15" name="TextBox 14">
            <a:extLst>
              <a:ext uri="{FF2B5EF4-FFF2-40B4-BE49-F238E27FC236}">
                <a16:creationId xmlns:a16="http://schemas.microsoft.com/office/drawing/2014/main" id="{88453C49-2AAD-4FDB-0E32-4D7014E8BE36}"/>
              </a:ext>
            </a:extLst>
          </p:cNvPr>
          <p:cNvSpPr txBox="1"/>
          <p:nvPr/>
        </p:nvSpPr>
        <p:spPr>
          <a:xfrm>
            <a:off x="187587" y="2613363"/>
            <a:ext cx="8913017" cy="2893100"/>
          </a:xfrm>
          <a:prstGeom prst="rect">
            <a:avLst/>
          </a:prstGeom>
          <a:noFill/>
        </p:spPr>
        <p:txBody>
          <a:bodyPr wrap="none" rtlCol="0">
            <a:spAutoFit/>
          </a:bodyPr>
          <a:lstStyle/>
          <a:p>
            <a:pPr marL="342900" indent="-342900">
              <a:spcBef>
                <a:spcPts val="600"/>
              </a:spcBef>
              <a:spcAft>
                <a:spcPts val="600"/>
              </a:spcAft>
              <a:buFont typeface="Arial" panose="020B0604020202020204" pitchFamily="34" charset="0"/>
              <a:buChar char="•"/>
            </a:pPr>
            <a:r>
              <a:rPr lang="en-US" sz="2200" b="1" dirty="0">
                <a:latin typeface="Helvetica" pitchFamily="2" charset="0"/>
              </a:rPr>
              <a:t>Why are these ratios important?</a:t>
            </a:r>
            <a:endParaRPr lang="en-US" sz="2200" dirty="0">
              <a:latin typeface="Helvetica" pitchFamily="2" charset="0"/>
            </a:endParaRPr>
          </a:p>
          <a:p>
            <a:pPr marL="800100" lvl="1" indent="-342900">
              <a:spcBef>
                <a:spcPts val="600"/>
              </a:spcBef>
              <a:spcAft>
                <a:spcPts val="600"/>
              </a:spcAft>
              <a:buFont typeface="Arial" panose="020B0604020202020204" pitchFamily="34" charset="0"/>
              <a:buChar char="•"/>
            </a:pPr>
            <a:r>
              <a:rPr lang="en-US" sz="2200" dirty="0">
                <a:latin typeface="Helvetica" pitchFamily="2" charset="0"/>
              </a:rPr>
              <a:t>Debt is a </a:t>
            </a:r>
            <a:r>
              <a:rPr lang="en-US" sz="2200" b="1" dirty="0">
                <a:latin typeface="Helvetica" pitchFamily="2" charset="0"/>
              </a:rPr>
              <a:t>fixed obligation</a:t>
            </a:r>
            <a:endParaRPr lang="en-US" sz="2200" dirty="0">
              <a:latin typeface="Helvetica" pitchFamily="2" charset="0"/>
            </a:endParaRPr>
          </a:p>
          <a:p>
            <a:pPr marL="1257300" lvl="2" indent="-342900">
              <a:spcBef>
                <a:spcPts val="600"/>
              </a:spcBef>
              <a:spcAft>
                <a:spcPts val="600"/>
              </a:spcAft>
              <a:buFont typeface="Arial" panose="020B0604020202020204" pitchFamily="34" charset="0"/>
              <a:buChar char="•"/>
            </a:pPr>
            <a:r>
              <a:rPr lang="en-US" sz="2200" dirty="0">
                <a:latin typeface="Helvetica" pitchFamily="2" charset="0"/>
              </a:rPr>
              <a:t>Interest and principal must be paid regardless of profitability</a:t>
            </a:r>
          </a:p>
          <a:p>
            <a:pPr marL="800100" lvl="1" indent="-342900">
              <a:spcBef>
                <a:spcPts val="600"/>
              </a:spcBef>
              <a:spcAft>
                <a:spcPts val="600"/>
              </a:spcAft>
              <a:buFont typeface="Arial" panose="020B0604020202020204" pitchFamily="34" charset="0"/>
              <a:buChar char="•"/>
            </a:pPr>
            <a:r>
              <a:rPr lang="en-US" sz="2200" dirty="0">
                <a:latin typeface="Helvetica" pitchFamily="2" charset="0"/>
              </a:rPr>
              <a:t>Excessive debt increases:</a:t>
            </a:r>
          </a:p>
          <a:p>
            <a:pPr marL="1257300" lvl="2" indent="-342900">
              <a:spcBef>
                <a:spcPts val="600"/>
              </a:spcBef>
              <a:spcAft>
                <a:spcPts val="600"/>
              </a:spcAft>
              <a:buFont typeface="Arial" panose="020B0604020202020204" pitchFamily="34" charset="0"/>
              <a:buChar char="•"/>
            </a:pPr>
            <a:r>
              <a:rPr lang="en-US" sz="2200" dirty="0">
                <a:latin typeface="Helvetica" pitchFamily="2" charset="0"/>
              </a:rPr>
              <a:t>Risk of financial distress</a:t>
            </a:r>
          </a:p>
          <a:p>
            <a:pPr marL="1257300" lvl="2" indent="-342900">
              <a:spcBef>
                <a:spcPts val="600"/>
              </a:spcBef>
              <a:spcAft>
                <a:spcPts val="600"/>
              </a:spcAft>
              <a:buFont typeface="Arial" panose="020B0604020202020204" pitchFamily="34" charset="0"/>
              <a:buChar char="•"/>
            </a:pPr>
            <a:r>
              <a:rPr lang="en-US" sz="2200" dirty="0">
                <a:latin typeface="Helvetica" pitchFamily="2" charset="0"/>
              </a:rPr>
              <a:t>Risk of bankruptcy</a:t>
            </a:r>
          </a:p>
        </p:txBody>
      </p:sp>
      <p:sp>
        <p:nvSpPr>
          <p:cNvPr id="17" name="TextBox 16">
            <a:extLst>
              <a:ext uri="{FF2B5EF4-FFF2-40B4-BE49-F238E27FC236}">
                <a16:creationId xmlns:a16="http://schemas.microsoft.com/office/drawing/2014/main" id="{D9D5ECC7-CE37-6DF2-D441-C6821D85BA7E}"/>
              </a:ext>
            </a:extLst>
          </p:cNvPr>
          <p:cNvSpPr txBox="1"/>
          <p:nvPr/>
        </p:nvSpPr>
        <p:spPr>
          <a:xfrm>
            <a:off x="187587" y="5506463"/>
            <a:ext cx="9832179" cy="923330"/>
          </a:xfrm>
          <a:prstGeom prst="rect">
            <a:avLst/>
          </a:prstGeom>
          <a:noFill/>
        </p:spPr>
        <p:txBody>
          <a:bodyPr wrap="none" rtlCol="0">
            <a:spAutoFit/>
          </a:bodyPr>
          <a:lstStyle/>
          <a:p>
            <a:pPr marL="342900" indent="-342900">
              <a:spcBef>
                <a:spcPts val="600"/>
              </a:spcBef>
              <a:spcAft>
                <a:spcPts val="600"/>
              </a:spcAft>
              <a:buFont typeface="Arial" panose="020B0604020202020204" pitchFamily="34" charset="0"/>
              <a:buChar char="•"/>
            </a:pPr>
            <a:r>
              <a:rPr lang="en-US" sz="2200" b="1" dirty="0">
                <a:latin typeface="Helvetica" pitchFamily="2" charset="0"/>
              </a:rPr>
              <a:t>The goal of debt management ratios:</a:t>
            </a:r>
            <a:endParaRPr lang="en-US" sz="2200" dirty="0">
              <a:latin typeface="Helvetica" pitchFamily="2" charset="0"/>
            </a:endParaRPr>
          </a:p>
          <a:p>
            <a:pPr marL="800100" lvl="1" indent="-342900">
              <a:spcBef>
                <a:spcPts val="600"/>
              </a:spcBef>
              <a:spcAft>
                <a:spcPts val="600"/>
              </a:spcAft>
              <a:buFont typeface="Arial" panose="020B0604020202020204" pitchFamily="34" charset="0"/>
              <a:buChar char="•"/>
            </a:pPr>
            <a:r>
              <a:rPr lang="en-US" sz="2200" dirty="0">
                <a:latin typeface="Helvetica" pitchFamily="2" charset="0"/>
              </a:rPr>
              <a:t>To determine whether the company’s </a:t>
            </a:r>
            <a:r>
              <a:rPr lang="en-US" sz="2200" b="1" dirty="0">
                <a:latin typeface="Helvetica" pitchFamily="2" charset="0"/>
              </a:rPr>
              <a:t>capital structure is sustainable</a:t>
            </a:r>
            <a:endParaRPr lang="en-US" dirty="0"/>
          </a:p>
        </p:txBody>
      </p:sp>
      <p:pic>
        <p:nvPicPr>
          <p:cNvPr id="19" name="Picture 18">
            <a:extLst>
              <a:ext uri="{FF2B5EF4-FFF2-40B4-BE49-F238E27FC236}">
                <a16:creationId xmlns:a16="http://schemas.microsoft.com/office/drawing/2014/main" id="{7A5EC124-63DF-7EDC-4219-E86583CCE58C}"/>
              </a:ext>
            </a:extLst>
          </p:cNvPr>
          <p:cNvPicPr>
            <a:picLocks noChangeAspect="1"/>
          </p:cNvPicPr>
          <p:nvPr/>
        </p:nvPicPr>
        <p:blipFill>
          <a:blip r:embed="rId2"/>
          <a:stretch>
            <a:fillRect/>
          </a:stretch>
        </p:blipFill>
        <p:spPr>
          <a:xfrm>
            <a:off x="9100604" y="2023749"/>
            <a:ext cx="2834640" cy="1619797"/>
          </a:xfrm>
          <a:prstGeom prst="rect">
            <a:avLst/>
          </a:prstGeom>
        </p:spPr>
      </p:pic>
    </p:spTree>
    <p:extLst>
      <p:ext uri="{BB962C8B-B14F-4D97-AF65-F5344CB8AC3E}">
        <p14:creationId xmlns:p14="http://schemas.microsoft.com/office/powerpoint/2010/main" val="2794274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6410A-4FF0-2109-EB2C-A494409A8A6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905B7E0-BB2E-A868-41A4-8C8D2DC6AB6A}"/>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5AF109-A23B-EE83-2E6A-C5FB10603393}"/>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3-1.Total Debt Ratio </a:t>
            </a:r>
          </a:p>
        </p:txBody>
      </p:sp>
      <p:sp>
        <p:nvSpPr>
          <p:cNvPr id="15" name="TextBox 14">
            <a:extLst>
              <a:ext uri="{FF2B5EF4-FFF2-40B4-BE49-F238E27FC236}">
                <a16:creationId xmlns:a16="http://schemas.microsoft.com/office/drawing/2014/main" id="{8DB71E5F-E77C-725B-AE2D-0E52F351C70B}"/>
              </a:ext>
            </a:extLst>
          </p:cNvPr>
          <p:cNvSpPr txBox="1"/>
          <p:nvPr/>
        </p:nvSpPr>
        <p:spPr>
          <a:xfrm>
            <a:off x="187587" y="2613363"/>
            <a:ext cx="11748251" cy="1169551"/>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000" dirty="0"/>
              <a:t>The </a:t>
            </a:r>
            <a:r>
              <a:rPr lang="en-US" sz="2000" b="1" dirty="0"/>
              <a:t>Total Debt Ratio</a:t>
            </a:r>
            <a:r>
              <a:rPr lang="en-US" sz="2000" dirty="0"/>
              <a:t> measures the </a:t>
            </a:r>
            <a:r>
              <a:rPr lang="en-US" sz="2000" b="1" dirty="0"/>
              <a:t>extent to which a firm’s assets are financed by debt rather than equity</a:t>
            </a:r>
            <a:r>
              <a:rPr lang="en-US" sz="2000" dirty="0"/>
              <a:t>.</a:t>
            </a:r>
          </a:p>
          <a:p>
            <a:pPr marL="342900" indent="-342900">
              <a:spcBef>
                <a:spcPts val="600"/>
              </a:spcBef>
              <a:spcAft>
                <a:spcPts val="600"/>
              </a:spcAft>
              <a:buFont typeface="Arial" panose="020B0604020202020204" pitchFamily="34" charset="0"/>
              <a:buChar char="•"/>
            </a:pPr>
            <a:r>
              <a:rPr lang="en-US" sz="2000" dirty="0"/>
              <a:t>It captures the firm’s </a:t>
            </a:r>
            <a:r>
              <a:rPr lang="en-US" sz="2000" b="1" dirty="0"/>
              <a:t>financial leverage</a:t>
            </a:r>
            <a:r>
              <a:rPr lang="en-US" sz="2000" dirty="0"/>
              <a:t> and </a:t>
            </a:r>
            <a:r>
              <a:rPr lang="en-US" sz="2000" b="1" dirty="0"/>
              <a:t>long-term solvency risk</a:t>
            </a:r>
            <a:r>
              <a:rPr lang="en-US" sz="2000" dirty="0"/>
              <a:t>.</a:t>
            </a:r>
            <a:endParaRPr lang="en-US" sz="2000" dirty="0">
              <a:latin typeface="Helvetica" pitchFamily="2" charset="0"/>
            </a:endParaRPr>
          </a:p>
        </p:txBody>
      </p:sp>
      <p:sp>
        <p:nvSpPr>
          <p:cNvPr id="17" name="TextBox 16">
            <a:extLst>
              <a:ext uri="{FF2B5EF4-FFF2-40B4-BE49-F238E27FC236}">
                <a16:creationId xmlns:a16="http://schemas.microsoft.com/office/drawing/2014/main" id="{D882C7DC-05E7-0B59-EB6A-7AA50CDE6F4B}"/>
              </a:ext>
            </a:extLst>
          </p:cNvPr>
          <p:cNvSpPr txBox="1"/>
          <p:nvPr/>
        </p:nvSpPr>
        <p:spPr>
          <a:xfrm>
            <a:off x="187587" y="4094322"/>
            <a:ext cx="5662512" cy="2246769"/>
          </a:xfrm>
          <a:prstGeom prst="rect">
            <a:avLst/>
          </a:prstGeom>
          <a:noFill/>
          <a:ln>
            <a:solidFill>
              <a:srgbClr val="A60086"/>
            </a:solidFill>
          </a:ln>
        </p:spPr>
        <p:txBody>
          <a:bodyPr wrap="none" rtlCol="0">
            <a:spAutoFit/>
          </a:bodyPr>
          <a:lstStyle/>
          <a:p>
            <a:pPr marL="342900" indent="-342900">
              <a:spcBef>
                <a:spcPts val="600"/>
              </a:spcBef>
              <a:spcAft>
                <a:spcPts val="600"/>
              </a:spcAft>
              <a:buFont typeface="Arial" panose="020B0604020202020204" pitchFamily="34" charset="0"/>
              <a:buChar char="•"/>
            </a:pPr>
            <a:r>
              <a:rPr lang="en-US" sz="2000" b="1" dirty="0">
                <a:solidFill>
                  <a:schemeClr val="accent5">
                    <a:lumMod val="75000"/>
                  </a:schemeClr>
                </a:solidFill>
              </a:rPr>
              <a:t>Higher Total Debt Ratio</a:t>
            </a:r>
            <a:endParaRPr lang="en-US" sz="2000" dirty="0">
              <a:solidFill>
                <a:schemeClr val="accent5">
                  <a:lumMod val="75000"/>
                </a:schemeClr>
              </a:solidFill>
            </a:endParaRPr>
          </a:p>
          <a:p>
            <a:pPr marL="800100" lvl="1" indent="-342900">
              <a:spcBef>
                <a:spcPts val="600"/>
              </a:spcBef>
              <a:spcAft>
                <a:spcPts val="600"/>
              </a:spcAft>
              <a:buFont typeface="Arial" panose="020B0604020202020204" pitchFamily="34" charset="0"/>
              <a:buChar char="•"/>
            </a:pPr>
            <a:r>
              <a:rPr lang="en-US" sz="2000" dirty="0">
                <a:solidFill>
                  <a:schemeClr val="accent5">
                    <a:lumMod val="75000"/>
                  </a:schemeClr>
                </a:solidFill>
              </a:rPr>
              <a:t>Larger share of assets financed with debt</a:t>
            </a:r>
          </a:p>
          <a:p>
            <a:pPr marL="800100" lvl="1" indent="-342900">
              <a:spcBef>
                <a:spcPts val="600"/>
              </a:spcBef>
              <a:spcAft>
                <a:spcPts val="600"/>
              </a:spcAft>
              <a:buFont typeface="Arial" panose="020B0604020202020204" pitchFamily="34" charset="0"/>
              <a:buChar char="•"/>
            </a:pPr>
            <a:r>
              <a:rPr lang="en-US" sz="2000" dirty="0">
                <a:solidFill>
                  <a:schemeClr val="accent5">
                    <a:lumMod val="75000"/>
                  </a:schemeClr>
                </a:solidFill>
              </a:rPr>
              <a:t>Higher interest repayment obligations</a:t>
            </a:r>
          </a:p>
          <a:p>
            <a:pPr marL="800100" lvl="1" indent="-342900">
              <a:spcBef>
                <a:spcPts val="600"/>
              </a:spcBef>
              <a:spcAft>
                <a:spcPts val="600"/>
              </a:spcAft>
              <a:buFont typeface="Arial" panose="020B0604020202020204" pitchFamily="34" charset="0"/>
              <a:buChar char="•"/>
            </a:pPr>
            <a:r>
              <a:rPr lang="en-US" sz="2000" dirty="0">
                <a:solidFill>
                  <a:schemeClr val="accent5">
                    <a:lumMod val="75000"/>
                  </a:schemeClr>
                </a:solidFill>
              </a:rPr>
              <a:t>Greater sensitivity to economic downturns</a:t>
            </a:r>
          </a:p>
          <a:p>
            <a:pPr marL="800100" lvl="1" indent="-342900">
              <a:spcBef>
                <a:spcPts val="600"/>
              </a:spcBef>
              <a:spcAft>
                <a:spcPts val="600"/>
              </a:spcAft>
              <a:buFont typeface="Arial" panose="020B0604020202020204" pitchFamily="34" charset="0"/>
              <a:buChar char="•"/>
            </a:pPr>
            <a:r>
              <a:rPr lang="en-US" sz="2000" b="1" dirty="0">
                <a:solidFill>
                  <a:schemeClr val="accent5">
                    <a:lumMod val="75000"/>
                  </a:schemeClr>
                </a:solidFill>
              </a:rPr>
              <a:t>Higher financial risk</a:t>
            </a:r>
            <a:endParaRPr lang="en-US" sz="2000" dirty="0">
              <a:solidFill>
                <a:schemeClr val="accent5">
                  <a:lumMod val="75000"/>
                </a:schemeClr>
              </a:solidFill>
            </a:endParaRPr>
          </a:p>
        </p:txBody>
      </p:sp>
      <p:sp>
        <p:nvSpPr>
          <p:cNvPr id="11" name="TextBox 10">
            <a:extLst>
              <a:ext uri="{FF2B5EF4-FFF2-40B4-BE49-F238E27FC236}">
                <a16:creationId xmlns:a16="http://schemas.microsoft.com/office/drawing/2014/main" id="{BC1FE81B-8461-7AA1-DA93-90DBB15AE4F4}"/>
              </a:ext>
            </a:extLst>
          </p:cNvPr>
          <p:cNvSpPr txBox="1"/>
          <p:nvPr/>
        </p:nvSpPr>
        <p:spPr>
          <a:xfrm>
            <a:off x="6061712" y="4094322"/>
            <a:ext cx="5633530" cy="2246769"/>
          </a:xfrm>
          <a:prstGeom prst="rect">
            <a:avLst/>
          </a:prstGeom>
          <a:noFill/>
          <a:ln>
            <a:solidFill>
              <a:srgbClr val="00B050"/>
            </a:solidFill>
          </a:ln>
        </p:spPr>
        <p:txBody>
          <a:bodyPr wrap="none" rtlCol="0">
            <a:spAutoFit/>
          </a:bodyPr>
          <a:lstStyle/>
          <a:p>
            <a:pPr marL="285750" indent="-285750">
              <a:spcBef>
                <a:spcPts val="600"/>
              </a:spcBef>
              <a:spcAft>
                <a:spcPts val="600"/>
              </a:spcAft>
              <a:buFont typeface="Arial" panose="020B0604020202020204" pitchFamily="34" charset="0"/>
              <a:buChar char="•"/>
            </a:pPr>
            <a:r>
              <a:rPr lang="en-US" sz="2000" b="1" dirty="0">
                <a:solidFill>
                  <a:schemeClr val="accent6">
                    <a:lumMod val="75000"/>
                  </a:schemeClr>
                </a:solidFill>
              </a:rPr>
              <a:t>Lower Total Debt Ratio</a:t>
            </a:r>
            <a:endParaRPr lang="en-US" sz="2000" dirty="0">
              <a:solidFill>
                <a:schemeClr val="accent6">
                  <a:lumMod val="75000"/>
                </a:schemeClr>
              </a:solidFill>
            </a:endParaRPr>
          </a:p>
          <a:p>
            <a:pPr marL="742950" lvl="1" indent="-285750">
              <a:spcBef>
                <a:spcPts val="600"/>
              </a:spcBef>
              <a:spcAft>
                <a:spcPts val="600"/>
              </a:spcAft>
              <a:buFont typeface="Arial" panose="020B0604020202020204" pitchFamily="34" charset="0"/>
              <a:buChar char="•"/>
            </a:pPr>
            <a:r>
              <a:rPr lang="en-US" sz="2000" dirty="0">
                <a:solidFill>
                  <a:schemeClr val="accent6">
                    <a:lumMod val="75000"/>
                  </a:schemeClr>
                </a:solidFill>
              </a:rPr>
              <a:t>Larger share of assets financed with equity</a:t>
            </a:r>
          </a:p>
          <a:p>
            <a:pPr marL="742950" lvl="1" indent="-285750">
              <a:spcBef>
                <a:spcPts val="600"/>
              </a:spcBef>
              <a:spcAft>
                <a:spcPts val="600"/>
              </a:spcAft>
              <a:buFont typeface="Arial" panose="020B0604020202020204" pitchFamily="34" charset="0"/>
              <a:buChar char="•"/>
            </a:pPr>
            <a:r>
              <a:rPr lang="en-US" sz="2000" dirty="0">
                <a:solidFill>
                  <a:schemeClr val="accent6">
                    <a:lumMod val="75000"/>
                  </a:schemeClr>
                </a:solidFill>
              </a:rPr>
              <a:t>Fewer fixed obligations</a:t>
            </a:r>
          </a:p>
          <a:p>
            <a:pPr marL="742950" lvl="1" indent="-285750">
              <a:spcBef>
                <a:spcPts val="600"/>
              </a:spcBef>
              <a:spcAft>
                <a:spcPts val="600"/>
              </a:spcAft>
              <a:buFont typeface="Arial" panose="020B0604020202020204" pitchFamily="34" charset="0"/>
              <a:buChar char="•"/>
            </a:pPr>
            <a:r>
              <a:rPr lang="en-US" sz="2000" dirty="0">
                <a:solidFill>
                  <a:schemeClr val="accent6">
                    <a:lumMod val="75000"/>
                  </a:schemeClr>
                </a:solidFill>
              </a:rPr>
              <a:t>Greater financial flexibility</a:t>
            </a:r>
          </a:p>
          <a:p>
            <a:pPr marL="742950" lvl="1" indent="-285750">
              <a:spcBef>
                <a:spcPts val="600"/>
              </a:spcBef>
              <a:spcAft>
                <a:spcPts val="600"/>
              </a:spcAft>
              <a:buFont typeface="Arial" panose="020B0604020202020204" pitchFamily="34" charset="0"/>
              <a:buChar char="•"/>
            </a:pPr>
            <a:r>
              <a:rPr lang="en-US" sz="2000" b="1" dirty="0">
                <a:solidFill>
                  <a:schemeClr val="accent6">
                    <a:lumMod val="75000"/>
                  </a:schemeClr>
                </a:solidFill>
              </a:rPr>
              <a:t>Lower financial risk</a:t>
            </a:r>
            <a:endParaRPr lang="en-US" sz="2000" dirty="0">
              <a:solidFill>
                <a:schemeClr val="accent6">
                  <a:lumMod val="75000"/>
                </a:schemeClr>
              </a:solidFill>
            </a:endParaRPr>
          </a:p>
        </p:txBody>
      </p:sp>
      <p:grpSp>
        <p:nvGrpSpPr>
          <p:cNvPr id="21" name="Group 20">
            <a:extLst>
              <a:ext uri="{FF2B5EF4-FFF2-40B4-BE49-F238E27FC236}">
                <a16:creationId xmlns:a16="http://schemas.microsoft.com/office/drawing/2014/main" id="{2E11105E-5FC1-1B77-A4D4-EE916F061C5B}"/>
              </a:ext>
            </a:extLst>
          </p:cNvPr>
          <p:cNvGrpSpPr/>
          <p:nvPr/>
        </p:nvGrpSpPr>
        <p:grpSpPr>
          <a:xfrm>
            <a:off x="1322872" y="1507906"/>
            <a:ext cx="9477680" cy="1035855"/>
            <a:chOff x="2333300" y="1545463"/>
            <a:chExt cx="9477680" cy="1035855"/>
          </a:xfrm>
        </p:grpSpPr>
        <p:grpSp>
          <p:nvGrpSpPr>
            <p:cNvPr id="3" name="Group 2">
              <a:extLst>
                <a:ext uri="{FF2B5EF4-FFF2-40B4-BE49-F238E27FC236}">
                  <a16:creationId xmlns:a16="http://schemas.microsoft.com/office/drawing/2014/main" id="{91CFCB81-84F9-8FC5-621B-037621D66749}"/>
                </a:ext>
              </a:extLst>
            </p:cNvPr>
            <p:cNvGrpSpPr/>
            <p:nvPr/>
          </p:nvGrpSpPr>
          <p:grpSpPr>
            <a:xfrm>
              <a:off x="2333300" y="1556349"/>
              <a:ext cx="6957597" cy="1024969"/>
              <a:chOff x="1095522" y="3031385"/>
              <a:chExt cx="6957597" cy="1024969"/>
            </a:xfrm>
          </p:grpSpPr>
          <p:sp>
            <p:nvSpPr>
              <p:cNvPr id="5" name="TextBox 4">
                <a:extLst>
                  <a:ext uri="{FF2B5EF4-FFF2-40B4-BE49-F238E27FC236}">
                    <a16:creationId xmlns:a16="http://schemas.microsoft.com/office/drawing/2014/main" id="{763832F7-8A78-62FB-175A-EB5D524EB363}"/>
                  </a:ext>
                </a:extLst>
              </p:cNvPr>
              <p:cNvSpPr txBox="1">
                <a:spLocks/>
              </p:cNvSpPr>
              <p:nvPr/>
            </p:nvSpPr>
            <p:spPr>
              <a:xfrm>
                <a:off x="1095522" y="3315326"/>
                <a:ext cx="2604944"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Total Debt Ratio </a:t>
                </a:r>
              </a:p>
            </p:txBody>
          </p:sp>
          <p:sp>
            <p:nvSpPr>
              <p:cNvPr id="7" name="TextBox 6">
                <a:extLst>
                  <a:ext uri="{FF2B5EF4-FFF2-40B4-BE49-F238E27FC236}">
                    <a16:creationId xmlns:a16="http://schemas.microsoft.com/office/drawing/2014/main" id="{ADE20468-DE73-6217-4476-1F698CCCE624}"/>
                  </a:ext>
                </a:extLst>
              </p:cNvPr>
              <p:cNvSpPr txBox="1"/>
              <p:nvPr/>
            </p:nvSpPr>
            <p:spPr>
              <a:xfrm>
                <a:off x="3595222"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8" name="TextBox 7">
                <a:extLst>
                  <a:ext uri="{FF2B5EF4-FFF2-40B4-BE49-F238E27FC236}">
                    <a16:creationId xmlns:a16="http://schemas.microsoft.com/office/drawing/2014/main" id="{4A11C94E-4D95-22CE-840C-27473A1A1065}"/>
                  </a:ext>
                </a:extLst>
              </p:cNvPr>
              <p:cNvSpPr txBox="1">
                <a:spLocks/>
              </p:cNvSpPr>
              <p:nvPr/>
            </p:nvSpPr>
            <p:spPr>
              <a:xfrm>
                <a:off x="4063501" y="3031385"/>
                <a:ext cx="3989618" cy="461665"/>
              </a:xfrm>
              <a:prstGeom prst="rect">
                <a:avLst/>
              </a:prstGeom>
              <a:noFill/>
            </p:spPr>
            <p:txBody>
              <a:bodyPr wrap="none" rtlCol="0">
                <a:spAutoFit/>
              </a:bodyPr>
              <a:lstStyle/>
              <a:p>
                <a:pPr algn="ctr"/>
                <a:r>
                  <a:rPr lang="en-US" sz="2400" b="1" dirty="0">
                    <a:solidFill>
                      <a:srgbClr val="C00000"/>
                    </a:solidFill>
                    <a:latin typeface="Helvetica" pitchFamily="2" charset="0"/>
                  </a:rPr>
                  <a:t>Total Assets - Total Equity</a:t>
                </a:r>
                <a:endParaRPr lang="en-US" sz="2400" b="1" dirty="0">
                  <a:solidFill>
                    <a:srgbClr val="C00000"/>
                  </a:solidFill>
                </a:endParaRPr>
              </a:p>
            </p:txBody>
          </p:sp>
          <p:sp>
            <p:nvSpPr>
              <p:cNvPr id="9" name="TextBox 8">
                <a:extLst>
                  <a:ext uri="{FF2B5EF4-FFF2-40B4-BE49-F238E27FC236}">
                    <a16:creationId xmlns:a16="http://schemas.microsoft.com/office/drawing/2014/main" id="{F7141CC2-E767-61A0-66EE-9BF1C01A804E}"/>
                  </a:ext>
                </a:extLst>
              </p:cNvPr>
              <p:cNvSpPr txBox="1">
                <a:spLocks/>
              </p:cNvSpPr>
              <p:nvPr/>
            </p:nvSpPr>
            <p:spPr>
              <a:xfrm>
                <a:off x="5067657" y="3594689"/>
                <a:ext cx="1981312" cy="461665"/>
              </a:xfrm>
              <a:prstGeom prst="rect">
                <a:avLst/>
              </a:prstGeom>
              <a:noFill/>
            </p:spPr>
            <p:txBody>
              <a:bodyPr wrap="none" rtlCol="0">
                <a:spAutoFit/>
              </a:bodyPr>
              <a:lstStyle/>
              <a:p>
                <a:pPr algn="ctr"/>
                <a:r>
                  <a:rPr lang="en-US" sz="2400" b="1" dirty="0">
                    <a:solidFill>
                      <a:srgbClr val="C00000"/>
                    </a:solidFill>
                    <a:latin typeface="Helvetica" pitchFamily="2" charset="0"/>
                  </a:rPr>
                  <a:t>Total Assets</a:t>
                </a:r>
                <a:endParaRPr lang="en-US" sz="2400" b="1" dirty="0">
                  <a:solidFill>
                    <a:srgbClr val="C00000"/>
                  </a:solidFill>
                </a:endParaRPr>
              </a:p>
            </p:txBody>
          </p:sp>
          <p:cxnSp>
            <p:nvCxnSpPr>
              <p:cNvPr id="10" name="Straight Connector 9">
                <a:extLst>
                  <a:ext uri="{FF2B5EF4-FFF2-40B4-BE49-F238E27FC236}">
                    <a16:creationId xmlns:a16="http://schemas.microsoft.com/office/drawing/2014/main" id="{D122CD41-AD9C-61B6-974B-259926C445F0}"/>
                  </a:ext>
                </a:extLst>
              </p:cNvPr>
              <p:cNvCxnSpPr>
                <a:cxnSpLocks/>
              </p:cNvCxnSpPr>
              <p:nvPr/>
            </p:nvCxnSpPr>
            <p:spPr>
              <a:xfrm>
                <a:off x="4036259" y="3546159"/>
                <a:ext cx="401660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2" name="TextBox 11">
              <a:extLst>
                <a:ext uri="{FF2B5EF4-FFF2-40B4-BE49-F238E27FC236}">
                  <a16:creationId xmlns:a16="http://schemas.microsoft.com/office/drawing/2014/main" id="{D4986AD3-6C49-66C7-1518-D868FF4646CF}"/>
                </a:ext>
              </a:extLst>
            </p:cNvPr>
            <p:cNvSpPr txBox="1"/>
            <p:nvPr/>
          </p:nvSpPr>
          <p:spPr>
            <a:xfrm>
              <a:off x="9366841" y="1846816"/>
              <a:ext cx="297455" cy="461665"/>
            </a:xfrm>
            <a:prstGeom prst="rect">
              <a:avLst/>
            </a:prstGeom>
            <a:noFill/>
          </p:spPr>
          <p:txBody>
            <a:bodyPr wrap="square" rtlCol="0">
              <a:spAutoFit/>
            </a:bodyPr>
            <a:lstStyle/>
            <a:p>
              <a:r>
                <a:rPr lang="en-US" sz="2400" b="1" dirty="0">
                  <a:solidFill>
                    <a:srgbClr val="C00000"/>
                  </a:solidFill>
                </a:rPr>
                <a:t>=</a:t>
              </a:r>
            </a:p>
          </p:txBody>
        </p:sp>
        <p:sp>
          <p:nvSpPr>
            <p:cNvPr id="13" name="TextBox 12">
              <a:extLst>
                <a:ext uri="{FF2B5EF4-FFF2-40B4-BE49-F238E27FC236}">
                  <a16:creationId xmlns:a16="http://schemas.microsoft.com/office/drawing/2014/main" id="{2F8AB842-A429-81F0-1CB0-6C9FCC77E7EB}"/>
                </a:ext>
              </a:extLst>
            </p:cNvPr>
            <p:cNvSpPr txBox="1">
              <a:spLocks/>
            </p:cNvSpPr>
            <p:nvPr/>
          </p:nvSpPr>
          <p:spPr>
            <a:xfrm>
              <a:off x="9987528" y="1545463"/>
              <a:ext cx="1665585" cy="461665"/>
            </a:xfrm>
            <a:prstGeom prst="rect">
              <a:avLst/>
            </a:prstGeom>
            <a:noFill/>
          </p:spPr>
          <p:txBody>
            <a:bodyPr wrap="none" rtlCol="0">
              <a:spAutoFit/>
            </a:bodyPr>
            <a:lstStyle/>
            <a:p>
              <a:pPr algn="ctr"/>
              <a:r>
                <a:rPr lang="en-US" sz="2400" b="1" dirty="0">
                  <a:solidFill>
                    <a:srgbClr val="C00000"/>
                  </a:solidFill>
                  <a:latin typeface="Helvetica" pitchFamily="2" charset="0"/>
                </a:rPr>
                <a:t>Total Debt</a:t>
              </a:r>
              <a:endParaRPr lang="en-US" sz="2400" b="1" dirty="0">
                <a:solidFill>
                  <a:srgbClr val="C00000"/>
                </a:solidFill>
              </a:endParaRPr>
            </a:p>
          </p:txBody>
        </p:sp>
        <p:sp>
          <p:nvSpPr>
            <p:cNvPr id="14" name="TextBox 13">
              <a:extLst>
                <a:ext uri="{FF2B5EF4-FFF2-40B4-BE49-F238E27FC236}">
                  <a16:creationId xmlns:a16="http://schemas.microsoft.com/office/drawing/2014/main" id="{4A6A74EE-8218-B981-9D96-0EAABEC3A28D}"/>
                </a:ext>
              </a:extLst>
            </p:cNvPr>
            <p:cNvSpPr txBox="1">
              <a:spLocks/>
            </p:cNvSpPr>
            <p:nvPr/>
          </p:nvSpPr>
          <p:spPr>
            <a:xfrm>
              <a:off x="9829668" y="2119653"/>
              <a:ext cx="1981312" cy="461665"/>
            </a:xfrm>
            <a:prstGeom prst="rect">
              <a:avLst/>
            </a:prstGeom>
            <a:noFill/>
          </p:spPr>
          <p:txBody>
            <a:bodyPr wrap="none" rtlCol="0">
              <a:spAutoFit/>
            </a:bodyPr>
            <a:lstStyle/>
            <a:p>
              <a:pPr algn="ctr"/>
              <a:r>
                <a:rPr lang="en-US" sz="2400" b="1" dirty="0">
                  <a:solidFill>
                    <a:srgbClr val="C00000"/>
                  </a:solidFill>
                  <a:latin typeface="Helvetica" pitchFamily="2" charset="0"/>
                </a:rPr>
                <a:t>Total Assets</a:t>
              </a:r>
              <a:endParaRPr lang="en-US" sz="2400" b="1" dirty="0">
                <a:solidFill>
                  <a:srgbClr val="C00000"/>
                </a:solidFill>
              </a:endParaRPr>
            </a:p>
          </p:txBody>
        </p:sp>
        <p:cxnSp>
          <p:nvCxnSpPr>
            <p:cNvPr id="16" name="Straight Connector 15">
              <a:extLst>
                <a:ext uri="{FF2B5EF4-FFF2-40B4-BE49-F238E27FC236}">
                  <a16:creationId xmlns:a16="http://schemas.microsoft.com/office/drawing/2014/main" id="{C1C0F1E4-82D2-4584-A914-C9B43A66B8D9}"/>
                </a:ext>
              </a:extLst>
            </p:cNvPr>
            <p:cNvCxnSpPr>
              <a:cxnSpLocks/>
            </p:cNvCxnSpPr>
            <p:nvPr/>
          </p:nvCxnSpPr>
          <p:spPr>
            <a:xfrm>
              <a:off x="9851571" y="2071122"/>
              <a:ext cx="1926772" cy="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87238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38FA0-8ECF-7E15-A0C0-C28D5F1BF65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F013669-4DC1-0D2E-2F51-745309283C54}"/>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EA9676-338B-39D3-6B61-526E3B5D1A5C}"/>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3-2. Debt-to-Equity Ratio </a:t>
            </a:r>
          </a:p>
        </p:txBody>
      </p:sp>
      <p:sp>
        <p:nvSpPr>
          <p:cNvPr id="15" name="TextBox 14">
            <a:extLst>
              <a:ext uri="{FF2B5EF4-FFF2-40B4-BE49-F238E27FC236}">
                <a16:creationId xmlns:a16="http://schemas.microsoft.com/office/drawing/2014/main" id="{FCBAEEC9-225D-3F74-A45C-5BC2E01336DD}"/>
              </a:ext>
            </a:extLst>
          </p:cNvPr>
          <p:cNvSpPr txBox="1"/>
          <p:nvPr/>
        </p:nvSpPr>
        <p:spPr>
          <a:xfrm>
            <a:off x="187587" y="2534210"/>
            <a:ext cx="11933077" cy="1169551"/>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000" dirty="0">
                <a:latin typeface="Helvetica" pitchFamily="2" charset="0"/>
              </a:rPr>
              <a:t>The </a:t>
            </a:r>
            <a:r>
              <a:rPr lang="en-US" sz="2000" b="1" dirty="0">
                <a:latin typeface="Helvetica" pitchFamily="2" charset="0"/>
              </a:rPr>
              <a:t>Debt-to-Equity Ratio</a:t>
            </a:r>
            <a:r>
              <a:rPr lang="en-US" sz="2000" dirty="0">
                <a:latin typeface="Helvetica" pitchFamily="2" charset="0"/>
              </a:rPr>
              <a:t> measures the </a:t>
            </a:r>
            <a:r>
              <a:rPr lang="en-US" sz="2000" b="1" dirty="0">
                <a:latin typeface="Helvetica" pitchFamily="2" charset="0"/>
              </a:rPr>
              <a:t>relative contribution of creditors and owners</a:t>
            </a:r>
            <a:r>
              <a:rPr lang="en-US" sz="2000" dirty="0">
                <a:latin typeface="Helvetica" pitchFamily="2" charset="0"/>
              </a:rPr>
              <a:t> in financing a firm’s assets.</a:t>
            </a:r>
          </a:p>
          <a:p>
            <a:pPr marL="342900" indent="-342900">
              <a:spcBef>
                <a:spcPts val="600"/>
              </a:spcBef>
              <a:spcAft>
                <a:spcPts val="600"/>
              </a:spcAft>
              <a:buFont typeface="Arial" panose="020B0604020202020204" pitchFamily="34" charset="0"/>
              <a:buChar char="•"/>
            </a:pPr>
            <a:r>
              <a:rPr lang="en-US" sz="2000" dirty="0">
                <a:latin typeface="Helvetica" pitchFamily="2" charset="0"/>
              </a:rPr>
              <a:t>It shows </a:t>
            </a:r>
            <a:r>
              <a:rPr lang="en-US" sz="2000" b="1" dirty="0">
                <a:latin typeface="Helvetica" pitchFamily="2" charset="0"/>
              </a:rPr>
              <a:t>how much debt the firm uses for every dollar of equity</a:t>
            </a:r>
            <a:r>
              <a:rPr lang="en-US" sz="2000" dirty="0">
                <a:latin typeface="Helvetica" pitchFamily="2" charset="0"/>
              </a:rPr>
              <a:t>.</a:t>
            </a:r>
          </a:p>
        </p:txBody>
      </p:sp>
      <p:sp>
        <p:nvSpPr>
          <p:cNvPr id="17" name="TextBox 16">
            <a:extLst>
              <a:ext uri="{FF2B5EF4-FFF2-40B4-BE49-F238E27FC236}">
                <a16:creationId xmlns:a16="http://schemas.microsoft.com/office/drawing/2014/main" id="{9EA2AA3F-E1CD-D71A-5125-31BCD0C49502}"/>
              </a:ext>
            </a:extLst>
          </p:cNvPr>
          <p:cNvSpPr txBox="1"/>
          <p:nvPr/>
        </p:nvSpPr>
        <p:spPr>
          <a:xfrm>
            <a:off x="712264" y="3846051"/>
            <a:ext cx="8234947" cy="1323439"/>
          </a:xfrm>
          <a:prstGeom prst="rect">
            <a:avLst/>
          </a:prstGeom>
          <a:noFill/>
          <a:ln>
            <a:solidFill>
              <a:srgbClr val="A60086"/>
            </a:solidFill>
          </a:ln>
        </p:spPr>
        <p:txBody>
          <a:bodyPr wrap="none" rtlCol="0">
            <a:spAutoFit/>
          </a:bodyPr>
          <a:lstStyle/>
          <a:p>
            <a:pPr marL="342900" indent="-342900">
              <a:buFont typeface="Arial" panose="020B0604020202020204" pitchFamily="34" charset="0"/>
              <a:buChar char="•"/>
            </a:pPr>
            <a:r>
              <a:rPr lang="en-US" sz="2000" b="1" dirty="0">
                <a:solidFill>
                  <a:schemeClr val="accent5">
                    <a:lumMod val="75000"/>
                  </a:schemeClr>
                </a:solidFill>
                <a:latin typeface="Helvetica" pitchFamily="2" charset="0"/>
              </a:rPr>
              <a:t>Higher Debt-to-Equity Ratio</a:t>
            </a:r>
            <a:endParaRPr lang="en-US" sz="2000" dirty="0">
              <a:solidFill>
                <a:schemeClr val="accent5">
                  <a:lumMod val="75000"/>
                </a:schemeClr>
              </a:solidFill>
              <a:latin typeface="Helvetica" pitchFamily="2" charset="0"/>
            </a:endParaRPr>
          </a:p>
          <a:p>
            <a:pPr marL="800100" lvl="1" indent="-342900">
              <a:buFont typeface="Arial" panose="020B0604020202020204" pitchFamily="34" charset="0"/>
              <a:buChar char="•"/>
            </a:pPr>
            <a:r>
              <a:rPr lang="en-US" sz="2000" dirty="0">
                <a:solidFill>
                  <a:schemeClr val="accent5">
                    <a:lumMod val="75000"/>
                  </a:schemeClr>
                </a:solidFill>
                <a:latin typeface="Helvetica" pitchFamily="2" charset="0"/>
              </a:rPr>
              <a:t>Creditors finance a larger portion of the business</a:t>
            </a:r>
          </a:p>
          <a:p>
            <a:pPr marL="800100" lvl="1" indent="-342900">
              <a:buFont typeface="Arial" panose="020B0604020202020204" pitchFamily="34" charset="0"/>
              <a:buChar char="•"/>
            </a:pPr>
            <a:r>
              <a:rPr lang="en-US" sz="2000" dirty="0">
                <a:solidFill>
                  <a:schemeClr val="accent5">
                    <a:lumMod val="75000"/>
                  </a:schemeClr>
                </a:solidFill>
                <a:latin typeface="Helvetica" pitchFamily="2" charset="0"/>
              </a:rPr>
              <a:t>Higher interest obligations</a:t>
            </a:r>
          </a:p>
          <a:p>
            <a:pPr marL="800100" lvl="1" indent="-342900">
              <a:buFont typeface="Arial" panose="020B0604020202020204" pitchFamily="34" charset="0"/>
              <a:buChar char="•"/>
            </a:pPr>
            <a:r>
              <a:rPr lang="en-US" sz="2000" b="1" dirty="0">
                <a:solidFill>
                  <a:schemeClr val="accent5">
                    <a:lumMod val="75000"/>
                  </a:schemeClr>
                </a:solidFill>
                <a:latin typeface="Helvetica" pitchFamily="2" charset="0"/>
              </a:rPr>
              <a:t>Higher financial risk (but potentially higher return to equity)</a:t>
            </a:r>
            <a:endParaRPr lang="en-US" sz="2000" dirty="0">
              <a:solidFill>
                <a:schemeClr val="accent5">
                  <a:lumMod val="75000"/>
                </a:schemeClr>
              </a:solidFill>
              <a:latin typeface="Helvetica" pitchFamily="2" charset="0"/>
            </a:endParaRPr>
          </a:p>
        </p:txBody>
      </p:sp>
      <p:grpSp>
        <p:nvGrpSpPr>
          <p:cNvPr id="3" name="Group 2">
            <a:extLst>
              <a:ext uri="{FF2B5EF4-FFF2-40B4-BE49-F238E27FC236}">
                <a16:creationId xmlns:a16="http://schemas.microsoft.com/office/drawing/2014/main" id="{37864C5F-4566-2513-14EA-9216C71A80B5}"/>
              </a:ext>
            </a:extLst>
          </p:cNvPr>
          <p:cNvGrpSpPr/>
          <p:nvPr/>
        </p:nvGrpSpPr>
        <p:grpSpPr>
          <a:xfrm>
            <a:off x="3419126" y="1409149"/>
            <a:ext cx="5353748" cy="1012147"/>
            <a:chOff x="1035376" y="3035965"/>
            <a:chExt cx="5353748" cy="1012147"/>
          </a:xfrm>
        </p:grpSpPr>
        <p:sp>
          <p:nvSpPr>
            <p:cNvPr id="5" name="TextBox 4">
              <a:extLst>
                <a:ext uri="{FF2B5EF4-FFF2-40B4-BE49-F238E27FC236}">
                  <a16:creationId xmlns:a16="http://schemas.microsoft.com/office/drawing/2014/main" id="{4DC82FEB-8245-C4B7-92A3-9271771EB4EC}"/>
                </a:ext>
              </a:extLst>
            </p:cNvPr>
            <p:cNvSpPr txBox="1">
              <a:spLocks/>
            </p:cNvSpPr>
            <p:nvPr/>
          </p:nvSpPr>
          <p:spPr>
            <a:xfrm>
              <a:off x="1035376" y="3315326"/>
              <a:ext cx="3144495" cy="461665"/>
            </a:xfrm>
            <a:prstGeom prst="rect">
              <a:avLst/>
            </a:prstGeom>
            <a:noFill/>
          </p:spPr>
          <p:txBody>
            <a:bodyPr wrap="square" rtlCol="0">
              <a:spAutoFit/>
            </a:bodyPr>
            <a:lstStyle/>
            <a:p>
              <a:pPr algn="ctr"/>
              <a:r>
                <a:rPr lang="en-US" sz="2400" b="1" dirty="0">
                  <a:solidFill>
                    <a:srgbClr val="C00000"/>
                  </a:solidFill>
                  <a:latin typeface="Helvetica" pitchFamily="2" charset="0"/>
                  <a:cs typeface="Times New Roman" panose="02020603050405020304" pitchFamily="18" charset="0"/>
                </a:rPr>
                <a:t>Debt-to-Equity Ratio </a:t>
              </a:r>
            </a:p>
          </p:txBody>
        </p:sp>
        <p:sp>
          <p:nvSpPr>
            <p:cNvPr id="7" name="TextBox 6">
              <a:extLst>
                <a:ext uri="{FF2B5EF4-FFF2-40B4-BE49-F238E27FC236}">
                  <a16:creationId xmlns:a16="http://schemas.microsoft.com/office/drawing/2014/main" id="{F523C2BD-6A63-1369-EDC2-01D12C9E7127}"/>
                </a:ext>
              </a:extLst>
            </p:cNvPr>
            <p:cNvSpPr txBox="1"/>
            <p:nvPr/>
          </p:nvSpPr>
          <p:spPr>
            <a:xfrm>
              <a:off x="4074199"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8" name="TextBox 7">
              <a:extLst>
                <a:ext uri="{FF2B5EF4-FFF2-40B4-BE49-F238E27FC236}">
                  <a16:creationId xmlns:a16="http://schemas.microsoft.com/office/drawing/2014/main" id="{DEE21788-9E99-41A0-B0A0-104D67D69940}"/>
                </a:ext>
              </a:extLst>
            </p:cNvPr>
            <p:cNvSpPr txBox="1">
              <a:spLocks/>
            </p:cNvSpPr>
            <p:nvPr/>
          </p:nvSpPr>
          <p:spPr>
            <a:xfrm>
              <a:off x="4523197" y="3035965"/>
              <a:ext cx="1750543" cy="461665"/>
            </a:xfrm>
            <a:prstGeom prst="rect">
              <a:avLst/>
            </a:prstGeom>
            <a:noFill/>
          </p:spPr>
          <p:txBody>
            <a:bodyPr wrap="none" rtlCol="0">
              <a:spAutoFit/>
            </a:bodyPr>
            <a:lstStyle/>
            <a:p>
              <a:pPr algn="ctr"/>
              <a:r>
                <a:rPr lang="en-US" sz="2400" b="1" dirty="0">
                  <a:solidFill>
                    <a:srgbClr val="C00000"/>
                  </a:solidFill>
                  <a:latin typeface="Helvetica" pitchFamily="2" charset="0"/>
                </a:rPr>
                <a:t>Total Debt </a:t>
              </a:r>
              <a:endParaRPr lang="en-US" sz="2400" b="1" dirty="0">
                <a:solidFill>
                  <a:srgbClr val="C00000"/>
                </a:solidFill>
              </a:endParaRPr>
            </a:p>
          </p:txBody>
        </p:sp>
        <p:sp>
          <p:nvSpPr>
            <p:cNvPr id="9" name="TextBox 8">
              <a:extLst>
                <a:ext uri="{FF2B5EF4-FFF2-40B4-BE49-F238E27FC236}">
                  <a16:creationId xmlns:a16="http://schemas.microsoft.com/office/drawing/2014/main" id="{34BAEE74-706D-1D2F-BF84-F1441BB925CA}"/>
                </a:ext>
              </a:extLst>
            </p:cNvPr>
            <p:cNvSpPr txBox="1">
              <a:spLocks/>
            </p:cNvSpPr>
            <p:nvPr/>
          </p:nvSpPr>
          <p:spPr>
            <a:xfrm>
              <a:off x="4407812" y="3586447"/>
              <a:ext cx="1981312" cy="461665"/>
            </a:xfrm>
            <a:prstGeom prst="rect">
              <a:avLst/>
            </a:prstGeom>
            <a:noFill/>
          </p:spPr>
          <p:txBody>
            <a:bodyPr wrap="none" rtlCol="0">
              <a:spAutoFit/>
            </a:bodyPr>
            <a:lstStyle/>
            <a:p>
              <a:pPr algn="ctr"/>
              <a:r>
                <a:rPr lang="en-US" sz="2400" b="1" dirty="0">
                  <a:solidFill>
                    <a:srgbClr val="C00000"/>
                  </a:solidFill>
                  <a:latin typeface="Helvetica" pitchFamily="2" charset="0"/>
                </a:rPr>
                <a:t>Total Equity</a:t>
              </a:r>
              <a:endParaRPr lang="en-US" sz="2400" b="1" dirty="0">
                <a:solidFill>
                  <a:srgbClr val="C00000"/>
                </a:solidFill>
              </a:endParaRPr>
            </a:p>
          </p:txBody>
        </p:sp>
        <p:cxnSp>
          <p:nvCxnSpPr>
            <p:cNvPr id="10" name="Straight Connector 9">
              <a:extLst>
                <a:ext uri="{FF2B5EF4-FFF2-40B4-BE49-F238E27FC236}">
                  <a16:creationId xmlns:a16="http://schemas.microsoft.com/office/drawing/2014/main" id="{D0DFA373-2147-A6BB-0E99-61949B6813CF}"/>
                </a:ext>
              </a:extLst>
            </p:cNvPr>
            <p:cNvCxnSpPr>
              <a:cxnSpLocks/>
            </p:cNvCxnSpPr>
            <p:nvPr/>
          </p:nvCxnSpPr>
          <p:spPr>
            <a:xfrm>
              <a:off x="4515236" y="3546159"/>
              <a:ext cx="1766467"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1" name="TextBox 10">
            <a:extLst>
              <a:ext uri="{FF2B5EF4-FFF2-40B4-BE49-F238E27FC236}">
                <a16:creationId xmlns:a16="http://schemas.microsoft.com/office/drawing/2014/main" id="{C3A880AA-5F8C-9187-9599-EE9FDF241AB4}"/>
              </a:ext>
            </a:extLst>
          </p:cNvPr>
          <p:cNvSpPr txBox="1"/>
          <p:nvPr/>
        </p:nvSpPr>
        <p:spPr>
          <a:xfrm>
            <a:off x="712264" y="5311780"/>
            <a:ext cx="3857146" cy="1323439"/>
          </a:xfrm>
          <a:prstGeom prst="rect">
            <a:avLst/>
          </a:prstGeom>
          <a:noFill/>
          <a:ln>
            <a:solidFill>
              <a:srgbClr val="00B050"/>
            </a:solidFill>
          </a:ln>
        </p:spPr>
        <p:txBody>
          <a:bodyPr wrap="none" rtlCol="0">
            <a:spAutoFit/>
          </a:bodyPr>
          <a:lstStyle/>
          <a:p>
            <a:pPr marL="285750" indent="-285750">
              <a:buFont typeface="Arial" panose="020B0604020202020204" pitchFamily="34" charset="0"/>
              <a:buChar char="•"/>
            </a:pPr>
            <a:r>
              <a:rPr lang="en-US" sz="2000" b="1" dirty="0">
                <a:solidFill>
                  <a:schemeClr val="accent6">
                    <a:lumMod val="75000"/>
                  </a:schemeClr>
                </a:solidFill>
                <a:latin typeface="Helvetica" pitchFamily="2" charset="0"/>
              </a:rPr>
              <a:t>Lower Debt-to-Equity Ratio </a:t>
            </a:r>
          </a:p>
          <a:p>
            <a:pPr marL="742950" lvl="1" indent="-285750">
              <a:buFont typeface="Arial" panose="020B0604020202020204" pitchFamily="34" charset="0"/>
              <a:buChar char="•"/>
            </a:pPr>
            <a:r>
              <a:rPr lang="en-US" sz="2000" dirty="0">
                <a:solidFill>
                  <a:schemeClr val="accent6">
                    <a:lumMod val="75000"/>
                  </a:schemeClr>
                </a:solidFill>
                <a:latin typeface="Helvetica" pitchFamily="2" charset="0"/>
              </a:rPr>
              <a:t>Fewer fixed obligations</a:t>
            </a:r>
          </a:p>
          <a:p>
            <a:pPr marL="742950" lvl="1" indent="-285750">
              <a:buFont typeface="Arial" panose="020B0604020202020204" pitchFamily="34" charset="0"/>
              <a:buChar char="•"/>
            </a:pPr>
            <a:r>
              <a:rPr lang="en-US" sz="2000" dirty="0">
                <a:solidFill>
                  <a:schemeClr val="accent6">
                    <a:lumMod val="75000"/>
                  </a:schemeClr>
                </a:solidFill>
                <a:latin typeface="Helvetica" pitchFamily="2" charset="0"/>
              </a:rPr>
              <a:t>Greater financial flexibility</a:t>
            </a:r>
          </a:p>
          <a:p>
            <a:pPr marL="742950" lvl="1" indent="-285750">
              <a:buFont typeface="Arial" panose="020B0604020202020204" pitchFamily="34" charset="0"/>
              <a:buChar char="•"/>
            </a:pPr>
            <a:r>
              <a:rPr lang="en-US" sz="2000" b="1" dirty="0">
                <a:solidFill>
                  <a:schemeClr val="accent6">
                    <a:lumMod val="75000"/>
                  </a:schemeClr>
                </a:solidFill>
                <a:latin typeface="Helvetica" pitchFamily="2" charset="0"/>
              </a:rPr>
              <a:t>Lower financial risk</a:t>
            </a:r>
            <a:endParaRPr lang="en-US" sz="2000" dirty="0">
              <a:solidFill>
                <a:schemeClr val="accent6">
                  <a:lumMod val="75000"/>
                </a:schemeClr>
              </a:solidFill>
              <a:latin typeface="Helvetica" pitchFamily="2" charset="0"/>
            </a:endParaRPr>
          </a:p>
        </p:txBody>
      </p:sp>
    </p:spTree>
    <p:extLst>
      <p:ext uri="{BB962C8B-B14F-4D97-AF65-F5344CB8AC3E}">
        <p14:creationId xmlns:p14="http://schemas.microsoft.com/office/powerpoint/2010/main" val="4018849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904F9-C890-A2E7-14B5-4C6702D6C04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F389284-8524-ECA1-BD1A-8A05670E99F5}"/>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2BBC02-9ABD-73B1-47A4-F2A24ECD6AEF}"/>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3-3. Equity Multiplier </a:t>
            </a:r>
          </a:p>
        </p:txBody>
      </p:sp>
      <p:sp>
        <p:nvSpPr>
          <p:cNvPr id="15" name="TextBox 14">
            <a:extLst>
              <a:ext uri="{FF2B5EF4-FFF2-40B4-BE49-F238E27FC236}">
                <a16:creationId xmlns:a16="http://schemas.microsoft.com/office/drawing/2014/main" id="{06C85BB7-F2DB-D73D-7903-D896E823BB66}"/>
              </a:ext>
            </a:extLst>
          </p:cNvPr>
          <p:cNvSpPr txBox="1"/>
          <p:nvPr/>
        </p:nvSpPr>
        <p:spPr>
          <a:xfrm>
            <a:off x="187587" y="2534210"/>
            <a:ext cx="11933077" cy="1169551"/>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000" dirty="0">
                <a:latin typeface="Helvetica" pitchFamily="2" charset="0"/>
              </a:rPr>
              <a:t>The </a:t>
            </a:r>
            <a:r>
              <a:rPr lang="en-US" sz="2000" b="1" dirty="0">
                <a:latin typeface="Helvetica" pitchFamily="2" charset="0"/>
              </a:rPr>
              <a:t>Equity Multiplier</a:t>
            </a:r>
            <a:r>
              <a:rPr lang="en-US" sz="2000" dirty="0">
                <a:latin typeface="Helvetica" pitchFamily="2" charset="0"/>
              </a:rPr>
              <a:t> measures </a:t>
            </a:r>
            <a:r>
              <a:rPr lang="en-US" sz="2000" b="1" dirty="0">
                <a:latin typeface="Helvetica" pitchFamily="2" charset="0"/>
              </a:rPr>
              <a:t>how much of a firm’s assets are supported by each dollar of shareholders’ equity</a:t>
            </a:r>
            <a:r>
              <a:rPr lang="en-US" sz="2000" dirty="0">
                <a:latin typeface="Helvetica" pitchFamily="2" charset="0"/>
              </a:rPr>
              <a:t>.</a:t>
            </a:r>
          </a:p>
          <a:p>
            <a:pPr marL="342900" indent="-342900">
              <a:spcBef>
                <a:spcPts val="600"/>
              </a:spcBef>
              <a:spcAft>
                <a:spcPts val="600"/>
              </a:spcAft>
              <a:buFont typeface="Arial" panose="020B0604020202020204" pitchFamily="34" charset="0"/>
              <a:buChar char="•"/>
            </a:pPr>
            <a:r>
              <a:rPr lang="en-US" sz="2000" dirty="0">
                <a:latin typeface="Helvetica" pitchFamily="2" charset="0"/>
              </a:rPr>
              <a:t>It captures the firm’s </a:t>
            </a:r>
            <a:r>
              <a:rPr lang="en-US" sz="2000" b="1" dirty="0">
                <a:latin typeface="Helvetica" pitchFamily="2" charset="0"/>
              </a:rPr>
              <a:t>overall financial leverage.</a:t>
            </a:r>
            <a:endParaRPr lang="en-US" sz="2000" dirty="0">
              <a:latin typeface="Helvetica" pitchFamily="2" charset="0"/>
            </a:endParaRPr>
          </a:p>
        </p:txBody>
      </p:sp>
      <p:sp>
        <p:nvSpPr>
          <p:cNvPr id="17" name="TextBox 16">
            <a:extLst>
              <a:ext uri="{FF2B5EF4-FFF2-40B4-BE49-F238E27FC236}">
                <a16:creationId xmlns:a16="http://schemas.microsoft.com/office/drawing/2014/main" id="{9F1F1A21-5DC2-D7B2-A683-883A16D543B9}"/>
              </a:ext>
            </a:extLst>
          </p:cNvPr>
          <p:cNvSpPr txBox="1"/>
          <p:nvPr/>
        </p:nvSpPr>
        <p:spPr>
          <a:xfrm>
            <a:off x="1053414" y="3999939"/>
            <a:ext cx="4338047" cy="1785104"/>
          </a:xfrm>
          <a:prstGeom prst="rect">
            <a:avLst/>
          </a:prstGeom>
          <a:noFill/>
          <a:ln>
            <a:solidFill>
              <a:srgbClr val="A60086"/>
            </a:solidFill>
          </a:ln>
        </p:spPr>
        <p:txBody>
          <a:bodyPr wrap="none" rtlCol="0">
            <a:spAutoFit/>
          </a:bodyPr>
          <a:lstStyle/>
          <a:p>
            <a:pPr marL="342900" indent="-342900">
              <a:spcBef>
                <a:spcPts val="600"/>
              </a:spcBef>
              <a:spcAft>
                <a:spcPts val="600"/>
              </a:spcAft>
              <a:buFont typeface="Arial" panose="020B0604020202020204" pitchFamily="34" charset="0"/>
              <a:buChar char="•"/>
            </a:pPr>
            <a:r>
              <a:rPr lang="en-US" sz="2000" b="1" dirty="0">
                <a:solidFill>
                  <a:schemeClr val="accent5">
                    <a:lumMod val="75000"/>
                  </a:schemeClr>
                </a:solidFill>
                <a:latin typeface="Helvetica" pitchFamily="2" charset="0"/>
              </a:rPr>
              <a:t>Higher Equity Multiplier</a:t>
            </a:r>
            <a:endParaRPr lang="en-US" sz="2000" dirty="0">
              <a:solidFill>
                <a:schemeClr val="accent5">
                  <a:lumMod val="75000"/>
                </a:schemeClr>
              </a:solidFill>
              <a:latin typeface="Helvetica" pitchFamily="2" charset="0"/>
            </a:endParaRPr>
          </a:p>
          <a:p>
            <a:pPr marL="800100" lvl="1" indent="-342900">
              <a:spcBef>
                <a:spcPts val="600"/>
              </a:spcBef>
              <a:spcAft>
                <a:spcPts val="600"/>
              </a:spcAft>
              <a:buFont typeface="Arial" panose="020B0604020202020204" pitchFamily="34" charset="0"/>
              <a:buChar char="•"/>
            </a:pPr>
            <a:r>
              <a:rPr lang="en-US" sz="2000" dirty="0">
                <a:solidFill>
                  <a:schemeClr val="accent5">
                    <a:lumMod val="75000"/>
                  </a:schemeClr>
                </a:solidFill>
                <a:latin typeface="Helvetica" pitchFamily="2" charset="0"/>
              </a:rPr>
              <a:t>More assets financed by debt</a:t>
            </a:r>
          </a:p>
          <a:p>
            <a:pPr marL="800100" lvl="1" indent="-342900">
              <a:spcBef>
                <a:spcPts val="600"/>
              </a:spcBef>
              <a:spcAft>
                <a:spcPts val="600"/>
              </a:spcAft>
              <a:buFont typeface="Arial" panose="020B0604020202020204" pitchFamily="34" charset="0"/>
              <a:buChar char="•"/>
            </a:pPr>
            <a:r>
              <a:rPr lang="en-US" sz="2000" dirty="0">
                <a:solidFill>
                  <a:schemeClr val="accent5">
                    <a:lumMod val="75000"/>
                  </a:schemeClr>
                </a:solidFill>
                <a:latin typeface="Helvetica" pitchFamily="2" charset="0"/>
              </a:rPr>
              <a:t>Higher financial leverage</a:t>
            </a:r>
          </a:p>
          <a:p>
            <a:pPr marL="800100" lvl="1" indent="-342900">
              <a:spcBef>
                <a:spcPts val="600"/>
              </a:spcBef>
              <a:spcAft>
                <a:spcPts val="600"/>
              </a:spcAft>
              <a:buFont typeface="Arial" panose="020B0604020202020204" pitchFamily="34" charset="0"/>
              <a:buChar char="•"/>
            </a:pPr>
            <a:r>
              <a:rPr lang="en-US" sz="2000" b="1" dirty="0">
                <a:solidFill>
                  <a:schemeClr val="accent5">
                    <a:lumMod val="75000"/>
                  </a:schemeClr>
                </a:solidFill>
                <a:latin typeface="Helvetica" pitchFamily="2" charset="0"/>
              </a:rPr>
              <a:t>Higher financial risk</a:t>
            </a:r>
            <a:endParaRPr lang="en-US" sz="2000" dirty="0">
              <a:solidFill>
                <a:schemeClr val="accent5">
                  <a:lumMod val="75000"/>
                </a:schemeClr>
              </a:solidFill>
              <a:latin typeface="Helvetica" pitchFamily="2" charset="0"/>
            </a:endParaRPr>
          </a:p>
        </p:txBody>
      </p:sp>
      <p:grpSp>
        <p:nvGrpSpPr>
          <p:cNvPr id="3" name="Group 2">
            <a:extLst>
              <a:ext uri="{FF2B5EF4-FFF2-40B4-BE49-F238E27FC236}">
                <a16:creationId xmlns:a16="http://schemas.microsoft.com/office/drawing/2014/main" id="{F218B37A-76BF-B5E8-7C14-CF654BB594F8}"/>
              </a:ext>
            </a:extLst>
          </p:cNvPr>
          <p:cNvGrpSpPr/>
          <p:nvPr/>
        </p:nvGrpSpPr>
        <p:grpSpPr>
          <a:xfrm>
            <a:off x="3861881" y="1409149"/>
            <a:ext cx="4953473" cy="1012147"/>
            <a:chOff x="1478131" y="3035965"/>
            <a:chExt cx="4953473" cy="1012147"/>
          </a:xfrm>
        </p:grpSpPr>
        <p:sp>
          <p:nvSpPr>
            <p:cNvPr id="5" name="TextBox 4">
              <a:extLst>
                <a:ext uri="{FF2B5EF4-FFF2-40B4-BE49-F238E27FC236}">
                  <a16:creationId xmlns:a16="http://schemas.microsoft.com/office/drawing/2014/main" id="{5F260838-E6C8-6BA2-0BF8-067438C46486}"/>
                </a:ext>
              </a:extLst>
            </p:cNvPr>
            <p:cNvSpPr txBox="1">
              <a:spLocks/>
            </p:cNvSpPr>
            <p:nvPr/>
          </p:nvSpPr>
          <p:spPr>
            <a:xfrm>
              <a:off x="1478131" y="3315326"/>
              <a:ext cx="2701740" cy="461665"/>
            </a:xfrm>
            <a:prstGeom prst="rect">
              <a:avLst/>
            </a:prstGeom>
            <a:noFill/>
          </p:spPr>
          <p:txBody>
            <a:bodyPr wrap="square" rtlCol="0">
              <a:spAutoFit/>
            </a:bodyPr>
            <a:lstStyle/>
            <a:p>
              <a:pPr algn="ctr"/>
              <a:r>
                <a:rPr lang="en-US" sz="2400" b="1" dirty="0">
                  <a:solidFill>
                    <a:srgbClr val="C00000"/>
                  </a:solidFill>
                  <a:latin typeface="Helvetica" pitchFamily="2" charset="0"/>
                  <a:cs typeface="Times New Roman" panose="02020603050405020304" pitchFamily="18" charset="0"/>
                </a:rPr>
                <a:t>Equity Multiplier </a:t>
              </a:r>
            </a:p>
          </p:txBody>
        </p:sp>
        <p:sp>
          <p:nvSpPr>
            <p:cNvPr id="7" name="TextBox 6">
              <a:extLst>
                <a:ext uri="{FF2B5EF4-FFF2-40B4-BE49-F238E27FC236}">
                  <a16:creationId xmlns:a16="http://schemas.microsoft.com/office/drawing/2014/main" id="{5307EB19-4393-7BBD-0A76-281CE5AB3CEF}"/>
                </a:ext>
              </a:extLst>
            </p:cNvPr>
            <p:cNvSpPr txBox="1"/>
            <p:nvPr/>
          </p:nvSpPr>
          <p:spPr>
            <a:xfrm>
              <a:off x="4074199"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8" name="TextBox 7">
              <a:extLst>
                <a:ext uri="{FF2B5EF4-FFF2-40B4-BE49-F238E27FC236}">
                  <a16:creationId xmlns:a16="http://schemas.microsoft.com/office/drawing/2014/main" id="{F86A5C06-354B-FCE5-6851-1CE804B9BCDB}"/>
                </a:ext>
              </a:extLst>
            </p:cNvPr>
            <p:cNvSpPr txBox="1">
              <a:spLocks/>
            </p:cNvSpPr>
            <p:nvPr/>
          </p:nvSpPr>
          <p:spPr>
            <a:xfrm>
              <a:off x="4365333" y="3035965"/>
              <a:ext cx="2066271" cy="461665"/>
            </a:xfrm>
            <a:prstGeom prst="rect">
              <a:avLst/>
            </a:prstGeom>
            <a:noFill/>
          </p:spPr>
          <p:txBody>
            <a:bodyPr wrap="none" rtlCol="0">
              <a:spAutoFit/>
            </a:bodyPr>
            <a:lstStyle/>
            <a:p>
              <a:pPr algn="ctr"/>
              <a:r>
                <a:rPr lang="en-US" sz="2400" b="1" dirty="0">
                  <a:solidFill>
                    <a:srgbClr val="C00000"/>
                  </a:solidFill>
                  <a:latin typeface="Helvetica" pitchFamily="2" charset="0"/>
                </a:rPr>
                <a:t>Total Assets </a:t>
              </a:r>
              <a:endParaRPr lang="en-US" sz="2400" b="1" dirty="0">
                <a:solidFill>
                  <a:srgbClr val="C00000"/>
                </a:solidFill>
              </a:endParaRPr>
            </a:p>
          </p:txBody>
        </p:sp>
        <p:sp>
          <p:nvSpPr>
            <p:cNvPr id="9" name="TextBox 8">
              <a:extLst>
                <a:ext uri="{FF2B5EF4-FFF2-40B4-BE49-F238E27FC236}">
                  <a16:creationId xmlns:a16="http://schemas.microsoft.com/office/drawing/2014/main" id="{D50BECCF-B4A9-CE3D-B10C-513C438AE8A3}"/>
                </a:ext>
              </a:extLst>
            </p:cNvPr>
            <p:cNvSpPr txBox="1">
              <a:spLocks/>
            </p:cNvSpPr>
            <p:nvPr/>
          </p:nvSpPr>
          <p:spPr>
            <a:xfrm>
              <a:off x="4407812" y="3586447"/>
              <a:ext cx="1981312" cy="461665"/>
            </a:xfrm>
            <a:prstGeom prst="rect">
              <a:avLst/>
            </a:prstGeom>
            <a:noFill/>
          </p:spPr>
          <p:txBody>
            <a:bodyPr wrap="none" rtlCol="0">
              <a:spAutoFit/>
            </a:bodyPr>
            <a:lstStyle/>
            <a:p>
              <a:pPr algn="ctr"/>
              <a:r>
                <a:rPr lang="en-US" sz="2400" b="1" dirty="0">
                  <a:solidFill>
                    <a:srgbClr val="C00000"/>
                  </a:solidFill>
                  <a:latin typeface="Helvetica" pitchFamily="2" charset="0"/>
                </a:rPr>
                <a:t>Total Equity</a:t>
              </a:r>
              <a:endParaRPr lang="en-US" sz="2400" b="1" dirty="0">
                <a:solidFill>
                  <a:srgbClr val="C00000"/>
                </a:solidFill>
              </a:endParaRPr>
            </a:p>
          </p:txBody>
        </p:sp>
        <p:cxnSp>
          <p:nvCxnSpPr>
            <p:cNvPr id="10" name="Straight Connector 9">
              <a:extLst>
                <a:ext uri="{FF2B5EF4-FFF2-40B4-BE49-F238E27FC236}">
                  <a16:creationId xmlns:a16="http://schemas.microsoft.com/office/drawing/2014/main" id="{C66C2FD4-E258-EE6B-8A6A-C0A323C04983}"/>
                </a:ext>
              </a:extLst>
            </p:cNvPr>
            <p:cNvCxnSpPr>
              <a:cxnSpLocks/>
            </p:cNvCxnSpPr>
            <p:nvPr/>
          </p:nvCxnSpPr>
          <p:spPr>
            <a:xfrm>
              <a:off x="4515236" y="3546159"/>
              <a:ext cx="1766467"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1" name="TextBox 10">
            <a:extLst>
              <a:ext uri="{FF2B5EF4-FFF2-40B4-BE49-F238E27FC236}">
                <a16:creationId xmlns:a16="http://schemas.microsoft.com/office/drawing/2014/main" id="{BD3F26FE-802F-6071-7A2C-4E4EAB1CAC8E}"/>
              </a:ext>
            </a:extLst>
          </p:cNvPr>
          <p:cNvSpPr txBox="1"/>
          <p:nvPr/>
        </p:nvSpPr>
        <p:spPr>
          <a:xfrm>
            <a:off x="6614591" y="3999939"/>
            <a:ext cx="4523995" cy="2246769"/>
          </a:xfrm>
          <a:prstGeom prst="rect">
            <a:avLst/>
          </a:prstGeom>
          <a:noFill/>
          <a:ln>
            <a:solidFill>
              <a:srgbClr val="00B050"/>
            </a:solidFill>
          </a:ln>
        </p:spPr>
        <p:txBody>
          <a:bodyPr wrap="none" rtlCol="0">
            <a:spAutoFit/>
          </a:bodyPr>
          <a:lstStyle/>
          <a:p>
            <a:pPr marL="342900" indent="-342900">
              <a:spcBef>
                <a:spcPts val="600"/>
              </a:spcBef>
              <a:spcAft>
                <a:spcPts val="600"/>
              </a:spcAft>
              <a:buFont typeface="Arial" panose="020B0604020202020204" pitchFamily="34" charset="0"/>
              <a:buChar char="•"/>
            </a:pPr>
            <a:r>
              <a:rPr lang="en-US" sz="2000" b="1" dirty="0">
                <a:solidFill>
                  <a:schemeClr val="accent6">
                    <a:lumMod val="75000"/>
                  </a:schemeClr>
                </a:solidFill>
                <a:latin typeface="Helvetica" pitchFamily="2" charset="0"/>
              </a:rPr>
              <a:t>Lower Equity Multiplier</a:t>
            </a:r>
            <a:endParaRPr lang="en-US" sz="2000" dirty="0">
              <a:solidFill>
                <a:schemeClr val="accent6">
                  <a:lumMod val="75000"/>
                </a:schemeClr>
              </a:solidFill>
              <a:latin typeface="Helvetica" pitchFamily="2" charset="0"/>
            </a:endParaRPr>
          </a:p>
          <a:p>
            <a:pPr marL="800100" lvl="1" indent="-342900">
              <a:spcBef>
                <a:spcPts val="600"/>
              </a:spcBef>
              <a:spcAft>
                <a:spcPts val="600"/>
              </a:spcAft>
              <a:buFont typeface="Arial" panose="020B0604020202020204" pitchFamily="34" charset="0"/>
              <a:buChar char="•"/>
            </a:pPr>
            <a:r>
              <a:rPr lang="en-US" sz="2000" dirty="0">
                <a:solidFill>
                  <a:schemeClr val="accent6">
                    <a:lumMod val="75000"/>
                  </a:schemeClr>
                </a:solidFill>
                <a:latin typeface="Helvetica" pitchFamily="2" charset="0"/>
              </a:rPr>
              <a:t>More assets financed by equity</a:t>
            </a:r>
          </a:p>
          <a:p>
            <a:pPr marL="800100" lvl="1" indent="-342900">
              <a:spcBef>
                <a:spcPts val="600"/>
              </a:spcBef>
              <a:spcAft>
                <a:spcPts val="600"/>
              </a:spcAft>
              <a:buFont typeface="Arial" panose="020B0604020202020204" pitchFamily="34" charset="0"/>
              <a:buChar char="•"/>
            </a:pPr>
            <a:r>
              <a:rPr lang="en-US" sz="2000" dirty="0">
                <a:solidFill>
                  <a:schemeClr val="accent6">
                    <a:lumMod val="75000"/>
                  </a:schemeClr>
                </a:solidFill>
                <a:latin typeface="Helvetica" pitchFamily="2" charset="0"/>
              </a:rPr>
              <a:t>Lower leverage</a:t>
            </a:r>
          </a:p>
          <a:p>
            <a:pPr marL="800100" lvl="1" indent="-342900">
              <a:spcBef>
                <a:spcPts val="600"/>
              </a:spcBef>
              <a:spcAft>
                <a:spcPts val="600"/>
              </a:spcAft>
              <a:buFont typeface="Arial" panose="020B0604020202020204" pitchFamily="34" charset="0"/>
              <a:buChar char="•"/>
            </a:pPr>
            <a:r>
              <a:rPr lang="en-US" sz="2000" dirty="0">
                <a:solidFill>
                  <a:schemeClr val="accent6">
                    <a:lumMod val="75000"/>
                  </a:schemeClr>
                </a:solidFill>
                <a:latin typeface="Helvetica" pitchFamily="2" charset="0"/>
              </a:rPr>
              <a:t>Greater financial stability</a:t>
            </a:r>
          </a:p>
          <a:p>
            <a:pPr marL="800100" lvl="1" indent="-342900">
              <a:spcBef>
                <a:spcPts val="600"/>
              </a:spcBef>
              <a:spcAft>
                <a:spcPts val="600"/>
              </a:spcAft>
              <a:buFont typeface="Arial" panose="020B0604020202020204" pitchFamily="34" charset="0"/>
              <a:buChar char="•"/>
            </a:pPr>
            <a:r>
              <a:rPr lang="en-US" sz="2000" b="1" dirty="0">
                <a:solidFill>
                  <a:schemeClr val="accent6">
                    <a:lumMod val="75000"/>
                  </a:schemeClr>
                </a:solidFill>
                <a:latin typeface="Helvetica" pitchFamily="2" charset="0"/>
              </a:rPr>
              <a:t>Lower financial risk</a:t>
            </a:r>
            <a:endParaRPr lang="en-US" sz="2000" dirty="0">
              <a:solidFill>
                <a:schemeClr val="accent6">
                  <a:lumMod val="75000"/>
                </a:schemeClr>
              </a:solidFill>
              <a:latin typeface="Helvetica" pitchFamily="2" charset="0"/>
            </a:endParaRPr>
          </a:p>
        </p:txBody>
      </p:sp>
    </p:spTree>
    <p:extLst>
      <p:ext uri="{BB962C8B-B14F-4D97-AF65-F5344CB8AC3E}">
        <p14:creationId xmlns:p14="http://schemas.microsoft.com/office/powerpoint/2010/main" val="3550565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4EBF7-8FAF-EA66-0836-5E53DC68B09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48BE74C-E555-706C-38CE-74E089AC636B}"/>
              </a:ext>
            </a:extLst>
          </p:cNvPr>
          <p:cNvSpPr/>
          <p:nvPr/>
        </p:nvSpPr>
        <p:spPr>
          <a:xfrm>
            <a:off x="0" y="-1"/>
            <a:ext cx="12192000" cy="1033494"/>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AE72BA-FF2A-A19B-867B-A2CBD80E5015}"/>
              </a:ext>
            </a:extLst>
          </p:cNvPr>
          <p:cNvSpPr>
            <a:spLocks noGrp="1"/>
          </p:cNvSpPr>
          <p:nvPr>
            <p:ph type="title"/>
          </p:nvPr>
        </p:nvSpPr>
        <p:spPr>
          <a:xfrm>
            <a:off x="419559" y="59543"/>
            <a:ext cx="10515600" cy="982663"/>
          </a:xfrm>
        </p:spPr>
        <p:txBody>
          <a:bodyPr>
            <a:normAutofit/>
          </a:bodyPr>
          <a:lstStyle/>
          <a:p>
            <a:r>
              <a:rPr lang="en-US" b="1" dirty="0">
                <a:solidFill>
                  <a:schemeClr val="bg1"/>
                </a:solidFill>
                <a:latin typeface="Helvetica" pitchFamily="2" charset="0"/>
              </a:rPr>
              <a:t>3- Example (3-1 to 3-3)</a:t>
            </a:r>
          </a:p>
        </p:txBody>
      </p:sp>
      <p:sp>
        <p:nvSpPr>
          <p:cNvPr id="7" name="TextBox 6">
            <a:extLst>
              <a:ext uri="{FF2B5EF4-FFF2-40B4-BE49-F238E27FC236}">
                <a16:creationId xmlns:a16="http://schemas.microsoft.com/office/drawing/2014/main" id="{3C049BFB-BFE9-9047-E4FA-C07EC7C15AD4}"/>
              </a:ext>
            </a:extLst>
          </p:cNvPr>
          <p:cNvSpPr txBox="1"/>
          <p:nvPr/>
        </p:nvSpPr>
        <p:spPr>
          <a:xfrm>
            <a:off x="252919" y="1491590"/>
            <a:ext cx="11781026" cy="923330"/>
          </a:xfrm>
          <a:prstGeom prst="rect">
            <a:avLst/>
          </a:prstGeom>
          <a:noFill/>
        </p:spPr>
        <p:txBody>
          <a:bodyPr wrap="square" rtlCol="0">
            <a:spAutoFit/>
          </a:bodyPr>
          <a:lstStyle/>
          <a:p>
            <a:pPr>
              <a:spcBef>
                <a:spcPts val="600"/>
              </a:spcBef>
              <a:spcAft>
                <a:spcPts val="600"/>
              </a:spcAft>
            </a:pPr>
            <a:r>
              <a:rPr lang="en-US" sz="2200" dirty="0">
                <a:latin typeface="Helvetica" pitchFamily="2" charset="0"/>
              </a:rPr>
              <a:t>The following information is available for </a:t>
            </a:r>
            <a:r>
              <a:rPr lang="en-US" sz="2200" b="1" dirty="0">
                <a:latin typeface="Helvetica" pitchFamily="2" charset="0"/>
              </a:rPr>
              <a:t>ABC Manufacturing Co.</a:t>
            </a:r>
            <a:r>
              <a:rPr lang="en-US" sz="2200" dirty="0">
                <a:latin typeface="Helvetica" pitchFamily="2" charset="0"/>
              </a:rPr>
              <a:t> at the end of the year:</a:t>
            </a:r>
          </a:p>
          <a:p>
            <a:pPr>
              <a:spcBef>
                <a:spcPts val="600"/>
              </a:spcBef>
              <a:spcAft>
                <a:spcPts val="600"/>
              </a:spcAft>
            </a:pPr>
            <a:r>
              <a:rPr lang="en-US" sz="2200" b="1" dirty="0">
                <a:latin typeface="Helvetica" pitchFamily="2" charset="0"/>
              </a:rPr>
              <a:t>Total Assets:</a:t>
            </a:r>
            <a:r>
              <a:rPr lang="en-US" sz="2200" dirty="0">
                <a:latin typeface="Helvetica" pitchFamily="2" charset="0"/>
              </a:rPr>
              <a:t> $1,200,000, </a:t>
            </a:r>
            <a:r>
              <a:rPr lang="en-US" sz="2200" b="1" dirty="0">
                <a:latin typeface="Helvetica" pitchFamily="2" charset="0"/>
              </a:rPr>
              <a:t>Total Debt:</a:t>
            </a:r>
            <a:r>
              <a:rPr lang="en-US" sz="2200" dirty="0">
                <a:latin typeface="Helvetica" pitchFamily="2" charset="0"/>
              </a:rPr>
              <a:t> $720,000, </a:t>
            </a:r>
            <a:r>
              <a:rPr lang="en-US" sz="2200" b="1" dirty="0">
                <a:latin typeface="Helvetica" pitchFamily="2" charset="0"/>
              </a:rPr>
              <a:t>Shareholders’ Equity:</a:t>
            </a:r>
            <a:r>
              <a:rPr lang="en-US" sz="2200" dirty="0">
                <a:latin typeface="Helvetica" pitchFamily="2" charset="0"/>
              </a:rPr>
              <a:t> $480,000</a:t>
            </a:r>
          </a:p>
        </p:txBody>
      </p:sp>
      <p:sp>
        <p:nvSpPr>
          <p:cNvPr id="9" name="TextBox 8">
            <a:extLst>
              <a:ext uri="{FF2B5EF4-FFF2-40B4-BE49-F238E27FC236}">
                <a16:creationId xmlns:a16="http://schemas.microsoft.com/office/drawing/2014/main" id="{645EB0F0-3D90-0A12-2FF7-92549F243A35}"/>
              </a:ext>
            </a:extLst>
          </p:cNvPr>
          <p:cNvSpPr txBox="1"/>
          <p:nvPr/>
        </p:nvSpPr>
        <p:spPr>
          <a:xfrm>
            <a:off x="252919" y="1129319"/>
            <a:ext cx="1843710" cy="400110"/>
          </a:xfrm>
          <a:prstGeom prst="rect">
            <a:avLst/>
          </a:prstGeom>
          <a:noFill/>
        </p:spPr>
        <p:txBody>
          <a:bodyPr wrap="square" rtlCol="0">
            <a:spAutoFit/>
          </a:bodyPr>
          <a:lstStyle/>
          <a:p>
            <a:r>
              <a:rPr lang="en-US" sz="2000" b="1" dirty="0">
                <a:latin typeface="Helvetica" pitchFamily="2" charset="0"/>
                <a:cs typeface="Times New Roman" panose="02020603050405020304" pitchFamily="18" charset="0"/>
              </a:rPr>
              <a:t>Question-6</a:t>
            </a:r>
          </a:p>
        </p:txBody>
      </p:sp>
      <p:grpSp>
        <p:nvGrpSpPr>
          <p:cNvPr id="5" name="Group 4">
            <a:extLst>
              <a:ext uri="{FF2B5EF4-FFF2-40B4-BE49-F238E27FC236}">
                <a16:creationId xmlns:a16="http://schemas.microsoft.com/office/drawing/2014/main" id="{6305F294-C764-F408-689A-963A45179EEB}"/>
              </a:ext>
            </a:extLst>
          </p:cNvPr>
          <p:cNvGrpSpPr/>
          <p:nvPr/>
        </p:nvGrpSpPr>
        <p:grpSpPr>
          <a:xfrm>
            <a:off x="3252933" y="2594307"/>
            <a:ext cx="3042067" cy="961397"/>
            <a:chOff x="3252933" y="2594307"/>
            <a:chExt cx="3042067" cy="961397"/>
          </a:xfrm>
        </p:grpSpPr>
        <p:grpSp>
          <p:nvGrpSpPr>
            <p:cNvPr id="18" name="Group 17">
              <a:extLst>
                <a:ext uri="{FF2B5EF4-FFF2-40B4-BE49-F238E27FC236}">
                  <a16:creationId xmlns:a16="http://schemas.microsoft.com/office/drawing/2014/main" id="{135D3CB3-5372-C87E-6783-4B886DA2F5B2}"/>
                </a:ext>
              </a:extLst>
            </p:cNvPr>
            <p:cNvGrpSpPr/>
            <p:nvPr/>
          </p:nvGrpSpPr>
          <p:grpSpPr>
            <a:xfrm>
              <a:off x="3252933" y="2594307"/>
              <a:ext cx="2615054" cy="961397"/>
              <a:chOff x="3880229" y="3041208"/>
              <a:chExt cx="2615054" cy="961397"/>
            </a:xfrm>
          </p:grpSpPr>
          <p:sp>
            <p:nvSpPr>
              <p:cNvPr id="11" name="TextBox 10">
                <a:extLst>
                  <a:ext uri="{FF2B5EF4-FFF2-40B4-BE49-F238E27FC236}">
                    <a16:creationId xmlns:a16="http://schemas.microsoft.com/office/drawing/2014/main" id="{61C7C0E0-299F-C842-2D62-2175EB34E8E3}"/>
                  </a:ext>
                </a:extLst>
              </p:cNvPr>
              <p:cNvSpPr txBox="1"/>
              <p:nvPr/>
            </p:nvSpPr>
            <p:spPr>
              <a:xfrm>
                <a:off x="3880229" y="3321852"/>
                <a:ext cx="297455" cy="400110"/>
              </a:xfrm>
              <a:prstGeom prst="rect">
                <a:avLst/>
              </a:prstGeom>
              <a:noFill/>
            </p:spPr>
            <p:txBody>
              <a:bodyPr wrap="square" rtlCol="0">
                <a:spAutoFit/>
              </a:bodyPr>
              <a:lstStyle/>
              <a:p>
                <a:r>
                  <a:rPr lang="en-US" sz="2000" b="1" dirty="0">
                    <a:solidFill>
                      <a:srgbClr val="C00000"/>
                    </a:solidFill>
                    <a:latin typeface="Helvetica" pitchFamily="2" charset="0"/>
                  </a:rPr>
                  <a:t>=</a:t>
                </a:r>
              </a:p>
            </p:txBody>
          </p:sp>
          <p:sp>
            <p:nvSpPr>
              <p:cNvPr id="12" name="TextBox 11">
                <a:extLst>
                  <a:ext uri="{FF2B5EF4-FFF2-40B4-BE49-F238E27FC236}">
                    <a16:creationId xmlns:a16="http://schemas.microsoft.com/office/drawing/2014/main" id="{9921BBD5-D8A9-5676-BC24-58E20EA5557A}"/>
                  </a:ext>
                </a:extLst>
              </p:cNvPr>
              <p:cNvSpPr txBox="1">
                <a:spLocks/>
              </p:cNvSpPr>
              <p:nvPr/>
            </p:nvSpPr>
            <p:spPr>
              <a:xfrm>
                <a:off x="4716113" y="3041208"/>
                <a:ext cx="1419299" cy="400110"/>
              </a:xfrm>
              <a:prstGeom prst="rect">
                <a:avLst/>
              </a:prstGeom>
              <a:noFill/>
            </p:spPr>
            <p:txBody>
              <a:bodyPr wrap="none" rtlCol="0">
                <a:spAutoFit/>
              </a:bodyPr>
              <a:lstStyle/>
              <a:p>
                <a:pPr algn="ctr"/>
                <a:r>
                  <a:rPr lang="en-US" sz="2000" b="1" dirty="0">
                    <a:solidFill>
                      <a:srgbClr val="C00000"/>
                    </a:solidFill>
                    <a:latin typeface="Helvetica" pitchFamily="2" charset="0"/>
                  </a:rPr>
                  <a:t>Total Debt</a:t>
                </a:r>
              </a:p>
            </p:txBody>
          </p:sp>
          <p:sp>
            <p:nvSpPr>
              <p:cNvPr id="13" name="TextBox 12">
                <a:extLst>
                  <a:ext uri="{FF2B5EF4-FFF2-40B4-BE49-F238E27FC236}">
                    <a16:creationId xmlns:a16="http://schemas.microsoft.com/office/drawing/2014/main" id="{D90F6B44-4FA6-FCF3-3C84-1FA55CC0A8B5}"/>
                  </a:ext>
                </a:extLst>
              </p:cNvPr>
              <p:cNvSpPr txBox="1">
                <a:spLocks/>
              </p:cNvSpPr>
              <p:nvPr/>
            </p:nvSpPr>
            <p:spPr>
              <a:xfrm>
                <a:off x="4567851" y="3602495"/>
                <a:ext cx="1680845" cy="400110"/>
              </a:xfrm>
              <a:prstGeom prst="rect">
                <a:avLst/>
              </a:prstGeom>
              <a:noFill/>
            </p:spPr>
            <p:txBody>
              <a:bodyPr wrap="none" rtlCol="0">
                <a:spAutoFit/>
              </a:bodyPr>
              <a:lstStyle/>
              <a:p>
                <a:pPr algn="ctr"/>
                <a:r>
                  <a:rPr lang="en-US" sz="2000" b="1" dirty="0">
                    <a:solidFill>
                      <a:srgbClr val="C00000"/>
                    </a:solidFill>
                    <a:latin typeface="Helvetica" pitchFamily="2" charset="0"/>
                  </a:rPr>
                  <a:t>Total Assets</a:t>
                </a:r>
              </a:p>
            </p:txBody>
          </p:sp>
          <p:cxnSp>
            <p:nvCxnSpPr>
              <p:cNvPr id="15" name="Straight Connector 14">
                <a:extLst>
                  <a:ext uri="{FF2B5EF4-FFF2-40B4-BE49-F238E27FC236}">
                    <a16:creationId xmlns:a16="http://schemas.microsoft.com/office/drawing/2014/main" id="{1D7971E8-391B-0078-4651-1FB3097CC683}"/>
                  </a:ext>
                </a:extLst>
              </p:cNvPr>
              <p:cNvCxnSpPr>
                <a:cxnSpLocks/>
              </p:cNvCxnSpPr>
              <p:nvPr/>
            </p:nvCxnSpPr>
            <p:spPr>
              <a:xfrm>
                <a:off x="4321266" y="3546159"/>
                <a:ext cx="2174017"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6" name="TextBox 15">
              <a:extLst>
                <a:ext uri="{FF2B5EF4-FFF2-40B4-BE49-F238E27FC236}">
                  <a16:creationId xmlns:a16="http://schemas.microsoft.com/office/drawing/2014/main" id="{B27394E8-EFE1-1983-A23C-C72593DF4F4B}"/>
                </a:ext>
              </a:extLst>
            </p:cNvPr>
            <p:cNvSpPr txBox="1"/>
            <p:nvPr/>
          </p:nvSpPr>
          <p:spPr>
            <a:xfrm>
              <a:off x="5997545" y="2902788"/>
              <a:ext cx="297455" cy="400110"/>
            </a:xfrm>
            <a:prstGeom prst="rect">
              <a:avLst/>
            </a:prstGeom>
            <a:noFill/>
          </p:spPr>
          <p:txBody>
            <a:bodyPr wrap="square" rtlCol="0">
              <a:spAutoFit/>
            </a:bodyPr>
            <a:lstStyle/>
            <a:p>
              <a:r>
                <a:rPr lang="en-US" sz="2000" b="1" dirty="0">
                  <a:solidFill>
                    <a:srgbClr val="C00000"/>
                  </a:solidFill>
                  <a:latin typeface="Helvetica" pitchFamily="2" charset="0"/>
                </a:rPr>
                <a:t>=</a:t>
              </a:r>
            </a:p>
          </p:txBody>
        </p:sp>
      </p:grpSp>
      <p:grpSp>
        <p:nvGrpSpPr>
          <p:cNvPr id="8" name="Group 7">
            <a:extLst>
              <a:ext uri="{FF2B5EF4-FFF2-40B4-BE49-F238E27FC236}">
                <a16:creationId xmlns:a16="http://schemas.microsoft.com/office/drawing/2014/main" id="{B467FB46-BFB5-DCB5-6880-A21D01711213}"/>
              </a:ext>
            </a:extLst>
          </p:cNvPr>
          <p:cNvGrpSpPr/>
          <p:nvPr/>
        </p:nvGrpSpPr>
        <p:grpSpPr>
          <a:xfrm>
            <a:off x="6471057" y="2591204"/>
            <a:ext cx="1942074" cy="961397"/>
            <a:chOff x="6471057" y="2591204"/>
            <a:chExt cx="1942074" cy="961397"/>
          </a:xfrm>
        </p:grpSpPr>
        <p:sp>
          <p:nvSpPr>
            <p:cNvPr id="17" name="TextBox 16">
              <a:extLst>
                <a:ext uri="{FF2B5EF4-FFF2-40B4-BE49-F238E27FC236}">
                  <a16:creationId xmlns:a16="http://schemas.microsoft.com/office/drawing/2014/main" id="{C913DC0E-FCAF-ABCB-46F3-CC3EE28D7A26}"/>
                </a:ext>
              </a:extLst>
            </p:cNvPr>
            <p:cNvSpPr txBox="1">
              <a:spLocks/>
            </p:cNvSpPr>
            <p:nvPr/>
          </p:nvSpPr>
          <p:spPr>
            <a:xfrm>
              <a:off x="6657670" y="2591204"/>
              <a:ext cx="1253869" cy="400110"/>
            </a:xfrm>
            <a:prstGeom prst="rect">
              <a:avLst/>
            </a:prstGeom>
            <a:noFill/>
          </p:spPr>
          <p:txBody>
            <a:bodyPr wrap="none" rtlCol="0">
              <a:spAutoFit/>
            </a:bodyPr>
            <a:lstStyle/>
            <a:p>
              <a:pPr algn="ctr"/>
              <a:r>
                <a:rPr lang="en-US" sz="2000" b="1" dirty="0">
                  <a:solidFill>
                    <a:srgbClr val="C00000"/>
                  </a:solidFill>
                  <a:latin typeface="Helvetica" pitchFamily="2" charset="0"/>
                </a:rPr>
                <a:t>$720,000</a:t>
              </a:r>
            </a:p>
          </p:txBody>
        </p:sp>
        <p:sp>
          <p:nvSpPr>
            <p:cNvPr id="19" name="TextBox 18">
              <a:extLst>
                <a:ext uri="{FF2B5EF4-FFF2-40B4-BE49-F238E27FC236}">
                  <a16:creationId xmlns:a16="http://schemas.microsoft.com/office/drawing/2014/main" id="{25EBD414-CF02-1487-55EA-64E403024F01}"/>
                </a:ext>
              </a:extLst>
            </p:cNvPr>
            <p:cNvSpPr txBox="1">
              <a:spLocks/>
            </p:cNvSpPr>
            <p:nvPr/>
          </p:nvSpPr>
          <p:spPr>
            <a:xfrm>
              <a:off x="6547438" y="3152491"/>
              <a:ext cx="1467068" cy="400110"/>
            </a:xfrm>
            <a:prstGeom prst="rect">
              <a:avLst/>
            </a:prstGeom>
            <a:noFill/>
          </p:spPr>
          <p:txBody>
            <a:bodyPr wrap="none" rtlCol="0">
              <a:spAutoFit/>
            </a:bodyPr>
            <a:lstStyle/>
            <a:p>
              <a:pPr algn="ctr"/>
              <a:r>
                <a:rPr lang="en-US" sz="2000" b="1" dirty="0">
                  <a:solidFill>
                    <a:srgbClr val="C00000"/>
                  </a:solidFill>
                  <a:latin typeface="Helvetica" pitchFamily="2" charset="0"/>
                </a:rPr>
                <a:t>$1,200,000</a:t>
              </a:r>
            </a:p>
          </p:txBody>
        </p:sp>
        <p:cxnSp>
          <p:nvCxnSpPr>
            <p:cNvPr id="20" name="Straight Connector 19">
              <a:extLst>
                <a:ext uri="{FF2B5EF4-FFF2-40B4-BE49-F238E27FC236}">
                  <a16:creationId xmlns:a16="http://schemas.microsoft.com/office/drawing/2014/main" id="{9DEC614D-9492-D38B-49D9-6C125D7E5E4C}"/>
                </a:ext>
              </a:extLst>
            </p:cNvPr>
            <p:cNvCxnSpPr>
              <a:cxnSpLocks/>
            </p:cNvCxnSpPr>
            <p:nvPr/>
          </p:nvCxnSpPr>
          <p:spPr>
            <a:xfrm>
              <a:off x="6471057" y="3096155"/>
              <a:ext cx="1613489"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FBCEDDF2-E10A-EA81-D08B-4B5BA24102D8}"/>
                </a:ext>
              </a:extLst>
            </p:cNvPr>
            <p:cNvSpPr txBox="1"/>
            <p:nvPr/>
          </p:nvSpPr>
          <p:spPr>
            <a:xfrm>
              <a:off x="8115676" y="2871848"/>
              <a:ext cx="297455" cy="430887"/>
            </a:xfrm>
            <a:prstGeom prst="rect">
              <a:avLst/>
            </a:prstGeom>
            <a:noFill/>
          </p:spPr>
          <p:txBody>
            <a:bodyPr wrap="square" rtlCol="0">
              <a:spAutoFit/>
            </a:bodyPr>
            <a:lstStyle/>
            <a:p>
              <a:r>
                <a:rPr lang="en-US" sz="2200" b="1" dirty="0">
                  <a:solidFill>
                    <a:srgbClr val="C00000"/>
                  </a:solidFill>
                  <a:latin typeface="Helvetica" pitchFamily="2" charset="0"/>
                </a:rPr>
                <a:t>=</a:t>
              </a:r>
            </a:p>
          </p:txBody>
        </p:sp>
      </p:grpSp>
      <p:sp>
        <p:nvSpPr>
          <p:cNvPr id="23" name="TextBox 22">
            <a:extLst>
              <a:ext uri="{FF2B5EF4-FFF2-40B4-BE49-F238E27FC236}">
                <a16:creationId xmlns:a16="http://schemas.microsoft.com/office/drawing/2014/main" id="{D2641480-AD52-BD4D-5EB2-2ADCA7802714}"/>
              </a:ext>
            </a:extLst>
          </p:cNvPr>
          <p:cNvSpPr txBox="1"/>
          <p:nvPr/>
        </p:nvSpPr>
        <p:spPr>
          <a:xfrm>
            <a:off x="8562765" y="2836077"/>
            <a:ext cx="784189" cy="461665"/>
          </a:xfrm>
          <a:prstGeom prst="rect">
            <a:avLst/>
          </a:prstGeom>
          <a:noFill/>
        </p:spPr>
        <p:txBody>
          <a:bodyPr wrap="none" rtlCol="0">
            <a:spAutoFit/>
          </a:bodyPr>
          <a:lstStyle/>
          <a:p>
            <a:r>
              <a:rPr lang="en-US" sz="2400" b="1" dirty="0">
                <a:solidFill>
                  <a:srgbClr val="C00000"/>
                </a:solidFill>
                <a:latin typeface="Helvetica" pitchFamily="2" charset="0"/>
              </a:rPr>
              <a:t>0.60</a:t>
            </a:r>
          </a:p>
        </p:txBody>
      </p:sp>
      <p:sp>
        <p:nvSpPr>
          <p:cNvPr id="4" name="TextBox 3">
            <a:extLst>
              <a:ext uri="{FF2B5EF4-FFF2-40B4-BE49-F238E27FC236}">
                <a16:creationId xmlns:a16="http://schemas.microsoft.com/office/drawing/2014/main" id="{777824FD-D7FD-89B8-248E-72B9A544A35A}"/>
              </a:ext>
            </a:extLst>
          </p:cNvPr>
          <p:cNvSpPr txBox="1">
            <a:spLocks/>
          </p:cNvSpPr>
          <p:nvPr/>
        </p:nvSpPr>
        <p:spPr>
          <a:xfrm>
            <a:off x="932438" y="2874951"/>
            <a:ext cx="2131032" cy="400110"/>
          </a:xfrm>
          <a:prstGeom prst="rect">
            <a:avLst/>
          </a:prstGeom>
          <a:noFill/>
        </p:spPr>
        <p:txBody>
          <a:bodyPr wrap="none" rtlCol="0">
            <a:spAutoFit/>
          </a:bodyPr>
          <a:lstStyle/>
          <a:p>
            <a:pPr algn="ctr"/>
            <a:r>
              <a:rPr lang="en-US" sz="2000" b="1" dirty="0">
                <a:solidFill>
                  <a:srgbClr val="C00000"/>
                </a:solidFill>
                <a:latin typeface="Helvetica" pitchFamily="2" charset="0"/>
                <a:cs typeface="Times New Roman" panose="02020603050405020304" pitchFamily="18" charset="0"/>
              </a:rPr>
              <a:t>Total Debt Ratio</a:t>
            </a:r>
          </a:p>
        </p:txBody>
      </p:sp>
      <p:grpSp>
        <p:nvGrpSpPr>
          <p:cNvPr id="14" name="Group 13">
            <a:extLst>
              <a:ext uri="{FF2B5EF4-FFF2-40B4-BE49-F238E27FC236}">
                <a16:creationId xmlns:a16="http://schemas.microsoft.com/office/drawing/2014/main" id="{319E6EAF-CAC0-873B-F1CF-8DE15B115571}"/>
              </a:ext>
            </a:extLst>
          </p:cNvPr>
          <p:cNvGrpSpPr/>
          <p:nvPr/>
        </p:nvGrpSpPr>
        <p:grpSpPr>
          <a:xfrm>
            <a:off x="3252933" y="4000788"/>
            <a:ext cx="3042067" cy="961397"/>
            <a:chOff x="3252933" y="2594307"/>
            <a:chExt cx="3042067" cy="961397"/>
          </a:xfrm>
        </p:grpSpPr>
        <p:grpSp>
          <p:nvGrpSpPr>
            <p:cNvPr id="21" name="Group 20">
              <a:extLst>
                <a:ext uri="{FF2B5EF4-FFF2-40B4-BE49-F238E27FC236}">
                  <a16:creationId xmlns:a16="http://schemas.microsoft.com/office/drawing/2014/main" id="{68369987-AB05-E4F7-68D6-E1B762005114}"/>
                </a:ext>
              </a:extLst>
            </p:cNvPr>
            <p:cNvGrpSpPr/>
            <p:nvPr/>
          </p:nvGrpSpPr>
          <p:grpSpPr>
            <a:xfrm>
              <a:off x="3252933" y="2594307"/>
              <a:ext cx="2615054" cy="961397"/>
              <a:chOff x="3880229" y="3041208"/>
              <a:chExt cx="2615054" cy="961397"/>
            </a:xfrm>
          </p:grpSpPr>
          <p:sp>
            <p:nvSpPr>
              <p:cNvPr id="32" name="TextBox 31">
                <a:extLst>
                  <a:ext uri="{FF2B5EF4-FFF2-40B4-BE49-F238E27FC236}">
                    <a16:creationId xmlns:a16="http://schemas.microsoft.com/office/drawing/2014/main" id="{F516F79E-394E-578E-6348-FAA15755FEF2}"/>
                  </a:ext>
                </a:extLst>
              </p:cNvPr>
              <p:cNvSpPr txBox="1"/>
              <p:nvPr/>
            </p:nvSpPr>
            <p:spPr>
              <a:xfrm>
                <a:off x="3880229" y="3321852"/>
                <a:ext cx="297455" cy="400110"/>
              </a:xfrm>
              <a:prstGeom prst="rect">
                <a:avLst/>
              </a:prstGeom>
              <a:noFill/>
            </p:spPr>
            <p:txBody>
              <a:bodyPr wrap="square" rtlCol="0">
                <a:spAutoFit/>
              </a:bodyPr>
              <a:lstStyle/>
              <a:p>
                <a:r>
                  <a:rPr lang="en-US" sz="2000" b="1" dirty="0">
                    <a:solidFill>
                      <a:srgbClr val="0070C0"/>
                    </a:solidFill>
                    <a:latin typeface="Helvetica" pitchFamily="2" charset="0"/>
                  </a:rPr>
                  <a:t>=</a:t>
                </a:r>
              </a:p>
            </p:txBody>
          </p:sp>
          <p:sp>
            <p:nvSpPr>
              <p:cNvPr id="33" name="TextBox 32">
                <a:extLst>
                  <a:ext uri="{FF2B5EF4-FFF2-40B4-BE49-F238E27FC236}">
                    <a16:creationId xmlns:a16="http://schemas.microsoft.com/office/drawing/2014/main" id="{EE51C962-48A7-AE94-A6BE-FC669C25970B}"/>
                  </a:ext>
                </a:extLst>
              </p:cNvPr>
              <p:cNvSpPr txBox="1">
                <a:spLocks/>
              </p:cNvSpPr>
              <p:nvPr/>
            </p:nvSpPr>
            <p:spPr>
              <a:xfrm>
                <a:off x="4716114" y="3041208"/>
                <a:ext cx="1419299" cy="400110"/>
              </a:xfrm>
              <a:prstGeom prst="rect">
                <a:avLst/>
              </a:prstGeom>
              <a:noFill/>
            </p:spPr>
            <p:txBody>
              <a:bodyPr wrap="none" rtlCol="0">
                <a:spAutoFit/>
              </a:bodyPr>
              <a:lstStyle/>
              <a:p>
                <a:pPr algn="ctr"/>
                <a:r>
                  <a:rPr lang="en-US" sz="2000" b="1" dirty="0">
                    <a:solidFill>
                      <a:srgbClr val="0070C0"/>
                    </a:solidFill>
                    <a:latin typeface="Helvetica" pitchFamily="2" charset="0"/>
                  </a:rPr>
                  <a:t>Total Debt</a:t>
                </a:r>
              </a:p>
            </p:txBody>
          </p:sp>
          <p:sp>
            <p:nvSpPr>
              <p:cNvPr id="34" name="TextBox 33">
                <a:extLst>
                  <a:ext uri="{FF2B5EF4-FFF2-40B4-BE49-F238E27FC236}">
                    <a16:creationId xmlns:a16="http://schemas.microsoft.com/office/drawing/2014/main" id="{A25ABE7A-E2C5-5D63-250E-45BDD2861922}"/>
                  </a:ext>
                </a:extLst>
              </p:cNvPr>
              <p:cNvSpPr txBox="1">
                <a:spLocks/>
              </p:cNvSpPr>
              <p:nvPr/>
            </p:nvSpPr>
            <p:spPr>
              <a:xfrm>
                <a:off x="4592026" y="3602495"/>
                <a:ext cx="1632498" cy="400110"/>
              </a:xfrm>
              <a:prstGeom prst="rect">
                <a:avLst/>
              </a:prstGeom>
              <a:noFill/>
            </p:spPr>
            <p:txBody>
              <a:bodyPr wrap="none" rtlCol="0">
                <a:spAutoFit/>
              </a:bodyPr>
              <a:lstStyle/>
              <a:p>
                <a:pPr algn="ctr"/>
                <a:r>
                  <a:rPr lang="en-US" sz="2000" b="1" dirty="0">
                    <a:solidFill>
                      <a:srgbClr val="0070C0"/>
                    </a:solidFill>
                    <a:latin typeface="Helvetica" pitchFamily="2" charset="0"/>
                  </a:rPr>
                  <a:t>Total Equity</a:t>
                </a:r>
              </a:p>
            </p:txBody>
          </p:sp>
          <p:cxnSp>
            <p:nvCxnSpPr>
              <p:cNvPr id="35" name="Straight Connector 34">
                <a:extLst>
                  <a:ext uri="{FF2B5EF4-FFF2-40B4-BE49-F238E27FC236}">
                    <a16:creationId xmlns:a16="http://schemas.microsoft.com/office/drawing/2014/main" id="{B1108442-1D4A-EBC4-7EC6-E5D1CC0CD4F9}"/>
                  </a:ext>
                </a:extLst>
              </p:cNvPr>
              <p:cNvCxnSpPr>
                <a:cxnSpLocks/>
              </p:cNvCxnSpPr>
              <p:nvPr/>
            </p:nvCxnSpPr>
            <p:spPr>
              <a:xfrm>
                <a:off x="4321266" y="3546159"/>
                <a:ext cx="2174017"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0" name="TextBox 29">
              <a:extLst>
                <a:ext uri="{FF2B5EF4-FFF2-40B4-BE49-F238E27FC236}">
                  <a16:creationId xmlns:a16="http://schemas.microsoft.com/office/drawing/2014/main" id="{5188BAAE-F4FF-5FB2-B722-55E8909639DA}"/>
                </a:ext>
              </a:extLst>
            </p:cNvPr>
            <p:cNvSpPr txBox="1"/>
            <p:nvPr/>
          </p:nvSpPr>
          <p:spPr>
            <a:xfrm>
              <a:off x="5997545" y="2902788"/>
              <a:ext cx="297455" cy="400110"/>
            </a:xfrm>
            <a:prstGeom prst="rect">
              <a:avLst/>
            </a:prstGeom>
            <a:noFill/>
          </p:spPr>
          <p:txBody>
            <a:bodyPr wrap="square" rtlCol="0">
              <a:spAutoFit/>
            </a:bodyPr>
            <a:lstStyle/>
            <a:p>
              <a:r>
                <a:rPr lang="en-US" sz="2000" b="1" dirty="0">
                  <a:solidFill>
                    <a:srgbClr val="0070C0"/>
                  </a:solidFill>
                  <a:latin typeface="Helvetica" pitchFamily="2" charset="0"/>
                </a:rPr>
                <a:t>=</a:t>
              </a:r>
            </a:p>
          </p:txBody>
        </p:sp>
      </p:grpSp>
      <p:grpSp>
        <p:nvGrpSpPr>
          <p:cNvPr id="36" name="Group 35">
            <a:extLst>
              <a:ext uri="{FF2B5EF4-FFF2-40B4-BE49-F238E27FC236}">
                <a16:creationId xmlns:a16="http://schemas.microsoft.com/office/drawing/2014/main" id="{01EC3BAA-99DD-B619-CACF-45B148A7CD4E}"/>
              </a:ext>
            </a:extLst>
          </p:cNvPr>
          <p:cNvGrpSpPr/>
          <p:nvPr/>
        </p:nvGrpSpPr>
        <p:grpSpPr>
          <a:xfrm>
            <a:off x="6471057" y="3997685"/>
            <a:ext cx="1942074" cy="961397"/>
            <a:chOff x="6471057" y="2591204"/>
            <a:chExt cx="1942074" cy="961397"/>
          </a:xfrm>
        </p:grpSpPr>
        <p:sp>
          <p:nvSpPr>
            <p:cNvPr id="38" name="TextBox 37">
              <a:extLst>
                <a:ext uri="{FF2B5EF4-FFF2-40B4-BE49-F238E27FC236}">
                  <a16:creationId xmlns:a16="http://schemas.microsoft.com/office/drawing/2014/main" id="{F00C240C-C24D-2A42-CC99-3539D5278B4F}"/>
                </a:ext>
              </a:extLst>
            </p:cNvPr>
            <p:cNvSpPr txBox="1">
              <a:spLocks/>
            </p:cNvSpPr>
            <p:nvPr/>
          </p:nvSpPr>
          <p:spPr>
            <a:xfrm>
              <a:off x="6657670" y="2591204"/>
              <a:ext cx="1253869" cy="400110"/>
            </a:xfrm>
            <a:prstGeom prst="rect">
              <a:avLst/>
            </a:prstGeom>
            <a:noFill/>
          </p:spPr>
          <p:txBody>
            <a:bodyPr wrap="none" rtlCol="0">
              <a:spAutoFit/>
            </a:bodyPr>
            <a:lstStyle/>
            <a:p>
              <a:pPr algn="ctr"/>
              <a:r>
                <a:rPr lang="en-US" sz="2000" b="1" dirty="0">
                  <a:solidFill>
                    <a:srgbClr val="0070C0"/>
                  </a:solidFill>
                  <a:latin typeface="Helvetica" pitchFamily="2" charset="0"/>
                </a:rPr>
                <a:t>$720,000</a:t>
              </a:r>
            </a:p>
          </p:txBody>
        </p:sp>
        <p:sp>
          <p:nvSpPr>
            <p:cNvPr id="40" name="TextBox 39">
              <a:extLst>
                <a:ext uri="{FF2B5EF4-FFF2-40B4-BE49-F238E27FC236}">
                  <a16:creationId xmlns:a16="http://schemas.microsoft.com/office/drawing/2014/main" id="{E5AC5CCE-6CF5-8713-2FC6-C299C7FF715A}"/>
                </a:ext>
              </a:extLst>
            </p:cNvPr>
            <p:cNvSpPr txBox="1">
              <a:spLocks/>
            </p:cNvSpPr>
            <p:nvPr/>
          </p:nvSpPr>
          <p:spPr>
            <a:xfrm>
              <a:off x="6654038" y="3152491"/>
              <a:ext cx="1253869" cy="400110"/>
            </a:xfrm>
            <a:prstGeom prst="rect">
              <a:avLst/>
            </a:prstGeom>
            <a:noFill/>
          </p:spPr>
          <p:txBody>
            <a:bodyPr wrap="none" rtlCol="0">
              <a:spAutoFit/>
            </a:bodyPr>
            <a:lstStyle/>
            <a:p>
              <a:pPr algn="ctr"/>
              <a:r>
                <a:rPr lang="en-US" sz="2000" b="1" dirty="0">
                  <a:solidFill>
                    <a:srgbClr val="0070C0"/>
                  </a:solidFill>
                  <a:latin typeface="Helvetica" pitchFamily="2" charset="0"/>
                </a:rPr>
                <a:t>$480,000</a:t>
              </a:r>
            </a:p>
          </p:txBody>
        </p:sp>
        <p:cxnSp>
          <p:nvCxnSpPr>
            <p:cNvPr id="41" name="Straight Connector 40">
              <a:extLst>
                <a:ext uri="{FF2B5EF4-FFF2-40B4-BE49-F238E27FC236}">
                  <a16:creationId xmlns:a16="http://schemas.microsoft.com/office/drawing/2014/main" id="{452E931D-FCF9-C4FF-2A36-5B20A126A274}"/>
                </a:ext>
              </a:extLst>
            </p:cNvPr>
            <p:cNvCxnSpPr>
              <a:cxnSpLocks/>
            </p:cNvCxnSpPr>
            <p:nvPr/>
          </p:nvCxnSpPr>
          <p:spPr>
            <a:xfrm>
              <a:off x="6471057" y="3096155"/>
              <a:ext cx="1613489"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4FCA1AD8-CF5A-391A-7AC0-E87C6DD2E9B3}"/>
                </a:ext>
              </a:extLst>
            </p:cNvPr>
            <p:cNvSpPr txBox="1"/>
            <p:nvPr/>
          </p:nvSpPr>
          <p:spPr>
            <a:xfrm>
              <a:off x="8115676" y="2871848"/>
              <a:ext cx="297455" cy="430887"/>
            </a:xfrm>
            <a:prstGeom prst="rect">
              <a:avLst/>
            </a:prstGeom>
            <a:noFill/>
          </p:spPr>
          <p:txBody>
            <a:bodyPr wrap="square" rtlCol="0">
              <a:spAutoFit/>
            </a:bodyPr>
            <a:lstStyle/>
            <a:p>
              <a:r>
                <a:rPr lang="en-US" sz="2200" b="1" dirty="0">
                  <a:solidFill>
                    <a:srgbClr val="0070C0"/>
                  </a:solidFill>
                  <a:latin typeface="Helvetica" pitchFamily="2" charset="0"/>
                </a:rPr>
                <a:t>=</a:t>
              </a:r>
            </a:p>
          </p:txBody>
        </p:sp>
      </p:grpSp>
      <p:sp>
        <p:nvSpPr>
          <p:cNvPr id="43" name="TextBox 42">
            <a:extLst>
              <a:ext uri="{FF2B5EF4-FFF2-40B4-BE49-F238E27FC236}">
                <a16:creationId xmlns:a16="http://schemas.microsoft.com/office/drawing/2014/main" id="{54526254-ED5E-E82F-AC51-A390B4D5E79F}"/>
              </a:ext>
            </a:extLst>
          </p:cNvPr>
          <p:cNvSpPr txBox="1"/>
          <p:nvPr/>
        </p:nvSpPr>
        <p:spPr>
          <a:xfrm>
            <a:off x="8562765" y="4242558"/>
            <a:ext cx="784189" cy="461665"/>
          </a:xfrm>
          <a:prstGeom prst="rect">
            <a:avLst/>
          </a:prstGeom>
          <a:noFill/>
        </p:spPr>
        <p:txBody>
          <a:bodyPr wrap="none" rtlCol="0">
            <a:spAutoFit/>
          </a:bodyPr>
          <a:lstStyle/>
          <a:p>
            <a:r>
              <a:rPr lang="en-US" sz="2400" b="1" dirty="0">
                <a:solidFill>
                  <a:srgbClr val="0070C0"/>
                </a:solidFill>
                <a:latin typeface="Helvetica" pitchFamily="2" charset="0"/>
              </a:rPr>
              <a:t>1.50</a:t>
            </a:r>
          </a:p>
        </p:txBody>
      </p:sp>
      <p:sp>
        <p:nvSpPr>
          <p:cNvPr id="44" name="TextBox 43">
            <a:extLst>
              <a:ext uri="{FF2B5EF4-FFF2-40B4-BE49-F238E27FC236}">
                <a16:creationId xmlns:a16="http://schemas.microsoft.com/office/drawing/2014/main" id="{60E16169-374D-C0C7-0487-CD0E42A7A99D}"/>
              </a:ext>
            </a:extLst>
          </p:cNvPr>
          <p:cNvSpPr txBox="1">
            <a:spLocks/>
          </p:cNvSpPr>
          <p:nvPr/>
        </p:nvSpPr>
        <p:spPr>
          <a:xfrm>
            <a:off x="481445" y="4281432"/>
            <a:ext cx="2662909" cy="400110"/>
          </a:xfrm>
          <a:prstGeom prst="rect">
            <a:avLst/>
          </a:prstGeom>
          <a:noFill/>
        </p:spPr>
        <p:txBody>
          <a:bodyPr wrap="none" rtlCol="0">
            <a:spAutoFit/>
          </a:bodyPr>
          <a:lstStyle/>
          <a:p>
            <a:pPr algn="ctr"/>
            <a:r>
              <a:rPr lang="en-US" sz="2000" b="1" dirty="0">
                <a:solidFill>
                  <a:srgbClr val="0070C0"/>
                </a:solidFill>
                <a:latin typeface="Helvetica" pitchFamily="2" charset="0"/>
              </a:rPr>
              <a:t>Debt-to-Equity Ratio</a:t>
            </a:r>
            <a:endParaRPr lang="en-US" sz="2000" b="1" dirty="0">
              <a:solidFill>
                <a:srgbClr val="0070C0"/>
              </a:solidFill>
              <a:latin typeface="Helvetica" pitchFamily="2" charset="0"/>
              <a:cs typeface="Times New Roman" panose="02020603050405020304" pitchFamily="18" charset="0"/>
            </a:endParaRPr>
          </a:p>
        </p:txBody>
      </p:sp>
      <p:grpSp>
        <p:nvGrpSpPr>
          <p:cNvPr id="59" name="Group 58">
            <a:extLst>
              <a:ext uri="{FF2B5EF4-FFF2-40B4-BE49-F238E27FC236}">
                <a16:creationId xmlns:a16="http://schemas.microsoft.com/office/drawing/2014/main" id="{3B310083-0245-F168-A0A0-52BCF61C22C8}"/>
              </a:ext>
            </a:extLst>
          </p:cNvPr>
          <p:cNvGrpSpPr/>
          <p:nvPr/>
        </p:nvGrpSpPr>
        <p:grpSpPr>
          <a:xfrm>
            <a:off x="3252933" y="5445528"/>
            <a:ext cx="3042067" cy="961397"/>
            <a:chOff x="3252933" y="2594307"/>
            <a:chExt cx="3042067" cy="961397"/>
          </a:xfrm>
        </p:grpSpPr>
        <p:grpSp>
          <p:nvGrpSpPr>
            <p:cNvPr id="60" name="Group 59">
              <a:extLst>
                <a:ext uri="{FF2B5EF4-FFF2-40B4-BE49-F238E27FC236}">
                  <a16:creationId xmlns:a16="http://schemas.microsoft.com/office/drawing/2014/main" id="{1AE2810F-BC92-C8EF-DDDB-724343A0305B}"/>
                </a:ext>
              </a:extLst>
            </p:cNvPr>
            <p:cNvGrpSpPr/>
            <p:nvPr/>
          </p:nvGrpSpPr>
          <p:grpSpPr>
            <a:xfrm>
              <a:off x="3252933" y="2594307"/>
              <a:ext cx="2615054" cy="961397"/>
              <a:chOff x="3880229" y="3041208"/>
              <a:chExt cx="2615054" cy="961397"/>
            </a:xfrm>
          </p:grpSpPr>
          <p:sp>
            <p:nvSpPr>
              <p:cNvPr id="62" name="TextBox 61">
                <a:extLst>
                  <a:ext uri="{FF2B5EF4-FFF2-40B4-BE49-F238E27FC236}">
                    <a16:creationId xmlns:a16="http://schemas.microsoft.com/office/drawing/2014/main" id="{53440A72-D275-AB5D-3D13-9281B3AEF237}"/>
                  </a:ext>
                </a:extLst>
              </p:cNvPr>
              <p:cNvSpPr txBox="1"/>
              <p:nvPr/>
            </p:nvSpPr>
            <p:spPr>
              <a:xfrm>
                <a:off x="3880229" y="3321852"/>
                <a:ext cx="297455" cy="400110"/>
              </a:xfrm>
              <a:prstGeom prst="rect">
                <a:avLst/>
              </a:prstGeom>
              <a:noFill/>
            </p:spPr>
            <p:txBody>
              <a:bodyPr wrap="square" rtlCol="0">
                <a:spAutoFit/>
              </a:bodyPr>
              <a:lstStyle/>
              <a:p>
                <a:r>
                  <a:rPr lang="en-US" sz="2000" b="1" dirty="0">
                    <a:solidFill>
                      <a:srgbClr val="00B050"/>
                    </a:solidFill>
                    <a:latin typeface="Helvetica" pitchFamily="2" charset="0"/>
                  </a:rPr>
                  <a:t>=</a:t>
                </a:r>
              </a:p>
            </p:txBody>
          </p:sp>
          <p:sp>
            <p:nvSpPr>
              <p:cNvPr id="63" name="TextBox 62">
                <a:extLst>
                  <a:ext uri="{FF2B5EF4-FFF2-40B4-BE49-F238E27FC236}">
                    <a16:creationId xmlns:a16="http://schemas.microsoft.com/office/drawing/2014/main" id="{4BF931DC-6412-AC05-3EF4-E0DF779F0DFF}"/>
                  </a:ext>
                </a:extLst>
              </p:cNvPr>
              <p:cNvSpPr txBox="1">
                <a:spLocks/>
              </p:cNvSpPr>
              <p:nvPr/>
            </p:nvSpPr>
            <p:spPr>
              <a:xfrm>
                <a:off x="4585338" y="3041208"/>
                <a:ext cx="1680846" cy="400110"/>
              </a:xfrm>
              <a:prstGeom prst="rect">
                <a:avLst/>
              </a:prstGeom>
              <a:noFill/>
            </p:spPr>
            <p:txBody>
              <a:bodyPr wrap="none" rtlCol="0">
                <a:spAutoFit/>
              </a:bodyPr>
              <a:lstStyle/>
              <a:p>
                <a:pPr algn="ctr"/>
                <a:r>
                  <a:rPr lang="en-US" sz="2000" b="1" dirty="0">
                    <a:solidFill>
                      <a:srgbClr val="00B050"/>
                    </a:solidFill>
                    <a:latin typeface="Helvetica" pitchFamily="2" charset="0"/>
                  </a:rPr>
                  <a:t>Total Assets</a:t>
                </a:r>
              </a:p>
            </p:txBody>
          </p:sp>
          <p:sp>
            <p:nvSpPr>
              <p:cNvPr id="64" name="TextBox 63">
                <a:extLst>
                  <a:ext uri="{FF2B5EF4-FFF2-40B4-BE49-F238E27FC236}">
                    <a16:creationId xmlns:a16="http://schemas.microsoft.com/office/drawing/2014/main" id="{8692FAAA-A44A-A526-01C9-1D904267A16B}"/>
                  </a:ext>
                </a:extLst>
              </p:cNvPr>
              <p:cNvSpPr txBox="1">
                <a:spLocks/>
              </p:cNvSpPr>
              <p:nvPr/>
            </p:nvSpPr>
            <p:spPr>
              <a:xfrm>
                <a:off x="4592026" y="3602495"/>
                <a:ext cx="1632498" cy="400110"/>
              </a:xfrm>
              <a:prstGeom prst="rect">
                <a:avLst/>
              </a:prstGeom>
              <a:noFill/>
            </p:spPr>
            <p:txBody>
              <a:bodyPr wrap="none" rtlCol="0">
                <a:spAutoFit/>
              </a:bodyPr>
              <a:lstStyle/>
              <a:p>
                <a:pPr algn="ctr"/>
                <a:r>
                  <a:rPr lang="en-US" sz="2000" b="1" dirty="0">
                    <a:solidFill>
                      <a:srgbClr val="00B050"/>
                    </a:solidFill>
                    <a:latin typeface="Helvetica" pitchFamily="2" charset="0"/>
                  </a:rPr>
                  <a:t>Total Equity</a:t>
                </a:r>
              </a:p>
            </p:txBody>
          </p:sp>
          <p:cxnSp>
            <p:nvCxnSpPr>
              <p:cNvPr id="65" name="Straight Connector 64">
                <a:extLst>
                  <a:ext uri="{FF2B5EF4-FFF2-40B4-BE49-F238E27FC236}">
                    <a16:creationId xmlns:a16="http://schemas.microsoft.com/office/drawing/2014/main" id="{29A4FA44-71D4-EBDD-5C72-A6D133F041A8}"/>
                  </a:ext>
                </a:extLst>
              </p:cNvPr>
              <p:cNvCxnSpPr>
                <a:cxnSpLocks/>
              </p:cNvCxnSpPr>
              <p:nvPr/>
            </p:nvCxnSpPr>
            <p:spPr>
              <a:xfrm>
                <a:off x="4321266" y="3546159"/>
                <a:ext cx="2174017"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1" name="TextBox 60">
              <a:extLst>
                <a:ext uri="{FF2B5EF4-FFF2-40B4-BE49-F238E27FC236}">
                  <a16:creationId xmlns:a16="http://schemas.microsoft.com/office/drawing/2014/main" id="{9520A954-A67E-7709-1405-512764F18C43}"/>
                </a:ext>
              </a:extLst>
            </p:cNvPr>
            <p:cNvSpPr txBox="1"/>
            <p:nvPr/>
          </p:nvSpPr>
          <p:spPr>
            <a:xfrm>
              <a:off x="5997545" y="2902788"/>
              <a:ext cx="297455" cy="400110"/>
            </a:xfrm>
            <a:prstGeom prst="rect">
              <a:avLst/>
            </a:prstGeom>
            <a:noFill/>
          </p:spPr>
          <p:txBody>
            <a:bodyPr wrap="square" rtlCol="0">
              <a:spAutoFit/>
            </a:bodyPr>
            <a:lstStyle/>
            <a:p>
              <a:r>
                <a:rPr lang="en-US" sz="2000" b="1" dirty="0">
                  <a:solidFill>
                    <a:srgbClr val="00B050"/>
                  </a:solidFill>
                  <a:latin typeface="Helvetica" pitchFamily="2" charset="0"/>
                </a:rPr>
                <a:t>=</a:t>
              </a:r>
            </a:p>
          </p:txBody>
        </p:sp>
      </p:grpSp>
      <p:grpSp>
        <p:nvGrpSpPr>
          <p:cNvPr id="66" name="Group 65">
            <a:extLst>
              <a:ext uri="{FF2B5EF4-FFF2-40B4-BE49-F238E27FC236}">
                <a16:creationId xmlns:a16="http://schemas.microsoft.com/office/drawing/2014/main" id="{5B5DDF56-550E-727C-6186-CBF620DE7EC8}"/>
              </a:ext>
            </a:extLst>
          </p:cNvPr>
          <p:cNvGrpSpPr/>
          <p:nvPr/>
        </p:nvGrpSpPr>
        <p:grpSpPr>
          <a:xfrm>
            <a:off x="6471057" y="5442425"/>
            <a:ext cx="1942074" cy="961397"/>
            <a:chOff x="6471057" y="2591204"/>
            <a:chExt cx="1942074" cy="961397"/>
          </a:xfrm>
        </p:grpSpPr>
        <p:sp>
          <p:nvSpPr>
            <p:cNvPr id="67" name="TextBox 66">
              <a:extLst>
                <a:ext uri="{FF2B5EF4-FFF2-40B4-BE49-F238E27FC236}">
                  <a16:creationId xmlns:a16="http://schemas.microsoft.com/office/drawing/2014/main" id="{F07D7DA1-A60A-65F0-7EFC-A760206B7737}"/>
                </a:ext>
              </a:extLst>
            </p:cNvPr>
            <p:cNvSpPr txBox="1">
              <a:spLocks/>
            </p:cNvSpPr>
            <p:nvPr/>
          </p:nvSpPr>
          <p:spPr>
            <a:xfrm>
              <a:off x="6551070" y="2591204"/>
              <a:ext cx="1467068" cy="400110"/>
            </a:xfrm>
            <a:prstGeom prst="rect">
              <a:avLst/>
            </a:prstGeom>
            <a:noFill/>
          </p:spPr>
          <p:txBody>
            <a:bodyPr wrap="none" rtlCol="0">
              <a:spAutoFit/>
            </a:bodyPr>
            <a:lstStyle/>
            <a:p>
              <a:pPr algn="ctr"/>
              <a:r>
                <a:rPr lang="en-US" sz="2000" b="1" dirty="0">
                  <a:solidFill>
                    <a:srgbClr val="00B050"/>
                  </a:solidFill>
                  <a:latin typeface="Helvetica" pitchFamily="2" charset="0"/>
                </a:rPr>
                <a:t>$1,200,000</a:t>
              </a:r>
            </a:p>
          </p:txBody>
        </p:sp>
        <p:sp>
          <p:nvSpPr>
            <p:cNvPr id="68" name="TextBox 67">
              <a:extLst>
                <a:ext uri="{FF2B5EF4-FFF2-40B4-BE49-F238E27FC236}">
                  <a16:creationId xmlns:a16="http://schemas.microsoft.com/office/drawing/2014/main" id="{9345B41D-8023-E0EE-EA83-A7C5F9A01C43}"/>
                </a:ext>
              </a:extLst>
            </p:cNvPr>
            <p:cNvSpPr txBox="1">
              <a:spLocks/>
            </p:cNvSpPr>
            <p:nvPr/>
          </p:nvSpPr>
          <p:spPr>
            <a:xfrm>
              <a:off x="6654038" y="3152491"/>
              <a:ext cx="1253869" cy="400110"/>
            </a:xfrm>
            <a:prstGeom prst="rect">
              <a:avLst/>
            </a:prstGeom>
            <a:noFill/>
          </p:spPr>
          <p:txBody>
            <a:bodyPr wrap="none" rtlCol="0">
              <a:spAutoFit/>
            </a:bodyPr>
            <a:lstStyle/>
            <a:p>
              <a:pPr algn="ctr"/>
              <a:r>
                <a:rPr lang="en-US" sz="2000" b="1" dirty="0">
                  <a:solidFill>
                    <a:srgbClr val="00B050"/>
                  </a:solidFill>
                  <a:latin typeface="Helvetica" pitchFamily="2" charset="0"/>
                </a:rPr>
                <a:t>$480,000</a:t>
              </a:r>
            </a:p>
          </p:txBody>
        </p:sp>
        <p:cxnSp>
          <p:nvCxnSpPr>
            <p:cNvPr id="69" name="Straight Connector 68">
              <a:extLst>
                <a:ext uri="{FF2B5EF4-FFF2-40B4-BE49-F238E27FC236}">
                  <a16:creationId xmlns:a16="http://schemas.microsoft.com/office/drawing/2014/main" id="{FD0A3136-C0FA-78D5-CE64-303F975DD314}"/>
                </a:ext>
              </a:extLst>
            </p:cNvPr>
            <p:cNvCxnSpPr>
              <a:cxnSpLocks/>
            </p:cNvCxnSpPr>
            <p:nvPr/>
          </p:nvCxnSpPr>
          <p:spPr>
            <a:xfrm>
              <a:off x="6471057" y="3096155"/>
              <a:ext cx="1613489"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BA6CBEF6-D945-8683-EEF7-8B6160044327}"/>
                </a:ext>
              </a:extLst>
            </p:cNvPr>
            <p:cNvSpPr txBox="1"/>
            <p:nvPr/>
          </p:nvSpPr>
          <p:spPr>
            <a:xfrm>
              <a:off x="8115676" y="2871848"/>
              <a:ext cx="297455" cy="430887"/>
            </a:xfrm>
            <a:prstGeom prst="rect">
              <a:avLst/>
            </a:prstGeom>
            <a:noFill/>
          </p:spPr>
          <p:txBody>
            <a:bodyPr wrap="square" rtlCol="0">
              <a:spAutoFit/>
            </a:bodyPr>
            <a:lstStyle/>
            <a:p>
              <a:r>
                <a:rPr lang="en-US" sz="2200" b="1" dirty="0">
                  <a:solidFill>
                    <a:srgbClr val="00B050"/>
                  </a:solidFill>
                  <a:latin typeface="Helvetica" pitchFamily="2" charset="0"/>
                </a:rPr>
                <a:t>=</a:t>
              </a:r>
            </a:p>
          </p:txBody>
        </p:sp>
      </p:grpSp>
      <p:sp>
        <p:nvSpPr>
          <p:cNvPr id="71" name="TextBox 70">
            <a:extLst>
              <a:ext uri="{FF2B5EF4-FFF2-40B4-BE49-F238E27FC236}">
                <a16:creationId xmlns:a16="http://schemas.microsoft.com/office/drawing/2014/main" id="{6947C17C-7226-BE91-F9D2-02D2E197F5E5}"/>
              </a:ext>
            </a:extLst>
          </p:cNvPr>
          <p:cNvSpPr txBox="1"/>
          <p:nvPr/>
        </p:nvSpPr>
        <p:spPr>
          <a:xfrm>
            <a:off x="8562765" y="5687298"/>
            <a:ext cx="784189" cy="461665"/>
          </a:xfrm>
          <a:prstGeom prst="rect">
            <a:avLst/>
          </a:prstGeom>
          <a:noFill/>
        </p:spPr>
        <p:txBody>
          <a:bodyPr wrap="none" rtlCol="0">
            <a:spAutoFit/>
          </a:bodyPr>
          <a:lstStyle/>
          <a:p>
            <a:r>
              <a:rPr lang="en-US" sz="2400" b="1" dirty="0">
                <a:solidFill>
                  <a:srgbClr val="00B050"/>
                </a:solidFill>
                <a:latin typeface="Helvetica" pitchFamily="2" charset="0"/>
              </a:rPr>
              <a:t>2.50</a:t>
            </a:r>
          </a:p>
        </p:txBody>
      </p:sp>
      <p:sp>
        <p:nvSpPr>
          <p:cNvPr id="72" name="TextBox 71">
            <a:extLst>
              <a:ext uri="{FF2B5EF4-FFF2-40B4-BE49-F238E27FC236}">
                <a16:creationId xmlns:a16="http://schemas.microsoft.com/office/drawing/2014/main" id="{05F3AD19-795D-1C8C-8AC1-B904DE02A175}"/>
              </a:ext>
            </a:extLst>
          </p:cNvPr>
          <p:cNvSpPr txBox="1">
            <a:spLocks/>
          </p:cNvSpPr>
          <p:nvPr/>
        </p:nvSpPr>
        <p:spPr>
          <a:xfrm>
            <a:off x="725101" y="5726172"/>
            <a:ext cx="2175596" cy="400110"/>
          </a:xfrm>
          <a:prstGeom prst="rect">
            <a:avLst/>
          </a:prstGeom>
          <a:noFill/>
        </p:spPr>
        <p:txBody>
          <a:bodyPr wrap="none" rtlCol="0">
            <a:spAutoFit/>
          </a:bodyPr>
          <a:lstStyle/>
          <a:p>
            <a:pPr algn="ctr"/>
            <a:r>
              <a:rPr lang="en-US" sz="2000" b="1" dirty="0">
                <a:solidFill>
                  <a:srgbClr val="00B050"/>
                </a:solidFill>
                <a:latin typeface="Helvetica" pitchFamily="2" charset="0"/>
              </a:rPr>
              <a:t>Equity Multiplier</a:t>
            </a:r>
            <a:endParaRPr lang="en-US" sz="2000" b="1" dirty="0">
              <a:solidFill>
                <a:srgbClr val="00B050"/>
              </a:solidFill>
              <a:latin typeface="Helvetica" pitchFamily="2" charset="0"/>
              <a:cs typeface="Times New Roman" panose="02020603050405020304" pitchFamily="18" charset="0"/>
            </a:endParaRPr>
          </a:p>
        </p:txBody>
      </p:sp>
    </p:spTree>
    <p:extLst>
      <p:ext uri="{BB962C8B-B14F-4D97-AF65-F5344CB8AC3E}">
        <p14:creationId xmlns:p14="http://schemas.microsoft.com/office/powerpoint/2010/main" val="2157000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4" grpId="0"/>
      <p:bldP spid="43" grpId="0"/>
      <p:bldP spid="44" grpId="0"/>
      <p:bldP spid="71" grpId="0"/>
      <p:bldP spid="7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B7DF0-C83B-50CC-117C-BB6483EA7D8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76EE806-3DE3-7443-9F99-575E327F4F54}"/>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C4AD99-B5C9-7808-1307-94590E955E8D}"/>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3-4. Long-term Debt Ratio</a:t>
            </a:r>
          </a:p>
        </p:txBody>
      </p:sp>
      <p:sp>
        <p:nvSpPr>
          <p:cNvPr id="15" name="TextBox 14">
            <a:extLst>
              <a:ext uri="{FF2B5EF4-FFF2-40B4-BE49-F238E27FC236}">
                <a16:creationId xmlns:a16="http://schemas.microsoft.com/office/drawing/2014/main" id="{AEB71D1B-5995-601B-C965-108C51D5416F}"/>
              </a:ext>
            </a:extLst>
          </p:cNvPr>
          <p:cNvSpPr txBox="1"/>
          <p:nvPr/>
        </p:nvSpPr>
        <p:spPr>
          <a:xfrm>
            <a:off x="187587" y="2534210"/>
            <a:ext cx="11933077" cy="1169551"/>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000" dirty="0">
                <a:latin typeface="Helvetica" pitchFamily="2" charset="0"/>
              </a:rPr>
              <a:t>The </a:t>
            </a:r>
            <a:r>
              <a:rPr lang="en-US" sz="2000" b="1" dirty="0">
                <a:latin typeface="Helvetica" pitchFamily="2" charset="0"/>
              </a:rPr>
              <a:t>Long-Term Debt Ratio</a:t>
            </a:r>
            <a:r>
              <a:rPr lang="en-US" sz="2000" dirty="0">
                <a:latin typeface="Helvetica" pitchFamily="2" charset="0"/>
              </a:rPr>
              <a:t> measures the </a:t>
            </a:r>
            <a:r>
              <a:rPr lang="en-US" sz="2000" b="1" dirty="0">
                <a:latin typeface="Helvetica" pitchFamily="2" charset="0"/>
              </a:rPr>
              <a:t>proportion of a firm’s permanent capital that is financed by long-term debt</a:t>
            </a:r>
            <a:r>
              <a:rPr lang="en-US" sz="2000" dirty="0">
                <a:latin typeface="Helvetica" pitchFamily="2" charset="0"/>
              </a:rPr>
              <a:t>.</a:t>
            </a:r>
          </a:p>
          <a:p>
            <a:pPr marL="342900" indent="-342900">
              <a:spcBef>
                <a:spcPts val="600"/>
              </a:spcBef>
              <a:spcAft>
                <a:spcPts val="600"/>
              </a:spcAft>
              <a:buFont typeface="Arial" panose="020B0604020202020204" pitchFamily="34" charset="0"/>
              <a:buChar char="•"/>
            </a:pPr>
            <a:r>
              <a:rPr lang="en-US" sz="2000" dirty="0">
                <a:latin typeface="Helvetica" pitchFamily="2" charset="0"/>
              </a:rPr>
              <a:t>This ratio focuses on the firm’s </a:t>
            </a:r>
            <a:r>
              <a:rPr lang="en-US" sz="2000" b="1" dirty="0">
                <a:latin typeface="Helvetica" pitchFamily="2" charset="0"/>
              </a:rPr>
              <a:t>long-term financing mix</a:t>
            </a:r>
            <a:r>
              <a:rPr lang="en-US" sz="2000" dirty="0">
                <a:latin typeface="Helvetica" pitchFamily="2" charset="0"/>
              </a:rPr>
              <a:t>, not short-term obligations.</a:t>
            </a:r>
          </a:p>
        </p:txBody>
      </p:sp>
      <p:sp>
        <p:nvSpPr>
          <p:cNvPr id="17" name="TextBox 16">
            <a:extLst>
              <a:ext uri="{FF2B5EF4-FFF2-40B4-BE49-F238E27FC236}">
                <a16:creationId xmlns:a16="http://schemas.microsoft.com/office/drawing/2014/main" id="{91E3018B-195D-0756-6180-7AED8752AE6E}"/>
              </a:ext>
            </a:extLst>
          </p:cNvPr>
          <p:cNvSpPr txBox="1"/>
          <p:nvPr/>
        </p:nvSpPr>
        <p:spPr>
          <a:xfrm>
            <a:off x="407284" y="3999939"/>
            <a:ext cx="5694188" cy="2246769"/>
          </a:xfrm>
          <a:prstGeom prst="rect">
            <a:avLst/>
          </a:prstGeom>
          <a:noFill/>
          <a:ln>
            <a:solidFill>
              <a:srgbClr val="A60086"/>
            </a:solidFill>
          </a:ln>
        </p:spPr>
        <p:txBody>
          <a:bodyPr wrap="none" rtlCol="0">
            <a:spAutoFit/>
          </a:bodyPr>
          <a:lstStyle/>
          <a:p>
            <a:pPr marL="342900" indent="-342900">
              <a:spcBef>
                <a:spcPts val="600"/>
              </a:spcBef>
              <a:spcAft>
                <a:spcPts val="600"/>
              </a:spcAft>
              <a:buFont typeface="Arial" panose="020B0604020202020204" pitchFamily="34" charset="0"/>
              <a:buChar char="•"/>
            </a:pPr>
            <a:r>
              <a:rPr lang="en-US" sz="2000" b="1" dirty="0">
                <a:solidFill>
                  <a:schemeClr val="accent5">
                    <a:lumMod val="75000"/>
                  </a:schemeClr>
                </a:solidFill>
                <a:latin typeface="Helvetica" pitchFamily="2" charset="0"/>
              </a:rPr>
              <a:t>Higher Long-Term Debt Ratio</a:t>
            </a:r>
          </a:p>
          <a:p>
            <a:pPr marL="800100" lvl="1" indent="-342900">
              <a:spcBef>
                <a:spcPts val="600"/>
              </a:spcBef>
              <a:spcAft>
                <a:spcPts val="600"/>
              </a:spcAft>
              <a:buFont typeface="Arial" panose="020B0604020202020204" pitchFamily="34" charset="0"/>
              <a:buChar char="•"/>
            </a:pPr>
            <a:r>
              <a:rPr lang="en-US" sz="2000" dirty="0">
                <a:solidFill>
                  <a:schemeClr val="accent5">
                    <a:lumMod val="75000"/>
                  </a:schemeClr>
                </a:solidFill>
                <a:latin typeface="Helvetica" pitchFamily="2" charset="0"/>
              </a:rPr>
              <a:t>Greater reliance on long-term borrowing</a:t>
            </a:r>
          </a:p>
          <a:p>
            <a:pPr marL="800100" lvl="1" indent="-342900">
              <a:spcBef>
                <a:spcPts val="600"/>
              </a:spcBef>
              <a:spcAft>
                <a:spcPts val="600"/>
              </a:spcAft>
              <a:buFont typeface="Arial" panose="020B0604020202020204" pitchFamily="34" charset="0"/>
              <a:buChar char="•"/>
            </a:pPr>
            <a:r>
              <a:rPr lang="en-US" sz="2000" dirty="0">
                <a:solidFill>
                  <a:schemeClr val="accent5">
                    <a:lumMod val="75000"/>
                  </a:schemeClr>
                </a:solidFill>
                <a:latin typeface="Helvetica" pitchFamily="2" charset="0"/>
              </a:rPr>
              <a:t>Higher fixed interest obligations over time</a:t>
            </a:r>
          </a:p>
          <a:p>
            <a:pPr marL="800100" lvl="1" indent="-342900">
              <a:spcBef>
                <a:spcPts val="600"/>
              </a:spcBef>
              <a:spcAft>
                <a:spcPts val="600"/>
              </a:spcAft>
              <a:buFont typeface="Arial" panose="020B0604020202020204" pitchFamily="34" charset="0"/>
              <a:buChar char="•"/>
            </a:pPr>
            <a:r>
              <a:rPr lang="en-US" sz="2000" dirty="0">
                <a:solidFill>
                  <a:schemeClr val="accent5">
                    <a:lumMod val="75000"/>
                  </a:schemeClr>
                </a:solidFill>
                <a:latin typeface="Helvetica" pitchFamily="2" charset="0"/>
              </a:rPr>
              <a:t>Increased financial leverage</a:t>
            </a:r>
          </a:p>
          <a:p>
            <a:pPr marL="800100" lvl="1" indent="-342900">
              <a:spcBef>
                <a:spcPts val="600"/>
              </a:spcBef>
              <a:spcAft>
                <a:spcPts val="600"/>
              </a:spcAft>
              <a:buFont typeface="Arial" panose="020B0604020202020204" pitchFamily="34" charset="0"/>
              <a:buChar char="•"/>
            </a:pPr>
            <a:r>
              <a:rPr lang="en-US" sz="2000" b="1" dirty="0">
                <a:solidFill>
                  <a:schemeClr val="accent5">
                    <a:lumMod val="75000"/>
                  </a:schemeClr>
                </a:solidFill>
                <a:latin typeface="Helvetica" pitchFamily="2" charset="0"/>
              </a:rPr>
              <a:t>Higher long-term financial risk</a:t>
            </a:r>
          </a:p>
        </p:txBody>
      </p:sp>
      <p:grpSp>
        <p:nvGrpSpPr>
          <p:cNvPr id="3" name="Group 2">
            <a:extLst>
              <a:ext uri="{FF2B5EF4-FFF2-40B4-BE49-F238E27FC236}">
                <a16:creationId xmlns:a16="http://schemas.microsoft.com/office/drawing/2014/main" id="{2F40525D-A7FD-5396-7949-C0C6AACAEBBE}"/>
              </a:ext>
            </a:extLst>
          </p:cNvPr>
          <p:cNvGrpSpPr/>
          <p:nvPr/>
        </p:nvGrpSpPr>
        <p:grpSpPr>
          <a:xfrm>
            <a:off x="1981200" y="1366791"/>
            <a:ext cx="8229600" cy="1040955"/>
            <a:chOff x="849307" y="3038484"/>
            <a:chExt cx="8229600" cy="1040955"/>
          </a:xfrm>
        </p:grpSpPr>
        <p:sp>
          <p:nvSpPr>
            <p:cNvPr id="5" name="TextBox 4">
              <a:extLst>
                <a:ext uri="{FF2B5EF4-FFF2-40B4-BE49-F238E27FC236}">
                  <a16:creationId xmlns:a16="http://schemas.microsoft.com/office/drawing/2014/main" id="{87369072-5DEF-7E12-90FF-259386D0CF97}"/>
                </a:ext>
              </a:extLst>
            </p:cNvPr>
            <p:cNvSpPr txBox="1">
              <a:spLocks/>
            </p:cNvSpPr>
            <p:nvPr/>
          </p:nvSpPr>
          <p:spPr>
            <a:xfrm>
              <a:off x="849307" y="3315326"/>
              <a:ext cx="3330564" cy="461665"/>
            </a:xfrm>
            <a:prstGeom prst="rect">
              <a:avLst/>
            </a:prstGeom>
            <a:noFill/>
          </p:spPr>
          <p:txBody>
            <a:bodyPr wrap="square" rtlCol="0">
              <a:spAutoFit/>
            </a:bodyPr>
            <a:lstStyle/>
            <a:p>
              <a:pPr algn="ctr"/>
              <a:r>
                <a:rPr lang="en-US" sz="2400" b="1" dirty="0">
                  <a:solidFill>
                    <a:srgbClr val="C00000"/>
                  </a:solidFill>
                  <a:latin typeface="Helvetica" pitchFamily="2" charset="0"/>
                  <a:cs typeface="Times New Roman" panose="02020603050405020304" pitchFamily="18" charset="0"/>
                </a:rPr>
                <a:t>Long-term Debt Ratio </a:t>
              </a:r>
            </a:p>
          </p:txBody>
        </p:sp>
        <p:sp>
          <p:nvSpPr>
            <p:cNvPr id="7" name="TextBox 6">
              <a:extLst>
                <a:ext uri="{FF2B5EF4-FFF2-40B4-BE49-F238E27FC236}">
                  <a16:creationId xmlns:a16="http://schemas.microsoft.com/office/drawing/2014/main" id="{21A78FF8-690B-C790-5944-9B7CC314DAF1}"/>
                </a:ext>
              </a:extLst>
            </p:cNvPr>
            <p:cNvSpPr txBox="1"/>
            <p:nvPr/>
          </p:nvSpPr>
          <p:spPr>
            <a:xfrm>
              <a:off x="4106857"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8" name="TextBox 7">
              <a:extLst>
                <a:ext uri="{FF2B5EF4-FFF2-40B4-BE49-F238E27FC236}">
                  <a16:creationId xmlns:a16="http://schemas.microsoft.com/office/drawing/2014/main" id="{6B718223-1095-797C-CEC8-3E1FE6D95461}"/>
                </a:ext>
              </a:extLst>
            </p:cNvPr>
            <p:cNvSpPr txBox="1">
              <a:spLocks/>
            </p:cNvSpPr>
            <p:nvPr/>
          </p:nvSpPr>
          <p:spPr>
            <a:xfrm>
              <a:off x="5557861" y="3038484"/>
              <a:ext cx="2475358"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Long-term Debt</a:t>
              </a:r>
              <a:endParaRPr lang="en-US" sz="2400" b="1" dirty="0">
                <a:solidFill>
                  <a:srgbClr val="C00000"/>
                </a:solidFill>
              </a:endParaRPr>
            </a:p>
          </p:txBody>
        </p:sp>
        <p:sp>
          <p:nvSpPr>
            <p:cNvPr id="9" name="TextBox 8">
              <a:extLst>
                <a:ext uri="{FF2B5EF4-FFF2-40B4-BE49-F238E27FC236}">
                  <a16:creationId xmlns:a16="http://schemas.microsoft.com/office/drawing/2014/main" id="{2075DA30-37DC-8901-42CF-1FF5BDCEC38E}"/>
                </a:ext>
              </a:extLst>
            </p:cNvPr>
            <p:cNvSpPr txBox="1">
              <a:spLocks/>
            </p:cNvSpPr>
            <p:nvPr/>
          </p:nvSpPr>
          <p:spPr>
            <a:xfrm>
              <a:off x="4515236" y="3617774"/>
              <a:ext cx="4560608"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Long-term Debt + </a:t>
              </a:r>
              <a:r>
                <a:rPr lang="en-US" sz="2400" b="1" dirty="0">
                  <a:solidFill>
                    <a:srgbClr val="C00000"/>
                  </a:solidFill>
                  <a:latin typeface="Helvetica" pitchFamily="2" charset="0"/>
                </a:rPr>
                <a:t>Total Equity</a:t>
              </a:r>
              <a:endParaRPr lang="en-US" sz="2400" b="1" dirty="0">
                <a:solidFill>
                  <a:srgbClr val="C00000"/>
                </a:solidFill>
              </a:endParaRPr>
            </a:p>
          </p:txBody>
        </p:sp>
        <p:cxnSp>
          <p:nvCxnSpPr>
            <p:cNvPr id="10" name="Straight Connector 9">
              <a:extLst>
                <a:ext uri="{FF2B5EF4-FFF2-40B4-BE49-F238E27FC236}">
                  <a16:creationId xmlns:a16="http://schemas.microsoft.com/office/drawing/2014/main" id="{6C93A4C6-5484-CA6B-3251-7428561F0E84}"/>
                </a:ext>
              </a:extLst>
            </p:cNvPr>
            <p:cNvCxnSpPr>
              <a:cxnSpLocks/>
            </p:cNvCxnSpPr>
            <p:nvPr/>
          </p:nvCxnSpPr>
          <p:spPr>
            <a:xfrm>
              <a:off x="4515236" y="3546159"/>
              <a:ext cx="45636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1" name="TextBox 10">
            <a:extLst>
              <a:ext uri="{FF2B5EF4-FFF2-40B4-BE49-F238E27FC236}">
                <a16:creationId xmlns:a16="http://schemas.microsoft.com/office/drawing/2014/main" id="{551828EE-9353-AB95-EA2D-3D6D861F7B93}"/>
              </a:ext>
            </a:extLst>
          </p:cNvPr>
          <p:cNvSpPr txBox="1"/>
          <p:nvPr/>
        </p:nvSpPr>
        <p:spPr>
          <a:xfrm>
            <a:off x="6746157" y="3999939"/>
            <a:ext cx="5038559" cy="2246769"/>
          </a:xfrm>
          <a:prstGeom prst="rect">
            <a:avLst/>
          </a:prstGeom>
          <a:noFill/>
          <a:ln>
            <a:solidFill>
              <a:srgbClr val="00B050"/>
            </a:solidFill>
          </a:ln>
        </p:spPr>
        <p:txBody>
          <a:bodyPr wrap="none" rtlCol="0">
            <a:spAutoFit/>
          </a:bodyPr>
          <a:lstStyle/>
          <a:p>
            <a:pPr marL="342900" indent="-342900">
              <a:spcBef>
                <a:spcPts val="600"/>
              </a:spcBef>
              <a:spcAft>
                <a:spcPts val="600"/>
              </a:spcAft>
              <a:buFont typeface="Arial" panose="020B0604020202020204" pitchFamily="34" charset="0"/>
              <a:buChar char="•"/>
            </a:pPr>
            <a:r>
              <a:rPr lang="en-US" sz="2000" b="1" dirty="0">
                <a:solidFill>
                  <a:schemeClr val="accent6">
                    <a:lumMod val="75000"/>
                  </a:schemeClr>
                </a:solidFill>
                <a:latin typeface="Helvetica" pitchFamily="2" charset="0"/>
              </a:rPr>
              <a:t>Lower Long-Term Debt Ratio</a:t>
            </a:r>
          </a:p>
          <a:p>
            <a:pPr marL="800100" lvl="1" indent="-342900">
              <a:spcBef>
                <a:spcPts val="600"/>
              </a:spcBef>
              <a:spcAft>
                <a:spcPts val="600"/>
              </a:spcAft>
              <a:buFont typeface="Arial" panose="020B0604020202020204" pitchFamily="34" charset="0"/>
              <a:buChar char="•"/>
            </a:pPr>
            <a:r>
              <a:rPr lang="en-US" sz="2000" dirty="0">
                <a:solidFill>
                  <a:schemeClr val="accent6">
                    <a:lumMod val="75000"/>
                  </a:schemeClr>
                </a:solidFill>
                <a:latin typeface="Helvetica" pitchFamily="2" charset="0"/>
              </a:rPr>
              <a:t>Greater reliance on equity financing</a:t>
            </a:r>
          </a:p>
          <a:p>
            <a:pPr marL="800100" lvl="1" indent="-342900">
              <a:spcBef>
                <a:spcPts val="600"/>
              </a:spcBef>
              <a:spcAft>
                <a:spcPts val="600"/>
              </a:spcAft>
              <a:buFont typeface="Arial" panose="020B0604020202020204" pitchFamily="34" charset="0"/>
              <a:buChar char="•"/>
            </a:pPr>
            <a:r>
              <a:rPr lang="en-US" sz="2000" dirty="0">
                <a:solidFill>
                  <a:schemeClr val="accent6">
                    <a:lumMod val="75000"/>
                  </a:schemeClr>
                </a:solidFill>
                <a:latin typeface="Helvetica" pitchFamily="2" charset="0"/>
              </a:rPr>
              <a:t>More financial flexibility</a:t>
            </a:r>
          </a:p>
          <a:p>
            <a:pPr marL="800100" lvl="1" indent="-342900">
              <a:spcBef>
                <a:spcPts val="600"/>
              </a:spcBef>
              <a:spcAft>
                <a:spcPts val="600"/>
              </a:spcAft>
              <a:buFont typeface="Arial" panose="020B0604020202020204" pitchFamily="34" charset="0"/>
              <a:buChar char="•"/>
            </a:pPr>
            <a:r>
              <a:rPr lang="en-US" sz="2000" dirty="0">
                <a:solidFill>
                  <a:schemeClr val="accent6">
                    <a:lumMod val="75000"/>
                  </a:schemeClr>
                </a:solidFill>
                <a:latin typeface="Helvetica" pitchFamily="2" charset="0"/>
              </a:rPr>
              <a:t>Lower fixed obligations</a:t>
            </a:r>
          </a:p>
          <a:p>
            <a:pPr marL="800100" lvl="1" indent="-342900">
              <a:spcBef>
                <a:spcPts val="600"/>
              </a:spcBef>
              <a:spcAft>
                <a:spcPts val="600"/>
              </a:spcAft>
              <a:buFont typeface="Arial" panose="020B0604020202020204" pitchFamily="34" charset="0"/>
              <a:buChar char="•"/>
            </a:pPr>
            <a:r>
              <a:rPr lang="en-US" sz="2000" b="1" dirty="0">
                <a:solidFill>
                  <a:schemeClr val="accent6">
                    <a:lumMod val="75000"/>
                  </a:schemeClr>
                </a:solidFill>
                <a:latin typeface="Helvetica" pitchFamily="2" charset="0"/>
              </a:rPr>
              <a:t>Lower long-term financial risk</a:t>
            </a:r>
          </a:p>
        </p:txBody>
      </p:sp>
    </p:spTree>
    <p:extLst>
      <p:ext uri="{BB962C8B-B14F-4D97-AF65-F5344CB8AC3E}">
        <p14:creationId xmlns:p14="http://schemas.microsoft.com/office/powerpoint/2010/main" val="251052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CF9DC-A8B1-2F7E-A2A2-7F9D516305C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B473656-A5A0-A288-2BC5-D7608EC2FF82}"/>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C12BCE-C5C9-ADB6-F66C-9D3670272998}"/>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3-5. Times Interest Earned Ratio</a:t>
            </a:r>
          </a:p>
        </p:txBody>
      </p:sp>
      <p:sp>
        <p:nvSpPr>
          <p:cNvPr id="15" name="TextBox 14">
            <a:extLst>
              <a:ext uri="{FF2B5EF4-FFF2-40B4-BE49-F238E27FC236}">
                <a16:creationId xmlns:a16="http://schemas.microsoft.com/office/drawing/2014/main" id="{23538035-E716-20FC-F8D7-48A17A7292F6}"/>
              </a:ext>
            </a:extLst>
          </p:cNvPr>
          <p:cNvSpPr txBox="1"/>
          <p:nvPr/>
        </p:nvSpPr>
        <p:spPr>
          <a:xfrm>
            <a:off x="218979" y="2699245"/>
            <a:ext cx="11754042" cy="707886"/>
          </a:xfrm>
          <a:prstGeom prst="rect">
            <a:avLst/>
          </a:prstGeom>
          <a:noFill/>
        </p:spPr>
        <p:txBody>
          <a:bodyPr wrap="square" rtlCol="0">
            <a:spAutoFit/>
          </a:bodyPr>
          <a:lstStyle/>
          <a:p>
            <a:pPr marL="342900" indent="-342900" algn="just">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The TIE ratio measures how many times a company’s earnings before interest and taxes (EBIT) can cover its interest payments.</a:t>
            </a:r>
          </a:p>
        </p:txBody>
      </p:sp>
      <p:sp>
        <p:nvSpPr>
          <p:cNvPr id="17" name="TextBox 16">
            <a:extLst>
              <a:ext uri="{FF2B5EF4-FFF2-40B4-BE49-F238E27FC236}">
                <a16:creationId xmlns:a16="http://schemas.microsoft.com/office/drawing/2014/main" id="{15212868-08B6-5400-1269-47896304C182}"/>
              </a:ext>
            </a:extLst>
          </p:cNvPr>
          <p:cNvSpPr txBox="1"/>
          <p:nvPr/>
        </p:nvSpPr>
        <p:spPr>
          <a:xfrm>
            <a:off x="1996598" y="4022705"/>
            <a:ext cx="8595943" cy="1431867"/>
          </a:xfrm>
          <a:prstGeom prst="rect">
            <a:avLst/>
          </a:prstGeom>
          <a:noFill/>
          <a:ln>
            <a:solidFill>
              <a:srgbClr val="A60086"/>
            </a:solidFill>
          </a:ln>
        </p:spPr>
        <p:txBody>
          <a:bodyPr wrap="none" rtlCol="0">
            <a:spAutoFit/>
          </a:bodyPr>
          <a:lstStyle/>
          <a:p>
            <a:pPr>
              <a:lnSpc>
                <a:spcPct val="150000"/>
              </a:lnSpc>
              <a:spcBef>
                <a:spcPts val="600"/>
              </a:spcBef>
              <a:spcAft>
                <a:spcPts val="600"/>
              </a:spcAft>
            </a:pPr>
            <a:r>
              <a:rPr lang="en-US" sz="2000" b="1" dirty="0">
                <a:solidFill>
                  <a:schemeClr val="accent5">
                    <a:lumMod val="75000"/>
                  </a:schemeClr>
                </a:solidFill>
                <a:latin typeface="Helvetica" pitchFamily="2" charset="0"/>
              </a:rPr>
              <a:t>✔ Indicates financial stability </a:t>
            </a:r>
            <a:r>
              <a:rPr lang="en-US" sz="2000" b="1" dirty="0">
                <a:solidFill>
                  <a:schemeClr val="accent5">
                    <a:lumMod val="75000"/>
                  </a:schemeClr>
                </a:solidFill>
                <a:latin typeface="Helvetica" pitchFamily="2" charset="0"/>
                <a:sym typeface="Wingdings" pitchFamily="2" charset="2"/>
              </a:rPr>
              <a:t></a:t>
            </a:r>
            <a:r>
              <a:rPr lang="en-US" sz="2000" b="1" dirty="0">
                <a:solidFill>
                  <a:schemeClr val="accent5">
                    <a:lumMod val="75000"/>
                  </a:schemeClr>
                </a:solidFill>
                <a:latin typeface="Helvetica" pitchFamily="2" charset="0"/>
              </a:rPr>
              <a:t> Higher TIE means lower risk.</a:t>
            </a:r>
            <a:br>
              <a:rPr lang="en-US" sz="2000" b="1" dirty="0">
                <a:solidFill>
                  <a:schemeClr val="accent5">
                    <a:lumMod val="75000"/>
                  </a:schemeClr>
                </a:solidFill>
                <a:latin typeface="Helvetica" pitchFamily="2" charset="0"/>
              </a:rPr>
            </a:br>
            <a:r>
              <a:rPr lang="en-US" sz="2000" b="1" dirty="0">
                <a:solidFill>
                  <a:schemeClr val="accent5">
                    <a:lumMod val="75000"/>
                  </a:schemeClr>
                </a:solidFill>
                <a:latin typeface="Helvetica" pitchFamily="2" charset="0"/>
              </a:rPr>
              <a:t>✔ Uses EBIT (not net income) </a:t>
            </a:r>
            <a:r>
              <a:rPr lang="en-US" sz="2000" b="1" dirty="0">
                <a:solidFill>
                  <a:schemeClr val="accent5">
                    <a:lumMod val="75000"/>
                  </a:schemeClr>
                </a:solidFill>
                <a:latin typeface="Helvetica" pitchFamily="2" charset="0"/>
                <a:sym typeface="Wingdings" pitchFamily="2" charset="2"/>
              </a:rPr>
              <a:t></a:t>
            </a:r>
            <a:r>
              <a:rPr lang="en-US" sz="2000" b="1" dirty="0">
                <a:solidFill>
                  <a:schemeClr val="accent5">
                    <a:lumMod val="75000"/>
                  </a:schemeClr>
                </a:solidFill>
                <a:latin typeface="Helvetica" pitchFamily="2" charset="0"/>
              </a:rPr>
              <a:t> Interest is paid with pretax dollars.</a:t>
            </a:r>
            <a:br>
              <a:rPr lang="en-US" sz="2000" b="1" dirty="0">
                <a:solidFill>
                  <a:schemeClr val="accent5">
                    <a:lumMod val="75000"/>
                  </a:schemeClr>
                </a:solidFill>
                <a:latin typeface="Helvetica" pitchFamily="2" charset="0"/>
              </a:rPr>
            </a:br>
            <a:r>
              <a:rPr lang="en-US" sz="2000" b="1" dirty="0">
                <a:solidFill>
                  <a:schemeClr val="accent5">
                    <a:lumMod val="75000"/>
                  </a:schemeClr>
                </a:solidFill>
                <a:latin typeface="Helvetica" pitchFamily="2" charset="0"/>
              </a:rPr>
              <a:t>✔ Creditors prefer a higher TIE </a:t>
            </a:r>
            <a:r>
              <a:rPr lang="en-US" sz="2000" b="1" dirty="0">
                <a:solidFill>
                  <a:schemeClr val="accent5">
                    <a:lumMod val="75000"/>
                  </a:schemeClr>
                </a:solidFill>
                <a:latin typeface="Helvetica" pitchFamily="2" charset="0"/>
                <a:sym typeface="Wingdings" pitchFamily="2" charset="2"/>
              </a:rPr>
              <a:t></a:t>
            </a:r>
            <a:r>
              <a:rPr lang="en-US" sz="2000" b="1" dirty="0">
                <a:solidFill>
                  <a:schemeClr val="accent5">
                    <a:lumMod val="75000"/>
                  </a:schemeClr>
                </a:solidFill>
                <a:latin typeface="Helvetica" pitchFamily="2" charset="0"/>
              </a:rPr>
              <a:t> Ensures a strong margin of safety.</a:t>
            </a:r>
          </a:p>
        </p:txBody>
      </p:sp>
      <p:grpSp>
        <p:nvGrpSpPr>
          <p:cNvPr id="3" name="Group 2">
            <a:extLst>
              <a:ext uri="{FF2B5EF4-FFF2-40B4-BE49-F238E27FC236}">
                <a16:creationId xmlns:a16="http://schemas.microsoft.com/office/drawing/2014/main" id="{E716386F-3159-D150-7F7A-73E7A4AD79A5}"/>
              </a:ext>
            </a:extLst>
          </p:cNvPr>
          <p:cNvGrpSpPr/>
          <p:nvPr/>
        </p:nvGrpSpPr>
        <p:grpSpPr>
          <a:xfrm>
            <a:off x="713014" y="1544946"/>
            <a:ext cx="10765971" cy="988675"/>
            <a:chOff x="-217493" y="3057915"/>
            <a:chExt cx="10765971" cy="988675"/>
          </a:xfrm>
        </p:grpSpPr>
        <p:sp>
          <p:nvSpPr>
            <p:cNvPr id="5" name="TextBox 4">
              <a:extLst>
                <a:ext uri="{FF2B5EF4-FFF2-40B4-BE49-F238E27FC236}">
                  <a16:creationId xmlns:a16="http://schemas.microsoft.com/office/drawing/2014/main" id="{65DCFA5F-549F-7942-8EBC-C6B4681F6B21}"/>
                </a:ext>
              </a:extLst>
            </p:cNvPr>
            <p:cNvSpPr txBox="1">
              <a:spLocks/>
            </p:cNvSpPr>
            <p:nvPr/>
          </p:nvSpPr>
          <p:spPr>
            <a:xfrm>
              <a:off x="-217493" y="3315326"/>
              <a:ext cx="4397364" cy="461665"/>
            </a:xfrm>
            <a:prstGeom prst="rect">
              <a:avLst/>
            </a:prstGeom>
            <a:noFill/>
          </p:spPr>
          <p:txBody>
            <a:bodyPr wrap="square" rtlCol="0">
              <a:spAutoFit/>
            </a:bodyPr>
            <a:lstStyle/>
            <a:p>
              <a:pPr algn="ctr"/>
              <a:r>
                <a:rPr lang="en-US" sz="2400" b="1" dirty="0">
                  <a:solidFill>
                    <a:srgbClr val="C00000"/>
                  </a:solidFill>
                  <a:latin typeface="Helvetica" pitchFamily="2" charset="0"/>
                  <a:cs typeface="Times New Roman" panose="02020603050405020304" pitchFamily="18" charset="0"/>
                </a:rPr>
                <a:t>Times Interest Earned Ratio </a:t>
              </a:r>
            </a:p>
          </p:txBody>
        </p:sp>
        <p:sp>
          <p:nvSpPr>
            <p:cNvPr id="7" name="TextBox 6">
              <a:extLst>
                <a:ext uri="{FF2B5EF4-FFF2-40B4-BE49-F238E27FC236}">
                  <a16:creationId xmlns:a16="http://schemas.microsoft.com/office/drawing/2014/main" id="{99EFA714-F166-1C00-0480-1CF8306B0C9F}"/>
                </a:ext>
              </a:extLst>
            </p:cNvPr>
            <p:cNvSpPr txBox="1"/>
            <p:nvPr/>
          </p:nvSpPr>
          <p:spPr>
            <a:xfrm>
              <a:off x="4106857"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8" name="TextBox 7">
              <a:extLst>
                <a:ext uri="{FF2B5EF4-FFF2-40B4-BE49-F238E27FC236}">
                  <a16:creationId xmlns:a16="http://schemas.microsoft.com/office/drawing/2014/main" id="{38E7DA82-E1E1-555B-CFB2-5FBA28FB3CC6}"/>
                </a:ext>
              </a:extLst>
            </p:cNvPr>
            <p:cNvSpPr txBox="1">
              <a:spLocks/>
            </p:cNvSpPr>
            <p:nvPr/>
          </p:nvSpPr>
          <p:spPr>
            <a:xfrm>
              <a:off x="4630389" y="3057915"/>
              <a:ext cx="5802935"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Earning Before Interest and Tax (EBIT)</a:t>
              </a:r>
              <a:endParaRPr lang="en-US" sz="2400" b="1" dirty="0">
                <a:solidFill>
                  <a:srgbClr val="C00000"/>
                </a:solidFill>
              </a:endParaRPr>
            </a:p>
          </p:txBody>
        </p:sp>
        <p:sp>
          <p:nvSpPr>
            <p:cNvPr id="9" name="TextBox 8">
              <a:extLst>
                <a:ext uri="{FF2B5EF4-FFF2-40B4-BE49-F238E27FC236}">
                  <a16:creationId xmlns:a16="http://schemas.microsoft.com/office/drawing/2014/main" id="{77DB8297-BD7A-CDC1-A3BC-4AC05BDCFB0F}"/>
                </a:ext>
              </a:extLst>
            </p:cNvPr>
            <p:cNvSpPr txBox="1">
              <a:spLocks/>
            </p:cNvSpPr>
            <p:nvPr/>
          </p:nvSpPr>
          <p:spPr>
            <a:xfrm>
              <a:off x="6207615" y="3584925"/>
              <a:ext cx="2648482"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Interest Expense</a:t>
              </a:r>
              <a:endParaRPr lang="en-US" sz="2400" b="1" dirty="0">
                <a:solidFill>
                  <a:srgbClr val="C00000"/>
                </a:solidFill>
              </a:endParaRPr>
            </a:p>
          </p:txBody>
        </p:sp>
        <p:cxnSp>
          <p:nvCxnSpPr>
            <p:cNvPr id="10" name="Straight Connector 9">
              <a:extLst>
                <a:ext uri="{FF2B5EF4-FFF2-40B4-BE49-F238E27FC236}">
                  <a16:creationId xmlns:a16="http://schemas.microsoft.com/office/drawing/2014/main" id="{54585966-987E-B576-F093-3758EC982DBB}"/>
                </a:ext>
              </a:extLst>
            </p:cNvPr>
            <p:cNvCxnSpPr>
              <a:cxnSpLocks/>
            </p:cNvCxnSpPr>
            <p:nvPr/>
          </p:nvCxnSpPr>
          <p:spPr>
            <a:xfrm>
              <a:off x="4515236" y="3546159"/>
              <a:ext cx="6033242"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055658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90B85-4D0D-1A10-8144-529FE954176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354B333-A8E8-E6EC-D649-460996EB0408}"/>
              </a:ext>
            </a:extLst>
          </p:cNvPr>
          <p:cNvSpPr/>
          <p:nvPr/>
        </p:nvSpPr>
        <p:spPr>
          <a:xfrm>
            <a:off x="0" y="-1"/>
            <a:ext cx="12192000" cy="1033494"/>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BEBEEA-32EF-3CEF-DDEA-A6B9BAC5D10C}"/>
              </a:ext>
            </a:extLst>
          </p:cNvPr>
          <p:cNvSpPr>
            <a:spLocks noGrp="1"/>
          </p:cNvSpPr>
          <p:nvPr>
            <p:ph type="title"/>
          </p:nvPr>
        </p:nvSpPr>
        <p:spPr>
          <a:xfrm>
            <a:off x="419559" y="59543"/>
            <a:ext cx="10515600" cy="982663"/>
          </a:xfrm>
        </p:spPr>
        <p:txBody>
          <a:bodyPr>
            <a:normAutofit/>
          </a:bodyPr>
          <a:lstStyle/>
          <a:p>
            <a:r>
              <a:rPr lang="en-US" b="1" dirty="0">
                <a:solidFill>
                  <a:schemeClr val="bg1"/>
                </a:solidFill>
                <a:latin typeface="Helvetica" pitchFamily="2" charset="0"/>
              </a:rPr>
              <a:t>3. Example (3-4 to 3-5)</a:t>
            </a:r>
          </a:p>
        </p:txBody>
      </p:sp>
      <p:sp>
        <p:nvSpPr>
          <p:cNvPr id="7" name="TextBox 6">
            <a:extLst>
              <a:ext uri="{FF2B5EF4-FFF2-40B4-BE49-F238E27FC236}">
                <a16:creationId xmlns:a16="http://schemas.microsoft.com/office/drawing/2014/main" id="{57E54DE2-7732-B00B-61E3-C3163038AF3F}"/>
              </a:ext>
            </a:extLst>
          </p:cNvPr>
          <p:cNvSpPr txBox="1"/>
          <p:nvPr/>
        </p:nvSpPr>
        <p:spPr>
          <a:xfrm>
            <a:off x="252919" y="1491590"/>
            <a:ext cx="11781026" cy="1569660"/>
          </a:xfrm>
          <a:prstGeom prst="rect">
            <a:avLst/>
          </a:prstGeom>
          <a:noFill/>
        </p:spPr>
        <p:txBody>
          <a:bodyPr wrap="square" rtlCol="0">
            <a:spAutoFit/>
          </a:bodyPr>
          <a:lstStyle/>
          <a:p>
            <a:pPr algn="just">
              <a:spcAft>
                <a:spcPts val="600"/>
              </a:spcAft>
            </a:pPr>
            <a:r>
              <a:rPr lang="en-US" sz="2400" dirty="0">
                <a:latin typeface="Helvetica" pitchFamily="2" charset="0"/>
                <a:cs typeface="Times New Roman" panose="02020603050405020304" pitchFamily="18" charset="0"/>
              </a:rPr>
              <a:t>Wie Corp’s total equity last year was $120,000, and its total debt amounted to $360,000. However, out of this, $170,000 was in short-term debt. The company reported an operating income (EBIT) of $84,000 and incurred $12,000 in interest expenses. </a:t>
            </a:r>
            <a:r>
              <a:rPr lang="en-US" sz="2400" b="1" dirty="0">
                <a:latin typeface="Helvetica" pitchFamily="2" charset="0"/>
                <a:cs typeface="Times New Roman" panose="02020603050405020304" pitchFamily="18" charset="0"/>
              </a:rPr>
              <a:t>Calculate the Long-term Debt and TIE ratio.</a:t>
            </a:r>
            <a:endParaRPr lang="en-US" sz="2800" b="1" dirty="0">
              <a:latin typeface="Helvetica" pitchFamily="2" charset="0"/>
              <a:cs typeface="Times New Roman" panose="02020603050405020304" pitchFamily="18" charset="0"/>
            </a:endParaRPr>
          </a:p>
        </p:txBody>
      </p:sp>
      <p:sp>
        <p:nvSpPr>
          <p:cNvPr id="9" name="TextBox 8">
            <a:extLst>
              <a:ext uri="{FF2B5EF4-FFF2-40B4-BE49-F238E27FC236}">
                <a16:creationId xmlns:a16="http://schemas.microsoft.com/office/drawing/2014/main" id="{B7C3A98F-36B9-CB8E-1FD2-842785EEE139}"/>
              </a:ext>
            </a:extLst>
          </p:cNvPr>
          <p:cNvSpPr txBox="1"/>
          <p:nvPr/>
        </p:nvSpPr>
        <p:spPr>
          <a:xfrm>
            <a:off x="252919" y="1129319"/>
            <a:ext cx="1843710" cy="400110"/>
          </a:xfrm>
          <a:prstGeom prst="rect">
            <a:avLst/>
          </a:prstGeom>
          <a:noFill/>
        </p:spPr>
        <p:txBody>
          <a:bodyPr wrap="square" rtlCol="0">
            <a:spAutoFit/>
          </a:bodyPr>
          <a:lstStyle/>
          <a:p>
            <a:r>
              <a:rPr lang="en-US" sz="2000" b="1" dirty="0">
                <a:latin typeface="Helvetica" pitchFamily="2" charset="0"/>
                <a:cs typeface="Times New Roman" panose="02020603050405020304" pitchFamily="18" charset="0"/>
              </a:rPr>
              <a:t>Question-7</a:t>
            </a:r>
          </a:p>
        </p:txBody>
      </p:sp>
      <p:grpSp>
        <p:nvGrpSpPr>
          <p:cNvPr id="59" name="Group 58">
            <a:extLst>
              <a:ext uri="{FF2B5EF4-FFF2-40B4-BE49-F238E27FC236}">
                <a16:creationId xmlns:a16="http://schemas.microsoft.com/office/drawing/2014/main" id="{4D10163A-FA13-DC73-9EF5-AA03D99116EF}"/>
              </a:ext>
            </a:extLst>
          </p:cNvPr>
          <p:cNvGrpSpPr/>
          <p:nvPr/>
        </p:nvGrpSpPr>
        <p:grpSpPr>
          <a:xfrm>
            <a:off x="3906077" y="5445528"/>
            <a:ext cx="3042067" cy="961397"/>
            <a:chOff x="3252933" y="2594307"/>
            <a:chExt cx="3042067" cy="961397"/>
          </a:xfrm>
        </p:grpSpPr>
        <p:grpSp>
          <p:nvGrpSpPr>
            <p:cNvPr id="60" name="Group 59">
              <a:extLst>
                <a:ext uri="{FF2B5EF4-FFF2-40B4-BE49-F238E27FC236}">
                  <a16:creationId xmlns:a16="http://schemas.microsoft.com/office/drawing/2014/main" id="{A0C1A736-8EBC-C95C-A175-66AD344EDDB7}"/>
                </a:ext>
              </a:extLst>
            </p:cNvPr>
            <p:cNvGrpSpPr/>
            <p:nvPr/>
          </p:nvGrpSpPr>
          <p:grpSpPr>
            <a:xfrm>
              <a:off x="3252933" y="2594307"/>
              <a:ext cx="2646303" cy="961397"/>
              <a:chOff x="3880229" y="3041208"/>
              <a:chExt cx="2646303" cy="961397"/>
            </a:xfrm>
          </p:grpSpPr>
          <p:sp>
            <p:nvSpPr>
              <p:cNvPr id="62" name="TextBox 61">
                <a:extLst>
                  <a:ext uri="{FF2B5EF4-FFF2-40B4-BE49-F238E27FC236}">
                    <a16:creationId xmlns:a16="http://schemas.microsoft.com/office/drawing/2014/main" id="{F173C148-AFA9-2FB7-349B-BE4737CEE38D}"/>
                  </a:ext>
                </a:extLst>
              </p:cNvPr>
              <p:cNvSpPr txBox="1"/>
              <p:nvPr/>
            </p:nvSpPr>
            <p:spPr>
              <a:xfrm>
                <a:off x="3880229" y="3321852"/>
                <a:ext cx="297455" cy="400110"/>
              </a:xfrm>
              <a:prstGeom prst="rect">
                <a:avLst/>
              </a:prstGeom>
              <a:noFill/>
            </p:spPr>
            <p:txBody>
              <a:bodyPr wrap="square" rtlCol="0">
                <a:spAutoFit/>
              </a:bodyPr>
              <a:lstStyle/>
              <a:p>
                <a:r>
                  <a:rPr lang="en-US" sz="2000" b="1" dirty="0">
                    <a:solidFill>
                      <a:srgbClr val="00B050"/>
                    </a:solidFill>
                    <a:latin typeface="Helvetica" pitchFamily="2" charset="0"/>
                  </a:rPr>
                  <a:t>=</a:t>
                </a:r>
              </a:p>
            </p:txBody>
          </p:sp>
          <p:sp>
            <p:nvSpPr>
              <p:cNvPr id="63" name="TextBox 62">
                <a:extLst>
                  <a:ext uri="{FF2B5EF4-FFF2-40B4-BE49-F238E27FC236}">
                    <a16:creationId xmlns:a16="http://schemas.microsoft.com/office/drawing/2014/main" id="{9CF59611-76A5-BFDB-A529-DBA2F0E7C997}"/>
                  </a:ext>
                </a:extLst>
              </p:cNvPr>
              <p:cNvSpPr txBox="1">
                <a:spLocks/>
              </p:cNvSpPr>
              <p:nvPr/>
            </p:nvSpPr>
            <p:spPr>
              <a:xfrm>
                <a:off x="5040880" y="3041208"/>
                <a:ext cx="769763" cy="400110"/>
              </a:xfrm>
              <a:prstGeom prst="rect">
                <a:avLst/>
              </a:prstGeom>
              <a:noFill/>
            </p:spPr>
            <p:txBody>
              <a:bodyPr wrap="none" rtlCol="0">
                <a:spAutoFit/>
              </a:bodyPr>
              <a:lstStyle/>
              <a:p>
                <a:pPr algn="ctr"/>
                <a:r>
                  <a:rPr lang="en-US" sz="2000" b="1" dirty="0">
                    <a:solidFill>
                      <a:srgbClr val="00B050"/>
                    </a:solidFill>
                    <a:latin typeface="Helvetica" pitchFamily="2" charset="0"/>
                  </a:rPr>
                  <a:t>EBIT</a:t>
                </a:r>
              </a:p>
            </p:txBody>
          </p:sp>
          <p:sp>
            <p:nvSpPr>
              <p:cNvPr id="64" name="TextBox 63">
                <a:extLst>
                  <a:ext uri="{FF2B5EF4-FFF2-40B4-BE49-F238E27FC236}">
                    <a16:creationId xmlns:a16="http://schemas.microsoft.com/office/drawing/2014/main" id="{2EBEC376-AB4F-786E-41AE-B8D5F655156D}"/>
                  </a:ext>
                </a:extLst>
              </p:cNvPr>
              <p:cNvSpPr txBox="1">
                <a:spLocks/>
              </p:cNvSpPr>
              <p:nvPr/>
            </p:nvSpPr>
            <p:spPr>
              <a:xfrm>
                <a:off x="4290022" y="3602495"/>
                <a:ext cx="2236510" cy="400110"/>
              </a:xfrm>
              <a:prstGeom prst="rect">
                <a:avLst/>
              </a:prstGeom>
              <a:noFill/>
            </p:spPr>
            <p:txBody>
              <a:bodyPr wrap="none" rtlCol="0">
                <a:spAutoFit/>
              </a:bodyPr>
              <a:lstStyle/>
              <a:p>
                <a:pPr algn="ctr"/>
                <a:r>
                  <a:rPr lang="en-US" sz="2000" b="1" dirty="0">
                    <a:solidFill>
                      <a:srgbClr val="00B050"/>
                    </a:solidFill>
                    <a:latin typeface="Helvetica" pitchFamily="2" charset="0"/>
                  </a:rPr>
                  <a:t>Interest Expense</a:t>
                </a:r>
              </a:p>
            </p:txBody>
          </p:sp>
          <p:cxnSp>
            <p:nvCxnSpPr>
              <p:cNvPr id="65" name="Straight Connector 64">
                <a:extLst>
                  <a:ext uri="{FF2B5EF4-FFF2-40B4-BE49-F238E27FC236}">
                    <a16:creationId xmlns:a16="http://schemas.microsoft.com/office/drawing/2014/main" id="{2FB0E304-3430-4A71-C38B-8816B572EF74}"/>
                  </a:ext>
                </a:extLst>
              </p:cNvPr>
              <p:cNvCxnSpPr>
                <a:cxnSpLocks/>
              </p:cNvCxnSpPr>
              <p:nvPr/>
            </p:nvCxnSpPr>
            <p:spPr>
              <a:xfrm>
                <a:off x="4321266" y="3546159"/>
                <a:ext cx="2174017"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1" name="TextBox 60">
              <a:extLst>
                <a:ext uri="{FF2B5EF4-FFF2-40B4-BE49-F238E27FC236}">
                  <a16:creationId xmlns:a16="http://schemas.microsoft.com/office/drawing/2014/main" id="{386AF999-7D99-C9CD-EC4A-F47F3822A192}"/>
                </a:ext>
              </a:extLst>
            </p:cNvPr>
            <p:cNvSpPr txBox="1"/>
            <p:nvPr/>
          </p:nvSpPr>
          <p:spPr>
            <a:xfrm>
              <a:off x="5997545" y="2902788"/>
              <a:ext cx="297455" cy="400110"/>
            </a:xfrm>
            <a:prstGeom prst="rect">
              <a:avLst/>
            </a:prstGeom>
            <a:noFill/>
          </p:spPr>
          <p:txBody>
            <a:bodyPr wrap="square" rtlCol="0">
              <a:spAutoFit/>
            </a:bodyPr>
            <a:lstStyle/>
            <a:p>
              <a:r>
                <a:rPr lang="en-US" sz="2000" b="1" dirty="0">
                  <a:solidFill>
                    <a:srgbClr val="00B050"/>
                  </a:solidFill>
                  <a:latin typeface="Helvetica" pitchFamily="2" charset="0"/>
                </a:rPr>
                <a:t>=</a:t>
              </a:r>
            </a:p>
          </p:txBody>
        </p:sp>
      </p:grpSp>
      <p:grpSp>
        <p:nvGrpSpPr>
          <p:cNvPr id="66" name="Group 65">
            <a:extLst>
              <a:ext uri="{FF2B5EF4-FFF2-40B4-BE49-F238E27FC236}">
                <a16:creationId xmlns:a16="http://schemas.microsoft.com/office/drawing/2014/main" id="{48A9AB26-F62C-B34A-1009-078682921683}"/>
              </a:ext>
            </a:extLst>
          </p:cNvPr>
          <p:cNvGrpSpPr/>
          <p:nvPr/>
        </p:nvGrpSpPr>
        <p:grpSpPr>
          <a:xfrm>
            <a:off x="7124201" y="5442425"/>
            <a:ext cx="1942074" cy="961397"/>
            <a:chOff x="6471057" y="2591204"/>
            <a:chExt cx="1942074" cy="961397"/>
          </a:xfrm>
        </p:grpSpPr>
        <p:sp>
          <p:nvSpPr>
            <p:cNvPr id="67" name="TextBox 66">
              <a:extLst>
                <a:ext uri="{FF2B5EF4-FFF2-40B4-BE49-F238E27FC236}">
                  <a16:creationId xmlns:a16="http://schemas.microsoft.com/office/drawing/2014/main" id="{B97E2F21-0D53-39D2-EA7C-CDE17938387C}"/>
                </a:ext>
              </a:extLst>
            </p:cNvPr>
            <p:cNvSpPr txBox="1">
              <a:spLocks/>
            </p:cNvSpPr>
            <p:nvPr/>
          </p:nvSpPr>
          <p:spPr>
            <a:xfrm>
              <a:off x="6729004" y="2591204"/>
              <a:ext cx="1111202" cy="400110"/>
            </a:xfrm>
            <a:prstGeom prst="rect">
              <a:avLst/>
            </a:prstGeom>
            <a:noFill/>
          </p:spPr>
          <p:txBody>
            <a:bodyPr wrap="none" rtlCol="0">
              <a:spAutoFit/>
            </a:bodyPr>
            <a:lstStyle/>
            <a:p>
              <a:pPr algn="ctr"/>
              <a:r>
                <a:rPr lang="en-US" sz="2000" b="1" dirty="0">
                  <a:solidFill>
                    <a:srgbClr val="00B050"/>
                  </a:solidFill>
                  <a:latin typeface="Helvetica" pitchFamily="2" charset="0"/>
                </a:rPr>
                <a:t>$84,000</a:t>
              </a:r>
            </a:p>
          </p:txBody>
        </p:sp>
        <p:sp>
          <p:nvSpPr>
            <p:cNvPr id="68" name="TextBox 67">
              <a:extLst>
                <a:ext uri="{FF2B5EF4-FFF2-40B4-BE49-F238E27FC236}">
                  <a16:creationId xmlns:a16="http://schemas.microsoft.com/office/drawing/2014/main" id="{2BA4668B-ED1D-0DDD-3FB5-8B35935CECBC}"/>
                </a:ext>
              </a:extLst>
            </p:cNvPr>
            <p:cNvSpPr txBox="1">
              <a:spLocks/>
            </p:cNvSpPr>
            <p:nvPr/>
          </p:nvSpPr>
          <p:spPr>
            <a:xfrm>
              <a:off x="6725372" y="3152491"/>
              <a:ext cx="1111202" cy="400110"/>
            </a:xfrm>
            <a:prstGeom prst="rect">
              <a:avLst/>
            </a:prstGeom>
            <a:noFill/>
          </p:spPr>
          <p:txBody>
            <a:bodyPr wrap="none" rtlCol="0">
              <a:spAutoFit/>
            </a:bodyPr>
            <a:lstStyle/>
            <a:p>
              <a:pPr algn="ctr"/>
              <a:r>
                <a:rPr lang="en-US" sz="2000" b="1" dirty="0">
                  <a:solidFill>
                    <a:srgbClr val="00B050"/>
                  </a:solidFill>
                  <a:latin typeface="Helvetica" pitchFamily="2" charset="0"/>
                </a:rPr>
                <a:t>$12,000</a:t>
              </a:r>
            </a:p>
          </p:txBody>
        </p:sp>
        <p:cxnSp>
          <p:nvCxnSpPr>
            <p:cNvPr id="69" name="Straight Connector 68">
              <a:extLst>
                <a:ext uri="{FF2B5EF4-FFF2-40B4-BE49-F238E27FC236}">
                  <a16:creationId xmlns:a16="http://schemas.microsoft.com/office/drawing/2014/main" id="{E8C2D7EB-4DDF-5775-DD83-C372FC195766}"/>
                </a:ext>
              </a:extLst>
            </p:cNvPr>
            <p:cNvCxnSpPr>
              <a:cxnSpLocks/>
            </p:cNvCxnSpPr>
            <p:nvPr/>
          </p:nvCxnSpPr>
          <p:spPr>
            <a:xfrm>
              <a:off x="6471057" y="3096155"/>
              <a:ext cx="1613489"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E1583AB6-082A-2951-50BB-7AB50560B152}"/>
                </a:ext>
              </a:extLst>
            </p:cNvPr>
            <p:cNvSpPr txBox="1"/>
            <p:nvPr/>
          </p:nvSpPr>
          <p:spPr>
            <a:xfrm>
              <a:off x="8115676" y="2871848"/>
              <a:ext cx="297455" cy="430887"/>
            </a:xfrm>
            <a:prstGeom prst="rect">
              <a:avLst/>
            </a:prstGeom>
            <a:noFill/>
          </p:spPr>
          <p:txBody>
            <a:bodyPr wrap="square" rtlCol="0">
              <a:spAutoFit/>
            </a:bodyPr>
            <a:lstStyle/>
            <a:p>
              <a:r>
                <a:rPr lang="en-US" sz="2200" b="1" dirty="0">
                  <a:solidFill>
                    <a:srgbClr val="00B050"/>
                  </a:solidFill>
                  <a:latin typeface="Helvetica" pitchFamily="2" charset="0"/>
                </a:rPr>
                <a:t>=</a:t>
              </a:r>
            </a:p>
          </p:txBody>
        </p:sp>
      </p:grpSp>
      <p:sp>
        <p:nvSpPr>
          <p:cNvPr id="71" name="TextBox 70">
            <a:extLst>
              <a:ext uri="{FF2B5EF4-FFF2-40B4-BE49-F238E27FC236}">
                <a16:creationId xmlns:a16="http://schemas.microsoft.com/office/drawing/2014/main" id="{4BA8656A-A84D-6E5D-F307-61B14F43A349}"/>
              </a:ext>
            </a:extLst>
          </p:cNvPr>
          <p:cNvSpPr txBox="1"/>
          <p:nvPr/>
        </p:nvSpPr>
        <p:spPr>
          <a:xfrm>
            <a:off x="9215909" y="5687298"/>
            <a:ext cx="1245854" cy="461665"/>
          </a:xfrm>
          <a:prstGeom prst="rect">
            <a:avLst/>
          </a:prstGeom>
          <a:noFill/>
        </p:spPr>
        <p:txBody>
          <a:bodyPr wrap="none" rtlCol="0">
            <a:spAutoFit/>
          </a:bodyPr>
          <a:lstStyle/>
          <a:p>
            <a:r>
              <a:rPr lang="en-US" sz="2400" b="1" i="1" dirty="0">
                <a:solidFill>
                  <a:srgbClr val="00B050"/>
                </a:solidFill>
                <a:latin typeface="Helvetica" pitchFamily="2" charset="0"/>
              </a:rPr>
              <a:t>7 times</a:t>
            </a:r>
          </a:p>
        </p:txBody>
      </p:sp>
      <p:sp>
        <p:nvSpPr>
          <p:cNvPr id="72" name="TextBox 71">
            <a:extLst>
              <a:ext uri="{FF2B5EF4-FFF2-40B4-BE49-F238E27FC236}">
                <a16:creationId xmlns:a16="http://schemas.microsoft.com/office/drawing/2014/main" id="{82F04025-7C30-37D5-4921-6440748DBCE3}"/>
              </a:ext>
            </a:extLst>
          </p:cNvPr>
          <p:cNvSpPr txBox="1">
            <a:spLocks/>
          </p:cNvSpPr>
          <p:nvPr/>
        </p:nvSpPr>
        <p:spPr>
          <a:xfrm>
            <a:off x="316870" y="5747321"/>
            <a:ext cx="3639458" cy="400110"/>
          </a:xfrm>
          <a:prstGeom prst="rect">
            <a:avLst/>
          </a:prstGeom>
          <a:noFill/>
        </p:spPr>
        <p:txBody>
          <a:bodyPr wrap="none" rtlCol="0">
            <a:spAutoFit/>
          </a:bodyPr>
          <a:lstStyle/>
          <a:p>
            <a:pPr algn="ctr"/>
            <a:r>
              <a:rPr lang="en-US" sz="2000" b="1" dirty="0">
                <a:solidFill>
                  <a:srgbClr val="00B050"/>
                </a:solidFill>
                <a:latin typeface="Helvetica" pitchFamily="2" charset="0"/>
                <a:cs typeface="Times New Roman" panose="02020603050405020304" pitchFamily="18" charset="0"/>
              </a:rPr>
              <a:t>Times Interest Earned Ratio </a:t>
            </a:r>
          </a:p>
        </p:txBody>
      </p:sp>
      <p:grpSp>
        <p:nvGrpSpPr>
          <p:cNvPr id="3" name="Group 2">
            <a:extLst>
              <a:ext uri="{FF2B5EF4-FFF2-40B4-BE49-F238E27FC236}">
                <a16:creationId xmlns:a16="http://schemas.microsoft.com/office/drawing/2014/main" id="{FF3EE81F-9EDF-4BDA-5389-85A4DAED367C}"/>
              </a:ext>
            </a:extLst>
          </p:cNvPr>
          <p:cNvGrpSpPr/>
          <p:nvPr/>
        </p:nvGrpSpPr>
        <p:grpSpPr>
          <a:xfrm>
            <a:off x="126967" y="3205612"/>
            <a:ext cx="7132797" cy="979400"/>
            <a:chOff x="849307" y="3038484"/>
            <a:chExt cx="7132797" cy="979400"/>
          </a:xfrm>
        </p:grpSpPr>
        <p:sp>
          <p:nvSpPr>
            <p:cNvPr id="10" name="TextBox 9">
              <a:extLst>
                <a:ext uri="{FF2B5EF4-FFF2-40B4-BE49-F238E27FC236}">
                  <a16:creationId xmlns:a16="http://schemas.microsoft.com/office/drawing/2014/main" id="{D99086EB-66C2-73F5-EBE7-781595675545}"/>
                </a:ext>
              </a:extLst>
            </p:cNvPr>
            <p:cNvSpPr txBox="1">
              <a:spLocks/>
            </p:cNvSpPr>
            <p:nvPr/>
          </p:nvSpPr>
          <p:spPr>
            <a:xfrm>
              <a:off x="849307" y="3315326"/>
              <a:ext cx="3330564" cy="400110"/>
            </a:xfrm>
            <a:prstGeom prst="rect">
              <a:avLst/>
            </a:prstGeom>
            <a:noFill/>
          </p:spPr>
          <p:txBody>
            <a:bodyPr wrap="square" rtlCol="0">
              <a:spAutoFit/>
            </a:bodyPr>
            <a:lstStyle/>
            <a:p>
              <a:pPr algn="ctr"/>
              <a:r>
                <a:rPr lang="en-US" sz="2000" b="1" dirty="0">
                  <a:solidFill>
                    <a:schemeClr val="accent2">
                      <a:lumMod val="75000"/>
                    </a:schemeClr>
                  </a:solidFill>
                  <a:latin typeface="Helvetica" pitchFamily="2" charset="0"/>
                  <a:cs typeface="Times New Roman" panose="02020603050405020304" pitchFamily="18" charset="0"/>
                </a:rPr>
                <a:t>Long-term Debt Ratio </a:t>
              </a:r>
            </a:p>
          </p:txBody>
        </p:sp>
        <p:sp>
          <p:nvSpPr>
            <p:cNvPr id="24" name="TextBox 23">
              <a:extLst>
                <a:ext uri="{FF2B5EF4-FFF2-40B4-BE49-F238E27FC236}">
                  <a16:creationId xmlns:a16="http://schemas.microsoft.com/office/drawing/2014/main" id="{B2662DA9-641E-1C8B-FED9-0FDEA6661F86}"/>
                </a:ext>
              </a:extLst>
            </p:cNvPr>
            <p:cNvSpPr txBox="1"/>
            <p:nvPr/>
          </p:nvSpPr>
          <p:spPr>
            <a:xfrm>
              <a:off x="3845598" y="3321852"/>
              <a:ext cx="297455" cy="400110"/>
            </a:xfrm>
            <a:prstGeom prst="rect">
              <a:avLst/>
            </a:prstGeom>
            <a:noFill/>
          </p:spPr>
          <p:txBody>
            <a:bodyPr wrap="square" rtlCol="0">
              <a:spAutoFit/>
            </a:bodyPr>
            <a:lstStyle/>
            <a:p>
              <a:r>
                <a:rPr lang="en-US" sz="2000" b="1" dirty="0">
                  <a:solidFill>
                    <a:schemeClr val="accent2">
                      <a:lumMod val="75000"/>
                    </a:schemeClr>
                  </a:solidFill>
                </a:rPr>
                <a:t>=</a:t>
              </a:r>
            </a:p>
          </p:txBody>
        </p:sp>
        <p:sp>
          <p:nvSpPr>
            <p:cNvPr id="25" name="TextBox 24">
              <a:extLst>
                <a:ext uri="{FF2B5EF4-FFF2-40B4-BE49-F238E27FC236}">
                  <a16:creationId xmlns:a16="http://schemas.microsoft.com/office/drawing/2014/main" id="{1AD3A4A0-A1AE-9E45-D158-AD962D8A158F}"/>
                </a:ext>
              </a:extLst>
            </p:cNvPr>
            <p:cNvSpPr txBox="1">
              <a:spLocks/>
            </p:cNvSpPr>
            <p:nvPr/>
          </p:nvSpPr>
          <p:spPr>
            <a:xfrm>
              <a:off x="4910414" y="3038484"/>
              <a:ext cx="2093843" cy="400110"/>
            </a:xfrm>
            <a:prstGeom prst="rect">
              <a:avLst/>
            </a:prstGeom>
            <a:noFill/>
          </p:spPr>
          <p:txBody>
            <a:bodyPr wrap="none" rtlCol="0">
              <a:spAutoFit/>
            </a:bodyPr>
            <a:lstStyle/>
            <a:p>
              <a:pPr algn="ctr"/>
              <a:r>
                <a:rPr lang="en-US" sz="2000" b="1" dirty="0">
                  <a:solidFill>
                    <a:schemeClr val="accent2">
                      <a:lumMod val="75000"/>
                    </a:schemeClr>
                  </a:solidFill>
                  <a:latin typeface="Helvetica" pitchFamily="2" charset="0"/>
                  <a:cs typeface="Times New Roman" panose="02020603050405020304" pitchFamily="18" charset="0"/>
                </a:rPr>
                <a:t>Long-term Debt</a:t>
              </a:r>
              <a:endParaRPr lang="en-US" sz="2000" b="1" dirty="0">
                <a:solidFill>
                  <a:schemeClr val="accent2">
                    <a:lumMod val="75000"/>
                  </a:schemeClr>
                </a:solidFill>
              </a:endParaRPr>
            </a:p>
          </p:txBody>
        </p:sp>
        <p:sp>
          <p:nvSpPr>
            <p:cNvPr id="26" name="TextBox 25">
              <a:extLst>
                <a:ext uri="{FF2B5EF4-FFF2-40B4-BE49-F238E27FC236}">
                  <a16:creationId xmlns:a16="http://schemas.microsoft.com/office/drawing/2014/main" id="{67B2A19A-9263-B3D4-E2D7-30E7BD129714}"/>
                </a:ext>
              </a:extLst>
            </p:cNvPr>
            <p:cNvSpPr txBox="1">
              <a:spLocks/>
            </p:cNvSpPr>
            <p:nvPr/>
          </p:nvSpPr>
          <p:spPr>
            <a:xfrm>
              <a:off x="4150286" y="3617774"/>
              <a:ext cx="3831818" cy="400110"/>
            </a:xfrm>
            <a:prstGeom prst="rect">
              <a:avLst/>
            </a:prstGeom>
            <a:noFill/>
          </p:spPr>
          <p:txBody>
            <a:bodyPr wrap="none" rtlCol="0">
              <a:spAutoFit/>
            </a:bodyPr>
            <a:lstStyle/>
            <a:p>
              <a:pPr algn="ctr"/>
              <a:r>
                <a:rPr lang="en-US" sz="2000" b="1" dirty="0">
                  <a:solidFill>
                    <a:schemeClr val="accent2">
                      <a:lumMod val="75000"/>
                    </a:schemeClr>
                  </a:solidFill>
                  <a:latin typeface="Helvetica" pitchFamily="2" charset="0"/>
                  <a:cs typeface="Times New Roman" panose="02020603050405020304" pitchFamily="18" charset="0"/>
                </a:rPr>
                <a:t>Long-term Debt + </a:t>
              </a:r>
              <a:r>
                <a:rPr lang="en-US" sz="2000" b="1" dirty="0">
                  <a:solidFill>
                    <a:schemeClr val="accent2">
                      <a:lumMod val="75000"/>
                    </a:schemeClr>
                  </a:solidFill>
                  <a:latin typeface="Helvetica" pitchFamily="2" charset="0"/>
                </a:rPr>
                <a:t>Total Equity</a:t>
              </a:r>
              <a:endParaRPr lang="en-US" sz="2000" b="1" dirty="0">
                <a:solidFill>
                  <a:schemeClr val="accent2">
                    <a:lumMod val="75000"/>
                  </a:schemeClr>
                </a:solidFill>
              </a:endParaRPr>
            </a:p>
          </p:txBody>
        </p:sp>
        <p:cxnSp>
          <p:nvCxnSpPr>
            <p:cNvPr id="27" name="Straight Connector 26">
              <a:extLst>
                <a:ext uri="{FF2B5EF4-FFF2-40B4-BE49-F238E27FC236}">
                  <a16:creationId xmlns:a16="http://schemas.microsoft.com/office/drawing/2014/main" id="{49628639-33C2-5936-A877-ABB09E5189C0}"/>
                </a:ext>
              </a:extLst>
            </p:cNvPr>
            <p:cNvCxnSpPr>
              <a:cxnSpLocks/>
            </p:cNvCxnSpPr>
            <p:nvPr/>
          </p:nvCxnSpPr>
          <p:spPr>
            <a:xfrm>
              <a:off x="4188656" y="3524387"/>
              <a:ext cx="3653805"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73" name="Group 72">
            <a:extLst>
              <a:ext uri="{FF2B5EF4-FFF2-40B4-BE49-F238E27FC236}">
                <a16:creationId xmlns:a16="http://schemas.microsoft.com/office/drawing/2014/main" id="{BC733FA4-B357-9FAF-CA82-0164917317C4}"/>
              </a:ext>
            </a:extLst>
          </p:cNvPr>
          <p:cNvGrpSpPr/>
          <p:nvPr/>
        </p:nvGrpSpPr>
        <p:grpSpPr>
          <a:xfrm>
            <a:off x="384294" y="4529043"/>
            <a:ext cx="6338053" cy="400110"/>
            <a:chOff x="384294" y="4529043"/>
            <a:chExt cx="6338053" cy="400110"/>
          </a:xfrm>
        </p:grpSpPr>
        <p:sp>
          <p:nvSpPr>
            <p:cNvPr id="29" name="TextBox 28">
              <a:extLst>
                <a:ext uri="{FF2B5EF4-FFF2-40B4-BE49-F238E27FC236}">
                  <a16:creationId xmlns:a16="http://schemas.microsoft.com/office/drawing/2014/main" id="{B0988570-C22A-C8CC-EB66-581861842E71}"/>
                </a:ext>
              </a:extLst>
            </p:cNvPr>
            <p:cNvSpPr txBox="1">
              <a:spLocks/>
            </p:cNvSpPr>
            <p:nvPr/>
          </p:nvSpPr>
          <p:spPr>
            <a:xfrm>
              <a:off x="384294" y="4529043"/>
              <a:ext cx="2164374" cy="400110"/>
            </a:xfrm>
            <a:prstGeom prst="rect">
              <a:avLst/>
            </a:prstGeom>
            <a:noFill/>
          </p:spPr>
          <p:txBody>
            <a:bodyPr wrap="none" rtlCol="0">
              <a:spAutoFit/>
            </a:bodyPr>
            <a:lstStyle/>
            <a:p>
              <a:pPr algn="ctr"/>
              <a:r>
                <a:rPr lang="en-US" sz="2000" b="1" dirty="0">
                  <a:solidFill>
                    <a:srgbClr val="0070C0"/>
                  </a:solidFill>
                  <a:latin typeface="Helvetica" pitchFamily="2" charset="0"/>
                  <a:cs typeface="Times New Roman" panose="02020603050405020304" pitchFamily="18" charset="0"/>
                </a:rPr>
                <a:t>Long-term Debt</a:t>
              </a:r>
              <a:endParaRPr lang="en-US" sz="2000" b="1" dirty="0">
                <a:solidFill>
                  <a:srgbClr val="0070C0"/>
                </a:solidFill>
              </a:endParaRPr>
            </a:p>
          </p:txBody>
        </p:sp>
        <p:sp>
          <p:nvSpPr>
            <p:cNvPr id="31" name="TextBox 30">
              <a:extLst>
                <a:ext uri="{FF2B5EF4-FFF2-40B4-BE49-F238E27FC236}">
                  <a16:creationId xmlns:a16="http://schemas.microsoft.com/office/drawing/2014/main" id="{377BA6C1-3601-99E5-C114-AE3ACC90B168}"/>
                </a:ext>
              </a:extLst>
            </p:cNvPr>
            <p:cNvSpPr txBox="1">
              <a:spLocks/>
            </p:cNvSpPr>
            <p:nvPr/>
          </p:nvSpPr>
          <p:spPr>
            <a:xfrm>
              <a:off x="2884283" y="4529043"/>
              <a:ext cx="1419299" cy="400110"/>
            </a:xfrm>
            <a:prstGeom prst="rect">
              <a:avLst/>
            </a:prstGeom>
            <a:noFill/>
          </p:spPr>
          <p:txBody>
            <a:bodyPr wrap="none" rtlCol="0">
              <a:spAutoFit/>
            </a:bodyPr>
            <a:lstStyle/>
            <a:p>
              <a:pPr algn="ctr"/>
              <a:r>
                <a:rPr lang="en-US" sz="2000" b="1" dirty="0">
                  <a:solidFill>
                    <a:srgbClr val="0070C0"/>
                  </a:solidFill>
                  <a:latin typeface="Helvetica" pitchFamily="2" charset="0"/>
                  <a:cs typeface="Times New Roman" panose="02020603050405020304" pitchFamily="18" charset="0"/>
                </a:rPr>
                <a:t>Total Debt</a:t>
              </a:r>
              <a:endParaRPr lang="en-US" sz="2000" b="1" dirty="0">
                <a:solidFill>
                  <a:srgbClr val="0070C0"/>
                </a:solidFill>
              </a:endParaRPr>
            </a:p>
          </p:txBody>
        </p:sp>
        <p:sp>
          <p:nvSpPr>
            <p:cNvPr id="37" name="TextBox 36">
              <a:extLst>
                <a:ext uri="{FF2B5EF4-FFF2-40B4-BE49-F238E27FC236}">
                  <a16:creationId xmlns:a16="http://schemas.microsoft.com/office/drawing/2014/main" id="{69044C99-282D-EE67-9633-2D09AE0C2A67}"/>
                </a:ext>
              </a:extLst>
            </p:cNvPr>
            <p:cNvSpPr txBox="1">
              <a:spLocks/>
            </p:cNvSpPr>
            <p:nvPr/>
          </p:nvSpPr>
          <p:spPr>
            <a:xfrm>
              <a:off x="4586826" y="4529043"/>
              <a:ext cx="2135521" cy="400110"/>
            </a:xfrm>
            <a:prstGeom prst="rect">
              <a:avLst/>
            </a:prstGeom>
            <a:noFill/>
          </p:spPr>
          <p:txBody>
            <a:bodyPr wrap="none" rtlCol="0">
              <a:spAutoFit/>
            </a:bodyPr>
            <a:lstStyle/>
            <a:p>
              <a:pPr algn="ctr"/>
              <a:r>
                <a:rPr lang="en-US" sz="2000" b="1" dirty="0">
                  <a:solidFill>
                    <a:srgbClr val="0070C0"/>
                  </a:solidFill>
                  <a:latin typeface="Helvetica" pitchFamily="2" charset="0"/>
                  <a:cs typeface="Times New Roman" panose="02020603050405020304" pitchFamily="18" charset="0"/>
                </a:rPr>
                <a:t>Short-term Debt</a:t>
              </a:r>
              <a:endParaRPr lang="en-US" sz="2000" b="1" dirty="0">
                <a:solidFill>
                  <a:srgbClr val="0070C0"/>
                </a:solidFill>
              </a:endParaRPr>
            </a:p>
          </p:txBody>
        </p:sp>
        <p:sp>
          <p:nvSpPr>
            <p:cNvPr id="39" name="TextBox 38">
              <a:extLst>
                <a:ext uri="{FF2B5EF4-FFF2-40B4-BE49-F238E27FC236}">
                  <a16:creationId xmlns:a16="http://schemas.microsoft.com/office/drawing/2014/main" id="{0C43E84C-DC83-0E05-04CE-30170097AB58}"/>
                </a:ext>
              </a:extLst>
            </p:cNvPr>
            <p:cNvSpPr txBox="1"/>
            <p:nvPr/>
          </p:nvSpPr>
          <p:spPr>
            <a:xfrm>
              <a:off x="2520426" y="4529043"/>
              <a:ext cx="297455" cy="400110"/>
            </a:xfrm>
            <a:prstGeom prst="rect">
              <a:avLst/>
            </a:prstGeom>
            <a:noFill/>
          </p:spPr>
          <p:txBody>
            <a:bodyPr wrap="square" rtlCol="0">
              <a:spAutoFit/>
            </a:bodyPr>
            <a:lstStyle/>
            <a:p>
              <a:r>
                <a:rPr lang="en-US" sz="2000" b="1" dirty="0">
                  <a:solidFill>
                    <a:srgbClr val="0070C0"/>
                  </a:solidFill>
                </a:rPr>
                <a:t>=</a:t>
              </a:r>
            </a:p>
          </p:txBody>
        </p:sp>
        <p:sp>
          <p:nvSpPr>
            <p:cNvPr id="45" name="TextBox 44">
              <a:extLst>
                <a:ext uri="{FF2B5EF4-FFF2-40B4-BE49-F238E27FC236}">
                  <a16:creationId xmlns:a16="http://schemas.microsoft.com/office/drawing/2014/main" id="{DADD5C74-44D6-AC76-86DB-B58B62902CD8}"/>
                </a:ext>
              </a:extLst>
            </p:cNvPr>
            <p:cNvSpPr txBox="1"/>
            <p:nvPr/>
          </p:nvSpPr>
          <p:spPr>
            <a:xfrm>
              <a:off x="4282550" y="4529043"/>
              <a:ext cx="297455" cy="400110"/>
            </a:xfrm>
            <a:prstGeom prst="rect">
              <a:avLst/>
            </a:prstGeom>
            <a:noFill/>
          </p:spPr>
          <p:txBody>
            <a:bodyPr wrap="square" rtlCol="0">
              <a:spAutoFit/>
            </a:bodyPr>
            <a:lstStyle/>
            <a:p>
              <a:r>
                <a:rPr lang="en-US" sz="2000" b="1" dirty="0">
                  <a:solidFill>
                    <a:srgbClr val="0070C0"/>
                  </a:solidFill>
                </a:rPr>
                <a:t>-</a:t>
              </a:r>
            </a:p>
          </p:txBody>
        </p:sp>
      </p:grpSp>
      <p:grpSp>
        <p:nvGrpSpPr>
          <p:cNvPr id="74" name="Group 73">
            <a:extLst>
              <a:ext uri="{FF2B5EF4-FFF2-40B4-BE49-F238E27FC236}">
                <a16:creationId xmlns:a16="http://schemas.microsoft.com/office/drawing/2014/main" id="{3D72DB55-325C-85A0-3263-639D7EDB9F7A}"/>
              </a:ext>
            </a:extLst>
          </p:cNvPr>
          <p:cNvGrpSpPr/>
          <p:nvPr/>
        </p:nvGrpSpPr>
        <p:grpSpPr>
          <a:xfrm>
            <a:off x="6803675" y="4529043"/>
            <a:ext cx="2998411" cy="400110"/>
            <a:chOff x="6803675" y="4529043"/>
            <a:chExt cx="2998411" cy="400110"/>
          </a:xfrm>
        </p:grpSpPr>
        <p:sp>
          <p:nvSpPr>
            <p:cNvPr id="46" name="TextBox 45">
              <a:extLst>
                <a:ext uri="{FF2B5EF4-FFF2-40B4-BE49-F238E27FC236}">
                  <a16:creationId xmlns:a16="http://schemas.microsoft.com/office/drawing/2014/main" id="{A61643FD-18F3-02D8-1A74-0E77A478F0CA}"/>
                </a:ext>
              </a:extLst>
            </p:cNvPr>
            <p:cNvSpPr txBox="1"/>
            <p:nvPr/>
          </p:nvSpPr>
          <p:spPr>
            <a:xfrm>
              <a:off x="6803675" y="4529043"/>
              <a:ext cx="297455" cy="400110"/>
            </a:xfrm>
            <a:prstGeom prst="rect">
              <a:avLst/>
            </a:prstGeom>
            <a:noFill/>
          </p:spPr>
          <p:txBody>
            <a:bodyPr wrap="square" rtlCol="0">
              <a:spAutoFit/>
            </a:bodyPr>
            <a:lstStyle/>
            <a:p>
              <a:r>
                <a:rPr lang="en-US" sz="2000" b="1" dirty="0">
                  <a:solidFill>
                    <a:srgbClr val="0070C0"/>
                  </a:solidFill>
                </a:rPr>
                <a:t>=</a:t>
              </a:r>
            </a:p>
          </p:txBody>
        </p:sp>
        <p:sp>
          <p:nvSpPr>
            <p:cNvPr id="47" name="TextBox 46">
              <a:extLst>
                <a:ext uri="{FF2B5EF4-FFF2-40B4-BE49-F238E27FC236}">
                  <a16:creationId xmlns:a16="http://schemas.microsoft.com/office/drawing/2014/main" id="{1D736350-B1D5-54FE-D5F3-A2BF41BD3A63}"/>
                </a:ext>
              </a:extLst>
            </p:cNvPr>
            <p:cNvSpPr txBox="1"/>
            <p:nvPr/>
          </p:nvSpPr>
          <p:spPr>
            <a:xfrm>
              <a:off x="7182458" y="4529043"/>
              <a:ext cx="2619628" cy="400110"/>
            </a:xfrm>
            <a:prstGeom prst="rect">
              <a:avLst/>
            </a:prstGeom>
            <a:noFill/>
          </p:spPr>
          <p:txBody>
            <a:bodyPr wrap="none" rtlCol="0">
              <a:spAutoFit/>
            </a:bodyPr>
            <a:lstStyle/>
            <a:p>
              <a:r>
                <a:rPr lang="en-US" sz="2000" b="1" dirty="0">
                  <a:solidFill>
                    <a:srgbClr val="0070C0"/>
                  </a:solidFill>
                  <a:latin typeface="Helvetica" pitchFamily="2" charset="0"/>
                  <a:cs typeface="Times New Roman" panose="02020603050405020304" pitchFamily="18" charset="0"/>
                </a:rPr>
                <a:t>$360,000 - $170,000 </a:t>
              </a:r>
            </a:p>
          </p:txBody>
        </p:sp>
      </p:grpSp>
      <p:grpSp>
        <p:nvGrpSpPr>
          <p:cNvPr id="75" name="Group 74">
            <a:extLst>
              <a:ext uri="{FF2B5EF4-FFF2-40B4-BE49-F238E27FC236}">
                <a16:creationId xmlns:a16="http://schemas.microsoft.com/office/drawing/2014/main" id="{E39855EC-132B-EA85-61DC-660F7A2D278E}"/>
              </a:ext>
            </a:extLst>
          </p:cNvPr>
          <p:cNvGrpSpPr/>
          <p:nvPr/>
        </p:nvGrpSpPr>
        <p:grpSpPr>
          <a:xfrm>
            <a:off x="9670567" y="4529043"/>
            <a:ext cx="1627524" cy="400110"/>
            <a:chOff x="9670567" y="4529043"/>
            <a:chExt cx="1627524" cy="400110"/>
          </a:xfrm>
        </p:grpSpPr>
        <p:sp>
          <p:nvSpPr>
            <p:cNvPr id="48" name="TextBox 47">
              <a:extLst>
                <a:ext uri="{FF2B5EF4-FFF2-40B4-BE49-F238E27FC236}">
                  <a16:creationId xmlns:a16="http://schemas.microsoft.com/office/drawing/2014/main" id="{DD193FF0-3905-86F0-6E3C-11E21D7C3FDA}"/>
                </a:ext>
              </a:extLst>
            </p:cNvPr>
            <p:cNvSpPr txBox="1"/>
            <p:nvPr/>
          </p:nvSpPr>
          <p:spPr>
            <a:xfrm>
              <a:off x="9670567" y="4529043"/>
              <a:ext cx="297455" cy="400110"/>
            </a:xfrm>
            <a:prstGeom prst="rect">
              <a:avLst/>
            </a:prstGeom>
            <a:noFill/>
          </p:spPr>
          <p:txBody>
            <a:bodyPr wrap="square" rtlCol="0">
              <a:spAutoFit/>
            </a:bodyPr>
            <a:lstStyle/>
            <a:p>
              <a:r>
                <a:rPr lang="en-US" sz="2000" b="1" dirty="0">
                  <a:solidFill>
                    <a:srgbClr val="0070C0"/>
                  </a:solidFill>
                </a:rPr>
                <a:t>=</a:t>
              </a:r>
            </a:p>
          </p:txBody>
        </p:sp>
        <p:sp>
          <p:nvSpPr>
            <p:cNvPr id="49" name="TextBox 48">
              <a:extLst>
                <a:ext uri="{FF2B5EF4-FFF2-40B4-BE49-F238E27FC236}">
                  <a16:creationId xmlns:a16="http://schemas.microsoft.com/office/drawing/2014/main" id="{84178E66-18DB-A37D-5D3E-887630A19AB7}"/>
                </a:ext>
              </a:extLst>
            </p:cNvPr>
            <p:cNvSpPr txBox="1"/>
            <p:nvPr/>
          </p:nvSpPr>
          <p:spPr>
            <a:xfrm>
              <a:off x="10044222" y="4529043"/>
              <a:ext cx="1253869" cy="400110"/>
            </a:xfrm>
            <a:prstGeom prst="rect">
              <a:avLst/>
            </a:prstGeom>
            <a:noFill/>
          </p:spPr>
          <p:txBody>
            <a:bodyPr wrap="none" rtlCol="0">
              <a:spAutoFit/>
            </a:bodyPr>
            <a:lstStyle/>
            <a:p>
              <a:r>
                <a:rPr lang="en-US" sz="2000" b="1" dirty="0">
                  <a:solidFill>
                    <a:srgbClr val="0070C0"/>
                  </a:solidFill>
                  <a:latin typeface="Helvetica" pitchFamily="2" charset="0"/>
                  <a:cs typeface="Times New Roman" panose="02020603050405020304" pitchFamily="18" charset="0"/>
                </a:rPr>
                <a:t>$190,000</a:t>
              </a:r>
            </a:p>
          </p:txBody>
        </p:sp>
      </p:grpSp>
      <p:grpSp>
        <p:nvGrpSpPr>
          <p:cNvPr id="50" name="Group 49">
            <a:extLst>
              <a:ext uri="{FF2B5EF4-FFF2-40B4-BE49-F238E27FC236}">
                <a16:creationId xmlns:a16="http://schemas.microsoft.com/office/drawing/2014/main" id="{A30FF37E-DDD1-4EF9-3839-49AD74F2B6AA}"/>
              </a:ext>
            </a:extLst>
          </p:cNvPr>
          <p:cNvGrpSpPr/>
          <p:nvPr/>
        </p:nvGrpSpPr>
        <p:grpSpPr>
          <a:xfrm>
            <a:off x="7128906" y="3252590"/>
            <a:ext cx="3368639" cy="912079"/>
            <a:chOff x="3252933" y="2641285"/>
            <a:chExt cx="3368639" cy="912079"/>
          </a:xfrm>
        </p:grpSpPr>
        <p:grpSp>
          <p:nvGrpSpPr>
            <p:cNvPr id="51" name="Group 50">
              <a:extLst>
                <a:ext uri="{FF2B5EF4-FFF2-40B4-BE49-F238E27FC236}">
                  <a16:creationId xmlns:a16="http://schemas.microsoft.com/office/drawing/2014/main" id="{C0AF4F26-EB11-00B9-9F60-088E45743CE6}"/>
                </a:ext>
              </a:extLst>
            </p:cNvPr>
            <p:cNvGrpSpPr/>
            <p:nvPr/>
          </p:nvGrpSpPr>
          <p:grpSpPr>
            <a:xfrm>
              <a:off x="3252933" y="2641285"/>
              <a:ext cx="2933208" cy="912079"/>
              <a:chOff x="3880229" y="3088186"/>
              <a:chExt cx="2933208" cy="912079"/>
            </a:xfrm>
          </p:grpSpPr>
          <p:sp>
            <p:nvSpPr>
              <p:cNvPr id="53" name="TextBox 52">
                <a:extLst>
                  <a:ext uri="{FF2B5EF4-FFF2-40B4-BE49-F238E27FC236}">
                    <a16:creationId xmlns:a16="http://schemas.microsoft.com/office/drawing/2014/main" id="{5F18F281-B2B8-446D-5014-B526590D2925}"/>
                  </a:ext>
                </a:extLst>
              </p:cNvPr>
              <p:cNvSpPr txBox="1"/>
              <p:nvPr/>
            </p:nvSpPr>
            <p:spPr>
              <a:xfrm>
                <a:off x="3880229" y="3321852"/>
                <a:ext cx="297455" cy="400110"/>
              </a:xfrm>
              <a:prstGeom prst="rect">
                <a:avLst/>
              </a:prstGeom>
              <a:noFill/>
            </p:spPr>
            <p:txBody>
              <a:bodyPr wrap="square" rtlCol="0">
                <a:spAutoFit/>
              </a:bodyPr>
              <a:lstStyle/>
              <a:p>
                <a:r>
                  <a:rPr lang="en-US" sz="2000" b="1" dirty="0">
                    <a:solidFill>
                      <a:schemeClr val="accent2">
                        <a:lumMod val="75000"/>
                      </a:schemeClr>
                    </a:solidFill>
                    <a:latin typeface="Helvetica" pitchFamily="2" charset="0"/>
                  </a:rPr>
                  <a:t>=</a:t>
                </a:r>
              </a:p>
            </p:txBody>
          </p:sp>
          <p:sp>
            <p:nvSpPr>
              <p:cNvPr id="54" name="TextBox 53">
                <a:extLst>
                  <a:ext uri="{FF2B5EF4-FFF2-40B4-BE49-F238E27FC236}">
                    <a16:creationId xmlns:a16="http://schemas.microsoft.com/office/drawing/2014/main" id="{4D6CECDC-C9BC-69F4-7A59-9421935EE715}"/>
                  </a:ext>
                </a:extLst>
              </p:cNvPr>
              <p:cNvSpPr txBox="1">
                <a:spLocks/>
              </p:cNvSpPr>
              <p:nvPr/>
            </p:nvSpPr>
            <p:spPr>
              <a:xfrm>
                <a:off x="4875101" y="3088186"/>
                <a:ext cx="1253869" cy="400110"/>
              </a:xfrm>
              <a:prstGeom prst="rect">
                <a:avLst/>
              </a:prstGeom>
              <a:noFill/>
            </p:spPr>
            <p:txBody>
              <a:bodyPr wrap="none" rtlCol="0">
                <a:spAutoFit/>
              </a:bodyPr>
              <a:lstStyle/>
              <a:p>
                <a:pPr algn="ctr"/>
                <a:r>
                  <a:rPr lang="en-US" sz="2000" b="1" dirty="0">
                    <a:solidFill>
                      <a:schemeClr val="accent2">
                        <a:lumMod val="75000"/>
                      </a:schemeClr>
                    </a:solidFill>
                    <a:latin typeface="Helvetica" pitchFamily="2" charset="0"/>
                  </a:rPr>
                  <a:t>$190,000</a:t>
                </a:r>
              </a:p>
            </p:txBody>
          </p:sp>
          <p:sp>
            <p:nvSpPr>
              <p:cNvPr id="55" name="TextBox 54">
                <a:extLst>
                  <a:ext uri="{FF2B5EF4-FFF2-40B4-BE49-F238E27FC236}">
                    <a16:creationId xmlns:a16="http://schemas.microsoft.com/office/drawing/2014/main" id="{74895282-AE3E-9FAF-4DC9-110D68467872}"/>
                  </a:ext>
                </a:extLst>
              </p:cNvPr>
              <p:cNvSpPr txBox="1">
                <a:spLocks/>
              </p:cNvSpPr>
              <p:nvPr/>
            </p:nvSpPr>
            <p:spPr>
              <a:xfrm>
                <a:off x="4200221" y="3600155"/>
                <a:ext cx="2613216" cy="400110"/>
              </a:xfrm>
              <a:prstGeom prst="rect">
                <a:avLst/>
              </a:prstGeom>
              <a:noFill/>
            </p:spPr>
            <p:txBody>
              <a:bodyPr wrap="none" rtlCol="0">
                <a:spAutoFit/>
              </a:bodyPr>
              <a:lstStyle/>
              <a:p>
                <a:pPr algn="ctr"/>
                <a:r>
                  <a:rPr lang="en-US" sz="2000" b="1" dirty="0">
                    <a:solidFill>
                      <a:schemeClr val="accent2">
                        <a:lumMod val="75000"/>
                      </a:schemeClr>
                    </a:solidFill>
                    <a:latin typeface="Helvetica" pitchFamily="2" charset="0"/>
                  </a:rPr>
                  <a:t>$190,000 + $120,000</a:t>
                </a:r>
              </a:p>
            </p:txBody>
          </p:sp>
          <p:cxnSp>
            <p:nvCxnSpPr>
              <p:cNvPr id="56" name="Straight Connector 55">
                <a:extLst>
                  <a:ext uri="{FF2B5EF4-FFF2-40B4-BE49-F238E27FC236}">
                    <a16:creationId xmlns:a16="http://schemas.microsoft.com/office/drawing/2014/main" id="{1359554F-56B3-2988-3130-763A83DF4072}"/>
                  </a:ext>
                </a:extLst>
              </p:cNvPr>
              <p:cNvCxnSpPr>
                <a:cxnSpLocks/>
              </p:cNvCxnSpPr>
              <p:nvPr/>
            </p:nvCxnSpPr>
            <p:spPr>
              <a:xfrm>
                <a:off x="4201521" y="3524387"/>
                <a:ext cx="2601030" cy="3585"/>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52" name="TextBox 51">
              <a:extLst>
                <a:ext uri="{FF2B5EF4-FFF2-40B4-BE49-F238E27FC236}">
                  <a16:creationId xmlns:a16="http://schemas.microsoft.com/office/drawing/2014/main" id="{DAFA14C3-BE36-A681-4332-01442FEDAF48}"/>
                </a:ext>
              </a:extLst>
            </p:cNvPr>
            <p:cNvSpPr txBox="1"/>
            <p:nvPr/>
          </p:nvSpPr>
          <p:spPr>
            <a:xfrm>
              <a:off x="6324117" y="2902788"/>
              <a:ext cx="297455" cy="400110"/>
            </a:xfrm>
            <a:prstGeom prst="rect">
              <a:avLst/>
            </a:prstGeom>
            <a:noFill/>
          </p:spPr>
          <p:txBody>
            <a:bodyPr wrap="square" rtlCol="0">
              <a:spAutoFit/>
            </a:bodyPr>
            <a:lstStyle/>
            <a:p>
              <a:r>
                <a:rPr lang="en-US" sz="2000" b="1" dirty="0">
                  <a:solidFill>
                    <a:schemeClr val="accent2">
                      <a:lumMod val="75000"/>
                    </a:schemeClr>
                  </a:solidFill>
                  <a:latin typeface="Helvetica" pitchFamily="2" charset="0"/>
                </a:rPr>
                <a:t>=</a:t>
              </a:r>
            </a:p>
          </p:txBody>
        </p:sp>
      </p:grpSp>
      <p:sp>
        <p:nvSpPr>
          <p:cNvPr id="58" name="TextBox 57">
            <a:extLst>
              <a:ext uri="{FF2B5EF4-FFF2-40B4-BE49-F238E27FC236}">
                <a16:creationId xmlns:a16="http://schemas.microsoft.com/office/drawing/2014/main" id="{3715488A-3A60-56FE-2F72-0F886B9EC934}"/>
              </a:ext>
            </a:extLst>
          </p:cNvPr>
          <p:cNvSpPr txBox="1"/>
          <p:nvPr/>
        </p:nvSpPr>
        <p:spPr>
          <a:xfrm>
            <a:off x="10513902" y="3506469"/>
            <a:ext cx="784189" cy="461665"/>
          </a:xfrm>
          <a:prstGeom prst="rect">
            <a:avLst/>
          </a:prstGeom>
          <a:noFill/>
        </p:spPr>
        <p:txBody>
          <a:bodyPr wrap="none" rtlCol="0">
            <a:spAutoFit/>
          </a:bodyPr>
          <a:lstStyle/>
          <a:p>
            <a:r>
              <a:rPr lang="en-US" sz="2400" b="1" dirty="0">
                <a:solidFill>
                  <a:schemeClr val="accent2">
                    <a:lumMod val="75000"/>
                  </a:schemeClr>
                </a:solidFill>
                <a:latin typeface="Helvetica" pitchFamily="2" charset="0"/>
              </a:rPr>
              <a:t>0.61</a:t>
            </a:r>
          </a:p>
        </p:txBody>
      </p:sp>
    </p:spTree>
    <p:extLst>
      <p:ext uri="{BB962C8B-B14F-4D97-AF65-F5344CB8AC3E}">
        <p14:creationId xmlns:p14="http://schemas.microsoft.com/office/powerpoint/2010/main" val="2497609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1" grpId="0"/>
      <p:bldP spid="72" grpId="0"/>
      <p:bldP spid="5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3AD40-B042-36EF-7618-A1C63ED5BDA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304AFE5-6E70-0AC3-7837-ACE9CAE76A91}"/>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D9B899-B68F-3016-DFF4-7074B0A3FB9D}"/>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4- Profitability Ratios</a:t>
            </a:r>
            <a:endParaRPr lang="en-US" b="1" dirty="0">
              <a:solidFill>
                <a:schemeClr val="bg1"/>
              </a:solidFill>
              <a:latin typeface="Helvetica" pitchFamily="2" charset="0"/>
            </a:endParaRPr>
          </a:p>
        </p:txBody>
      </p:sp>
      <p:sp>
        <p:nvSpPr>
          <p:cNvPr id="5" name="TextBox 4">
            <a:extLst>
              <a:ext uri="{FF2B5EF4-FFF2-40B4-BE49-F238E27FC236}">
                <a16:creationId xmlns:a16="http://schemas.microsoft.com/office/drawing/2014/main" id="{30D83CED-3A77-3E97-2663-D7DE4594D6CE}"/>
              </a:ext>
            </a:extLst>
          </p:cNvPr>
          <p:cNvSpPr txBox="1"/>
          <p:nvPr/>
        </p:nvSpPr>
        <p:spPr>
          <a:xfrm>
            <a:off x="239486" y="1558858"/>
            <a:ext cx="11843657" cy="1354217"/>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400" dirty="0">
                <a:latin typeface="Helvetica" pitchFamily="2" charset="0"/>
              </a:rPr>
              <a:t>Profitability ratios measure a company's ability to generate profit relative to its revenue, assets, or equity. </a:t>
            </a:r>
          </a:p>
          <a:p>
            <a:pPr marL="342900" indent="-342900">
              <a:spcBef>
                <a:spcPts val="600"/>
              </a:spcBef>
              <a:spcAft>
                <a:spcPts val="600"/>
              </a:spcAft>
              <a:buFont typeface="Arial" panose="020B0604020202020204" pitchFamily="34" charset="0"/>
              <a:buChar char="•"/>
            </a:pPr>
            <a:r>
              <a:rPr lang="en-US" sz="2400" dirty="0">
                <a:latin typeface="Helvetica" pitchFamily="2" charset="0"/>
              </a:rPr>
              <a:t>They reflect the overall effectiveness of a firm’s financing and operational decisions.</a:t>
            </a:r>
          </a:p>
        </p:txBody>
      </p:sp>
      <p:pic>
        <p:nvPicPr>
          <p:cNvPr id="8" name="Picture 7" descr="A diagram of a graph and a magnifying glass&#10;&#10;AI-generated content may be incorrect.">
            <a:extLst>
              <a:ext uri="{FF2B5EF4-FFF2-40B4-BE49-F238E27FC236}">
                <a16:creationId xmlns:a16="http://schemas.microsoft.com/office/drawing/2014/main" id="{DBD77C4A-2C43-A2E2-0AE4-199EB9D5273B}"/>
              </a:ext>
            </a:extLst>
          </p:cNvPr>
          <p:cNvPicPr>
            <a:picLocks noChangeAspect="1"/>
          </p:cNvPicPr>
          <p:nvPr/>
        </p:nvPicPr>
        <p:blipFill>
          <a:blip r:embed="rId2"/>
          <a:stretch>
            <a:fillRect/>
          </a:stretch>
        </p:blipFill>
        <p:spPr>
          <a:xfrm>
            <a:off x="7785463" y="3021935"/>
            <a:ext cx="4297680" cy="2865120"/>
          </a:xfrm>
          <a:prstGeom prst="rect">
            <a:avLst/>
          </a:prstGeom>
        </p:spPr>
      </p:pic>
      <p:sp>
        <p:nvSpPr>
          <p:cNvPr id="3" name="TextBox 2">
            <a:extLst>
              <a:ext uri="{FF2B5EF4-FFF2-40B4-BE49-F238E27FC236}">
                <a16:creationId xmlns:a16="http://schemas.microsoft.com/office/drawing/2014/main" id="{71F731C0-E0CA-65A1-E964-732813678F94}"/>
              </a:ext>
            </a:extLst>
          </p:cNvPr>
          <p:cNvSpPr txBox="1"/>
          <p:nvPr/>
        </p:nvSpPr>
        <p:spPr>
          <a:xfrm>
            <a:off x="239486" y="3105140"/>
            <a:ext cx="7989688" cy="2908489"/>
          </a:xfrm>
          <a:prstGeom prst="rect">
            <a:avLst/>
          </a:prstGeom>
          <a:noFill/>
        </p:spPr>
        <p:txBody>
          <a:bodyPr wrap="none" rtlCol="0">
            <a:spAutoFit/>
          </a:bodyPr>
          <a:lstStyle/>
          <a:p>
            <a:pPr marL="342900" indent="-342900">
              <a:lnSpc>
                <a:spcPct val="100000"/>
              </a:lnSpc>
              <a:spcBef>
                <a:spcPts val="600"/>
              </a:spcBef>
              <a:spcAft>
                <a:spcPts val="600"/>
              </a:spcAft>
              <a:buFont typeface="Arial" panose="020B0604020202020204" pitchFamily="34" charset="0"/>
              <a:buChar char="•"/>
            </a:pPr>
            <a:r>
              <a:rPr lang="en-US" sz="2400" b="1" dirty="0">
                <a:latin typeface="Helvetica" pitchFamily="2" charset="0"/>
                <a:cs typeface="Times New Roman" panose="02020603050405020304" pitchFamily="18" charset="0"/>
              </a:rPr>
              <a:t>Why Do They Matter?</a:t>
            </a:r>
          </a:p>
          <a:p>
            <a:pPr marL="800100" lvl="1" indent="-342900">
              <a:lnSpc>
                <a:spcPct val="100000"/>
              </a:lnSpc>
              <a:spcBef>
                <a:spcPts val="600"/>
              </a:spcBef>
              <a:spcAft>
                <a:spcPts val="600"/>
              </a:spcAft>
              <a:buFont typeface="Arial" panose="020B0604020202020204" pitchFamily="34" charset="0"/>
              <a:buChar char="•"/>
            </a:pPr>
            <a:r>
              <a:rPr lang="en-US" sz="2400" dirty="0">
                <a:latin typeface="Helvetica" pitchFamily="2" charset="0"/>
                <a:cs typeface="Times New Roman" panose="02020603050405020304" pitchFamily="18" charset="0"/>
              </a:rPr>
              <a:t>Indicate </a:t>
            </a:r>
            <a:r>
              <a:rPr lang="en-US" sz="2400" b="1" dirty="0">
                <a:latin typeface="Helvetica" pitchFamily="2" charset="0"/>
                <a:cs typeface="Times New Roman" panose="02020603050405020304" pitchFamily="18" charset="0"/>
              </a:rPr>
              <a:t>financial health &amp; performance</a:t>
            </a:r>
            <a:r>
              <a:rPr lang="en-US" sz="2400" dirty="0">
                <a:latin typeface="Helvetica" pitchFamily="2" charset="0"/>
                <a:cs typeface="Times New Roman" panose="02020603050405020304" pitchFamily="18" charset="0"/>
              </a:rPr>
              <a:t> </a:t>
            </a:r>
          </a:p>
          <a:p>
            <a:pPr marL="800100" lvl="1" indent="-342900">
              <a:lnSpc>
                <a:spcPct val="100000"/>
              </a:lnSpc>
              <a:spcBef>
                <a:spcPts val="600"/>
              </a:spcBef>
              <a:spcAft>
                <a:spcPts val="600"/>
              </a:spcAft>
              <a:buFont typeface="Arial" panose="020B0604020202020204" pitchFamily="34" charset="0"/>
              <a:buChar char="•"/>
            </a:pPr>
            <a:r>
              <a:rPr lang="en-US" sz="2400" dirty="0">
                <a:latin typeface="Helvetica" pitchFamily="2" charset="0"/>
                <a:cs typeface="Times New Roman" panose="02020603050405020304" pitchFamily="18" charset="0"/>
              </a:rPr>
              <a:t>Help investors assess </a:t>
            </a:r>
            <a:r>
              <a:rPr lang="en-US" sz="2400" b="1" dirty="0">
                <a:latin typeface="Helvetica" pitchFamily="2" charset="0"/>
                <a:cs typeface="Times New Roman" panose="02020603050405020304" pitchFamily="18" charset="0"/>
              </a:rPr>
              <a:t>profitability &amp; efficiency</a:t>
            </a:r>
            <a:r>
              <a:rPr lang="en-US" sz="2400" dirty="0">
                <a:latin typeface="Helvetica" pitchFamily="2" charset="0"/>
                <a:cs typeface="Times New Roman" panose="02020603050405020304" pitchFamily="18" charset="0"/>
              </a:rPr>
              <a:t> </a:t>
            </a:r>
          </a:p>
          <a:p>
            <a:pPr marL="800100" lvl="1" indent="-342900">
              <a:lnSpc>
                <a:spcPct val="100000"/>
              </a:lnSpc>
              <a:spcBef>
                <a:spcPts val="600"/>
              </a:spcBef>
              <a:spcAft>
                <a:spcPts val="600"/>
              </a:spcAft>
              <a:buFont typeface="Arial" panose="020B0604020202020204" pitchFamily="34" charset="0"/>
              <a:buChar char="•"/>
            </a:pPr>
            <a:r>
              <a:rPr lang="en-US" sz="2400" dirty="0">
                <a:latin typeface="Helvetica" pitchFamily="2" charset="0"/>
                <a:cs typeface="Times New Roman" panose="02020603050405020304" pitchFamily="18" charset="0"/>
              </a:rPr>
              <a:t>Guide management in </a:t>
            </a:r>
            <a:r>
              <a:rPr lang="en-US" sz="2400" b="1" dirty="0">
                <a:latin typeface="Helvetica" pitchFamily="2" charset="0"/>
                <a:cs typeface="Times New Roman" panose="02020603050405020304" pitchFamily="18" charset="0"/>
              </a:rPr>
              <a:t>strategic decision-making</a:t>
            </a:r>
            <a:r>
              <a:rPr lang="en-US" sz="2400" dirty="0">
                <a:latin typeface="Helvetica" pitchFamily="2" charset="0"/>
                <a:cs typeface="Times New Roman" panose="02020603050405020304" pitchFamily="18" charset="0"/>
              </a:rPr>
              <a:t> </a:t>
            </a:r>
          </a:p>
          <a:p>
            <a:pPr marL="800100" lvl="1" indent="-342900">
              <a:lnSpc>
                <a:spcPct val="100000"/>
              </a:lnSpc>
              <a:spcBef>
                <a:spcPts val="600"/>
              </a:spcBef>
              <a:spcAft>
                <a:spcPts val="600"/>
              </a:spcAft>
              <a:buFont typeface="Arial" panose="020B0604020202020204" pitchFamily="34" charset="0"/>
              <a:buChar char="•"/>
            </a:pPr>
            <a:r>
              <a:rPr lang="en-US" sz="2400" dirty="0">
                <a:latin typeface="Helvetica" pitchFamily="2" charset="0"/>
                <a:cs typeface="Times New Roman" panose="02020603050405020304" pitchFamily="18" charset="0"/>
              </a:rPr>
              <a:t>Impact firm valuation and </a:t>
            </a:r>
            <a:r>
              <a:rPr lang="en-US" sz="2400" b="1" dirty="0">
                <a:latin typeface="Helvetica" pitchFamily="2" charset="0"/>
                <a:cs typeface="Times New Roman" panose="02020603050405020304" pitchFamily="18" charset="0"/>
              </a:rPr>
              <a:t>future growth potential</a:t>
            </a:r>
            <a:r>
              <a:rPr lang="en-US" sz="2400" dirty="0">
                <a:latin typeface="Helvetica" pitchFamily="2" charset="0"/>
                <a:cs typeface="Times New Roman" panose="02020603050405020304" pitchFamily="18" charset="0"/>
              </a:rPr>
              <a:t> </a:t>
            </a:r>
          </a:p>
          <a:p>
            <a:endParaRPr lang="en-US" dirty="0"/>
          </a:p>
        </p:txBody>
      </p:sp>
    </p:spTree>
    <p:extLst>
      <p:ext uri="{BB962C8B-B14F-4D97-AF65-F5344CB8AC3E}">
        <p14:creationId xmlns:p14="http://schemas.microsoft.com/office/powerpoint/2010/main" val="4080052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C8ACD-2ADE-CFB8-26ED-9FCDC10C31A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1824E1C-6332-7082-10C3-E599293C616D}"/>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565BDB-468F-80E8-F7D3-CE69D3A3A53E}"/>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4-1. Operating Margin</a:t>
            </a:r>
          </a:p>
        </p:txBody>
      </p:sp>
      <p:sp>
        <p:nvSpPr>
          <p:cNvPr id="15" name="TextBox 14">
            <a:extLst>
              <a:ext uri="{FF2B5EF4-FFF2-40B4-BE49-F238E27FC236}">
                <a16:creationId xmlns:a16="http://schemas.microsoft.com/office/drawing/2014/main" id="{0C637D62-3456-3C5C-CBFD-32122A88D364}"/>
              </a:ext>
            </a:extLst>
          </p:cNvPr>
          <p:cNvSpPr txBox="1"/>
          <p:nvPr/>
        </p:nvSpPr>
        <p:spPr>
          <a:xfrm>
            <a:off x="187587" y="2534210"/>
            <a:ext cx="11933077" cy="1169551"/>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000" dirty="0">
                <a:latin typeface="Helvetica" pitchFamily="2" charset="0"/>
              </a:rPr>
              <a:t>The </a:t>
            </a:r>
            <a:r>
              <a:rPr lang="en-US" sz="2000" b="1" dirty="0">
                <a:latin typeface="Helvetica" pitchFamily="2" charset="0"/>
              </a:rPr>
              <a:t>Operating Margin</a:t>
            </a:r>
            <a:r>
              <a:rPr lang="en-US" sz="2000" dirty="0">
                <a:latin typeface="Helvetica" pitchFamily="2" charset="0"/>
              </a:rPr>
              <a:t> measures the </a:t>
            </a:r>
            <a:r>
              <a:rPr lang="en-US" sz="2000" b="1" dirty="0">
                <a:latin typeface="Helvetica" pitchFamily="2" charset="0"/>
              </a:rPr>
              <a:t>percentage of sales that remains after covering operating costs</a:t>
            </a:r>
            <a:r>
              <a:rPr lang="en-US" sz="2000" dirty="0">
                <a:latin typeface="Helvetica" pitchFamily="2" charset="0"/>
              </a:rPr>
              <a:t>, before interest and taxes.</a:t>
            </a:r>
          </a:p>
          <a:p>
            <a:pPr marL="342900" indent="-342900">
              <a:spcBef>
                <a:spcPts val="600"/>
              </a:spcBef>
              <a:spcAft>
                <a:spcPts val="600"/>
              </a:spcAft>
              <a:buFont typeface="Arial" panose="020B0604020202020204" pitchFamily="34" charset="0"/>
              <a:buChar char="•"/>
            </a:pPr>
            <a:r>
              <a:rPr lang="en-US" sz="2000" dirty="0">
                <a:latin typeface="Helvetica" pitchFamily="2" charset="0"/>
              </a:rPr>
              <a:t>It reflects the firm’s </a:t>
            </a:r>
            <a:r>
              <a:rPr lang="en-US" sz="2000" b="1" dirty="0">
                <a:latin typeface="Helvetica" pitchFamily="2" charset="0"/>
              </a:rPr>
              <a:t>operating efficiency and cost control</a:t>
            </a:r>
            <a:r>
              <a:rPr lang="en-US" sz="2000" dirty="0">
                <a:latin typeface="Helvetica" pitchFamily="2" charset="0"/>
              </a:rPr>
              <a:t>.</a:t>
            </a:r>
          </a:p>
        </p:txBody>
      </p:sp>
      <p:sp>
        <p:nvSpPr>
          <p:cNvPr id="17" name="TextBox 16">
            <a:extLst>
              <a:ext uri="{FF2B5EF4-FFF2-40B4-BE49-F238E27FC236}">
                <a16:creationId xmlns:a16="http://schemas.microsoft.com/office/drawing/2014/main" id="{6C04F94D-D7EA-18E6-25FA-586ABC06EAC1}"/>
              </a:ext>
            </a:extLst>
          </p:cNvPr>
          <p:cNvSpPr txBox="1"/>
          <p:nvPr/>
        </p:nvSpPr>
        <p:spPr>
          <a:xfrm>
            <a:off x="2191405" y="6100881"/>
            <a:ext cx="7809189" cy="400110"/>
          </a:xfrm>
          <a:prstGeom prst="rect">
            <a:avLst/>
          </a:prstGeom>
          <a:noFill/>
          <a:ln>
            <a:solidFill>
              <a:srgbClr val="A60086"/>
            </a:solidFill>
          </a:ln>
        </p:spPr>
        <p:txBody>
          <a:bodyPr wrap="none" rtlCol="0">
            <a:spAutoFit/>
          </a:bodyPr>
          <a:lstStyle/>
          <a:p>
            <a:pPr>
              <a:spcBef>
                <a:spcPts val="600"/>
              </a:spcBef>
              <a:spcAft>
                <a:spcPts val="600"/>
              </a:spcAft>
            </a:pPr>
            <a:r>
              <a:rPr lang="en-US" sz="2000" dirty="0">
                <a:latin typeface="Helvetica" pitchFamily="2" charset="0"/>
                <a:cs typeface="Times New Roman" panose="02020603050405020304" pitchFamily="18" charset="0"/>
              </a:rPr>
              <a:t>✔ Higher operating margins indicate better cost control &amp; efficiency.</a:t>
            </a:r>
          </a:p>
        </p:txBody>
      </p:sp>
      <p:grpSp>
        <p:nvGrpSpPr>
          <p:cNvPr id="3" name="Group 2">
            <a:extLst>
              <a:ext uri="{FF2B5EF4-FFF2-40B4-BE49-F238E27FC236}">
                <a16:creationId xmlns:a16="http://schemas.microsoft.com/office/drawing/2014/main" id="{FF4140E3-C45B-54F6-2D46-784CB60633AB}"/>
              </a:ext>
            </a:extLst>
          </p:cNvPr>
          <p:cNvGrpSpPr/>
          <p:nvPr/>
        </p:nvGrpSpPr>
        <p:grpSpPr>
          <a:xfrm>
            <a:off x="2460170" y="1366791"/>
            <a:ext cx="7750630" cy="1040955"/>
            <a:chOff x="1328277" y="3038484"/>
            <a:chExt cx="7750630" cy="1040955"/>
          </a:xfrm>
        </p:grpSpPr>
        <p:sp>
          <p:nvSpPr>
            <p:cNvPr id="5" name="TextBox 4">
              <a:extLst>
                <a:ext uri="{FF2B5EF4-FFF2-40B4-BE49-F238E27FC236}">
                  <a16:creationId xmlns:a16="http://schemas.microsoft.com/office/drawing/2014/main" id="{9E4A0668-2C0E-54E1-438E-D491A350A18E}"/>
                </a:ext>
              </a:extLst>
            </p:cNvPr>
            <p:cNvSpPr txBox="1">
              <a:spLocks/>
            </p:cNvSpPr>
            <p:nvPr/>
          </p:nvSpPr>
          <p:spPr>
            <a:xfrm>
              <a:off x="1328277" y="3315326"/>
              <a:ext cx="2851593" cy="461665"/>
            </a:xfrm>
            <a:prstGeom prst="rect">
              <a:avLst/>
            </a:prstGeom>
            <a:noFill/>
          </p:spPr>
          <p:txBody>
            <a:bodyPr wrap="square" rtlCol="0">
              <a:spAutoFit/>
            </a:bodyPr>
            <a:lstStyle/>
            <a:p>
              <a:pPr algn="ctr"/>
              <a:r>
                <a:rPr lang="en-US" sz="2400" b="1" dirty="0">
                  <a:solidFill>
                    <a:srgbClr val="C00000"/>
                  </a:solidFill>
                  <a:latin typeface="Helvetica" pitchFamily="2" charset="0"/>
                  <a:cs typeface="Times New Roman" panose="02020603050405020304" pitchFamily="18" charset="0"/>
                </a:rPr>
                <a:t>Operating Margin</a:t>
              </a:r>
            </a:p>
          </p:txBody>
        </p:sp>
        <p:sp>
          <p:nvSpPr>
            <p:cNvPr id="7" name="TextBox 6">
              <a:extLst>
                <a:ext uri="{FF2B5EF4-FFF2-40B4-BE49-F238E27FC236}">
                  <a16:creationId xmlns:a16="http://schemas.microsoft.com/office/drawing/2014/main" id="{006F14A0-A781-1020-26CB-CCE8BE533B77}"/>
                </a:ext>
              </a:extLst>
            </p:cNvPr>
            <p:cNvSpPr txBox="1"/>
            <p:nvPr/>
          </p:nvSpPr>
          <p:spPr>
            <a:xfrm>
              <a:off x="4106857"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8" name="TextBox 7">
              <a:extLst>
                <a:ext uri="{FF2B5EF4-FFF2-40B4-BE49-F238E27FC236}">
                  <a16:creationId xmlns:a16="http://schemas.microsoft.com/office/drawing/2014/main" id="{B7C45691-7158-9E8C-AED1-2D816EB90F55}"/>
                </a:ext>
              </a:extLst>
            </p:cNvPr>
            <p:cNvSpPr txBox="1">
              <a:spLocks/>
            </p:cNvSpPr>
            <p:nvPr/>
          </p:nvSpPr>
          <p:spPr>
            <a:xfrm>
              <a:off x="4900630" y="3038484"/>
              <a:ext cx="3789820"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Operating Income (EBIT)</a:t>
              </a:r>
              <a:endParaRPr lang="en-US" sz="2400" b="1" dirty="0">
                <a:solidFill>
                  <a:srgbClr val="C00000"/>
                </a:solidFill>
              </a:endParaRPr>
            </a:p>
          </p:txBody>
        </p:sp>
        <p:sp>
          <p:nvSpPr>
            <p:cNvPr id="9" name="TextBox 8">
              <a:extLst>
                <a:ext uri="{FF2B5EF4-FFF2-40B4-BE49-F238E27FC236}">
                  <a16:creationId xmlns:a16="http://schemas.microsoft.com/office/drawing/2014/main" id="{409EE2D4-24CC-09B0-2A55-CFECA25A89AA}"/>
                </a:ext>
              </a:extLst>
            </p:cNvPr>
            <p:cNvSpPr txBox="1">
              <a:spLocks/>
            </p:cNvSpPr>
            <p:nvPr/>
          </p:nvSpPr>
          <p:spPr>
            <a:xfrm>
              <a:off x="6009908" y="3617774"/>
              <a:ext cx="1571264"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Net Sales</a:t>
              </a:r>
              <a:endParaRPr lang="en-US" sz="2400" b="1" dirty="0">
                <a:solidFill>
                  <a:srgbClr val="C00000"/>
                </a:solidFill>
              </a:endParaRPr>
            </a:p>
          </p:txBody>
        </p:sp>
        <p:cxnSp>
          <p:nvCxnSpPr>
            <p:cNvPr id="10" name="Straight Connector 9">
              <a:extLst>
                <a:ext uri="{FF2B5EF4-FFF2-40B4-BE49-F238E27FC236}">
                  <a16:creationId xmlns:a16="http://schemas.microsoft.com/office/drawing/2014/main" id="{BDD9223A-6788-25E4-F5E5-CD35A034E6D4}"/>
                </a:ext>
              </a:extLst>
            </p:cNvPr>
            <p:cNvCxnSpPr>
              <a:cxnSpLocks/>
            </p:cNvCxnSpPr>
            <p:nvPr/>
          </p:nvCxnSpPr>
          <p:spPr>
            <a:xfrm>
              <a:off x="4515236" y="3546159"/>
              <a:ext cx="45636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 name="TextBox 3">
            <a:extLst>
              <a:ext uri="{FF2B5EF4-FFF2-40B4-BE49-F238E27FC236}">
                <a16:creationId xmlns:a16="http://schemas.microsoft.com/office/drawing/2014/main" id="{CF09B4E5-9771-9E29-7ED5-5385D6A9FCDC}"/>
              </a:ext>
            </a:extLst>
          </p:cNvPr>
          <p:cNvSpPr txBox="1"/>
          <p:nvPr/>
        </p:nvSpPr>
        <p:spPr>
          <a:xfrm>
            <a:off x="187587" y="3962983"/>
            <a:ext cx="8260916" cy="1785104"/>
          </a:xfrm>
          <a:prstGeom prst="rect">
            <a:avLst/>
          </a:prstGeom>
          <a:noFill/>
        </p:spPr>
        <p:txBody>
          <a:bodyPr wrap="none" rtlCol="0">
            <a:spAutoFit/>
          </a:bodyPr>
          <a:lstStyle/>
          <a:p>
            <a:pPr marL="285750" indent="-285750">
              <a:spcBef>
                <a:spcPts val="600"/>
              </a:spcBef>
              <a:spcAft>
                <a:spcPts val="600"/>
              </a:spcAft>
              <a:buFont typeface="Arial" panose="020B0604020202020204" pitchFamily="34" charset="0"/>
              <a:buChar char="•"/>
            </a:pPr>
            <a:r>
              <a:rPr lang="en-US" sz="2000" b="1" dirty="0">
                <a:latin typeface="Helvetica" pitchFamily="2" charset="0"/>
              </a:rPr>
              <a:t>What Does This Ratio Measure?</a:t>
            </a:r>
          </a:p>
          <a:p>
            <a:pPr marL="742950" lvl="1" indent="-285750">
              <a:spcBef>
                <a:spcPts val="600"/>
              </a:spcBef>
              <a:spcAft>
                <a:spcPts val="600"/>
              </a:spcAft>
              <a:buFont typeface="Arial" panose="020B0604020202020204" pitchFamily="34" charset="0"/>
              <a:buChar char="•"/>
            </a:pPr>
            <a:r>
              <a:rPr lang="en-US" sz="2000" dirty="0">
                <a:latin typeface="Helvetica" pitchFamily="2" charset="0"/>
              </a:rPr>
              <a:t>How efficiently the firm generates profit from its </a:t>
            </a:r>
            <a:r>
              <a:rPr lang="en-US" sz="2000" b="1" dirty="0">
                <a:latin typeface="Helvetica" pitchFamily="2" charset="0"/>
              </a:rPr>
              <a:t>core operations</a:t>
            </a:r>
            <a:endParaRPr lang="en-US" sz="2000" dirty="0">
              <a:latin typeface="Helvetica" pitchFamily="2" charset="0"/>
            </a:endParaRPr>
          </a:p>
          <a:p>
            <a:pPr marL="742950" lvl="1" indent="-285750">
              <a:spcBef>
                <a:spcPts val="600"/>
              </a:spcBef>
              <a:spcAft>
                <a:spcPts val="600"/>
              </a:spcAft>
              <a:buFont typeface="Arial" panose="020B0604020202020204" pitchFamily="34" charset="0"/>
              <a:buChar char="•"/>
            </a:pPr>
            <a:r>
              <a:rPr lang="en-US" sz="2000" dirty="0">
                <a:latin typeface="Helvetica" pitchFamily="2" charset="0"/>
              </a:rPr>
              <a:t>The firm’s ability to control </a:t>
            </a:r>
            <a:r>
              <a:rPr lang="en-US" sz="2000" b="1" dirty="0">
                <a:latin typeface="Helvetica" pitchFamily="2" charset="0"/>
              </a:rPr>
              <a:t>production and operating costs</a:t>
            </a:r>
            <a:endParaRPr lang="en-US" sz="2000" dirty="0">
              <a:latin typeface="Helvetica" pitchFamily="2" charset="0"/>
            </a:endParaRPr>
          </a:p>
          <a:p>
            <a:pPr marL="742950" lvl="1" indent="-285750">
              <a:spcBef>
                <a:spcPts val="600"/>
              </a:spcBef>
              <a:spcAft>
                <a:spcPts val="600"/>
              </a:spcAft>
              <a:buFont typeface="Arial" panose="020B0604020202020204" pitchFamily="34" charset="0"/>
              <a:buChar char="•"/>
            </a:pPr>
            <a:r>
              <a:rPr lang="en-US" sz="2000" dirty="0">
                <a:latin typeface="Helvetica" pitchFamily="2" charset="0"/>
              </a:rPr>
              <a:t>Profitability </a:t>
            </a:r>
            <a:r>
              <a:rPr lang="en-US" sz="2000" b="1" dirty="0">
                <a:latin typeface="Helvetica" pitchFamily="2" charset="0"/>
              </a:rPr>
              <a:t>before financing and tax decisions</a:t>
            </a:r>
            <a:endParaRPr lang="en-US" sz="2000" dirty="0">
              <a:latin typeface="Helvetica" pitchFamily="2" charset="0"/>
            </a:endParaRPr>
          </a:p>
        </p:txBody>
      </p:sp>
    </p:spTree>
    <p:extLst>
      <p:ext uri="{BB962C8B-B14F-4D97-AF65-F5344CB8AC3E}">
        <p14:creationId xmlns:p14="http://schemas.microsoft.com/office/powerpoint/2010/main" val="1151965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2384-19A6-03B4-CAEC-7C68519A0F1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BDEC15E-D893-D395-C916-FECEA83B8F64}"/>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52ABAF-E56D-ED6C-3211-A15D70774530}"/>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4-2. Profit Margin or Net Profit Margin </a:t>
            </a:r>
          </a:p>
        </p:txBody>
      </p:sp>
      <p:sp>
        <p:nvSpPr>
          <p:cNvPr id="15" name="TextBox 14">
            <a:extLst>
              <a:ext uri="{FF2B5EF4-FFF2-40B4-BE49-F238E27FC236}">
                <a16:creationId xmlns:a16="http://schemas.microsoft.com/office/drawing/2014/main" id="{B92BD0E7-FE52-3EAF-A2BD-2F3AEF6AD41C}"/>
              </a:ext>
            </a:extLst>
          </p:cNvPr>
          <p:cNvSpPr txBox="1"/>
          <p:nvPr/>
        </p:nvSpPr>
        <p:spPr>
          <a:xfrm>
            <a:off x="187587" y="2534210"/>
            <a:ext cx="11933077" cy="1169551"/>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000" dirty="0">
                <a:latin typeface="Helvetica" pitchFamily="2" charset="0"/>
              </a:rPr>
              <a:t>The </a:t>
            </a:r>
            <a:r>
              <a:rPr lang="en-US" sz="2000" b="1" dirty="0">
                <a:latin typeface="Helvetica" pitchFamily="2" charset="0"/>
              </a:rPr>
              <a:t>Net Profit Margin</a:t>
            </a:r>
            <a:r>
              <a:rPr lang="en-US" sz="2000" dirty="0">
                <a:latin typeface="Helvetica" pitchFamily="2" charset="0"/>
              </a:rPr>
              <a:t> measures the </a:t>
            </a:r>
            <a:r>
              <a:rPr lang="en-US" sz="2000" b="1" dirty="0">
                <a:latin typeface="Helvetica" pitchFamily="2" charset="0"/>
              </a:rPr>
              <a:t>percentage of sales that remains as net income after all expenses</a:t>
            </a:r>
            <a:r>
              <a:rPr lang="en-US" sz="2000" dirty="0">
                <a:latin typeface="Helvetica" pitchFamily="2" charset="0"/>
              </a:rPr>
              <a:t> are deducted.</a:t>
            </a:r>
          </a:p>
          <a:p>
            <a:pPr marL="342900" indent="-342900">
              <a:spcBef>
                <a:spcPts val="600"/>
              </a:spcBef>
              <a:spcAft>
                <a:spcPts val="600"/>
              </a:spcAft>
              <a:buFont typeface="Arial" panose="020B0604020202020204" pitchFamily="34" charset="0"/>
              <a:buChar char="•"/>
            </a:pPr>
            <a:r>
              <a:rPr lang="en-US" sz="2000" dirty="0">
                <a:latin typeface="Helvetica" pitchFamily="2" charset="0"/>
              </a:rPr>
              <a:t>It reflects the firm’s </a:t>
            </a:r>
            <a:r>
              <a:rPr lang="en-US" sz="2000" b="1" dirty="0">
                <a:latin typeface="Helvetica" pitchFamily="2" charset="0"/>
              </a:rPr>
              <a:t>overall profitability</a:t>
            </a:r>
            <a:r>
              <a:rPr lang="en-US" sz="2000" dirty="0">
                <a:latin typeface="Helvetica" pitchFamily="2" charset="0"/>
              </a:rPr>
              <a:t>, including operating performance, financing costs, and taxes.</a:t>
            </a:r>
          </a:p>
        </p:txBody>
      </p:sp>
      <p:sp>
        <p:nvSpPr>
          <p:cNvPr id="17" name="TextBox 16">
            <a:extLst>
              <a:ext uri="{FF2B5EF4-FFF2-40B4-BE49-F238E27FC236}">
                <a16:creationId xmlns:a16="http://schemas.microsoft.com/office/drawing/2014/main" id="{C910E7BB-C0BE-34B9-1D45-6973F8DEBAB0}"/>
              </a:ext>
            </a:extLst>
          </p:cNvPr>
          <p:cNvSpPr txBox="1"/>
          <p:nvPr/>
        </p:nvSpPr>
        <p:spPr>
          <a:xfrm>
            <a:off x="313648" y="6102989"/>
            <a:ext cx="11564704" cy="400110"/>
          </a:xfrm>
          <a:prstGeom prst="rect">
            <a:avLst/>
          </a:prstGeom>
          <a:noFill/>
          <a:ln>
            <a:solidFill>
              <a:srgbClr val="A60086"/>
            </a:solidFill>
          </a:ln>
        </p:spPr>
        <p:txBody>
          <a:bodyPr wrap="none" rtlCol="0">
            <a:spAutoFit/>
          </a:bodyPr>
          <a:lstStyle/>
          <a:p>
            <a:pPr>
              <a:spcBef>
                <a:spcPts val="600"/>
              </a:spcBef>
              <a:spcAft>
                <a:spcPts val="600"/>
              </a:spcAft>
            </a:pPr>
            <a:r>
              <a:rPr lang="en-US" sz="2000" b="1" dirty="0">
                <a:latin typeface="Helvetica" pitchFamily="2" charset="0"/>
                <a:cs typeface="Times New Roman" panose="02020603050405020304" pitchFamily="18" charset="0"/>
              </a:rPr>
              <a:t>✔ Higher net margin indicate Strong overall profitability, Efficient cost, and tax management</a:t>
            </a:r>
          </a:p>
        </p:txBody>
      </p:sp>
      <p:grpSp>
        <p:nvGrpSpPr>
          <p:cNvPr id="3" name="Group 2">
            <a:extLst>
              <a:ext uri="{FF2B5EF4-FFF2-40B4-BE49-F238E27FC236}">
                <a16:creationId xmlns:a16="http://schemas.microsoft.com/office/drawing/2014/main" id="{10D85875-C50B-1143-9A99-C976EFA07D00}"/>
              </a:ext>
            </a:extLst>
          </p:cNvPr>
          <p:cNvGrpSpPr/>
          <p:nvPr/>
        </p:nvGrpSpPr>
        <p:grpSpPr>
          <a:xfrm>
            <a:off x="3657599" y="1360501"/>
            <a:ext cx="4876801" cy="996258"/>
            <a:chOff x="1328277" y="3038691"/>
            <a:chExt cx="4876801" cy="996258"/>
          </a:xfrm>
        </p:grpSpPr>
        <p:sp>
          <p:nvSpPr>
            <p:cNvPr id="5" name="TextBox 4">
              <a:extLst>
                <a:ext uri="{FF2B5EF4-FFF2-40B4-BE49-F238E27FC236}">
                  <a16:creationId xmlns:a16="http://schemas.microsoft.com/office/drawing/2014/main" id="{4917878C-0848-88CD-DB9E-FCDAAE53ABAB}"/>
                </a:ext>
              </a:extLst>
            </p:cNvPr>
            <p:cNvSpPr txBox="1">
              <a:spLocks/>
            </p:cNvSpPr>
            <p:nvPr/>
          </p:nvSpPr>
          <p:spPr>
            <a:xfrm>
              <a:off x="1328277" y="3315326"/>
              <a:ext cx="2851593" cy="461665"/>
            </a:xfrm>
            <a:prstGeom prst="rect">
              <a:avLst/>
            </a:prstGeom>
            <a:noFill/>
          </p:spPr>
          <p:txBody>
            <a:bodyPr wrap="square" rtlCol="0">
              <a:spAutoFit/>
            </a:bodyPr>
            <a:lstStyle/>
            <a:p>
              <a:pPr algn="ctr"/>
              <a:r>
                <a:rPr lang="en-US" sz="2400" b="1" dirty="0">
                  <a:solidFill>
                    <a:srgbClr val="C00000"/>
                  </a:solidFill>
                  <a:latin typeface="Helvetica" pitchFamily="2" charset="0"/>
                  <a:cs typeface="Times New Roman" panose="02020603050405020304" pitchFamily="18" charset="0"/>
                </a:rPr>
                <a:t>Profit Margin</a:t>
              </a:r>
            </a:p>
          </p:txBody>
        </p:sp>
        <p:sp>
          <p:nvSpPr>
            <p:cNvPr id="7" name="TextBox 6">
              <a:extLst>
                <a:ext uri="{FF2B5EF4-FFF2-40B4-BE49-F238E27FC236}">
                  <a16:creationId xmlns:a16="http://schemas.microsoft.com/office/drawing/2014/main" id="{CDF97733-3351-51C9-8AFD-4B06094260D8}"/>
                </a:ext>
              </a:extLst>
            </p:cNvPr>
            <p:cNvSpPr txBox="1"/>
            <p:nvPr/>
          </p:nvSpPr>
          <p:spPr>
            <a:xfrm>
              <a:off x="3791169"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8" name="TextBox 7">
              <a:extLst>
                <a:ext uri="{FF2B5EF4-FFF2-40B4-BE49-F238E27FC236}">
                  <a16:creationId xmlns:a16="http://schemas.microsoft.com/office/drawing/2014/main" id="{23C1774C-8F94-997A-9A6E-A56D18761EC3}"/>
                </a:ext>
              </a:extLst>
            </p:cNvPr>
            <p:cNvSpPr txBox="1">
              <a:spLocks/>
            </p:cNvSpPr>
            <p:nvPr/>
          </p:nvSpPr>
          <p:spPr>
            <a:xfrm>
              <a:off x="4262169" y="3038691"/>
              <a:ext cx="1843774"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Net Income</a:t>
              </a:r>
              <a:endParaRPr lang="en-US" sz="2400" b="1" dirty="0">
                <a:solidFill>
                  <a:srgbClr val="C00000"/>
                </a:solidFill>
              </a:endParaRPr>
            </a:p>
          </p:txBody>
        </p:sp>
        <p:sp>
          <p:nvSpPr>
            <p:cNvPr id="9" name="TextBox 8">
              <a:extLst>
                <a:ext uri="{FF2B5EF4-FFF2-40B4-BE49-F238E27FC236}">
                  <a16:creationId xmlns:a16="http://schemas.microsoft.com/office/drawing/2014/main" id="{C7842C9A-89A4-666E-A0D4-54691B13CE57}"/>
                </a:ext>
              </a:extLst>
            </p:cNvPr>
            <p:cNvSpPr txBox="1">
              <a:spLocks/>
            </p:cNvSpPr>
            <p:nvPr/>
          </p:nvSpPr>
          <p:spPr>
            <a:xfrm>
              <a:off x="4398957" y="3573284"/>
              <a:ext cx="1571264"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Net Sales</a:t>
              </a:r>
              <a:endParaRPr lang="en-US" sz="2400" b="1" dirty="0">
                <a:solidFill>
                  <a:srgbClr val="C00000"/>
                </a:solidFill>
              </a:endParaRPr>
            </a:p>
          </p:txBody>
        </p:sp>
        <p:cxnSp>
          <p:nvCxnSpPr>
            <p:cNvPr id="10" name="Straight Connector 9">
              <a:extLst>
                <a:ext uri="{FF2B5EF4-FFF2-40B4-BE49-F238E27FC236}">
                  <a16:creationId xmlns:a16="http://schemas.microsoft.com/office/drawing/2014/main" id="{B2874C5A-990B-D584-8C38-3EA3649A83CF}"/>
                </a:ext>
              </a:extLst>
            </p:cNvPr>
            <p:cNvCxnSpPr>
              <a:cxnSpLocks/>
            </p:cNvCxnSpPr>
            <p:nvPr/>
          </p:nvCxnSpPr>
          <p:spPr>
            <a:xfrm>
              <a:off x="4156007" y="3535273"/>
              <a:ext cx="20490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 name="TextBox 3">
            <a:extLst>
              <a:ext uri="{FF2B5EF4-FFF2-40B4-BE49-F238E27FC236}">
                <a16:creationId xmlns:a16="http://schemas.microsoft.com/office/drawing/2014/main" id="{EC2524F3-65DA-2DA0-CCC1-8C732A09F95C}"/>
              </a:ext>
            </a:extLst>
          </p:cNvPr>
          <p:cNvSpPr txBox="1"/>
          <p:nvPr/>
        </p:nvSpPr>
        <p:spPr>
          <a:xfrm>
            <a:off x="187587" y="3962983"/>
            <a:ext cx="7419339" cy="1785104"/>
          </a:xfrm>
          <a:prstGeom prst="rect">
            <a:avLst/>
          </a:prstGeom>
          <a:noFill/>
        </p:spPr>
        <p:txBody>
          <a:bodyPr wrap="none" rtlCol="0">
            <a:spAutoFit/>
          </a:bodyPr>
          <a:lstStyle/>
          <a:p>
            <a:pPr marL="285750" indent="-285750">
              <a:spcBef>
                <a:spcPts val="600"/>
              </a:spcBef>
              <a:spcAft>
                <a:spcPts val="600"/>
              </a:spcAft>
              <a:buFont typeface="Arial" panose="020B0604020202020204" pitchFamily="34" charset="0"/>
              <a:buChar char="•"/>
            </a:pPr>
            <a:r>
              <a:rPr lang="en-US" sz="2000" b="1" dirty="0">
                <a:latin typeface="Helvetica" pitchFamily="2" charset="0"/>
              </a:rPr>
              <a:t>What Does This Ratio Measure?</a:t>
            </a:r>
          </a:p>
          <a:p>
            <a:pPr marL="742950" lvl="1" indent="-285750">
              <a:spcBef>
                <a:spcPts val="600"/>
              </a:spcBef>
              <a:spcAft>
                <a:spcPts val="600"/>
              </a:spcAft>
              <a:buFont typeface="Arial" panose="020B0604020202020204" pitchFamily="34" charset="0"/>
              <a:buChar char="•"/>
            </a:pPr>
            <a:r>
              <a:rPr lang="en-US" sz="2000" dirty="0">
                <a:latin typeface="Helvetica" pitchFamily="2" charset="0"/>
              </a:rPr>
              <a:t>The firm’s ability to convert </a:t>
            </a:r>
            <a:r>
              <a:rPr lang="en-US" sz="2000" b="1" dirty="0">
                <a:latin typeface="Helvetica" pitchFamily="2" charset="0"/>
              </a:rPr>
              <a:t>sales into bottom-line profit</a:t>
            </a:r>
            <a:endParaRPr lang="en-US" sz="2000" dirty="0">
              <a:latin typeface="Helvetica" pitchFamily="2" charset="0"/>
            </a:endParaRPr>
          </a:p>
          <a:p>
            <a:pPr marL="742950" lvl="1" indent="-285750">
              <a:spcBef>
                <a:spcPts val="600"/>
              </a:spcBef>
              <a:spcAft>
                <a:spcPts val="600"/>
              </a:spcAft>
              <a:buFont typeface="Arial" panose="020B0604020202020204" pitchFamily="34" charset="0"/>
              <a:buChar char="•"/>
            </a:pPr>
            <a:r>
              <a:rPr lang="en-US" sz="2000" dirty="0">
                <a:latin typeface="Helvetica" pitchFamily="2" charset="0"/>
              </a:rPr>
              <a:t>Overall cost efficiency across:</a:t>
            </a:r>
          </a:p>
          <a:p>
            <a:pPr marL="1200150" lvl="2" indent="-285750">
              <a:spcBef>
                <a:spcPts val="600"/>
              </a:spcBef>
              <a:spcAft>
                <a:spcPts val="600"/>
              </a:spcAft>
              <a:buFont typeface="Arial" panose="020B0604020202020204" pitchFamily="34" charset="0"/>
              <a:buChar char="•"/>
            </a:pPr>
            <a:r>
              <a:rPr lang="en-US" sz="2000" dirty="0">
                <a:latin typeface="Helvetica" pitchFamily="2" charset="0"/>
              </a:rPr>
              <a:t>Operations, Financing decisions, Tax management</a:t>
            </a:r>
          </a:p>
        </p:txBody>
      </p:sp>
    </p:spTree>
    <p:extLst>
      <p:ext uri="{BB962C8B-B14F-4D97-AF65-F5344CB8AC3E}">
        <p14:creationId xmlns:p14="http://schemas.microsoft.com/office/powerpoint/2010/main" val="3183172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839D4-95AE-79A7-7CD8-C75755A14B9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6781E2A-30F4-FAF6-035F-04124B35AD66}"/>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11315F-1773-9DD5-42B2-4759D0B25676}"/>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4-3. Return on Assets (ROA)</a:t>
            </a:r>
          </a:p>
        </p:txBody>
      </p:sp>
      <p:sp>
        <p:nvSpPr>
          <p:cNvPr id="15" name="TextBox 14">
            <a:extLst>
              <a:ext uri="{FF2B5EF4-FFF2-40B4-BE49-F238E27FC236}">
                <a16:creationId xmlns:a16="http://schemas.microsoft.com/office/drawing/2014/main" id="{81E9CC4D-3B09-4942-A6D9-A948A789A384}"/>
              </a:ext>
            </a:extLst>
          </p:cNvPr>
          <p:cNvSpPr txBox="1"/>
          <p:nvPr/>
        </p:nvSpPr>
        <p:spPr>
          <a:xfrm>
            <a:off x="187587" y="2534210"/>
            <a:ext cx="11090013" cy="1169551"/>
          </a:xfrm>
          <a:prstGeom prst="rect">
            <a:avLst/>
          </a:prstGeom>
          <a:noFill/>
        </p:spPr>
        <p:txBody>
          <a:bodyPr wrap="square" rtlCol="0">
            <a:spAutoFit/>
          </a:bodyPr>
          <a:lstStyle/>
          <a:p>
            <a:pPr marL="342900" indent="-342900" algn="just">
              <a:spcBef>
                <a:spcPts val="600"/>
              </a:spcBef>
              <a:spcAft>
                <a:spcPts val="600"/>
              </a:spcAft>
              <a:buFont typeface="Arial" panose="020B0604020202020204" pitchFamily="34" charset="0"/>
              <a:buChar char="•"/>
            </a:pPr>
            <a:r>
              <a:rPr lang="en-US" sz="2000" b="1" dirty="0">
                <a:latin typeface="Helvetica" pitchFamily="2" charset="0"/>
              </a:rPr>
              <a:t>Return on Assets (ROA)</a:t>
            </a:r>
            <a:r>
              <a:rPr lang="en-US" sz="2000" dirty="0">
                <a:latin typeface="Helvetica" pitchFamily="2" charset="0"/>
              </a:rPr>
              <a:t> measures how efficiently a firm uses its </a:t>
            </a:r>
            <a:r>
              <a:rPr lang="en-US" sz="2000" b="1" dirty="0">
                <a:latin typeface="Helvetica" pitchFamily="2" charset="0"/>
              </a:rPr>
              <a:t>total assets</a:t>
            </a:r>
            <a:r>
              <a:rPr lang="en-US" sz="2000" dirty="0">
                <a:latin typeface="Helvetica" pitchFamily="2" charset="0"/>
              </a:rPr>
              <a:t> to generate </a:t>
            </a:r>
            <a:r>
              <a:rPr lang="en-US" sz="2000" b="1" dirty="0">
                <a:latin typeface="Helvetica" pitchFamily="2" charset="0"/>
              </a:rPr>
              <a:t>net income</a:t>
            </a:r>
            <a:r>
              <a:rPr lang="en-US" sz="2000" dirty="0">
                <a:latin typeface="Helvetica" pitchFamily="2" charset="0"/>
              </a:rPr>
              <a:t>.</a:t>
            </a:r>
          </a:p>
          <a:p>
            <a:pPr marL="342900" indent="-342900" algn="just">
              <a:spcBef>
                <a:spcPts val="600"/>
              </a:spcBef>
              <a:spcAft>
                <a:spcPts val="600"/>
              </a:spcAft>
              <a:buFont typeface="Arial" panose="020B0604020202020204" pitchFamily="34" charset="0"/>
              <a:buChar char="•"/>
            </a:pPr>
            <a:r>
              <a:rPr lang="en-US" sz="2000" dirty="0">
                <a:latin typeface="Helvetica" pitchFamily="2" charset="0"/>
              </a:rPr>
              <a:t>It indicates the net income generated per dollar of assets.</a:t>
            </a:r>
          </a:p>
        </p:txBody>
      </p:sp>
      <p:sp>
        <p:nvSpPr>
          <p:cNvPr id="17" name="TextBox 16">
            <a:extLst>
              <a:ext uri="{FF2B5EF4-FFF2-40B4-BE49-F238E27FC236}">
                <a16:creationId xmlns:a16="http://schemas.microsoft.com/office/drawing/2014/main" id="{60DA4CED-8380-951F-0404-4295895B0F74}"/>
              </a:ext>
            </a:extLst>
          </p:cNvPr>
          <p:cNvSpPr txBox="1"/>
          <p:nvPr/>
        </p:nvSpPr>
        <p:spPr>
          <a:xfrm>
            <a:off x="1438217" y="5881181"/>
            <a:ext cx="9315565" cy="861774"/>
          </a:xfrm>
          <a:prstGeom prst="rect">
            <a:avLst/>
          </a:prstGeom>
          <a:noFill/>
          <a:ln>
            <a:solidFill>
              <a:srgbClr val="A60086"/>
            </a:solidFill>
          </a:ln>
        </p:spPr>
        <p:txBody>
          <a:bodyPr wrap="square" rtlCol="0">
            <a:spAutoFit/>
          </a:bodyPr>
          <a:lstStyle/>
          <a:p>
            <a:pPr algn="just">
              <a:spcBef>
                <a:spcPts val="600"/>
              </a:spcBef>
              <a:spcAft>
                <a:spcPts val="600"/>
              </a:spcAft>
            </a:pPr>
            <a:r>
              <a:rPr lang="en-US" sz="2000" b="1" dirty="0">
                <a:latin typeface="Helvetica" pitchFamily="2" charset="0"/>
                <a:cs typeface="Times New Roman" panose="02020603050405020304" pitchFamily="18" charset="0"/>
              </a:rPr>
              <a:t>✔ Higher ROA means:</a:t>
            </a:r>
          </a:p>
          <a:p>
            <a:pPr algn="just">
              <a:spcBef>
                <a:spcPts val="600"/>
              </a:spcBef>
              <a:spcAft>
                <a:spcPts val="600"/>
              </a:spcAft>
            </a:pPr>
            <a:r>
              <a:rPr lang="en-US" sz="2000" dirty="0"/>
              <a:t>	</a:t>
            </a:r>
            <a:r>
              <a:rPr lang="en-US" sz="2000" b="1" dirty="0">
                <a:latin typeface="Helvetica" pitchFamily="2" charset="0"/>
                <a:cs typeface="Times New Roman" panose="02020603050405020304" pitchFamily="18" charset="0"/>
              </a:rPr>
              <a:t> ✔ </a:t>
            </a:r>
            <a:r>
              <a:rPr lang="en-US" sz="2000" dirty="0"/>
              <a:t>Assets are used efficiently and Strong operating and cost performance.</a:t>
            </a:r>
          </a:p>
        </p:txBody>
      </p:sp>
      <p:grpSp>
        <p:nvGrpSpPr>
          <p:cNvPr id="3" name="Group 2">
            <a:extLst>
              <a:ext uri="{FF2B5EF4-FFF2-40B4-BE49-F238E27FC236}">
                <a16:creationId xmlns:a16="http://schemas.microsoft.com/office/drawing/2014/main" id="{00F80829-4724-B86A-04B2-7706E8310675}"/>
              </a:ext>
            </a:extLst>
          </p:cNvPr>
          <p:cNvGrpSpPr/>
          <p:nvPr/>
        </p:nvGrpSpPr>
        <p:grpSpPr>
          <a:xfrm>
            <a:off x="3067049" y="1433948"/>
            <a:ext cx="6057901" cy="996258"/>
            <a:chOff x="-222938" y="3038691"/>
            <a:chExt cx="6057901" cy="996258"/>
          </a:xfrm>
        </p:grpSpPr>
        <p:sp>
          <p:nvSpPr>
            <p:cNvPr id="5" name="TextBox 4">
              <a:extLst>
                <a:ext uri="{FF2B5EF4-FFF2-40B4-BE49-F238E27FC236}">
                  <a16:creationId xmlns:a16="http://schemas.microsoft.com/office/drawing/2014/main" id="{FF126FB5-EB0A-7A8C-7F45-0E9E774E3C8E}"/>
                </a:ext>
              </a:extLst>
            </p:cNvPr>
            <p:cNvSpPr txBox="1">
              <a:spLocks/>
            </p:cNvSpPr>
            <p:nvPr/>
          </p:nvSpPr>
          <p:spPr>
            <a:xfrm>
              <a:off x="-222938" y="3315326"/>
              <a:ext cx="3673463" cy="461665"/>
            </a:xfrm>
            <a:prstGeom prst="rect">
              <a:avLst/>
            </a:prstGeom>
            <a:noFill/>
          </p:spPr>
          <p:txBody>
            <a:bodyPr wrap="square" rtlCol="0">
              <a:spAutoFit/>
            </a:bodyPr>
            <a:lstStyle/>
            <a:p>
              <a:pPr algn="ctr"/>
              <a:r>
                <a:rPr lang="en-US" sz="2400" b="1" dirty="0">
                  <a:solidFill>
                    <a:srgbClr val="C00000"/>
                  </a:solidFill>
                  <a:latin typeface="Helvetica" pitchFamily="2" charset="0"/>
                  <a:cs typeface="Times New Roman" panose="02020603050405020304" pitchFamily="18" charset="0"/>
                </a:rPr>
                <a:t>Return on Assets (ROA)</a:t>
              </a:r>
            </a:p>
          </p:txBody>
        </p:sp>
        <p:sp>
          <p:nvSpPr>
            <p:cNvPr id="7" name="TextBox 6">
              <a:extLst>
                <a:ext uri="{FF2B5EF4-FFF2-40B4-BE49-F238E27FC236}">
                  <a16:creationId xmlns:a16="http://schemas.microsoft.com/office/drawing/2014/main" id="{0401E254-25A4-2952-5DAD-CBC17D592E27}"/>
                </a:ext>
              </a:extLst>
            </p:cNvPr>
            <p:cNvSpPr txBox="1"/>
            <p:nvPr/>
          </p:nvSpPr>
          <p:spPr>
            <a:xfrm>
              <a:off x="3421054" y="3321852"/>
              <a:ext cx="297455" cy="461665"/>
            </a:xfrm>
            <a:prstGeom prst="rect">
              <a:avLst/>
            </a:prstGeom>
            <a:noFill/>
          </p:spPr>
          <p:txBody>
            <a:bodyPr wrap="square" rtlCol="0">
              <a:spAutoFit/>
            </a:bodyPr>
            <a:lstStyle/>
            <a:p>
              <a:r>
                <a:rPr lang="en-US" sz="2400" b="1" dirty="0">
                  <a:solidFill>
                    <a:srgbClr val="C00000"/>
                  </a:solidFill>
                </a:rPr>
                <a:t>=</a:t>
              </a:r>
            </a:p>
          </p:txBody>
        </p:sp>
        <p:sp>
          <p:nvSpPr>
            <p:cNvPr id="8" name="TextBox 7">
              <a:extLst>
                <a:ext uri="{FF2B5EF4-FFF2-40B4-BE49-F238E27FC236}">
                  <a16:creationId xmlns:a16="http://schemas.microsoft.com/office/drawing/2014/main" id="{A74F27AE-9B1C-73B1-5A0E-C56A88742E1A}"/>
                </a:ext>
              </a:extLst>
            </p:cNvPr>
            <p:cNvSpPr txBox="1">
              <a:spLocks/>
            </p:cNvSpPr>
            <p:nvPr/>
          </p:nvSpPr>
          <p:spPr>
            <a:xfrm>
              <a:off x="3892054" y="3038691"/>
              <a:ext cx="1843774"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Net Income</a:t>
              </a:r>
              <a:endParaRPr lang="en-US" sz="2400" b="1" dirty="0">
                <a:solidFill>
                  <a:srgbClr val="C00000"/>
                </a:solidFill>
              </a:endParaRPr>
            </a:p>
          </p:txBody>
        </p:sp>
        <p:sp>
          <p:nvSpPr>
            <p:cNvPr id="9" name="TextBox 8">
              <a:extLst>
                <a:ext uri="{FF2B5EF4-FFF2-40B4-BE49-F238E27FC236}">
                  <a16:creationId xmlns:a16="http://schemas.microsoft.com/office/drawing/2014/main" id="{BEB87F6F-979F-AB78-52EA-AE57677983EC}"/>
                </a:ext>
              </a:extLst>
            </p:cNvPr>
            <p:cNvSpPr txBox="1">
              <a:spLocks/>
            </p:cNvSpPr>
            <p:nvPr/>
          </p:nvSpPr>
          <p:spPr>
            <a:xfrm>
              <a:off x="3823821" y="3573284"/>
              <a:ext cx="1981312"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Total Assets</a:t>
              </a:r>
              <a:endParaRPr lang="en-US" sz="2400" b="1" dirty="0">
                <a:solidFill>
                  <a:srgbClr val="C00000"/>
                </a:solidFill>
              </a:endParaRPr>
            </a:p>
          </p:txBody>
        </p:sp>
        <p:cxnSp>
          <p:nvCxnSpPr>
            <p:cNvPr id="10" name="Straight Connector 9">
              <a:extLst>
                <a:ext uri="{FF2B5EF4-FFF2-40B4-BE49-F238E27FC236}">
                  <a16:creationId xmlns:a16="http://schemas.microsoft.com/office/drawing/2014/main" id="{E086761F-9F05-0A14-360C-7A728F158994}"/>
                </a:ext>
              </a:extLst>
            </p:cNvPr>
            <p:cNvCxnSpPr>
              <a:cxnSpLocks/>
            </p:cNvCxnSpPr>
            <p:nvPr/>
          </p:nvCxnSpPr>
          <p:spPr>
            <a:xfrm>
              <a:off x="3785892" y="3535273"/>
              <a:ext cx="20490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 name="TextBox 3">
            <a:extLst>
              <a:ext uri="{FF2B5EF4-FFF2-40B4-BE49-F238E27FC236}">
                <a16:creationId xmlns:a16="http://schemas.microsoft.com/office/drawing/2014/main" id="{6425F820-4440-1939-9CCD-325BA83042CB}"/>
              </a:ext>
            </a:extLst>
          </p:cNvPr>
          <p:cNvSpPr txBox="1"/>
          <p:nvPr/>
        </p:nvSpPr>
        <p:spPr>
          <a:xfrm>
            <a:off x="162453" y="3856378"/>
            <a:ext cx="6548588" cy="1785104"/>
          </a:xfrm>
          <a:prstGeom prst="rect">
            <a:avLst/>
          </a:prstGeom>
          <a:noFill/>
        </p:spPr>
        <p:txBody>
          <a:bodyPr wrap="square" rtlCol="0">
            <a:spAutoFit/>
          </a:bodyPr>
          <a:lstStyle/>
          <a:p>
            <a:pPr marL="285750" indent="-285750" algn="just">
              <a:spcBef>
                <a:spcPts val="600"/>
              </a:spcBef>
              <a:spcAft>
                <a:spcPts val="600"/>
              </a:spcAft>
              <a:buFont typeface="Arial" panose="020B0604020202020204" pitchFamily="34" charset="0"/>
              <a:buChar char="•"/>
            </a:pPr>
            <a:r>
              <a:rPr lang="en-US" sz="2000" b="1" dirty="0">
                <a:latin typeface="Helvetica" pitchFamily="2" charset="0"/>
              </a:rPr>
              <a:t>What Does This Ratio Measure?</a:t>
            </a:r>
          </a:p>
          <a:p>
            <a:pPr marL="800100" lvl="1" indent="-342900" algn="just">
              <a:spcBef>
                <a:spcPts val="600"/>
              </a:spcBef>
              <a:spcAft>
                <a:spcPts val="600"/>
              </a:spcAft>
              <a:buFont typeface="Arial" panose="020B0604020202020204" pitchFamily="34" charset="0"/>
              <a:buChar char="•"/>
            </a:pPr>
            <a:r>
              <a:rPr lang="en-US" sz="2000" dirty="0">
                <a:latin typeface="Helvetica" pitchFamily="2" charset="0"/>
              </a:rPr>
              <a:t>Overall </a:t>
            </a:r>
            <a:r>
              <a:rPr lang="en-US" sz="2000" b="1" dirty="0">
                <a:latin typeface="Helvetica" pitchFamily="2" charset="0"/>
              </a:rPr>
              <a:t>asset efficiency</a:t>
            </a:r>
            <a:endParaRPr lang="en-US" sz="2000" dirty="0">
              <a:latin typeface="Helvetica" pitchFamily="2" charset="0"/>
            </a:endParaRPr>
          </a:p>
          <a:p>
            <a:pPr marL="800100" lvl="1" indent="-342900" algn="just">
              <a:spcBef>
                <a:spcPts val="600"/>
              </a:spcBef>
              <a:spcAft>
                <a:spcPts val="600"/>
              </a:spcAft>
              <a:buFont typeface="Arial" panose="020B0604020202020204" pitchFamily="34" charset="0"/>
              <a:buChar char="•"/>
            </a:pPr>
            <a:r>
              <a:rPr lang="en-US" sz="2000" dirty="0">
                <a:latin typeface="Helvetica" pitchFamily="2" charset="0"/>
              </a:rPr>
              <a:t>Effectiveness of management in using resources</a:t>
            </a:r>
          </a:p>
          <a:p>
            <a:pPr marL="800100" lvl="1" indent="-342900" algn="just">
              <a:spcBef>
                <a:spcPts val="600"/>
              </a:spcBef>
              <a:spcAft>
                <a:spcPts val="600"/>
              </a:spcAft>
              <a:buFont typeface="Arial" panose="020B0604020202020204" pitchFamily="34" charset="0"/>
              <a:buChar char="•"/>
            </a:pPr>
            <a:r>
              <a:rPr lang="en-US" sz="2000" dirty="0">
                <a:latin typeface="Helvetica" pitchFamily="2" charset="0"/>
              </a:rPr>
              <a:t>Profitability </a:t>
            </a:r>
            <a:r>
              <a:rPr lang="en-US" sz="2000" b="1" dirty="0">
                <a:latin typeface="Helvetica" pitchFamily="2" charset="0"/>
              </a:rPr>
              <a:t>independent of financing structure</a:t>
            </a:r>
            <a:endParaRPr lang="en-US" sz="2000" dirty="0">
              <a:latin typeface="Helvetica" pitchFamily="2" charset="0"/>
            </a:endParaRPr>
          </a:p>
        </p:txBody>
      </p:sp>
    </p:spTree>
    <p:extLst>
      <p:ext uri="{BB962C8B-B14F-4D97-AF65-F5344CB8AC3E}">
        <p14:creationId xmlns:p14="http://schemas.microsoft.com/office/powerpoint/2010/main" val="1611439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657E9-41CC-A5C9-2D18-82C46C4AD2A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931D66D-330B-5EDE-3490-C97FB74EE09B}"/>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AAF74A-3326-B47B-4A0B-CAC6F5495A58}"/>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4-5. Return on Invested Capital (ROIC)</a:t>
            </a:r>
          </a:p>
        </p:txBody>
      </p:sp>
      <p:sp>
        <p:nvSpPr>
          <p:cNvPr id="15" name="TextBox 14">
            <a:extLst>
              <a:ext uri="{FF2B5EF4-FFF2-40B4-BE49-F238E27FC236}">
                <a16:creationId xmlns:a16="http://schemas.microsoft.com/office/drawing/2014/main" id="{37A6891A-617E-B8F5-BBBE-585C4835D05B}"/>
              </a:ext>
            </a:extLst>
          </p:cNvPr>
          <p:cNvSpPr txBox="1"/>
          <p:nvPr/>
        </p:nvSpPr>
        <p:spPr>
          <a:xfrm>
            <a:off x="251636" y="2392153"/>
            <a:ext cx="11688727" cy="1169551"/>
          </a:xfrm>
          <a:prstGeom prst="rect">
            <a:avLst/>
          </a:prstGeom>
          <a:noFill/>
        </p:spPr>
        <p:txBody>
          <a:bodyPr wrap="square" rtlCol="0">
            <a:spAutoFit/>
          </a:bodyPr>
          <a:lstStyle/>
          <a:p>
            <a:pPr marL="342900" indent="-342900">
              <a:lnSpc>
                <a:spcPct val="100000"/>
              </a:lnSpc>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Measures the return a company generates on the capital invested by both shareholders and debtholders. </a:t>
            </a:r>
          </a:p>
          <a:p>
            <a:pPr marL="342900" indent="-342900">
              <a:lnSpc>
                <a:spcPct val="100000"/>
              </a:lnSpc>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It is a key indicator of a company’s efficiency in generating profits from its capital investments. </a:t>
            </a:r>
          </a:p>
        </p:txBody>
      </p:sp>
      <p:sp>
        <p:nvSpPr>
          <p:cNvPr id="17" name="TextBox 16">
            <a:extLst>
              <a:ext uri="{FF2B5EF4-FFF2-40B4-BE49-F238E27FC236}">
                <a16:creationId xmlns:a16="http://schemas.microsoft.com/office/drawing/2014/main" id="{3AB6B181-C0A6-3C17-1EF4-C1E3DEE9E27C}"/>
              </a:ext>
            </a:extLst>
          </p:cNvPr>
          <p:cNvSpPr txBox="1"/>
          <p:nvPr/>
        </p:nvSpPr>
        <p:spPr>
          <a:xfrm>
            <a:off x="433032" y="5359308"/>
            <a:ext cx="11129991" cy="1323439"/>
          </a:xfrm>
          <a:prstGeom prst="rect">
            <a:avLst/>
          </a:prstGeom>
          <a:noFill/>
          <a:ln>
            <a:solidFill>
              <a:srgbClr val="A60086"/>
            </a:solidFill>
          </a:ln>
        </p:spPr>
        <p:txBody>
          <a:bodyPr wrap="square" rtlCol="0">
            <a:spAutoFit/>
          </a:bodyPr>
          <a:lstStyle/>
          <a:p>
            <a:pPr marL="342900" indent="-342900">
              <a:lnSpc>
                <a:spcPct val="100000"/>
              </a:lnSpc>
              <a:spcBef>
                <a:spcPts val="600"/>
              </a:spcBef>
              <a:spcAft>
                <a:spcPts val="600"/>
              </a:spcAft>
              <a:buFont typeface="Arial" panose="020B0604020202020204" pitchFamily="34" charset="0"/>
              <a:buChar char="•"/>
            </a:pPr>
            <a:r>
              <a:rPr lang="en-US" sz="2000" b="1" dirty="0">
                <a:latin typeface="Helvetica" pitchFamily="2" charset="0"/>
                <a:cs typeface="Times New Roman" panose="02020603050405020304" pitchFamily="18" charset="0"/>
              </a:rPr>
              <a:t>ROIC vs ROA:</a:t>
            </a:r>
          </a:p>
          <a:p>
            <a:pPr marL="800100" lvl="1" indent="-342900">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 </a:t>
            </a:r>
            <a:r>
              <a:rPr lang="en-US" sz="2000" b="1" dirty="0">
                <a:latin typeface="Helvetica" pitchFamily="2" charset="0"/>
                <a:cs typeface="Times New Roman" panose="02020603050405020304" pitchFamily="18" charset="0"/>
              </a:rPr>
              <a:t>ROIC</a:t>
            </a:r>
            <a:r>
              <a:rPr lang="en-US" sz="2000" dirty="0">
                <a:latin typeface="Helvetica" pitchFamily="2" charset="0"/>
                <a:cs typeface="Times New Roman" panose="02020603050405020304" pitchFamily="18" charset="0"/>
              </a:rPr>
              <a:t> uses </a:t>
            </a:r>
            <a:r>
              <a:rPr lang="en-US" sz="2000" b="1" dirty="0">
                <a:latin typeface="Helvetica" pitchFamily="2" charset="0"/>
                <a:cs typeface="Times New Roman" panose="02020603050405020304" pitchFamily="18" charset="0"/>
              </a:rPr>
              <a:t>invested capital</a:t>
            </a:r>
            <a:r>
              <a:rPr lang="en-US" sz="2000" dirty="0">
                <a:latin typeface="Helvetica" pitchFamily="2" charset="0"/>
                <a:cs typeface="Times New Roman" panose="02020603050405020304" pitchFamily="18" charset="0"/>
              </a:rPr>
              <a:t> (equity + debt) instead of total assets.</a:t>
            </a:r>
          </a:p>
          <a:p>
            <a:pPr marL="800100" lvl="1" indent="-342900">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 </a:t>
            </a:r>
            <a:r>
              <a:rPr lang="en-US" sz="2000" b="1" dirty="0">
                <a:latin typeface="Helvetica" pitchFamily="2" charset="0"/>
                <a:cs typeface="Times New Roman" panose="02020603050405020304" pitchFamily="18" charset="0"/>
              </a:rPr>
              <a:t>ROIC</a:t>
            </a:r>
            <a:r>
              <a:rPr lang="en-US" sz="2000" dirty="0">
                <a:latin typeface="Helvetica" pitchFamily="2" charset="0"/>
                <a:cs typeface="Times New Roman" panose="02020603050405020304" pitchFamily="18" charset="0"/>
              </a:rPr>
              <a:t> uses </a:t>
            </a:r>
            <a:r>
              <a:rPr lang="en-US" sz="2000" b="1" dirty="0">
                <a:latin typeface="Helvetica" pitchFamily="2" charset="0"/>
                <a:cs typeface="Times New Roman" panose="02020603050405020304" pitchFamily="18" charset="0"/>
              </a:rPr>
              <a:t>NOPAT</a:t>
            </a:r>
            <a:r>
              <a:rPr lang="en-US" sz="2000" dirty="0">
                <a:latin typeface="Helvetica" pitchFamily="2" charset="0"/>
                <a:cs typeface="Times New Roman" panose="02020603050405020304" pitchFamily="18" charset="0"/>
              </a:rPr>
              <a:t> instead of net income.</a:t>
            </a:r>
          </a:p>
        </p:txBody>
      </p:sp>
      <p:sp>
        <p:nvSpPr>
          <p:cNvPr id="4" name="TextBox 3">
            <a:extLst>
              <a:ext uri="{FF2B5EF4-FFF2-40B4-BE49-F238E27FC236}">
                <a16:creationId xmlns:a16="http://schemas.microsoft.com/office/drawing/2014/main" id="{4C3997CE-0088-DF66-15AC-BD18834CB662}"/>
              </a:ext>
            </a:extLst>
          </p:cNvPr>
          <p:cNvSpPr txBox="1"/>
          <p:nvPr/>
        </p:nvSpPr>
        <p:spPr>
          <a:xfrm>
            <a:off x="341970" y="3659987"/>
            <a:ext cx="11221053" cy="1554272"/>
          </a:xfrm>
          <a:prstGeom prst="rect">
            <a:avLst/>
          </a:prstGeom>
          <a:noFill/>
        </p:spPr>
        <p:txBody>
          <a:bodyPr wrap="square" rtlCol="0">
            <a:spAutoFit/>
          </a:bodyPr>
          <a:lstStyle/>
          <a:p>
            <a:pPr marL="342900" indent="-342900">
              <a:lnSpc>
                <a:spcPct val="100000"/>
              </a:lnSpc>
              <a:spcBef>
                <a:spcPts val="300"/>
              </a:spcBef>
              <a:spcAft>
                <a:spcPts val="300"/>
              </a:spcAft>
              <a:buFont typeface="Arial" panose="020B0604020202020204" pitchFamily="34" charset="0"/>
              <a:buChar char="•"/>
            </a:pPr>
            <a:r>
              <a:rPr lang="en-US" sz="2000" b="1" dirty="0">
                <a:latin typeface="Helvetica" pitchFamily="2" charset="0"/>
                <a:cs typeface="Times New Roman" panose="02020603050405020304" pitchFamily="18" charset="0"/>
              </a:rPr>
              <a:t>Key Points:</a:t>
            </a:r>
            <a:endParaRPr lang="en-US" sz="2000" dirty="0">
              <a:latin typeface="Helvetica" pitchFamily="2" charset="0"/>
              <a:cs typeface="Times New Roman" panose="02020603050405020304" pitchFamily="18" charset="0"/>
            </a:endParaRPr>
          </a:p>
          <a:p>
            <a:pPr marL="1257300" lvl="2" indent="-342900">
              <a:spcBef>
                <a:spcPts val="300"/>
              </a:spcBef>
              <a:spcAft>
                <a:spcPts val="300"/>
              </a:spcAft>
              <a:buFont typeface="Arial" panose="020B0604020202020204" pitchFamily="34" charset="0"/>
              <a:buChar char="•"/>
            </a:pPr>
            <a:r>
              <a:rPr lang="en-US" sz="2000" dirty="0">
                <a:latin typeface="Helvetica" pitchFamily="2" charset="0"/>
                <a:cs typeface="Times New Roman" panose="02020603050405020304" pitchFamily="18" charset="0"/>
              </a:rPr>
              <a:t>Measures overall capital efficiency.</a:t>
            </a:r>
          </a:p>
          <a:p>
            <a:pPr marL="1257300" lvl="2" indent="-342900">
              <a:spcBef>
                <a:spcPts val="300"/>
              </a:spcBef>
              <a:spcAft>
                <a:spcPts val="300"/>
              </a:spcAft>
              <a:buFont typeface="Arial" panose="020B0604020202020204" pitchFamily="34" charset="0"/>
              <a:buChar char="•"/>
            </a:pPr>
            <a:r>
              <a:rPr lang="en-US" sz="2000" dirty="0">
                <a:latin typeface="Helvetica" pitchFamily="2" charset="0"/>
                <a:cs typeface="Times New Roman" panose="02020603050405020304" pitchFamily="18" charset="0"/>
              </a:rPr>
              <a:t>Focuses on after-tax operating income (NOPAT) rather than net income.</a:t>
            </a:r>
          </a:p>
          <a:p>
            <a:pPr marL="1257300" lvl="2" indent="-342900">
              <a:spcBef>
                <a:spcPts val="300"/>
              </a:spcBef>
              <a:spcAft>
                <a:spcPts val="300"/>
              </a:spcAft>
              <a:buFont typeface="Arial" panose="020B0604020202020204" pitchFamily="34" charset="0"/>
              <a:buChar char="•"/>
            </a:pPr>
            <a:r>
              <a:rPr lang="en-US" sz="2000" dirty="0">
                <a:latin typeface="Helvetica" pitchFamily="2" charset="0"/>
                <a:cs typeface="Times New Roman" panose="02020603050405020304" pitchFamily="18" charset="0"/>
              </a:rPr>
              <a:t>how much return the company is generating for both shareholders and debtholders.</a:t>
            </a:r>
          </a:p>
        </p:txBody>
      </p:sp>
      <p:grpSp>
        <p:nvGrpSpPr>
          <p:cNvPr id="16" name="Group 15">
            <a:extLst>
              <a:ext uri="{FF2B5EF4-FFF2-40B4-BE49-F238E27FC236}">
                <a16:creationId xmlns:a16="http://schemas.microsoft.com/office/drawing/2014/main" id="{374A2193-F43E-F0CA-7D6F-EA5B1AB8B338}"/>
              </a:ext>
            </a:extLst>
          </p:cNvPr>
          <p:cNvGrpSpPr/>
          <p:nvPr/>
        </p:nvGrpSpPr>
        <p:grpSpPr>
          <a:xfrm>
            <a:off x="1852421" y="1422490"/>
            <a:ext cx="8487155" cy="961747"/>
            <a:chOff x="3067050" y="1423408"/>
            <a:chExt cx="8487155" cy="961747"/>
          </a:xfrm>
        </p:grpSpPr>
        <p:grpSp>
          <p:nvGrpSpPr>
            <p:cNvPr id="3" name="Group 2">
              <a:extLst>
                <a:ext uri="{FF2B5EF4-FFF2-40B4-BE49-F238E27FC236}">
                  <a16:creationId xmlns:a16="http://schemas.microsoft.com/office/drawing/2014/main" id="{AA39E4F7-8C5D-0BC1-90A8-A7AB46B37678}"/>
                </a:ext>
              </a:extLst>
            </p:cNvPr>
            <p:cNvGrpSpPr/>
            <p:nvPr/>
          </p:nvGrpSpPr>
          <p:grpSpPr>
            <a:xfrm>
              <a:off x="3067050" y="1423408"/>
              <a:ext cx="8487155" cy="906565"/>
              <a:chOff x="-222937" y="3093467"/>
              <a:chExt cx="8487155" cy="906565"/>
            </a:xfrm>
          </p:grpSpPr>
          <p:sp>
            <p:nvSpPr>
              <p:cNvPr id="5" name="TextBox 4">
                <a:extLst>
                  <a:ext uri="{FF2B5EF4-FFF2-40B4-BE49-F238E27FC236}">
                    <a16:creationId xmlns:a16="http://schemas.microsoft.com/office/drawing/2014/main" id="{0DCCE687-BAF0-443E-138A-320996AD9A5E}"/>
                  </a:ext>
                </a:extLst>
              </p:cNvPr>
              <p:cNvSpPr txBox="1">
                <a:spLocks/>
              </p:cNvSpPr>
              <p:nvPr/>
            </p:nvSpPr>
            <p:spPr>
              <a:xfrm>
                <a:off x="-222937" y="3315326"/>
                <a:ext cx="1069522" cy="461665"/>
              </a:xfrm>
              <a:prstGeom prst="rect">
                <a:avLst/>
              </a:prstGeom>
              <a:noFill/>
            </p:spPr>
            <p:txBody>
              <a:bodyPr wrap="square" rtlCol="0">
                <a:spAutoFit/>
              </a:bodyPr>
              <a:lstStyle/>
              <a:p>
                <a:pPr algn="ctr"/>
                <a:r>
                  <a:rPr lang="en-US" sz="2400" b="1" dirty="0">
                    <a:solidFill>
                      <a:srgbClr val="C00000"/>
                    </a:solidFill>
                    <a:latin typeface="Helvetica" pitchFamily="2" charset="0"/>
                    <a:cs typeface="Times New Roman" panose="02020603050405020304" pitchFamily="18" charset="0"/>
                  </a:rPr>
                  <a:t>ROIC</a:t>
                </a:r>
              </a:p>
            </p:txBody>
          </p:sp>
          <p:sp>
            <p:nvSpPr>
              <p:cNvPr id="7" name="TextBox 6">
                <a:extLst>
                  <a:ext uri="{FF2B5EF4-FFF2-40B4-BE49-F238E27FC236}">
                    <a16:creationId xmlns:a16="http://schemas.microsoft.com/office/drawing/2014/main" id="{5B5DD545-95BE-C228-8DCB-61DD12D57E33}"/>
                  </a:ext>
                </a:extLst>
              </p:cNvPr>
              <p:cNvSpPr txBox="1"/>
              <p:nvPr/>
            </p:nvSpPr>
            <p:spPr>
              <a:xfrm>
                <a:off x="4497295" y="3307534"/>
                <a:ext cx="297455" cy="461665"/>
              </a:xfrm>
              <a:prstGeom prst="rect">
                <a:avLst/>
              </a:prstGeom>
              <a:noFill/>
            </p:spPr>
            <p:txBody>
              <a:bodyPr wrap="square" rtlCol="0">
                <a:spAutoFit/>
              </a:bodyPr>
              <a:lstStyle/>
              <a:p>
                <a:r>
                  <a:rPr lang="en-US" sz="2400" b="1" dirty="0">
                    <a:solidFill>
                      <a:srgbClr val="C00000"/>
                    </a:solidFill>
                  </a:rPr>
                  <a:t>=</a:t>
                </a:r>
              </a:p>
            </p:txBody>
          </p:sp>
          <p:sp>
            <p:nvSpPr>
              <p:cNvPr id="8" name="TextBox 7">
                <a:extLst>
                  <a:ext uri="{FF2B5EF4-FFF2-40B4-BE49-F238E27FC236}">
                    <a16:creationId xmlns:a16="http://schemas.microsoft.com/office/drawing/2014/main" id="{12A1667E-1FC4-B005-3298-5C9CAACF61E0}"/>
                  </a:ext>
                </a:extLst>
              </p:cNvPr>
              <p:cNvSpPr txBox="1">
                <a:spLocks/>
              </p:cNvSpPr>
              <p:nvPr/>
            </p:nvSpPr>
            <p:spPr>
              <a:xfrm>
                <a:off x="5640028" y="3093467"/>
                <a:ext cx="1636987"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EBIT (1-T)</a:t>
                </a:r>
                <a:endParaRPr lang="en-US" sz="2400" b="1" dirty="0">
                  <a:solidFill>
                    <a:srgbClr val="C00000"/>
                  </a:solidFill>
                </a:endParaRPr>
              </a:p>
            </p:txBody>
          </p:sp>
          <p:sp>
            <p:nvSpPr>
              <p:cNvPr id="9" name="TextBox 8">
                <a:extLst>
                  <a:ext uri="{FF2B5EF4-FFF2-40B4-BE49-F238E27FC236}">
                    <a16:creationId xmlns:a16="http://schemas.microsoft.com/office/drawing/2014/main" id="{FE3CE84B-2F68-C137-A785-DAB57302657C}"/>
                  </a:ext>
                </a:extLst>
              </p:cNvPr>
              <p:cNvSpPr txBox="1">
                <a:spLocks/>
              </p:cNvSpPr>
              <p:nvPr/>
            </p:nvSpPr>
            <p:spPr>
              <a:xfrm>
                <a:off x="4900797" y="3538367"/>
                <a:ext cx="3363421"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Total Invested Capital</a:t>
                </a:r>
                <a:endParaRPr lang="en-US" sz="2400" b="1" dirty="0">
                  <a:solidFill>
                    <a:srgbClr val="C00000"/>
                  </a:solidFill>
                </a:endParaRPr>
              </a:p>
            </p:txBody>
          </p:sp>
          <p:cxnSp>
            <p:nvCxnSpPr>
              <p:cNvPr id="10" name="Straight Connector 9">
                <a:extLst>
                  <a:ext uri="{FF2B5EF4-FFF2-40B4-BE49-F238E27FC236}">
                    <a16:creationId xmlns:a16="http://schemas.microsoft.com/office/drawing/2014/main" id="{EC77F229-9CDD-D9EB-444A-32E6511E4D10}"/>
                  </a:ext>
                </a:extLst>
              </p:cNvPr>
              <p:cNvCxnSpPr>
                <a:cxnSpLocks/>
              </p:cNvCxnSpPr>
              <p:nvPr/>
            </p:nvCxnSpPr>
            <p:spPr>
              <a:xfrm>
                <a:off x="4911683" y="3535273"/>
                <a:ext cx="32960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1" name="TextBox 10">
              <a:extLst>
                <a:ext uri="{FF2B5EF4-FFF2-40B4-BE49-F238E27FC236}">
                  <a16:creationId xmlns:a16="http://schemas.microsoft.com/office/drawing/2014/main" id="{DBB5FFAB-41B8-78C6-84AC-AC0D45D58EDA}"/>
                </a:ext>
              </a:extLst>
            </p:cNvPr>
            <p:cNvSpPr txBox="1"/>
            <p:nvPr/>
          </p:nvSpPr>
          <p:spPr>
            <a:xfrm>
              <a:off x="4054554" y="1651793"/>
              <a:ext cx="297455" cy="461665"/>
            </a:xfrm>
            <a:prstGeom prst="rect">
              <a:avLst/>
            </a:prstGeom>
            <a:noFill/>
          </p:spPr>
          <p:txBody>
            <a:bodyPr wrap="square" rtlCol="0">
              <a:spAutoFit/>
            </a:bodyPr>
            <a:lstStyle/>
            <a:p>
              <a:r>
                <a:rPr lang="en-US" sz="2400" b="1" dirty="0">
                  <a:solidFill>
                    <a:srgbClr val="C00000"/>
                  </a:solidFill>
                </a:rPr>
                <a:t>=</a:t>
              </a:r>
            </a:p>
          </p:txBody>
        </p:sp>
        <p:sp>
          <p:nvSpPr>
            <p:cNvPr id="12" name="TextBox 11">
              <a:extLst>
                <a:ext uri="{FF2B5EF4-FFF2-40B4-BE49-F238E27FC236}">
                  <a16:creationId xmlns:a16="http://schemas.microsoft.com/office/drawing/2014/main" id="{033F7147-5A07-9F84-FE3D-E5C6A22C4D80}"/>
                </a:ext>
              </a:extLst>
            </p:cNvPr>
            <p:cNvSpPr txBox="1">
              <a:spLocks/>
            </p:cNvSpPr>
            <p:nvPr/>
          </p:nvSpPr>
          <p:spPr>
            <a:xfrm>
              <a:off x="5421359" y="1423408"/>
              <a:ext cx="1261885"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NOPAT</a:t>
              </a:r>
              <a:endParaRPr lang="en-US" sz="2400" b="1" dirty="0">
                <a:solidFill>
                  <a:srgbClr val="C00000"/>
                </a:solidFill>
              </a:endParaRPr>
            </a:p>
          </p:txBody>
        </p:sp>
        <p:sp>
          <p:nvSpPr>
            <p:cNvPr id="13" name="TextBox 12">
              <a:extLst>
                <a:ext uri="{FF2B5EF4-FFF2-40B4-BE49-F238E27FC236}">
                  <a16:creationId xmlns:a16="http://schemas.microsoft.com/office/drawing/2014/main" id="{1F3003CD-9CAD-24DD-3138-83996443450A}"/>
                </a:ext>
              </a:extLst>
            </p:cNvPr>
            <p:cNvSpPr txBox="1">
              <a:spLocks/>
            </p:cNvSpPr>
            <p:nvPr/>
          </p:nvSpPr>
          <p:spPr>
            <a:xfrm>
              <a:off x="4381941" y="1923490"/>
              <a:ext cx="3340723"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Total Invested Capital</a:t>
              </a:r>
              <a:endParaRPr lang="en-US" sz="2400" b="1" dirty="0">
                <a:solidFill>
                  <a:srgbClr val="C00000"/>
                </a:solidFill>
              </a:endParaRPr>
            </a:p>
          </p:txBody>
        </p:sp>
        <p:cxnSp>
          <p:nvCxnSpPr>
            <p:cNvPr id="14" name="Straight Connector 13">
              <a:extLst>
                <a:ext uri="{FF2B5EF4-FFF2-40B4-BE49-F238E27FC236}">
                  <a16:creationId xmlns:a16="http://schemas.microsoft.com/office/drawing/2014/main" id="{67746756-5E92-8A27-7F77-2C87B124C01D}"/>
                </a:ext>
              </a:extLst>
            </p:cNvPr>
            <p:cNvCxnSpPr>
              <a:cxnSpLocks/>
            </p:cNvCxnSpPr>
            <p:nvPr/>
          </p:nvCxnSpPr>
          <p:spPr>
            <a:xfrm>
              <a:off x="4419392" y="1865214"/>
              <a:ext cx="334212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715438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ABED2-1169-E71E-B716-8FEA5B5848B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5E967D3-A3A9-5AEB-BE72-C73131B7EE0F}"/>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FD6689-9C29-D121-21F7-BD23F4876A30}"/>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4-6. Basic Earning Power (BEP) Ratio</a:t>
            </a:r>
          </a:p>
        </p:txBody>
      </p:sp>
      <p:sp>
        <p:nvSpPr>
          <p:cNvPr id="15" name="TextBox 14">
            <a:extLst>
              <a:ext uri="{FF2B5EF4-FFF2-40B4-BE49-F238E27FC236}">
                <a16:creationId xmlns:a16="http://schemas.microsoft.com/office/drawing/2014/main" id="{15D69BF9-1D04-F304-EC4E-49DAFCD9BF2A}"/>
              </a:ext>
            </a:extLst>
          </p:cNvPr>
          <p:cNvSpPr txBox="1"/>
          <p:nvPr/>
        </p:nvSpPr>
        <p:spPr>
          <a:xfrm>
            <a:off x="251636" y="2474502"/>
            <a:ext cx="11688727" cy="1586525"/>
          </a:xfrm>
          <a:prstGeom prst="rect">
            <a:avLst/>
          </a:prstGeom>
          <a:noFill/>
        </p:spPr>
        <p:txBody>
          <a:bodyPr wrap="square" rtlCol="0">
            <a:spAutoFit/>
          </a:bodyPr>
          <a:lstStyle/>
          <a:p>
            <a:pPr marL="342900" indent="-342900">
              <a:lnSpc>
                <a:spcPct val="150000"/>
              </a:lnSpc>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The BEP ratio measures the raw earning power of a company's assets, </a:t>
            </a:r>
          </a:p>
          <a:p>
            <a:pPr marL="342900" indent="-342900">
              <a:lnSpc>
                <a:spcPct val="150000"/>
              </a:lnSpc>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Indicating how efficiently the company can generate operating income (EBIT) before the impact of taxes and interest expenses. </a:t>
            </a:r>
          </a:p>
        </p:txBody>
      </p:sp>
      <p:sp>
        <p:nvSpPr>
          <p:cNvPr id="4" name="TextBox 3">
            <a:extLst>
              <a:ext uri="{FF2B5EF4-FFF2-40B4-BE49-F238E27FC236}">
                <a16:creationId xmlns:a16="http://schemas.microsoft.com/office/drawing/2014/main" id="{8D0BCD31-E8C9-3A43-D943-6910217E46AF}"/>
              </a:ext>
            </a:extLst>
          </p:cNvPr>
          <p:cNvSpPr txBox="1"/>
          <p:nvPr/>
        </p:nvSpPr>
        <p:spPr>
          <a:xfrm>
            <a:off x="251636" y="4193260"/>
            <a:ext cx="11688727" cy="1785104"/>
          </a:xfrm>
          <a:prstGeom prst="rect">
            <a:avLst/>
          </a:prstGeom>
          <a:noFill/>
        </p:spPr>
        <p:txBody>
          <a:bodyPr wrap="square" rtlCol="0">
            <a:spAutoFit/>
          </a:bodyPr>
          <a:lstStyle/>
          <a:p>
            <a:pPr marL="342900" indent="-342900">
              <a:lnSpc>
                <a:spcPct val="100000"/>
              </a:lnSpc>
              <a:spcBef>
                <a:spcPts val="600"/>
              </a:spcBef>
              <a:spcAft>
                <a:spcPts val="600"/>
              </a:spcAft>
              <a:buFont typeface="Arial" panose="020B0604020202020204" pitchFamily="34" charset="0"/>
              <a:buChar char="•"/>
            </a:pPr>
            <a:r>
              <a:rPr lang="en-US" sz="2000" b="1" dirty="0">
                <a:latin typeface="Helvetica" pitchFamily="2" charset="0"/>
                <a:cs typeface="Times New Roman" panose="02020603050405020304" pitchFamily="18" charset="0"/>
              </a:rPr>
              <a:t>Key Points:</a:t>
            </a:r>
            <a:endParaRPr lang="en-US" sz="2000" dirty="0">
              <a:latin typeface="Helvetica" pitchFamily="2" charset="0"/>
              <a:cs typeface="Times New Roman" panose="02020603050405020304" pitchFamily="18" charset="0"/>
            </a:endParaRPr>
          </a:p>
          <a:p>
            <a:pPr marL="800100" lvl="1" indent="-342900">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It is a clear picture of a company's operating performance without the effects of taxes and debt.</a:t>
            </a:r>
          </a:p>
          <a:p>
            <a:pPr marL="800100" lvl="1" indent="-342900">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Useful for comparing companies with different debt levels or tax rates.</a:t>
            </a:r>
          </a:p>
          <a:p>
            <a:pPr marL="800100" lvl="1" indent="-342900">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Shows how well a company is using its assets to generate income from core operations.</a:t>
            </a:r>
          </a:p>
        </p:txBody>
      </p:sp>
      <p:grpSp>
        <p:nvGrpSpPr>
          <p:cNvPr id="3" name="Group 2">
            <a:extLst>
              <a:ext uri="{FF2B5EF4-FFF2-40B4-BE49-F238E27FC236}">
                <a16:creationId xmlns:a16="http://schemas.microsoft.com/office/drawing/2014/main" id="{739C32A2-2673-372E-5007-62A59A088238}"/>
              </a:ext>
            </a:extLst>
          </p:cNvPr>
          <p:cNvGrpSpPr/>
          <p:nvPr/>
        </p:nvGrpSpPr>
        <p:grpSpPr>
          <a:xfrm>
            <a:off x="2672444" y="1442512"/>
            <a:ext cx="6847110" cy="939238"/>
            <a:chOff x="36471" y="3058267"/>
            <a:chExt cx="6847110" cy="939238"/>
          </a:xfrm>
        </p:grpSpPr>
        <p:sp>
          <p:nvSpPr>
            <p:cNvPr id="5" name="TextBox 4">
              <a:extLst>
                <a:ext uri="{FF2B5EF4-FFF2-40B4-BE49-F238E27FC236}">
                  <a16:creationId xmlns:a16="http://schemas.microsoft.com/office/drawing/2014/main" id="{4F2F9979-3370-9CBC-B54B-EAC93A648EFC}"/>
                </a:ext>
              </a:extLst>
            </p:cNvPr>
            <p:cNvSpPr txBox="1">
              <a:spLocks/>
            </p:cNvSpPr>
            <p:nvPr/>
          </p:nvSpPr>
          <p:spPr>
            <a:xfrm>
              <a:off x="36471" y="3315326"/>
              <a:ext cx="4191000" cy="461665"/>
            </a:xfrm>
            <a:prstGeom prst="rect">
              <a:avLst/>
            </a:prstGeom>
            <a:noFill/>
          </p:spPr>
          <p:txBody>
            <a:bodyPr wrap="square" rtlCol="0">
              <a:spAutoFit/>
            </a:bodyPr>
            <a:lstStyle/>
            <a:p>
              <a:pPr algn="ctr"/>
              <a:r>
                <a:rPr lang="en-US" sz="2400" b="1" dirty="0">
                  <a:solidFill>
                    <a:srgbClr val="C00000"/>
                  </a:solidFill>
                  <a:latin typeface="Helvetica" pitchFamily="2" charset="0"/>
                  <a:cs typeface="Times New Roman" panose="02020603050405020304" pitchFamily="18" charset="0"/>
                </a:rPr>
                <a:t>Basic Earning Power (BEP)</a:t>
              </a:r>
            </a:p>
          </p:txBody>
        </p:sp>
        <p:sp>
          <p:nvSpPr>
            <p:cNvPr id="7" name="TextBox 6">
              <a:extLst>
                <a:ext uri="{FF2B5EF4-FFF2-40B4-BE49-F238E27FC236}">
                  <a16:creationId xmlns:a16="http://schemas.microsoft.com/office/drawing/2014/main" id="{5DBB7221-F019-4A88-3FC9-33A76B8D2D9B}"/>
                </a:ext>
              </a:extLst>
            </p:cNvPr>
            <p:cNvSpPr txBox="1"/>
            <p:nvPr/>
          </p:nvSpPr>
          <p:spPr>
            <a:xfrm>
              <a:off x="4170723" y="3307534"/>
              <a:ext cx="297455" cy="461665"/>
            </a:xfrm>
            <a:prstGeom prst="rect">
              <a:avLst/>
            </a:prstGeom>
            <a:noFill/>
          </p:spPr>
          <p:txBody>
            <a:bodyPr wrap="square" rtlCol="0">
              <a:spAutoFit/>
            </a:bodyPr>
            <a:lstStyle/>
            <a:p>
              <a:r>
                <a:rPr lang="en-US" sz="2400" b="1" dirty="0">
                  <a:solidFill>
                    <a:srgbClr val="C00000"/>
                  </a:solidFill>
                </a:rPr>
                <a:t>=</a:t>
              </a:r>
            </a:p>
          </p:txBody>
        </p:sp>
        <p:sp>
          <p:nvSpPr>
            <p:cNvPr id="8" name="TextBox 7">
              <a:extLst>
                <a:ext uri="{FF2B5EF4-FFF2-40B4-BE49-F238E27FC236}">
                  <a16:creationId xmlns:a16="http://schemas.microsoft.com/office/drawing/2014/main" id="{3A5B8473-E30E-DAD7-5DCD-655D31EDB76E}"/>
                </a:ext>
              </a:extLst>
            </p:cNvPr>
            <p:cNvSpPr txBox="1">
              <a:spLocks/>
            </p:cNvSpPr>
            <p:nvPr/>
          </p:nvSpPr>
          <p:spPr>
            <a:xfrm>
              <a:off x="5312083" y="3058267"/>
              <a:ext cx="885178"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EBIT</a:t>
              </a:r>
              <a:endParaRPr lang="en-US" sz="2400" b="1" dirty="0">
                <a:solidFill>
                  <a:srgbClr val="C00000"/>
                </a:solidFill>
              </a:endParaRPr>
            </a:p>
          </p:txBody>
        </p:sp>
        <p:sp>
          <p:nvSpPr>
            <p:cNvPr id="9" name="TextBox 8">
              <a:extLst>
                <a:ext uri="{FF2B5EF4-FFF2-40B4-BE49-F238E27FC236}">
                  <a16:creationId xmlns:a16="http://schemas.microsoft.com/office/drawing/2014/main" id="{32B171D7-952C-8BBB-920C-703E680D0BD6}"/>
                </a:ext>
              </a:extLst>
            </p:cNvPr>
            <p:cNvSpPr txBox="1">
              <a:spLocks/>
            </p:cNvSpPr>
            <p:nvPr/>
          </p:nvSpPr>
          <p:spPr>
            <a:xfrm>
              <a:off x="4753130" y="3535840"/>
              <a:ext cx="1981312"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Total Assets</a:t>
              </a:r>
              <a:endParaRPr lang="en-US" sz="2400" b="1" dirty="0">
                <a:solidFill>
                  <a:srgbClr val="C00000"/>
                </a:solidFill>
              </a:endParaRPr>
            </a:p>
          </p:txBody>
        </p:sp>
        <p:cxnSp>
          <p:nvCxnSpPr>
            <p:cNvPr id="10" name="Straight Connector 9">
              <a:extLst>
                <a:ext uri="{FF2B5EF4-FFF2-40B4-BE49-F238E27FC236}">
                  <a16:creationId xmlns:a16="http://schemas.microsoft.com/office/drawing/2014/main" id="{DA90C9BA-DA98-64BC-40D3-18025DF0903D}"/>
                </a:ext>
              </a:extLst>
            </p:cNvPr>
            <p:cNvCxnSpPr>
              <a:cxnSpLocks/>
            </p:cNvCxnSpPr>
            <p:nvPr/>
          </p:nvCxnSpPr>
          <p:spPr>
            <a:xfrm>
              <a:off x="4606879" y="3535273"/>
              <a:ext cx="2276702"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826921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D372E-4B42-C601-D10D-DE0D4E2B120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051ABFF-103F-42BE-4ADA-EB722695F259}"/>
              </a:ext>
            </a:extLst>
          </p:cNvPr>
          <p:cNvSpPr/>
          <p:nvPr/>
        </p:nvSpPr>
        <p:spPr>
          <a:xfrm>
            <a:off x="0" y="-1"/>
            <a:ext cx="12192000" cy="982664"/>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3E314B-E80A-AD1A-368B-D3C201A7122E}"/>
              </a:ext>
            </a:extLst>
          </p:cNvPr>
          <p:cNvSpPr>
            <a:spLocks noGrp="1"/>
          </p:cNvSpPr>
          <p:nvPr>
            <p:ph type="title"/>
          </p:nvPr>
        </p:nvSpPr>
        <p:spPr>
          <a:xfrm>
            <a:off x="341970" y="39659"/>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4. </a:t>
            </a:r>
            <a:r>
              <a:rPr lang="en-US" b="1" dirty="0">
                <a:solidFill>
                  <a:schemeClr val="bg1"/>
                </a:solidFill>
                <a:latin typeface="Helvetica" pitchFamily="2" charset="0"/>
              </a:rPr>
              <a:t>Example (4-1 to 4-6)</a:t>
            </a:r>
            <a:endParaRPr lang="en-US" b="1" dirty="0">
              <a:solidFill>
                <a:schemeClr val="bg1"/>
              </a:solidFill>
              <a:latin typeface="Helvetica" pitchFamily="2" charset="0"/>
              <a:cs typeface="Times New Roman" panose="02020603050405020304" pitchFamily="18" charset="0"/>
            </a:endParaRPr>
          </a:p>
        </p:txBody>
      </p:sp>
      <p:sp>
        <p:nvSpPr>
          <p:cNvPr id="11" name="TextBox 10">
            <a:extLst>
              <a:ext uri="{FF2B5EF4-FFF2-40B4-BE49-F238E27FC236}">
                <a16:creationId xmlns:a16="http://schemas.microsoft.com/office/drawing/2014/main" id="{745B2974-3CA8-019B-1807-32C3C9CA02CC}"/>
              </a:ext>
            </a:extLst>
          </p:cNvPr>
          <p:cNvSpPr txBox="1"/>
          <p:nvPr/>
        </p:nvSpPr>
        <p:spPr>
          <a:xfrm>
            <a:off x="239486" y="1477332"/>
            <a:ext cx="11843657" cy="1015663"/>
          </a:xfrm>
          <a:prstGeom prst="rect">
            <a:avLst/>
          </a:prstGeom>
          <a:noFill/>
        </p:spPr>
        <p:txBody>
          <a:bodyPr wrap="square" rtlCol="0">
            <a:spAutoFit/>
          </a:bodyPr>
          <a:lstStyle/>
          <a:p>
            <a:r>
              <a:rPr lang="en-US" sz="2000" dirty="0">
                <a:latin typeface="Helvetica" pitchFamily="2" charset="0"/>
                <a:cs typeface="Times New Roman" panose="02020603050405020304" pitchFamily="18" charset="0"/>
              </a:rPr>
              <a:t>A company has $2,000 of sales and $100 of net income. Its total assets are $1,000 . The company’s total assets equal total invested capital, and its capital consists of half debt and half common equity. The firm’s earnings before interest and tax is $200 , and its tax rate is 25%.</a:t>
            </a:r>
          </a:p>
        </p:txBody>
      </p:sp>
      <p:sp>
        <p:nvSpPr>
          <p:cNvPr id="12" name="TextBox 11">
            <a:extLst>
              <a:ext uri="{FF2B5EF4-FFF2-40B4-BE49-F238E27FC236}">
                <a16:creationId xmlns:a16="http://schemas.microsoft.com/office/drawing/2014/main" id="{13041D39-8340-CF81-94A0-57C39F680E65}"/>
              </a:ext>
            </a:extLst>
          </p:cNvPr>
          <p:cNvSpPr txBox="1"/>
          <p:nvPr/>
        </p:nvSpPr>
        <p:spPr>
          <a:xfrm>
            <a:off x="326755" y="1016174"/>
            <a:ext cx="1570929" cy="400110"/>
          </a:xfrm>
          <a:prstGeom prst="rect">
            <a:avLst/>
          </a:prstGeom>
          <a:noFill/>
        </p:spPr>
        <p:txBody>
          <a:bodyPr wrap="square" rtlCol="0">
            <a:spAutoFit/>
          </a:bodyPr>
          <a:lstStyle/>
          <a:p>
            <a:r>
              <a:rPr lang="en-US" sz="2000" b="1" dirty="0">
                <a:latin typeface="Helvetica" pitchFamily="2" charset="0"/>
                <a:cs typeface="Times New Roman" panose="02020603050405020304" pitchFamily="18" charset="0"/>
              </a:rPr>
              <a:t>Question-8</a:t>
            </a:r>
          </a:p>
        </p:txBody>
      </p:sp>
      <p:sp>
        <p:nvSpPr>
          <p:cNvPr id="21" name="TextBox 20">
            <a:extLst>
              <a:ext uri="{FF2B5EF4-FFF2-40B4-BE49-F238E27FC236}">
                <a16:creationId xmlns:a16="http://schemas.microsoft.com/office/drawing/2014/main" id="{CC3EE2D4-DBB7-17E1-52C3-ABAEE220E429}"/>
              </a:ext>
            </a:extLst>
          </p:cNvPr>
          <p:cNvSpPr txBox="1">
            <a:spLocks/>
          </p:cNvSpPr>
          <p:nvPr/>
        </p:nvSpPr>
        <p:spPr>
          <a:xfrm>
            <a:off x="309271" y="2794585"/>
            <a:ext cx="1687013" cy="369332"/>
          </a:xfrm>
          <a:prstGeom prst="rect">
            <a:avLst/>
          </a:prstGeom>
          <a:noFill/>
        </p:spPr>
        <p:txBody>
          <a:bodyPr wrap="square" rtlCol="0">
            <a:spAutoFit/>
          </a:bodyPr>
          <a:lstStyle/>
          <a:p>
            <a:pPr algn="ctr"/>
            <a:r>
              <a:rPr lang="en-US" b="1" dirty="0">
                <a:solidFill>
                  <a:srgbClr val="0070C0"/>
                </a:solidFill>
                <a:latin typeface="Helvetica" pitchFamily="2" charset="0"/>
                <a:cs typeface="Times New Roman" panose="02020603050405020304" pitchFamily="18" charset="0"/>
              </a:rPr>
              <a:t>Profit Margin</a:t>
            </a:r>
          </a:p>
        </p:txBody>
      </p:sp>
      <p:grpSp>
        <p:nvGrpSpPr>
          <p:cNvPr id="24" name="Group 23">
            <a:extLst>
              <a:ext uri="{FF2B5EF4-FFF2-40B4-BE49-F238E27FC236}">
                <a16:creationId xmlns:a16="http://schemas.microsoft.com/office/drawing/2014/main" id="{9916646E-A641-BFFA-923C-A49A66AB3484}"/>
              </a:ext>
            </a:extLst>
          </p:cNvPr>
          <p:cNvGrpSpPr/>
          <p:nvPr/>
        </p:nvGrpSpPr>
        <p:grpSpPr>
          <a:xfrm>
            <a:off x="1913083" y="2614376"/>
            <a:ext cx="2788567" cy="827723"/>
            <a:chOff x="1913083" y="2418431"/>
            <a:chExt cx="2788567" cy="827723"/>
          </a:xfrm>
        </p:grpSpPr>
        <p:grpSp>
          <p:nvGrpSpPr>
            <p:cNvPr id="13" name="Group 12">
              <a:extLst>
                <a:ext uri="{FF2B5EF4-FFF2-40B4-BE49-F238E27FC236}">
                  <a16:creationId xmlns:a16="http://schemas.microsoft.com/office/drawing/2014/main" id="{5127FDA1-F316-43D0-CD65-19FD41ABBA9F}"/>
                </a:ext>
              </a:extLst>
            </p:cNvPr>
            <p:cNvGrpSpPr/>
            <p:nvPr/>
          </p:nvGrpSpPr>
          <p:grpSpPr>
            <a:xfrm>
              <a:off x="1913083" y="2418431"/>
              <a:ext cx="2413909" cy="827723"/>
              <a:chOff x="3791169" y="3125779"/>
              <a:chExt cx="2413909" cy="827723"/>
            </a:xfrm>
          </p:grpSpPr>
          <p:sp>
            <p:nvSpPr>
              <p:cNvPr id="16" name="TextBox 15">
                <a:extLst>
                  <a:ext uri="{FF2B5EF4-FFF2-40B4-BE49-F238E27FC236}">
                    <a16:creationId xmlns:a16="http://schemas.microsoft.com/office/drawing/2014/main" id="{356C9DB7-F98D-F976-36D9-C40B3197974A}"/>
                  </a:ext>
                </a:extLst>
              </p:cNvPr>
              <p:cNvSpPr txBox="1"/>
              <p:nvPr/>
            </p:nvSpPr>
            <p:spPr>
              <a:xfrm>
                <a:off x="3791169" y="3321852"/>
                <a:ext cx="297455" cy="369332"/>
              </a:xfrm>
              <a:prstGeom prst="rect">
                <a:avLst/>
              </a:prstGeom>
              <a:noFill/>
            </p:spPr>
            <p:txBody>
              <a:bodyPr wrap="square" rtlCol="0">
                <a:spAutoFit/>
              </a:bodyPr>
              <a:lstStyle/>
              <a:p>
                <a:r>
                  <a:rPr lang="en-US" b="1" dirty="0">
                    <a:solidFill>
                      <a:srgbClr val="0070C0"/>
                    </a:solidFill>
                  </a:rPr>
                  <a:t>=</a:t>
                </a:r>
              </a:p>
            </p:txBody>
          </p:sp>
          <p:sp>
            <p:nvSpPr>
              <p:cNvPr id="17" name="TextBox 16">
                <a:extLst>
                  <a:ext uri="{FF2B5EF4-FFF2-40B4-BE49-F238E27FC236}">
                    <a16:creationId xmlns:a16="http://schemas.microsoft.com/office/drawing/2014/main" id="{01C2A5A5-67F9-B2A7-28D9-7A5D892A1801}"/>
                  </a:ext>
                </a:extLst>
              </p:cNvPr>
              <p:cNvSpPr txBox="1">
                <a:spLocks/>
              </p:cNvSpPr>
              <p:nvPr/>
            </p:nvSpPr>
            <p:spPr>
              <a:xfrm>
                <a:off x="4469758" y="3125779"/>
                <a:ext cx="1428596" cy="369332"/>
              </a:xfrm>
              <a:prstGeom prst="rect">
                <a:avLst/>
              </a:prstGeom>
              <a:noFill/>
            </p:spPr>
            <p:txBody>
              <a:bodyPr wrap="none" rtlCol="0">
                <a:spAutoFit/>
              </a:bodyPr>
              <a:lstStyle/>
              <a:p>
                <a:pPr algn="ctr"/>
                <a:r>
                  <a:rPr lang="en-US" b="1" dirty="0">
                    <a:solidFill>
                      <a:srgbClr val="0070C0"/>
                    </a:solidFill>
                    <a:latin typeface="Helvetica" pitchFamily="2" charset="0"/>
                    <a:cs typeface="Times New Roman" panose="02020603050405020304" pitchFamily="18" charset="0"/>
                  </a:rPr>
                  <a:t>Net Income</a:t>
                </a:r>
                <a:endParaRPr lang="en-US" b="1" dirty="0">
                  <a:solidFill>
                    <a:srgbClr val="0070C0"/>
                  </a:solidFill>
                </a:endParaRPr>
              </a:p>
            </p:txBody>
          </p:sp>
          <p:sp>
            <p:nvSpPr>
              <p:cNvPr id="18" name="TextBox 17">
                <a:extLst>
                  <a:ext uri="{FF2B5EF4-FFF2-40B4-BE49-F238E27FC236}">
                    <a16:creationId xmlns:a16="http://schemas.microsoft.com/office/drawing/2014/main" id="{EEBFBD1D-F6E1-AD81-8F53-E5C27D601B8D}"/>
                  </a:ext>
                </a:extLst>
              </p:cNvPr>
              <p:cNvSpPr txBox="1">
                <a:spLocks/>
              </p:cNvSpPr>
              <p:nvPr/>
            </p:nvSpPr>
            <p:spPr>
              <a:xfrm>
                <a:off x="4572883" y="3584170"/>
                <a:ext cx="1223412" cy="369332"/>
              </a:xfrm>
              <a:prstGeom prst="rect">
                <a:avLst/>
              </a:prstGeom>
              <a:noFill/>
            </p:spPr>
            <p:txBody>
              <a:bodyPr wrap="none" rtlCol="0">
                <a:spAutoFit/>
              </a:bodyPr>
              <a:lstStyle/>
              <a:p>
                <a:pPr algn="ctr"/>
                <a:r>
                  <a:rPr lang="en-US" b="1" dirty="0">
                    <a:solidFill>
                      <a:srgbClr val="0070C0"/>
                    </a:solidFill>
                    <a:latin typeface="Helvetica" pitchFamily="2" charset="0"/>
                    <a:cs typeface="Times New Roman" panose="02020603050405020304" pitchFamily="18" charset="0"/>
                  </a:rPr>
                  <a:t>Net Sales</a:t>
                </a:r>
                <a:endParaRPr lang="en-US" b="1" dirty="0">
                  <a:solidFill>
                    <a:srgbClr val="0070C0"/>
                  </a:solidFill>
                </a:endParaRPr>
              </a:p>
            </p:txBody>
          </p:sp>
          <p:cxnSp>
            <p:nvCxnSpPr>
              <p:cNvPr id="19" name="Straight Connector 18">
                <a:extLst>
                  <a:ext uri="{FF2B5EF4-FFF2-40B4-BE49-F238E27FC236}">
                    <a16:creationId xmlns:a16="http://schemas.microsoft.com/office/drawing/2014/main" id="{9CFBC031-EBA9-D328-2C42-9907415E6598}"/>
                  </a:ext>
                </a:extLst>
              </p:cNvPr>
              <p:cNvCxnSpPr>
                <a:cxnSpLocks/>
              </p:cNvCxnSpPr>
              <p:nvPr/>
            </p:nvCxnSpPr>
            <p:spPr>
              <a:xfrm>
                <a:off x="4156007" y="3535273"/>
                <a:ext cx="20490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3" name="TextBox 22">
              <a:extLst>
                <a:ext uri="{FF2B5EF4-FFF2-40B4-BE49-F238E27FC236}">
                  <a16:creationId xmlns:a16="http://schemas.microsoft.com/office/drawing/2014/main" id="{AC1DD397-6A2F-792F-9095-BCAAB06E2F26}"/>
                </a:ext>
              </a:extLst>
            </p:cNvPr>
            <p:cNvSpPr txBox="1"/>
            <p:nvPr/>
          </p:nvSpPr>
          <p:spPr>
            <a:xfrm>
              <a:off x="4404195" y="2643259"/>
              <a:ext cx="297455" cy="369332"/>
            </a:xfrm>
            <a:prstGeom prst="rect">
              <a:avLst/>
            </a:prstGeom>
            <a:noFill/>
          </p:spPr>
          <p:txBody>
            <a:bodyPr wrap="square" rtlCol="0">
              <a:spAutoFit/>
            </a:bodyPr>
            <a:lstStyle/>
            <a:p>
              <a:r>
                <a:rPr lang="en-US" b="1" dirty="0">
                  <a:solidFill>
                    <a:srgbClr val="0070C0"/>
                  </a:solidFill>
                </a:rPr>
                <a:t>=</a:t>
              </a:r>
            </a:p>
          </p:txBody>
        </p:sp>
      </p:grpSp>
      <p:sp>
        <p:nvSpPr>
          <p:cNvPr id="25" name="TextBox 24">
            <a:extLst>
              <a:ext uri="{FF2B5EF4-FFF2-40B4-BE49-F238E27FC236}">
                <a16:creationId xmlns:a16="http://schemas.microsoft.com/office/drawing/2014/main" id="{35CB4074-5FEF-DA90-C242-BE2396F53998}"/>
              </a:ext>
            </a:extLst>
          </p:cNvPr>
          <p:cNvSpPr txBox="1">
            <a:spLocks/>
          </p:cNvSpPr>
          <p:nvPr/>
        </p:nvSpPr>
        <p:spPr>
          <a:xfrm>
            <a:off x="326755" y="3788991"/>
            <a:ext cx="1687013" cy="369332"/>
          </a:xfrm>
          <a:prstGeom prst="rect">
            <a:avLst/>
          </a:prstGeom>
          <a:noFill/>
        </p:spPr>
        <p:txBody>
          <a:bodyPr wrap="square" rtlCol="0">
            <a:spAutoFit/>
          </a:bodyPr>
          <a:lstStyle/>
          <a:p>
            <a:pPr algn="ctr"/>
            <a:r>
              <a:rPr lang="en-US" b="1" dirty="0">
                <a:solidFill>
                  <a:schemeClr val="accent6">
                    <a:lumMod val="75000"/>
                  </a:schemeClr>
                </a:solidFill>
                <a:latin typeface="Helvetica" pitchFamily="2" charset="0"/>
                <a:cs typeface="Times New Roman" panose="02020603050405020304" pitchFamily="18" charset="0"/>
              </a:rPr>
              <a:t>ROA</a:t>
            </a:r>
          </a:p>
        </p:txBody>
      </p:sp>
      <p:grpSp>
        <p:nvGrpSpPr>
          <p:cNvPr id="26" name="Group 25">
            <a:extLst>
              <a:ext uri="{FF2B5EF4-FFF2-40B4-BE49-F238E27FC236}">
                <a16:creationId xmlns:a16="http://schemas.microsoft.com/office/drawing/2014/main" id="{15C8D48D-6B35-BED0-F9BD-107B8D323978}"/>
              </a:ext>
            </a:extLst>
          </p:cNvPr>
          <p:cNvGrpSpPr/>
          <p:nvPr/>
        </p:nvGrpSpPr>
        <p:grpSpPr>
          <a:xfrm>
            <a:off x="1930567" y="3608782"/>
            <a:ext cx="2788567" cy="816837"/>
            <a:chOff x="1913083" y="2418431"/>
            <a:chExt cx="2788567" cy="816837"/>
          </a:xfrm>
        </p:grpSpPr>
        <p:grpSp>
          <p:nvGrpSpPr>
            <p:cNvPr id="27" name="Group 26">
              <a:extLst>
                <a:ext uri="{FF2B5EF4-FFF2-40B4-BE49-F238E27FC236}">
                  <a16:creationId xmlns:a16="http://schemas.microsoft.com/office/drawing/2014/main" id="{1C39811C-AB2B-66F1-98E0-4AF7218F557A}"/>
                </a:ext>
              </a:extLst>
            </p:cNvPr>
            <p:cNvGrpSpPr/>
            <p:nvPr/>
          </p:nvGrpSpPr>
          <p:grpSpPr>
            <a:xfrm>
              <a:off x="1913083" y="2418431"/>
              <a:ext cx="2413909" cy="816837"/>
              <a:chOff x="3791169" y="3125779"/>
              <a:chExt cx="2413909" cy="816837"/>
            </a:xfrm>
          </p:grpSpPr>
          <p:sp>
            <p:nvSpPr>
              <p:cNvPr id="29" name="TextBox 28">
                <a:extLst>
                  <a:ext uri="{FF2B5EF4-FFF2-40B4-BE49-F238E27FC236}">
                    <a16:creationId xmlns:a16="http://schemas.microsoft.com/office/drawing/2014/main" id="{0F54F2F0-DA58-3889-A7F2-8D9A3644EE4D}"/>
                  </a:ext>
                </a:extLst>
              </p:cNvPr>
              <p:cNvSpPr txBox="1"/>
              <p:nvPr/>
            </p:nvSpPr>
            <p:spPr>
              <a:xfrm>
                <a:off x="3791169" y="3321852"/>
                <a:ext cx="297455" cy="369332"/>
              </a:xfrm>
              <a:prstGeom prst="rect">
                <a:avLst/>
              </a:prstGeom>
              <a:noFill/>
            </p:spPr>
            <p:txBody>
              <a:bodyPr wrap="square" rtlCol="0">
                <a:spAutoFit/>
              </a:bodyPr>
              <a:lstStyle/>
              <a:p>
                <a:r>
                  <a:rPr lang="en-US" b="1" dirty="0">
                    <a:solidFill>
                      <a:schemeClr val="accent6">
                        <a:lumMod val="75000"/>
                      </a:schemeClr>
                    </a:solidFill>
                  </a:rPr>
                  <a:t>=</a:t>
                </a:r>
              </a:p>
            </p:txBody>
          </p:sp>
          <p:sp>
            <p:nvSpPr>
              <p:cNvPr id="30" name="TextBox 29">
                <a:extLst>
                  <a:ext uri="{FF2B5EF4-FFF2-40B4-BE49-F238E27FC236}">
                    <a16:creationId xmlns:a16="http://schemas.microsoft.com/office/drawing/2014/main" id="{776056AB-E6E2-B588-6E5C-BD05545F4E4E}"/>
                  </a:ext>
                </a:extLst>
              </p:cNvPr>
              <p:cNvSpPr txBox="1">
                <a:spLocks/>
              </p:cNvSpPr>
              <p:nvPr/>
            </p:nvSpPr>
            <p:spPr>
              <a:xfrm>
                <a:off x="4469758" y="3125779"/>
                <a:ext cx="1428596" cy="369332"/>
              </a:xfrm>
              <a:prstGeom prst="rect">
                <a:avLst/>
              </a:prstGeom>
              <a:noFill/>
            </p:spPr>
            <p:txBody>
              <a:bodyPr wrap="none" rtlCol="0">
                <a:spAutoFit/>
              </a:bodyPr>
              <a:lstStyle/>
              <a:p>
                <a:pPr algn="ctr"/>
                <a:r>
                  <a:rPr lang="en-US" b="1" dirty="0">
                    <a:solidFill>
                      <a:schemeClr val="accent6">
                        <a:lumMod val="75000"/>
                      </a:schemeClr>
                    </a:solidFill>
                    <a:latin typeface="Helvetica" pitchFamily="2" charset="0"/>
                    <a:cs typeface="Times New Roman" panose="02020603050405020304" pitchFamily="18" charset="0"/>
                  </a:rPr>
                  <a:t>Net Income</a:t>
                </a:r>
                <a:endParaRPr lang="en-US" b="1" dirty="0">
                  <a:solidFill>
                    <a:schemeClr val="accent6">
                      <a:lumMod val="75000"/>
                    </a:schemeClr>
                  </a:solidFill>
                </a:endParaRPr>
              </a:p>
            </p:txBody>
          </p:sp>
          <p:sp>
            <p:nvSpPr>
              <p:cNvPr id="31" name="TextBox 30">
                <a:extLst>
                  <a:ext uri="{FF2B5EF4-FFF2-40B4-BE49-F238E27FC236}">
                    <a16:creationId xmlns:a16="http://schemas.microsoft.com/office/drawing/2014/main" id="{CF3C96A0-F992-79D9-D021-D01CDD4DCEE9}"/>
                  </a:ext>
                </a:extLst>
              </p:cNvPr>
              <p:cNvSpPr txBox="1">
                <a:spLocks/>
              </p:cNvSpPr>
              <p:nvPr/>
            </p:nvSpPr>
            <p:spPr>
              <a:xfrm>
                <a:off x="4418900" y="3573284"/>
                <a:ext cx="1531381" cy="369332"/>
              </a:xfrm>
              <a:prstGeom prst="rect">
                <a:avLst/>
              </a:prstGeom>
              <a:noFill/>
            </p:spPr>
            <p:txBody>
              <a:bodyPr wrap="none" rtlCol="0">
                <a:spAutoFit/>
              </a:bodyPr>
              <a:lstStyle/>
              <a:p>
                <a:pPr algn="ctr"/>
                <a:r>
                  <a:rPr lang="en-US" b="1" dirty="0">
                    <a:solidFill>
                      <a:schemeClr val="accent6">
                        <a:lumMod val="75000"/>
                      </a:schemeClr>
                    </a:solidFill>
                    <a:latin typeface="Helvetica" pitchFamily="2" charset="0"/>
                    <a:cs typeface="Times New Roman" panose="02020603050405020304" pitchFamily="18" charset="0"/>
                  </a:rPr>
                  <a:t>Total Assets</a:t>
                </a:r>
                <a:endParaRPr lang="en-US" b="1" dirty="0">
                  <a:solidFill>
                    <a:schemeClr val="accent6">
                      <a:lumMod val="75000"/>
                    </a:schemeClr>
                  </a:solidFill>
                </a:endParaRPr>
              </a:p>
            </p:txBody>
          </p:sp>
          <p:cxnSp>
            <p:nvCxnSpPr>
              <p:cNvPr id="32" name="Straight Connector 31">
                <a:extLst>
                  <a:ext uri="{FF2B5EF4-FFF2-40B4-BE49-F238E27FC236}">
                    <a16:creationId xmlns:a16="http://schemas.microsoft.com/office/drawing/2014/main" id="{18CD32C9-803A-40E5-597C-840DC174DC21}"/>
                  </a:ext>
                </a:extLst>
              </p:cNvPr>
              <p:cNvCxnSpPr>
                <a:cxnSpLocks/>
              </p:cNvCxnSpPr>
              <p:nvPr/>
            </p:nvCxnSpPr>
            <p:spPr>
              <a:xfrm>
                <a:off x="4156007" y="3535273"/>
                <a:ext cx="20490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8" name="TextBox 27">
              <a:extLst>
                <a:ext uri="{FF2B5EF4-FFF2-40B4-BE49-F238E27FC236}">
                  <a16:creationId xmlns:a16="http://schemas.microsoft.com/office/drawing/2014/main" id="{397A7E26-94B4-C7E4-E6F4-0A3B71C7159A}"/>
                </a:ext>
              </a:extLst>
            </p:cNvPr>
            <p:cNvSpPr txBox="1"/>
            <p:nvPr/>
          </p:nvSpPr>
          <p:spPr>
            <a:xfrm>
              <a:off x="4404195" y="2643259"/>
              <a:ext cx="297455" cy="369332"/>
            </a:xfrm>
            <a:prstGeom prst="rect">
              <a:avLst/>
            </a:prstGeom>
            <a:noFill/>
          </p:spPr>
          <p:txBody>
            <a:bodyPr wrap="square" rtlCol="0">
              <a:spAutoFit/>
            </a:bodyPr>
            <a:lstStyle/>
            <a:p>
              <a:r>
                <a:rPr lang="en-US" b="1" dirty="0">
                  <a:solidFill>
                    <a:schemeClr val="accent6">
                      <a:lumMod val="75000"/>
                    </a:schemeClr>
                  </a:solidFill>
                </a:rPr>
                <a:t>=</a:t>
              </a:r>
            </a:p>
          </p:txBody>
        </p:sp>
      </p:grpSp>
      <p:sp>
        <p:nvSpPr>
          <p:cNvPr id="33" name="TextBox 32">
            <a:extLst>
              <a:ext uri="{FF2B5EF4-FFF2-40B4-BE49-F238E27FC236}">
                <a16:creationId xmlns:a16="http://schemas.microsoft.com/office/drawing/2014/main" id="{3A9BD7DC-B17A-28F3-64B5-1C65B42B7339}"/>
              </a:ext>
            </a:extLst>
          </p:cNvPr>
          <p:cNvSpPr txBox="1">
            <a:spLocks/>
          </p:cNvSpPr>
          <p:nvPr/>
        </p:nvSpPr>
        <p:spPr>
          <a:xfrm>
            <a:off x="338555" y="4831094"/>
            <a:ext cx="1687013" cy="369332"/>
          </a:xfrm>
          <a:prstGeom prst="rect">
            <a:avLst/>
          </a:prstGeom>
          <a:noFill/>
        </p:spPr>
        <p:txBody>
          <a:bodyPr wrap="square" rtlCol="0">
            <a:spAutoFit/>
          </a:bodyPr>
          <a:lstStyle/>
          <a:p>
            <a:pPr algn="ctr"/>
            <a:r>
              <a:rPr lang="en-US" b="1" dirty="0">
                <a:solidFill>
                  <a:schemeClr val="accent5">
                    <a:lumMod val="75000"/>
                  </a:schemeClr>
                </a:solidFill>
                <a:latin typeface="Helvetica" pitchFamily="2" charset="0"/>
                <a:cs typeface="Times New Roman" panose="02020603050405020304" pitchFamily="18" charset="0"/>
              </a:rPr>
              <a:t>ROE</a:t>
            </a:r>
          </a:p>
        </p:txBody>
      </p:sp>
      <p:grpSp>
        <p:nvGrpSpPr>
          <p:cNvPr id="34" name="Group 33">
            <a:extLst>
              <a:ext uri="{FF2B5EF4-FFF2-40B4-BE49-F238E27FC236}">
                <a16:creationId xmlns:a16="http://schemas.microsoft.com/office/drawing/2014/main" id="{5919CC42-87A5-8547-8120-51AFC5651FD6}"/>
              </a:ext>
            </a:extLst>
          </p:cNvPr>
          <p:cNvGrpSpPr/>
          <p:nvPr/>
        </p:nvGrpSpPr>
        <p:grpSpPr>
          <a:xfrm>
            <a:off x="1942367" y="4650885"/>
            <a:ext cx="2788567" cy="827723"/>
            <a:chOff x="1913083" y="2418431"/>
            <a:chExt cx="2788567" cy="827723"/>
          </a:xfrm>
        </p:grpSpPr>
        <p:grpSp>
          <p:nvGrpSpPr>
            <p:cNvPr id="35" name="Group 34">
              <a:extLst>
                <a:ext uri="{FF2B5EF4-FFF2-40B4-BE49-F238E27FC236}">
                  <a16:creationId xmlns:a16="http://schemas.microsoft.com/office/drawing/2014/main" id="{DA632A55-D681-C724-467F-EA4594619F07}"/>
                </a:ext>
              </a:extLst>
            </p:cNvPr>
            <p:cNvGrpSpPr/>
            <p:nvPr/>
          </p:nvGrpSpPr>
          <p:grpSpPr>
            <a:xfrm>
              <a:off x="1913083" y="2418431"/>
              <a:ext cx="2413909" cy="827723"/>
              <a:chOff x="3791169" y="3125779"/>
              <a:chExt cx="2413909" cy="827723"/>
            </a:xfrm>
          </p:grpSpPr>
          <p:sp>
            <p:nvSpPr>
              <p:cNvPr id="37" name="TextBox 36">
                <a:extLst>
                  <a:ext uri="{FF2B5EF4-FFF2-40B4-BE49-F238E27FC236}">
                    <a16:creationId xmlns:a16="http://schemas.microsoft.com/office/drawing/2014/main" id="{BA9114C1-FAC0-86EC-2573-F6474CEBC9AB}"/>
                  </a:ext>
                </a:extLst>
              </p:cNvPr>
              <p:cNvSpPr txBox="1"/>
              <p:nvPr/>
            </p:nvSpPr>
            <p:spPr>
              <a:xfrm>
                <a:off x="3791169" y="3321852"/>
                <a:ext cx="297455" cy="369332"/>
              </a:xfrm>
              <a:prstGeom prst="rect">
                <a:avLst/>
              </a:prstGeom>
              <a:noFill/>
            </p:spPr>
            <p:txBody>
              <a:bodyPr wrap="square" rtlCol="0">
                <a:spAutoFit/>
              </a:bodyPr>
              <a:lstStyle/>
              <a:p>
                <a:r>
                  <a:rPr lang="en-US" b="1" dirty="0">
                    <a:solidFill>
                      <a:schemeClr val="accent5">
                        <a:lumMod val="75000"/>
                      </a:schemeClr>
                    </a:solidFill>
                  </a:rPr>
                  <a:t>=</a:t>
                </a:r>
              </a:p>
            </p:txBody>
          </p:sp>
          <p:sp>
            <p:nvSpPr>
              <p:cNvPr id="38" name="TextBox 37">
                <a:extLst>
                  <a:ext uri="{FF2B5EF4-FFF2-40B4-BE49-F238E27FC236}">
                    <a16:creationId xmlns:a16="http://schemas.microsoft.com/office/drawing/2014/main" id="{E406B7A3-4BF9-F1B0-43C8-53BABC28A3E2}"/>
                  </a:ext>
                </a:extLst>
              </p:cNvPr>
              <p:cNvSpPr txBox="1">
                <a:spLocks/>
              </p:cNvSpPr>
              <p:nvPr/>
            </p:nvSpPr>
            <p:spPr>
              <a:xfrm>
                <a:off x="4469758" y="3125779"/>
                <a:ext cx="1428596" cy="369332"/>
              </a:xfrm>
              <a:prstGeom prst="rect">
                <a:avLst/>
              </a:prstGeom>
              <a:noFill/>
            </p:spPr>
            <p:txBody>
              <a:bodyPr wrap="none" rtlCol="0">
                <a:spAutoFit/>
              </a:bodyPr>
              <a:lstStyle/>
              <a:p>
                <a:pPr algn="ctr"/>
                <a:r>
                  <a:rPr lang="en-US" b="1" dirty="0">
                    <a:solidFill>
                      <a:schemeClr val="accent5">
                        <a:lumMod val="75000"/>
                      </a:schemeClr>
                    </a:solidFill>
                    <a:latin typeface="Helvetica" pitchFamily="2" charset="0"/>
                    <a:cs typeface="Times New Roman" panose="02020603050405020304" pitchFamily="18" charset="0"/>
                  </a:rPr>
                  <a:t>Net Income</a:t>
                </a:r>
                <a:endParaRPr lang="en-US" b="1" dirty="0">
                  <a:solidFill>
                    <a:schemeClr val="accent5">
                      <a:lumMod val="75000"/>
                    </a:schemeClr>
                  </a:solidFill>
                </a:endParaRPr>
              </a:p>
            </p:txBody>
          </p:sp>
          <p:sp>
            <p:nvSpPr>
              <p:cNvPr id="39" name="TextBox 38">
                <a:extLst>
                  <a:ext uri="{FF2B5EF4-FFF2-40B4-BE49-F238E27FC236}">
                    <a16:creationId xmlns:a16="http://schemas.microsoft.com/office/drawing/2014/main" id="{D3B67A3C-335D-D079-10BA-35609ED7ED6B}"/>
                  </a:ext>
                </a:extLst>
              </p:cNvPr>
              <p:cNvSpPr txBox="1">
                <a:spLocks/>
              </p:cNvSpPr>
              <p:nvPr/>
            </p:nvSpPr>
            <p:spPr>
              <a:xfrm>
                <a:off x="4440315" y="3584170"/>
                <a:ext cx="1488549" cy="369332"/>
              </a:xfrm>
              <a:prstGeom prst="rect">
                <a:avLst/>
              </a:prstGeom>
              <a:noFill/>
            </p:spPr>
            <p:txBody>
              <a:bodyPr wrap="none" rtlCol="0">
                <a:spAutoFit/>
              </a:bodyPr>
              <a:lstStyle/>
              <a:p>
                <a:pPr algn="ctr"/>
                <a:r>
                  <a:rPr lang="en-US" b="1" dirty="0">
                    <a:solidFill>
                      <a:schemeClr val="accent5">
                        <a:lumMod val="75000"/>
                      </a:schemeClr>
                    </a:solidFill>
                    <a:latin typeface="Helvetica" pitchFamily="2" charset="0"/>
                    <a:cs typeface="Times New Roman" panose="02020603050405020304" pitchFamily="18" charset="0"/>
                  </a:rPr>
                  <a:t>Total Equity</a:t>
                </a:r>
                <a:endParaRPr lang="en-US" b="1" dirty="0">
                  <a:solidFill>
                    <a:schemeClr val="accent5">
                      <a:lumMod val="75000"/>
                    </a:schemeClr>
                  </a:solidFill>
                </a:endParaRPr>
              </a:p>
            </p:txBody>
          </p:sp>
          <p:cxnSp>
            <p:nvCxnSpPr>
              <p:cNvPr id="40" name="Straight Connector 39">
                <a:extLst>
                  <a:ext uri="{FF2B5EF4-FFF2-40B4-BE49-F238E27FC236}">
                    <a16:creationId xmlns:a16="http://schemas.microsoft.com/office/drawing/2014/main" id="{91AFA3F1-A1AF-93F3-5758-894A2B7ACE14}"/>
                  </a:ext>
                </a:extLst>
              </p:cNvPr>
              <p:cNvCxnSpPr>
                <a:cxnSpLocks/>
              </p:cNvCxnSpPr>
              <p:nvPr/>
            </p:nvCxnSpPr>
            <p:spPr>
              <a:xfrm>
                <a:off x="4156007" y="3535273"/>
                <a:ext cx="20490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6" name="TextBox 35">
              <a:extLst>
                <a:ext uri="{FF2B5EF4-FFF2-40B4-BE49-F238E27FC236}">
                  <a16:creationId xmlns:a16="http://schemas.microsoft.com/office/drawing/2014/main" id="{42DF3E07-20D2-2709-D3A1-60CD99F2FA20}"/>
                </a:ext>
              </a:extLst>
            </p:cNvPr>
            <p:cNvSpPr txBox="1"/>
            <p:nvPr/>
          </p:nvSpPr>
          <p:spPr>
            <a:xfrm>
              <a:off x="4404195" y="2643259"/>
              <a:ext cx="297455" cy="369332"/>
            </a:xfrm>
            <a:prstGeom prst="rect">
              <a:avLst/>
            </a:prstGeom>
            <a:noFill/>
          </p:spPr>
          <p:txBody>
            <a:bodyPr wrap="square" rtlCol="0">
              <a:spAutoFit/>
            </a:bodyPr>
            <a:lstStyle/>
            <a:p>
              <a:r>
                <a:rPr lang="en-US" b="1" dirty="0">
                  <a:solidFill>
                    <a:schemeClr val="accent5">
                      <a:lumMod val="75000"/>
                    </a:schemeClr>
                  </a:solidFill>
                </a:rPr>
                <a:t>=</a:t>
              </a:r>
            </a:p>
          </p:txBody>
        </p:sp>
      </p:grpSp>
      <p:sp>
        <p:nvSpPr>
          <p:cNvPr id="41" name="TextBox 40">
            <a:extLst>
              <a:ext uri="{FF2B5EF4-FFF2-40B4-BE49-F238E27FC236}">
                <a16:creationId xmlns:a16="http://schemas.microsoft.com/office/drawing/2014/main" id="{6ECD938B-3AED-BA69-CAB2-27CF42E572BE}"/>
              </a:ext>
            </a:extLst>
          </p:cNvPr>
          <p:cNvSpPr txBox="1">
            <a:spLocks/>
          </p:cNvSpPr>
          <p:nvPr/>
        </p:nvSpPr>
        <p:spPr>
          <a:xfrm>
            <a:off x="338555" y="5872800"/>
            <a:ext cx="1687013" cy="369332"/>
          </a:xfrm>
          <a:prstGeom prst="rect">
            <a:avLst/>
          </a:prstGeom>
          <a:noFill/>
        </p:spPr>
        <p:txBody>
          <a:bodyPr wrap="square" rtlCol="0">
            <a:spAutoFit/>
          </a:bodyPr>
          <a:lstStyle/>
          <a:p>
            <a:pPr algn="ctr"/>
            <a:r>
              <a:rPr lang="en-US" b="1" dirty="0">
                <a:solidFill>
                  <a:srgbClr val="C00000"/>
                </a:solidFill>
                <a:latin typeface="Helvetica" pitchFamily="2" charset="0"/>
                <a:cs typeface="Times New Roman" panose="02020603050405020304" pitchFamily="18" charset="0"/>
              </a:rPr>
              <a:t>ROIC</a:t>
            </a:r>
          </a:p>
        </p:txBody>
      </p:sp>
      <p:grpSp>
        <p:nvGrpSpPr>
          <p:cNvPr id="42" name="Group 41">
            <a:extLst>
              <a:ext uri="{FF2B5EF4-FFF2-40B4-BE49-F238E27FC236}">
                <a16:creationId xmlns:a16="http://schemas.microsoft.com/office/drawing/2014/main" id="{06F13783-E4D8-B52D-CFC1-FF75C455F8B3}"/>
              </a:ext>
            </a:extLst>
          </p:cNvPr>
          <p:cNvGrpSpPr/>
          <p:nvPr/>
        </p:nvGrpSpPr>
        <p:grpSpPr>
          <a:xfrm>
            <a:off x="1942367" y="5704811"/>
            <a:ext cx="2962743" cy="830184"/>
            <a:chOff x="1913083" y="2430651"/>
            <a:chExt cx="2962743" cy="830184"/>
          </a:xfrm>
        </p:grpSpPr>
        <p:grpSp>
          <p:nvGrpSpPr>
            <p:cNvPr id="43" name="Group 42">
              <a:extLst>
                <a:ext uri="{FF2B5EF4-FFF2-40B4-BE49-F238E27FC236}">
                  <a16:creationId xmlns:a16="http://schemas.microsoft.com/office/drawing/2014/main" id="{3D9ADC80-F3D4-B894-8BAF-1E66CF56C9C1}"/>
                </a:ext>
              </a:extLst>
            </p:cNvPr>
            <p:cNvGrpSpPr/>
            <p:nvPr/>
          </p:nvGrpSpPr>
          <p:grpSpPr>
            <a:xfrm>
              <a:off x="1913083" y="2430651"/>
              <a:ext cx="2788567" cy="830184"/>
              <a:chOff x="3791169" y="3137999"/>
              <a:chExt cx="2788567" cy="830184"/>
            </a:xfrm>
          </p:grpSpPr>
          <p:sp>
            <p:nvSpPr>
              <p:cNvPr id="45" name="TextBox 44">
                <a:extLst>
                  <a:ext uri="{FF2B5EF4-FFF2-40B4-BE49-F238E27FC236}">
                    <a16:creationId xmlns:a16="http://schemas.microsoft.com/office/drawing/2014/main" id="{A9587EF8-3AE1-77EE-AF26-6FEB7921F3BF}"/>
                  </a:ext>
                </a:extLst>
              </p:cNvPr>
              <p:cNvSpPr txBox="1"/>
              <p:nvPr/>
            </p:nvSpPr>
            <p:spPr>
              <a:xfrm>
                <a:off x="3791169" y="3321852"/>
                <a:ext cx="297455" cy="369332"/>
              </a:xfrm>
              <a:prstGeom prst="rect">
                <a:avLst/>
              </a:prstGeom>
              <a:noFill/>
            </p:spPr>
            <p:txBody>
              <a:bodyPr wrap="square" rtlCol="0">
                <a:spAutoFit/>
              </a:bodyPr>
              <a:lstStyle/>
              <a:p>
                <a:r>
                  <a:rPr lang="en-US" b="1" dirty="0">
                    <a:solidFill>
                      <a:srgbClr val="C00000"/>
                    </a:solidFill>
                  </a:rPr>
                  <a:t>=</a:t>
                </a:r>
              </a:p>
            </p:txBody>
          </p:sp>
          <p:sp>
            <p:nvSpPr>
              <p:cNvPr id="46" name="TextBox 45">
                <a:extLst>
                  <a:ext uri="{FF2B5EF4-FFF2-40B4-BE49-F238E27FC236}">
                    <a16:creationId xmlns:a16="http://schemas.microsoft.com/office/drawing/2014/main" id="{7AE4B1D6-E164-184F-F782-AB941D703968}"/>
                  </a:ext>
                </a:extLst>
              </p:cNvPr>
              <p:cNvSpPr txBox="1">
                <a:spLocks/>
              </p:cNvSpPr>
              <p:nvPr/>
            </p:nvSpPr>
            <p:spPr>
              <a:xfrm>
                <a:off x="4679764" y="3137999"/>
                <a:ext cx="1274709" cy="369332"/>
              </a:xfrm>
              <a:prstGeom prst="rect">
                <a:avLst/>
              </a:prstGeom>
              <a:noFill/>
            </p:spPr>
            <p:txBody>
              <a:bodyPr wrap="none" rtlCol="0">
                <a:spAutoFit/>
              </a:bodyPr>
              <a:lstStyle/>
              <a:p>
                <a:pPr algn="ctr"/>
                <a:r>
                  <a:rPr lang="en-US" b="1" dirty="0">
                    <a:solidFill>
                      <a:srgbClr val="C00000"/>
                    </a:solidFill>
                    <a:latin typeface="Helvetica" pitchFamily="2" charset="0"/>
                    <a:cs typeface="Times New Roman" panose="02020603050405020304" pitchFamily="18" charset="0"/>
                  </a:rPr>
                  <a:t>EBIT (1-T)</a:t>
                </a:r>
                <a:endParaRPr lang="en-US" b="1" dirty="0">
                  <a:solidFill>
                    <a:srgbClr val="C00000"/>
                  </a:solidFill>
                </a:endParaRPr>
              </a:p>
            </p:txBody>
          </p:sp>
          <p:sp>
            <p:nvSpPr>
              <p:cNvPr id="47" name="TextBox 46">
                <a:extLst>
                  <a:ext uri="{FF2B5EF4-FFF2-40B4-BE49-F238E27FC236}">
                    <a16:creationId xmlns:a16="http://schemas.microsoft.com/office/drawing/2014/main" id="{483563A4-4502-5781-BFF7-D0B7D0D629B4}"/>
                  </a:ext>
                </a:extLst>
              </p:cNvPr>
              <p:cNvSpPr txBox="1">
                <a:spLocks/>
              </p:cNvSpPr>
              <p:nvPr/>
            </p:nvSpPr>
            <p:spPr>
              <a:xfrm>
                <a:off x="4026793" y="3598851"/>
                <a:ext cx="2552943" cy="369332"/>
              </a:xfrm>
              <a:prstGeom prst="rect">
                <a:avLst/>
              </a:prstGeom>
              <a:noFill/>
            </p:spPr>
            <p:txBody>
              <a:bodyPr wrap="none" rtlCol="0">
                <a:spAutoFit/>
              </a:bodyPr>
              <a:lstStyle/>
              <a:p>
                <a:pPr algn="ctr"/>
                <a:r>
                  <a:rPr lang="en-US" b="1" dirty="0">
                    <a:solidFill>
                      <a:srgbClr val="C00000"/>
                    </a:solidFill>
                    <a:latin typeface="Helvetica" pitchFamily="2" charset="0"/>
                    <a:cs typeface="Times New Roman" panose="02020603050405020304" pitchFamily="18" charset="0"/>
                  </a:rPr>
                  <a:t>Total Invested Capital</a:t>
                </a:r>
                <a:endParaRPr lang="en-US" b="1" dirty="0">
                  <a:solidFill>
                    <a:srgbClr val="C00000"/>
                  </a:solidFill>
                </a:endParaRPr>
              </a:p>
            </p:txBody>
          </p:sp>
          <p:cxnSp>
            <p:nvCxnSpPr>
              <p:cNvPr id="48" name="Straight Connector 47">
                <a:extLst>
                  <a:ext uri="{FF2B5EF4-FFF2-40B4-BE49-F238E27FC236}">
                    <a16:creationId xmlns:a16="http://schemas.microsoft.com/office/drawing/2014/main" id="{11B043EC-7EF5-5D4B-4A20-9808E91276DC}"/>
                  </a:ext>
                </a:extLst>
              </p:cNvPr>
              <p:cNvCxnSpPr>
                <a:cxnSpLocks/>
                <a:endCxn id="44" idx="1"/>
              </p:cNvCxnSpPr>
              <p:nvPr/>
            </p:nvCxnSpPr>
            <p:spPr>
              <a:xfrm>
                <a:off x="4156007" y="3535273"/>
                <a:ext cx="230045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4" name="TextBox 43">
              <a:extLst>
                <a:ext uri="{FF2B5EF4-FFF2-40B4-BE49-F238E27FC236}">
                  <a16:creationId xmlns:a16="http://schemas.microsoft.com/office/drawing/2014/main" id="{A47E6A56-39F7-DD71-CD1B-B65C8CB87120}"/>
                </a:ext>
              </a:extLst>
            </p:cNvPr>
            <p:cNvSpPr txBox="1"/>
            <p:nvPr/>
          </p:nvSpPr>
          <p:spPr>
            <a:xfrm>
              <a:off x="4578371" y="2643259"/>
              <a:ext cx="297455" cy="369332"/>
            </a:xfrm>
            <a:prstGeom prst="rect">
              <a:avLst/>
            </a:prstGeom>
            <a:noFill/>
          </p:spPr>
          <p:txBody>
            <a:bodyPr wrap="square" rtlCol="0">
              <a:spAutoFit/>
            </a:bodyPr>
            <a:lstStyle/>
            <a:p>
              <a:r>
                <a:rPr lang="en-US" b="1" dirty="0">
                  <a:solidFill>
                    <a:srgbClr val="C00000"/>
                  </a:solidFill>
                </a:rPr>
                <a:t>=</a:t>
              </a:r>
            </a:p>
          </p:txBody>
        </p:sp>
      </p:grpSp>
      <p:grpSp>
        <p:nvGrpSpPr>
          <p:cNvPr id="49" name="Group 48">
            <a:extLst>
              <a:ext uri="{FF2B5EF4-FFF2-40B4-BE49-F238E27FC236}">
                <a16:creationId xmlns:a16="http://schemas.microsoft.com/office/drawing/2014/main" id="{36F1D8B3-FBDF-AC00-4A45-81386DDEDDDC}"/>
              </a:ext>
            </a:extLst>
          </p:cNvPr>
          <p:cNvGrpSpPr/>
          <p:nvPr/>
        </p:nvGrpSpPr>
        <p:grpSpPr>
          <a:xfrm>
            <a:off x="4778853" y="2614376"/>
            <a:ext cx="2305873" cy="816837"/>
            <a:chOff x="2277921" y="2418431"/>
            <a:chExt cx="2423729" cy="816837"/>
          </a:xfrm>
        </p:grpSpPr>
        <p:grpSp>
          <p:nvGrpSpPr>
            <p:cNvPr id="50" name="Group 49">
              <a:extLst>
                <a:ext uri="{FF2B5EF4-FFF2-40B4-BE49-F238E27FC236}">
                  <a16:creationId xmlns:a16="http://schemas.microsoft.com/office/drawing/2014/main" id="{2698DDAD-F23B-B883-A42E-CE80058A32BC}"/>
                </a:ext>
              </a:extLst>
            </p:cNvPr>
            <p:cNvGrpSpPr/>
            <p:nvPr/>
          </p:nvGrpSpPr>
          <p:grpSpPr>
            <a:xfrm>
              <a:off x="2277921" y="2418431"/>
              <a:ext cx="2049071" cy="816837"/>
              <a:chOff x="4156007" y="3125779"/>
              <a:chExt cx="2049071" cy="816837"/>
            </a:xfrm>
          </p:grpSpPr>
          <p:sp>
            <p:nvSpPr>
              <p:cNvPr id="53" name="TextBox 52">
                <a:extLst>
                  <a:ext uri="{FF2B5EF4-FFF2-40B4-BE49-F238E27FC236}">
                    <a16:creationId xmlns:a16="http://schemas.microsoft.com/office/drawing/2014/main" id="{B8F0E56A-8159-66CA-C305-E3CE043C12CC}"/>
                  </a:ext>
                </a:extLst>
              </p:cNvPr>
              <p:cNvSpPr txBox="1">
                <a:spLocks/>
              </p:cNvSpPr>
              <p:nvPr/>
            </p:nvSpPr>
            <p:spPr>
              <a:xfrm>
                <a:off x="4817416" y="3125779"/>
                <a:ext cx="733284" cy="369332"/>
              </a:xfrm>
              <a:prstGeom prst="rect">
                <a:avLst/>
              </a:prstGeom>
              <a:noFill/>
            </p:spPr>
            <p:txBody>
              <a:bodyPr wrap="none" rtlCol="0">
                <a:spAutoFit/>
              </a:bodyPr>
              <a:lstStyle/>
              <a:p>
                <a:pPr algn="ctr"/>
                <a:r>
                  <a:rPr lang="en-US" b="1" dirty="0">
                    <a:solidFill>
                      <a:srgbClr val="0070C0"/>
                    </a:solidFill>
                    <a:latin typeface="Helvetica" pitchFamily="2" charset="0"/>
                    <a:cs typeface="Times New Roman" panose="02020603050405020304" pitchFamily="18" charset="0"/>
                  </a:rPr>
                  <a:t>$100</a:t>
                </a:r>
                <a:endParaRPr lang="en-US" b="1" dirty="0">
                  <a:solidFill>
                    <a:srgbClr val="0070C0"/>
                  </a:solidFill>
                </a:endParaRPr>
              </a:p>
            </p:txBody>
          </p:sp>
          <p:sp>
            <p:nvSpPr>
              <p:cNvPr id="54" name="TextBox 53">
                <a:extLst>
                  <a:ext uri="{FF2B5EF4-FFF2-40B4-BE49-F238E27FC236}">
                    <a16:creationId xmlns:a16="http://schemas.microsoft.com/office/drawing/2014/main" id="{EFF6DF1E-C9BF-0E13-E310-7A6827AB7341}"/>
                  </a:ext>
                </a:extLst>
              </p:cNvPr>
              <p:cNvSpPr txBox="1">
                <a:spLocks/>
              </p:cNvSpPr>
              <p:nvPr/>
            </p:nvSpPr>
            <p:spPr>
              <a:xfrm>
                <a:off x="4716853" y="3573284"/>
                <a:ext cx="935476" cy="369332"/>
              </a:xfrm>
              <a:prstGeom prst="rect">
                <a:avLst/>
              </a:prstGeom>
              <a:noFill/>
            </p:spPr>
            <p:txBody>
              <a:bodyPr wrap="none" rtlCol="0">
                <a:spAutoFit/>
              </a:bodyPr>
              <a:lstStyle/>
              <a:p>
                <a:pPr algn="ctr"/>
                <a:r>
                  <a:rPr lang="en-US" b="1" dirty="0">
                    <a:solidFill>
                      <a:srgbClr val="0070C0"/>
                    </a:solidFill>
                    <a:latin typeface="Helvetica" pitchFamily="2" charset="0"/>
                    <a:cs typeface="Times New Roman" panose="02020603050405020304" pitchFamily="18" charset="0"/>
                  </a:rPr>
                  <a:t>$2,000</a:t>
                </a:r>
                <a:endParaRPr lang="en-US" b="1" dirty="0">
                  <a:solidFill>
                    <a:srgbClr val="0070C0"/>
                  </a:solidFill>
                </a:endParaRPr>
              </a:p>
            </p:txBody>
          </p:sp>
          <p:cxnSp>
            <p:nvCxnSpPr>
              <p:cNvPr id="55" name="Straight Connector 54">
                <a:extLst>
                  <a:ext uri="{FF2B5EF4-FFF2-40B4-BE49-F238E27FC236}">
                    <a16:creationId xmlns:a16="http://schemas.microsoft.com/office/drawing/2014/main" id="{586A89B7-53C8-380B-EAF9-425F7A47C764}"/>
                  </a:ext>
                </a:extLst>
              </p:cNvPr>
              <p:cNvCxnSpPr>
                <a:cxnSpLocks/>
              </p:cNvCxnSpPr>
              <p:nvPr/>
            </p:nvCxnSpPr>
            <p:spPr>
              <a:xfrm>
                <a:off x="4156007" y="3535273"/>
                <a:ext cx="20490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51" name="TextBox 50">
              <a:extLst>
                <a:ext uri="{FF2B5EF4-FFF2-40B4-BE49-F238E27FC236}">
                  <a16:creationId xmlns:a16="http://schemas.microsoft.com/office/drawing/2014/main" id="{07807038-AD5A-F3E3-DEDC-C11623FDF543}"/>
                </a:ext>
              </a:extLst>
            </p:cNvPr>
            <p:cNvSpPr txBox="1"/>
            <p:nvPr/>
          </p:nvSpPr>
          <p:spPr>
            <a:xfrm>
              <a:off x="4404195" y="2643259"/>
              <a:ext cx="297455" cy="369332"/>
            </a:xfrm>
            <a:prstGeom prst="rect">
              <a:avLst/>
            </a:prstGeom>
            <a:noFill/>
          </p:spPr>
          <p:txBody>
            <a:bodyPr wrap="square" rtlCol="0">
              <a:spAutoFit/>
            </a:bodyPr>
            <a:lstStyle/>
            <a:p>
              <a:r>
                <a:rPr lang="en-US" b="1" dirty="0">
                  <a:solidFill>
                    <a:srgbClr val="0070C0"/>
                  </a:solidFill>
                </a:rPr>
                <a:t>=</a:t>
              </a:r>
            </a:p>
          </p:txBody>
        </p:sp>
      </p:grpSp>
      <p:grpSp>
        <p:nvGrpSpPr>
          <p:cNvPr id="56" name="Group 55">
            <a:extLst>
              <a:ext uri="{FF2B5EF4-FFF2-40B4-BE49-F238E27FC236}">
                <a16:creationId xmlns:a16="http://schemas.microsoft.com/office/drawing/2014/main" id="{07ABEFF4-9AA3-1F2B-2C92-667CA5902923}"/>
              </a:ext>
            </a:extLst>
          </p:cNvPr>
          <p:cNvGrpSpPr/>
          <p:nvPr/>
        </p:nvGrpSpPr>
        <p:grpSpPr>
          <a:xfrm>
            <a:off x="4778853" y="3581102"/>
            <a:ext cx="2305873" cy="816837"/>
            <a:chOff x="2277921" y="2418431"/>
            <a:chExt cx="2423729" cy="816837"/>
          </a:xfrm>
        </p:grpSpPr>
        <p:grpSp>
          <p:nvGrpSpPr>
            <p:cNvPr id="57" name="Group 56">
              <a:extLst>
                <a:ext uri="{FF2B5EF4-FFF2-40B4-BE49-F238E27FC236}">
                  <a16:creationId xmlns:a16="http://schemas.microsoft.com/office/drawing/2014/main" id="{BF00F881-D3B9-ED6E-54E7-80099D6B0E21}"/>
                </a:ext>
              </a:extLst>
            </p:cNvPr>
            <p:cNvGrpSpPr/>
            <p:nvPr/>
          </p:nvGrpSpPr>
          <p:grpSpPr>
            <a:xfrm>
              <a:off x="2277921" y="2418431"/>
              <a:ext cx="2049071" cy="816837"/>
              <a:chOff x="4156007" y="3125779"/>
              <a:chExt cx="2049071" cy="816837"/>
            </a:xfrm>
          </p:grpSpPr>
          <p:sp>
            <p:nvSpPr>
              <p:cNvPr id="59" name="TextBox 58">
                <a:extLst>
                  <a:ext uri="{FF2B5EF4-FFF2-40B4-BE49-F238E27FC236}">
                    <a16:creationId xmlns:a16="http://schemas.microsoft.com/office/drawing/2014/main" id="{2B4F4439-4BB5-3D98-BAE3-16ED6198703A}"/>
                  </a:ext>
                </a:extLst>
              </p:cNvPr>
              <p:cNvSpPr txBox="1">
                <a:spLocks/>
              </p:cNvSpPr>
              <p:nvPr/>
            </p:nvSpPr>
            <p:spPr>
              <a:xfrm>
                <a:off x="4817416" y="3125779"/>
                <a:ext cx="733284" cy="369332"/>
              </a:xfrm>
              <a:prstGeom prst="rect">
                <a:avLst/>
              </a:prstGeom>
              <a:noFill/>
            </p:spPr>
            <p:txBody>
              <a:bodyPr wrap="none" rtlCol="0">
                <a:spAutoFit/>
              </a:bodyPr>
              <a:lstStyle/>
              <a:p>
                <a:pPr algn="ctr"/>
                <a:r>
                  <a:rPr lang="en-US" b="1" dirty="0">
                    <a:solidFill>
                      <a:schemeClr val="accent6">
                        <a:lumMod val="75000"/>
                      </a:schemeClr>
                    </a:solidFill>
                    <a:latin typeface="Helvetica" pitchFamily="2" charset="0"/>
                    <a:cs typeface="Times New Roman" panose="02020603050405020304" pitchFamily="18" charset="0"/>
                  </a:rPr>
                  <a:t>$100</a:t>
                </a:r>
                <a:endParaRPr lang="en-US" b="1" dirty="0">
                  <a:solidFill>
                    <a:schemeClr val="accent6">
                      <a:lumMod val="75000"/>
                    </a:schemeClr>
                  </a:solidFill>
                </a:endParaRPr>
              </a:p>
            </p:txBody>
          </p:sp>
          <p:sp>
            <p:nvSpPr>
              <p:cNvPr id="60" name="TextBox 59">
                <a:extLst>
                  <a:ext uri="{FF2B5EF4-FFF2-40B4-BE49-F238E27FC236}">
                    <a16:creationId xmlns:a16="http://schemas.microsoft.com/office/drawing/2014/main" id="{248914FB-9E86-9667-A465-8E5ACDA76055}"/>
                  </a:ext>
                </a:extLst>
              </p:cNvPr>
              <p:cNvSpPr txBox="1">
                <a:spLocks/>
              </p:cNvSpPr>
              <p:nvPr/>
            </p:nvSpPr>
            <p:spPr>
              <a:xfrm>
                <a:off x="4716853" y="3573284"/>
                <a:ext cx="935475" cy="369332"/>
              </a:xfrm>
              <a:prstGeom prst="rect">
                <a:avLst/>
              </a:prstGeom>
              <a:noFill/>
            </p:spPr>
            <p:txBody>
              <a:bodyPr wrap="none" rtlCol="0">
                <a:spAutoFit/>
              </a:bodyPr>
              <a:lstStyle/>
              <a:p>
                <a:pPr algn="ctr"/>
                <a:r>
                  <a:rPr lang="en-US" b="1" dirty="0">
                    <a:solidFill>
                      <a:schemeClr val="accent6">
                        <a:lumMod val="75000"/>
                      </a:schemeClr>
                    </a:solidFill>
                    <a:latin typeface="Helvetica" pitchFamily="2" charset="0"/>
                    <a:cs typeface="Times New Roman" panose="02020603050405020304" pitchFamily="18" charset="0"/>
                  </a:rPr>
                  <a:t>$1,000</a:t>
                </a:r>
                <a:endParaRPr lang="en-US" b="1" dirty="0">
                  <a:solidFill>
                    <a:schemeClr val="accent6">
                      <a:lumMod val="75000"/>
                    </a:schemeClr>
                  </a:solidFill>
                </a:endParaRPr>
              </a:p>
            </p:txBody>
          </p:sp>
          <p:cxnSp>
            <p:nvCxnSpPr>
              <p:cNvPr id="61" name="Straight Connector 60">
                <a:extLst>
                  <a:ext uri="{FF2B5EF4-FFF2-40B4-BE49-F238E27FC236}">
                    <a16:creationId xmlns:a16="http://schemas.microsoft.com/office/drawing/2014/main" id="{0426C4E9-9A7F-DC64-786C-C351D3EFE556}"/>
                  </a:ext>
                </a:extLst>
              </p:cNvPr>
              <p:cNvCxnSpPr>
                <a:cxnSpLocks/>
              </p:cNvCxnSpPr>
              <p:nvPr/>
            </p:nvCxnSpPr>
            <p:spPr>
              <a:xfrm>
                <a:off x="4156007" y="3535273"/>
                <a:ext cx="20490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58" name="TextBox 57">
              <a:extLst>
                <a:ext uri="{FF2B5EF4-FFF2-40B4-BE49-F238E27FC236}">
                  <a16:creationId xmlns:a16="http://schemas.microsoft.com/office/drawing/2014/main" id="{DBCB1031-361F-953C-B2C5-3808C7BC0B14}"/>
                </a:ext>
              </a:extLst>
            </p:cNvPr>
            <p:cNvSpPr txBox="1"/>
            <p:nvPr/>
          </p:nvSpPr>
          <p:spPr>
            <a:xfrm>
              <a:off x="4404195" y="2643259"/>
              <a:ext cx="297455" cy="369332"/>
            </a:xfrm>
            <a:prstGeom prst="rect">
              <a:avLst/>
            </a:prstGeom>
            <a:noFill/>
          </p:spPr>
          <p:txBody>
            <a:bodyPr wrap="square" rtlCol="0">
              <a:spAutoFit/>
            </a:bodyPr>
            <a:lstStyle/>
            <a:p>
              <a:r>
                <a:rPr lang="en-US" b="1" dirty="0">
                  <a:solidFill>
                    <a:schemeClr val="accent6">
                      <a:lumMod val="75000"/>
                    </a:schemeClr>
                  </a:solidFill>
                </a:rPr>
                <a:t>=</a:t>
              </a:r>
            </a:p>
          </p:txBody>
        </p:sp>
      </p:grpSp>
      <p:grpSp>
        <p:nvGrpSpPr>
          <p:cNvPr id="62" name="Group 61">
            <a:extLst>
              <a:ext uri="{FF2B5EF4-FFF2-40B4-BE49-F238E27FC236}">
                <a16:creationId xmlns:a16="http://schemas.microsoft.com/office/drawing/2014/main" id="{C0CC99D9-5EFA-7A64-3B9E-7AE53F147924}"/>
              </a:ext>
            </a:extLst>
          </p:cNvPr>
          <p:cNvGrpSpPr/>
          <p:nvPr/>
        </p:nvGrpSpPr>
        <p:grpSpPr>
          <a:xfrm>
            <a:off x="4767967" y="4644977"/>
            <a:ext cx="2305873" cy="816837"/>
            <a:chOff x="2277921" y="2418431"/>
            <a:chExt cx="2423729" cy="816837"/>
          </a:xfrm>
        </p:grpSpPr>
        <p:grpSp>
          <p:nvGrpSpPr>
            <p:cNvPr id="63" name="Group 62">
              <a:extLst>
                <a:ext uri="{FF2B5EF4-FFF2-40B4-BE49-F238E27FC236}">
                  <a16:creationId xmlns:a16="http://schemas.microsoft.com/office/drawing/2014/main" id="{33F30935-2AE8-A3D8-CCA9-9CDB438052DB}"/>
                </a:ext>
              </a:extLst>
            </p:cNvPr>
            <p:cNvGrpSpPr/>
            <p:nvPr/>
          </p:nvGrpSpPr>
          <p:grpSpPr>
            <a:xfrm>
              <a:off x="2277921" y="2418431"/>
              <a:ext cx="2049071" cy="816837"/>
              <a:chOff x="4156007" y="3125779"/>
              <a:chExt cx="2049071" cy="816837"/>
            </a:xfrm>
          </p:grpSpPr>
          <p:sp>
            <p:nvSpPr>
              <p:cNvPr id="65" name="TextBox 64">
                <a:extLst>
                  <a:ext uri="{FF2B5EF4-FFF2-40B4-BE49-F238E27FC236}">
                    <a16:creationId xmlns:a16="http://schemas.microsoft.com/office/drawing/2014/main" id="{6F11FCA3-4EF0-8971-283E-EC342D2254B2}"/>
                  </a:ext>
                </a:extLst>
              </p:cNvPr>
              <p:cNvSpPr txBox="1">
                <a:spLocks/>
              </p:cNvSpPr>
              <p:nvPr/>
            </p:nvSpPr>
            <p:spPr>
              <a:xfrm>
                <a:off x="4817416" y="3125779"/>
                <a:ext cx="733284" cy="369332"/>
              </a:xfrm>
              <a:prstGeom prst="rect">
                <a:avLst/>
              </a:prstGeom>
              <a:noFill/>
            </p:spPr>
            <p:txBody>
              <a:bodyPr wrap="none" rtlCol="0">
                <a:spAutoFit/>
              </a:bodyPr>
              <a:lstStyle/>
              <a:p>
                <a:pPr algn="ctr"/>
                <a:r>
                  <a:rPr lang="en-US" b="1" dirty="0">
                    <a:solidFill>
                      <a:schemeClr val="accent5">
                        <a:lumMod val="75000"/>
                      </a:schemeClr>
                    </a:solidFill>
                    <a:latin typeface="Helvetica" pitchFamily="2" charset="0"/>
                    <a:cs typeface="Times New Roman" panose="02020603050405020304" pitchFamily="18" charset="0"/>
                  </a:rPr>
                  <a:t>$100</a:t>
                </a:r>
                <a:endParaRPr lang="en-US" b="1" dirty="0">
                  <a:solidFill>
                    <a:schemeClr val="accent5">
                      <a:lumMod val="75000"/>
                    </a:schemeClr>
                  </a:solidFill>
                </a:endParaRPr>
              </a:p>
            </p:txBody>
          </p:sp>
          <p:sp>
            <p:nvSpPr>
              <p:cNvPr id="66" name="TextBox 65">
                <a:extLst>
                  <a:ext uri="{FF2B5EF4-FFF2-40B4-BE49-F238E27FC236}">
                    <a16:creationId xmlns:a16="http://schemas.microsoft.com/office/drawing/2014/main" id="{850128C6-CE3D-9271-577E-A69DFDC7F98C}"/>
                  </a:ext>
                </a:extLst>
              </p:cNvPr>
              <p:cNvSpPr txBox="1">
                <a:spLocks/>
              </p:cNvSpPr>
              <p:nvPr/>
            </p:nvSpPr>
            <p:spPr>
              <a:xfrm>
                <a:off x="4817949" y="3573284"/>
                <a:ext cx="733284" cy="369332"/>
              </a:xfrm>
              <a:prstGeom prst="rect">
                <a:avLst/>
              </a:prstGeom>
              <a:noFill/>
            </p:spPr>
            <p:txBody>
              <a:bodyPr wrap="none" rtlCol="0">
                <a:spAutoFit/>
              </a:bodyPr>
              <a:lstStyle/>
              <a:p>
                <a:pPr algn="ctr"/>
                <a:r>
                  <a:rPr lang="en-US" b="1" dirty="0">
                    <a:solidFill>
                      <a:schemeClr val="accent5">
                        <a:lumMod val="75000"/>
                      </a:schemeClr>
                    </a:solidFill>
                    <a:latin typeface="Helvetica" pitchFamily="2" charset="0"/>
                    <a:cs typeface="Times New Roman" panose="02020603050405020304" pitchFamily="18" charset="0"/>
                  </a:rPr>
                  <a:t>$500</a:t>
                </a:r>
                <a:endParaRPr lang="en-US" b="1" dirty="0">
                  <a:solidFill>
                    <a:schemeClr val="accent5">
                      <a:lumMod val="75000"/>
                    </a:schemeClr>
                  </a:solidFill>
                </a:endParaRPr>
              </a:p>
            </p:txBody>
          </p:sp>
          <p:cxnSp>
            <p:nvCxnSpPr>
              <p:cNvPr id="67" name="Straight Connector 66">
                <a:extLst>
                  <a:ext uri="{FF2B5EF4-FFF2-40B4-BE49-F238E27FC236}">
                    <a16:creationId xmlns:a16="http://schemas.microsoft.com/office/drawing/2014/main" id="{C84C341E-4499-8D0E-1912-EA5FFD9AB008}"/>
                  </a:ext>
                </a:extLst>
              </p:cNvPr>
              <p:cNvCxnSpPr>
                <a:cxnSpLocks/>
              </p:cNvCxnSpPr>
              <p:nvPr/>
            </p:nvCxnSpPr>
            <p:spPr>
              <a:xfrm>
                <a:off x="4156007" y="3535273"/>
                <a:ext cx="20490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4" name="TextBox 63">
              <a:extLst>
                <a:ext uri="{FF2B5EF4-FFF2-40B4-BE49-F238E27FC236}">
                  <a16:creationId xmlns:a16="http://schemas.microsoft.com/office/drawing/2014/main" id="{FA962257-3AE5-0ED3-FD29-33594B561AD6}"/>
                </a:ext>
              </a:extLst>
            </p:cNvPr>
            <p:cNvSpPr txBox="1"/>
            <p:nvPr/>
          </p:nvSpPr>
          <p:spPr>
            <a:xfrm>
              <a:off x="4404195" y="2643259"/>
              <a:ext cx="297455" cy="369332"/>
            </a:xfrm>
            <a:prstGeom prst="rect">
              <a:avLst/>
            </a:prstGeom>
            <a:noFill/>
          </p:spPr>
          <p:txBody>
            <a:bodyPr wrap="square" rtlCol="0">
              <a:spAutoFit/>
            </a:bodyPr>
            <a:lstStyle/>
            <a:p>
              <a:r>
                <a:rPr lang="en-US" b="1" dirty="0">
                  <a:solidFill>
                    <a:schemeClr val="accent5">
                      <a:lumMod val="75000"/>
                    </a:schemeClr>
                  </a:solidFill>
                </a:rPr>
                <a:t>=</a:t>
              </a:r>
            </a:p>
          </p:txBody>
        </p:sp>
      </p:grpSp>
      <p:grpSp>
        <p:nvGrpSpPr>
          <p:cNvPr id="68" name="Group 67">
            <a:extLst>
              <a:ext uri="{FF2B5EF4-FFF2-40B4-BE49-F238E27FC236}">
                <a16:creationId xmlns:a16="http://schemas.microsoft.com/office/drawing/2014/main" id="{31D53AE8-7D3B-7562-8A60-CF61ACFFA789}"/>
              </a:ext>
            </a:extLst>
          </p:cNvPr>
          <p:cNvGrpSpPr/>
          <p:nvPr/>
        </p:nvGrpSpPr>
        <p:grpSpPr>
          <a:xfrm>
            <a:off x="5029231" y="5692591"/>
            <a:ext cx="2305873" cy="816837"/>
            <a:chOff x="2277921" y="2418431"/>
            <a:chExt cx="2423729" cy="816837"/>
          </a:xfrm>
        </p:grpSpPr>
        <p:grpSp>
          <p:nvGrpSpPr>
            <p:cNvPr id="69" name="Group 68">
              <a:extLst>
                <a:ext uri="{FF2B5EF4-FFF2-40B4-BE49-F238E27FC236}">
                  <a16:creationId xmlns:a16="http://schemas.microsoft.com/office/drawing/2014/main" id="{E316C803-B6A3-CE7B-F022-07F9D72132DA}"/>
                </a:ext>
              </a:extLst>
            </p:cNvPr>
            <p:cNvGrpSpPr/>
            <p:nvPr/>
          </p:nvGrpSpPr>
          <p:grpSpPr>
            <a:xfrm>
              <a:off x="2277921" y="2418431"/>
              <a:ext cx="2049071" cy="816837"/>
              <a:chOff x="4156007" y="3125779"/>
              <a:chExt cx="2049071" cy="816837"/>
            </a:xfrm>
          </p:grpSpPr>
          <p:sp>
            <p:nvSpPr>
              <p:cNvPr id="71" name="TextBox 70">
                <a:extLst>
                  <a:ext uri="{FF2B5EF4-FFF2-40B4-BE49-F238E27FC236}">
                    <a16:creationId xmlns:a16="http://schemas.microsoft.com/office/drawing/2014/main" id="{88BFA28F-81F3-9767-3402-97DBB848DFD3}"/>
                  </a:ext>
                </a:extLst>
              </p:cNvPr>
              <p:cNvSpPr txBox="1">
                <a:spLocks/>
              </p:cNvSpPr>
              <p:nvPr/>
            </p:nvSpPr>
            <p:spPr>
              <a:xfrm>
                <a:off x="4291718" y="3125779"/>
                <a:ext cx="1784684" cy="369332"/>
              </a:xfrm>
              <a:prstGeom prst="rect">
                <a:avLst/>
              </a:prstGeom>
              <a:noFill/>
            </p:spPr>
            <p:txBody>
              <a:bodyPr wrap="none" rtlCol="0">
                <a:spAutoFit/>
              </a:bodyPr>
              <a:lstStyle/>
              <a:p>
                <a:pPr algn="ctr"/>
                <a:r>
                  <a:rPr lang="en-US" b="1" dirty="0">
                    <a:solidFill>
                      <a:srgbClr val="C00000"/>
                    </a:solidFill>
                    <a:latin typeface="Helvetica" pitchFamily="2" charset="0"/>
                    <a:cs typeface="Times New Roman" panose="02020603050405020304" pitchFamily="18" charset="0"/>
                  </a:rPr>
                  <a:t>$200 (1 - 0.25)</a:t>
                </a:r>
                <a:endParaRPr lang="en-US" b="1" dirty="0">
                  <a:solidFill>
                    <a:srgbClr val="C00000"/>
                  </a:solidFill>
                </a:endParaRPr>
              </a:p>
            </p:txBody>
          </p:sp>
          <p:sp>
            <p:nvSpPr>
              <p:cNvPr id="72" name="TextBox 71">
                <a:extLst>
                  <a:ext uri="{FF2B5EF4-FFF2-40B4-BE49-F238E27FC236}">
                    <a16:creationId xmlns:a16="http://schemas.microsoft.com/office/drawing/2014/main" id="{38FA56CB-6273-75E7-9355-747646A4AEB5}"/>
                  </a:ext>
                </a:extLst>
              </p:cNvPr>
              <p:cNvSpPr txBox="1">
                <a:spLocks/>
              </p:cNvSpPr>
              <p:nvPr/>
            </p:nvSpPr>
            <p:spPr>
              <a:xfrm>
                <a:off x="4716853" y="3573284"/>
                <a:ext cx="935475" cy="369332"/>
              </a:xfrm>
              <a:prstGeom prst="rect">
                <a:avLst/>
              </a:prstGeom>
              <a:noFill/>
            </p:spPr>
            <p:txBody>
              <a:bodyPr wrap="none" rtlCol="0">
                <a:spAutoFit/>
              </a:bodyPr>
              <a:lstStyle/>
              <a:p>
                <a:pPr algn="ctr"/>
                <a:r>
                  <a:rPr lang="en-US" b="1" dirty="0">
                    <a:solidFill>
                      <a:srgbClr val="C00000"/>
                    </a:solidFill>
                    <a:latin typeface="Helvetica" pitchFamily="2" charset="0"/>
                    <a:cs typeface="Times New Roman" panose="02020603050405020304" pitchFamily="18" charset="0"/>
                  </a:rPr>
                  <a:t>$1,000</a:t>
                </a:r>
                <a:endParaRPr lang="en-US" b="1" dirty="0">
                  <a:solidFill>
                    <a:srgbClr val="C00000"/>
                  </a:solidFill>
                </a:endParaRPr>
              </a:p>
            </p:txBody>
          </p:sp>
          <p:cxnSp>
            <p:nvCxnSpPr>
              <p:cNvPr id="73" name="Straight Connector 72">
                <a:extLst>
                  <a:ext uri="{FF2B5EF4-FFF2-40B4-BE49-F238E27FC236}">
                    <a16:creationId xmlns:a16="http://schemas.microsoft.com/office/drawing/2014/main" id="{3AA2A761-14B7-317E-C97B-A4BB6AE27CD5}"/>
                  </a:ext>
                </a:extLst>
              </p:cNvPr>
              <p:cNvCxnSpPr>
                <a:cxnSpLocks/>
              </p:cNvCxnSpPr>
              <p:nvPr/>
            </p:nvCxnSpPr>
            <p:spPr>
              <a:xfrm>
                <a:off x="4156007" y="3535273"/>
                <a:ext cx="20490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70" name="TextBox 69">
              <a:extLst>
                <a:ext uri="{FF2B5EF4-FFF2-40B4-BE49-F238E27FC236}">
                  <a16:creationId xmlns:a16="http://schemas.microsoft.com/office/drawing/2014/main" id="{18CE6CF5-B49A-B771-3737-D5F15421FF11}"/>
                </a:ext>
              </a:extLst>
            </p:cNvPr>
            <p:cNvSpPr txBox="1"/>
            <p:nvPr/>
          </p:nvSpPr>
          <p:spPr>
            <a:xfrm>
              <a:off x="4404195" y="2643259"/>
              <a:ext cx="297455" cy="369332"/>
            </a:xfrm>
            <a:prstGeom prst="rect">
              <a:avLst/>
            </a:prstGeom>
            <a:noFill/>
          </p:spPr>
          <p:txBody>
            <a:bodyPr wrap="square" rtlCol="0">
              <a:spAutoFit/>
            </a:bodyPr>
            <a:lstStyle/>
            <a:p>
              <a:r>
                <a:rPr lang="en-US" b="1" dirty="0">
                  <a:solidFill>
                    <a:srgbClr val="C00000"/>
                  </a:solidFill>
                </a:rPr>
                <a:t>=</a:t>
              </a:r>
            </a:p>
          </p:txBody>
        </p:sp>
      </p:grpSp>
      <p:sp>
        <p:nvSpPr>
          <p:cNvPr id="75" name="TextBox 74">
            <a:extLst>
              <a:ext uri="{FF2B5EF4-FFF2-40B4-BE49-F238E27FC236}">
                <a16:creationId xmlns:a16="http://schemas.microsoft.com/office/drawing/2014/main" id="{78FF51A8-BFCC-534F-6A37-B20DB88BA089}"/>
              </a:ext>
            </a:extLst>
          </p:cNvPr>
          <p:cNvSpPr txBox="1"/>
          <p:nvPr/>
        </p:nvSpPr>
        <p:spPr>
          <a:xfrm>
            <a:off x="7162109" y="2777791"/>
            <a:ext cx="1579278" cy="461665"/>
          </a:xfrm>
          <a:prstGeom prst="rect">
            <a:avLst/>
          </a:prstGeom>
          <a:noFill/>
        </p:spPr>
        <p:txBody>
          <a:bodyPr wrap="none" rtlCol="0">
            <a:spAutoFit/>
          </a:bodyPr>
          <a:lstStyle/>
          <a:p>
            <a:r>
              <a:rPr lang="en-US" sz="2400" b="1" dirty="0">
                <a:solidFill>
                  <a:srgbClr val="0070C0"/>
                </a:solidFill>
                <a:latin typeface="Helvetica" pitchFamily="2" charset="0"/>
              </a:rPr>
              <a:t>0.05 = 5%</a:t>
            </a:r>
          </a:p>
        </p:txBody>
      </p:sp>
      <p:sp>
        <p:nvSpPr>
          <p:cNvPr id="76" name="TextBox 75">
            <a:extLst>
              <a:ext uri="{FF2B5EF4-FFF2-40B4-BE49-F238E27FC236}">
                <a16:creationId xmlns:a16="http://schemas.microsoft.com/office/drawing/2014/main" id="{792F4BA0-7A60-0BEB-4764-E2B34593515B}"/>
              </a:ext>
            </a:extLst>
          </p:cNvPr>
          <p:cNvSpPr txBox="1"/>
          <p:nvPr/>
        </p:nvSpPr>
        <p:spPr>
          <a:xfrm>
            <a:off x="7158175" y="3773487"/>
            <a:ext cx="1750800" cy="461665"/>
          </a:xfrm>
          <a:prstGeom prst="rect">
            <a:avLst/>
          </a:prstGeom>
          <a:noFill/>
        </p:spPr>
        <p:txBody>
          <a:bodyPr wrap="none" rtlCol="0">
            <a:spAutoFit/>
          </a:bodyPr>
          <a:lstStyle/>
          <a:p>
            <a:r>
              <a:rPr lang="en-US" sz="2400" b="1" dirty="0">
                <a:solidFill>
                  <a:schemeClr val="accent6">
                    <a:lumMod val="75000"/>
                  </a:schemeClr>
                </a:solidFill>
                <a:latin typeface="Helvetica" pitchFamily="2" charset="0"/>
              </a:rPr>
              <a:t>0.10 = 10%</a:t>
            </a:r>
          </a:p>
        </p:txBody>
      </p:sp>
      <p:sp>
        <p:nvSpPr>
          <p:cNvPr id="77" name="TextBox 76">
            <a:extLst>
              <a:ext uri="{FF2B5EF4-FFF2-40B4-BE49-F238E27FC236}">
                <a16:creationId xmlns:a16="http://schemas.microsoft.com/office/drawing/2014/main" id="{689EED6D-2C3B-0320-F9CC-44F740860105}"/>
              </a:ext>
            </a:extLst>
          </p:cNvPr>
          <p:cNvSpPr txBox="1"/>
          <p:nvPr/>
        </p:nvSpPr>
        <p:spPr>
          <a:xfrm>
            <a:off x="7158175" y="4822563"/>
            <a:ext cx="1750800" cy="461665"/>
          </a:xfrm>
          <a:prstGeom prst="rect">
            <a:avLst/>
          </a:prstGeom>
          <a:noFill/>
        </p:spPr>
        <p:txBody>
          <a:bodyPr wrap="none" rtlCol="0">
            <a:spAutoFit/>
          </a:bodyPr>
          <a:lstStyle/>
          <a:p>
            <a:r>
              <a:rPr lang="en-US" sz="2400" b="1" dirty="0">
                <a:solidFill>
                  <a:schemeClr val="accent5">
                    <a:lumMod val="75000"/>
                  </a:schemeClr>
                </a:solidFill>
                <a:latin typeface="Helvetica" pitchFamily="2" charset="0"/>
              </a:rPr>
              <a:t>0.20 = 20%</a:t>
            </a:r>
          </a:p>
        </p:txBody>
      </p:sp>
      <p:sp>
        <p:nvSpPr>
          <p:cNvPr id="78" name="TextBox 77">
            <a:extLst>
              <a:ext uri="{FF2B5EF4-FFF2-40B4-BE49-F238E27FC236}">
                <a16:creationId xmlns:a16="http://schemas.microsoft.com/office/drawing/2014/main" id="{55CB056F-6F3C-B74E-CD99-F3CACC89DDC7}"/>
              </a:ext>
            </a:extLst>
          </p:cNvPr>
          <p:cNvSpPr txBox="1"/>
          <p:nvPr/>
        </p:nvSpPr>
        <p:spPr>
          <a:xfrm>
            <a:off x="7345660" y="5842497"/>
            <a:ext cx="1750800" cy="461665"/>
          </a:xfrm>
          <a:prstGeom prst="rect">
            <a:avLst/>
          </a:prstGeom>
          <a:noFill/>
        </p:spPr>
        <p:txBody>
          <a:bodyPr wrap="none" rtlCol="0">
            <a:spAutoFit/>
          </a:bodyPr>
          <a:lstStyle/>
          <a:p>
            <a:r>
              <a:rPr lang="en-US" sz="2400" b="1" dirty="0">
                <a:solidFill>
                  <a:srgbClr val="C00000"/>
                </a:solidFill>
                <a:latin typeface="Helvetica" pitchFamily="2" charset="0"/>
              </a:rPr>
              <a:t>0.15 = 15%</a:t>
            </a:r>
          </a:p>
        </p:txBody>
      </p:sp>
    </p:spTree>
    <p:extLst>
      <p:ext uri="{BB962C8B-B14F-4D97-AF65-F5344CB8AC3E}">
        <p14:creationId xmlns:p14="http://schemas.microsoft.com/office/powerpoint/2010/main" val="376978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7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6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1" grpId="0"/>
      <p:bldP spid="25" grpId="0"/>
      <p:bldP spid="33" grpId="0"/>
      <p:bldP spid="41" grpId="0"/>
      <p:bldP spid="75" grpId="0"/>
      <p:bldP spid="76" grpId="0"/>
      <p:bldP spid="77" grpId="0"/>
      <p:bldP spid="7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C2613-5AC1-AF54-8829-753F0A40812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100C148-7EB1-E54D-AE7C-2128254D41AB}"/>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5B4032-2548-39DA-9613-2B85271E9D16}"/>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5- Market Value Ratios</a:t>
            </a:r>
          </a:p>
        </p:txBody>
      </p:sp>
      <p:sp>
        <p:nvSpPr>
          <p:cNvPr id="5" name="TextBox 4">
            <a:extLst>
              <a:ext uri="{FF2B5EF4-FFF2-40B4-BE49-F238E27FC236}">
                <a16:creationId xmlns:a16="http://schemas.microsoft.com/office/drawing/2014/main" id="{1A2FBFAB-17AB-1513-5863-51961FF1C4DF}"/>
              </a:ext>
            </a:extLst>
          </p:cNvPr>
          <p:cNvSpPr txBox="1"/>
          <p:nvPr/>
        </p:nvSpPr>
        <p:spPr>
          <a:xfrm>
            <a:off x="239486" y="1558858"/>
            <a:ext cx="11843657" cy="1723549"/>
          </a:xfrm>
          <a:prstGeom prst="rect">
            <a:avLst/>
          </a:prstGeom>
          <a:noFill/>
        </p:spPr>
        <p:txBody>
          <a:bodyPr wrap="square" rtlCol="0">
            <a:spAutoFit/>
          </a:bodyPr>
          <a:lstStyle/>
          <a:p>
            <a:pPr marL="342900" indent="-342900">
              <a:lnSpc>
                <a:spcPct val="100000"/>
              </a:lnSpc>
              <a:spcBef>
                <a:spcPts val="600"/>
              </a:spcBef>
              <a:spcAft>
                <a:spcPts val="600"/>
              </a:spcAft>
              <a:buFont typeface="Arial" panose="020B0604020202020204" pitchFamily="34" charset="0"/>
              <a:buChar char="•"/>
            </a:pPr>
            <a:r>
              <a:rPr lang="en-US" sz="2400" dirty="0">
                <a:latin typeface="Helvetica" pitchFamily="2" charset="0"/>
                <a:cs typeface="Times New Roman" panose="02020603050405020304" pitchFamily="18" charset="0"/>
              </a:rPr>
              <a:t>Market value ratios relate a company’s stock price to its sales, earnings and book value. </a:t>
            </a:r>
          </a:p>
          <a:p>
            <a:pPr marL="342900" indent="-342900">
              <a:lnSpc>
                <a:spcPct val="100000"/>
              </a:lnSpc>
              <a:spcBef>
                <a:spcPts val="600"/>
              </a:spcBef>
              <a:spcAft>
                <a:spcPts val="600"/>
              </a:spcAft>
              <a:buFont typeface="Arial" panose="020B0604020202020204" pitchFamily="34" charset="0"/>
              <a:buChar char="•"/>
            </a:pPr>
            <a:r>
              <a:rPr lang="en-US" sz="2400" dirty="0">
                <a:latin typeface="Helvetica" pitchFamily="2" charset="0"/>
                <a:cs typeface="Times New Roman" panose="02020603050405020304" pitchFamily="18" charset="0"/>
              </a:rPr>
              <a:t>They are used to assess a company’s market value and investor perceptions about its future performance.</a:t>
            </a:r>
          </a:p>
        </p:txBody>
      </p:sp>
      <p:sp>
        <p:nvSpPr>
          <p:cNvPr id="3" name="TextBox 2">
            <a:extLst>
              <a:ext uri="{FF2B5EF4-FFF2-40B4-BE49-F238E27FC236}">
                <a16:creationId xmlns:a16="http://schemas.microsoft.com/office/drawing/2014/main" id="{5EE9F75A-7FE1-7366-3A31-809BF06AA94E}"/>
              </a:ext>
            </a:extLst>
          </p:cNvPr>
          <p:cNvSpPr txBox="1"/>
          <p:nvPr/>
        </p:nvSpPr>
        <p:spPr>
          <a:xfrm>
            <a:off x="239486" y="3453483"/>
            <a:ext cx="11524180" cy="2431435"/>
          </a:xfrm>
          <a:prstGeom prst="rect">
            <a:avLst/>
          </a:prstGeom>
          <a:noFill/>
        </p:spPr>
        <p:txBody>
          <a:bodyPr wrap="none" rtlCol="0">
            <a:spAutoFit/>
          </a:bodyPr>
          <a:lstStyle/>
          <a:p>
            <a:pPr marL="342900" indent="-342900">
              <a:lnSpc>
                <a:spcPct val="100000"/>
              </a:lnSpc>
              <a:spcBef>
                <a:spcPts val="600"/>
              </a:spcBef>
              <a:spcAft>
                <a:spcPts val="600"/>
              </a:spcAft>
              <a:buFont typeface="Arial" panose="020B0604020202020204" pitchFamily="34" charset="0"/>
              <a:buChar char="•"/>
            </a:pPr>
            <a:r>
              <a:rPr lang="en-US" sz="2400" b="1" dirty="0">
                <a:latin typeface="Helvetica" pitchFamily="2" charset="0"/>
                <a:cs typeface="Times New Roman" panose="02020603050405020304" pitchFamily="18" charset="0"/>
              </a:rPr>
              <a:t>Why Do They Matter?</a:t>
            </a:r>
          </a:p>
          <a:p>
            <a:pPr marL="800100" lvl="1" indent="-34290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Provide insights into how the market values a company based on its performance.</a:t>
            </a:r>
          </a:p>
          <a:p>
            <a:pPr marL="800100" lvl="1" indent="-34290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Help investors to make decisions about buying or selling.</a:t>
            </a:r>
          </a:p>
          <a:p>
            <a:pPr marL="800100" lvl="1" indent="-34290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Assist investment bankers in setting a fair price during initial public offerings (IPOs).</a:t>
            </a:r>
          </a:p>
          <a:p>
            <a:pPr marL="800100" lvl="1" indent="-34290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Aid companies in determining an appropriate offer price in mergers and acquisitions.</a:t>
            </a:r>
          </a:p>
        </p:txBody>
      </p:sp>
    </p:spTree>
    <p:extLst>
      <p:ext uri="{BB962C8B-B14F-4D97-AF65-F5344CB8AC3E}">
        <p14:creationId xmlns:p14="http://schemas.microsoft.com/office/powerpoint/2010/main" val="210710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8F42-03E8-E217-4CAC-D6F5648F651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3AD5BD6-21C1-4CF7-253C-392DD34B4C6E}"/>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A877F3-8748-B845-E0D9-D2E1F1BC71A8}"/>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5-1. Price-Earnings Ratio (P/E)</a:t>
            </a:r>
          </a:p>
        </p:txBody>
      </p:sp>
      <p:sp>
        <p:nvSpPr>
          <p:cNvPr id="15" name="TextBox 14">
            <a:extLst>
              <a:ext uri="{FF2B5EF4-FFF2-40B4-BE49-F238E27FC236}">
                <a16:creationId xmlns:a16="http://schemas.microsoft.com/office/drawing/2014/main" id="{8E6E28E4-44E5-62B9-4971-2622469FF58A}"/>
              </a:ext>
            </a:extLst>
          </p:cNvPr>
          <p:cNvSpPr txBox="1"/>
          <p:nvPr/>
        </p:nvSpPr>
        <p:spPr>
          <a:xfrm>
            <a:off x="251636" y="2605131"/>
            <a:ext cx="11688727" cy="1169551"/>
          </a:xfrm>
          <a:prstGeom prst="rect">
            <a:avLst/>
          </a:prstGeom>
          <a:noFill/>
        </p:spPr>
        <p:txBody>
          <a:bodyPr wrap="square" rtlCol="0">
            <a:spAutoFit/>
          </a:bodyPr>
          <a:lstStyle/>
          <a:p>
            <a:pPr marL="342900" indent="-342900">
              <a:lnSpc>
                <a:spcPct val="100000"/>
              </a:lnSpc>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The </a:t>
            </a:r>
            <a:r>
              <a:rPr lang="en-US" sz="2000" b="1" dirty="0">
                <a:latin typeface="Helvetica" pitchFamily="2" charset="0"/>
                <a:cs typeface="Times New Roman" panose="02020603050405020304" pitchFamily="18" charset="0"/>
              </a:rPr>
              <a:t>P/E ratio</a:t>
            </a:r>
            <a:r>
              <a:rPr lang="en-US" sz="2000" dirty="0">
                <a:latin typeface="Helvetica" pitchFamily="2" charset="0"/>
                <a:cs typeface="Times New Roman" panose="02020603050405020304" pitchFamily="18" charset="0"/>
              </a:rPr>
              <a:t> shows how much investors are willing to pay per dollar of reported profits (earnings). </a:t>
            </a:r>
          </a:p>
          <a:p>
            <a:pPr marL="342900" indent="-342900">
              <a:lnSpc>
                <a:spcPct val="100000"/>
              </a:lnSpc>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It is a key indicator of how the market values a company's future growth prospects relative to its current earnings. </a:t>
            </a:r>
          </a:p>
        </p:txBody>
      </p:sp>
      <p:sp>
        <p:nvSpPr>
          <p:cNvPr id="4" name="TextBox 3">
            <a:extLst>
              <a:ext uri="{FF2B5EF4-FFF2-40B4-BE49-F238E27FC236}">
                <a16:creationId xmlns:a16="http://schemas.microsoft.com/office/drawing/2014/main" id="{7633C18F-398E-BC7A-AA2F-068D34B36783}"/>
              </a:ext>
            </a:extLst>
          </p:cNvPr>
          <p:cNvSpPr txBox="1"/>
          <p:nvPr/>
        </p:nvSpPr>
        <p:spPr>
          <a:xfrm>
            <a:off x="251636" y="4073516"/>
            <a:ext cx="11688727" cy="1785104"/>
          </a:xfrm>
          <a:prstGeom prst="rect">
            <a:avLst/>
          </a:prstGeom>
          <a:noFill/>
        </p:spPr>
        <p:txBody>
          <a:bodyPr wrap="square" rtlCol="0">
            <a:spAutoFit/>
          </a:bodyPr>
          <a:lstStyle/>
          <a:p>
            <a:pPr marL="342900" indent="-342900">
              <a:lnSpc>
                <a:spcPct val="100000"/>
              </a:lnSpc>
              <a:spcBef>
                <a:spcPts val="600"/>
              </a:spcBef>
              <a:spcAft>
                <a:spcPts val="600"/>
              </a:spcAft>
              <a:buFont typeface="Arial" panose="020B0604020202020204" pitchFamily="34" charset="0"/>
              <a:buChar char="•"/>
            </a:pPr>
            <a:r>
              <a:rPr lang="en-US" sz="2000" b="1" dirty="0">
                <a:latin typeface="Helvetica" pitchFamily="2" charset="0"/>
                <a:cs typeface="Times New Roman" panose="02020603050405020304" pitchFamily="18" charset="0"/>
              </a:rPr>
              <a:t>Key Points:</a:t>
            </a:r>
            <a:endParaRPr lang="en-US" sz="2000" dirty="0">
              <a:latin typeface="Helvetica" pitchFamily="2" charset="0"/>
              <a:cs typeface="Times New Roman" panose="02020603050405020304" pitchFamily="18" charset="0"/>
            </a:endParaRPr>
          </a:p>
          <a:p>
            <a:pPr marL="800100" lvl="1" indent="-342900">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High P/E ratios </a:t>
            </a:r>
            <a:r>
              <a:rPr lang="en-US" sz="2000" dirty="0">
                <a:latin typeface="Helvetica" pitchFamily="2" charset="0"/>
                <a:cs typeface="Times New Roman" panose="02020603050405020304" pitchFamily="18" charset="0"/>
                <a:sym typeface="Wingdings" pitchFamily="2" charset="2"/>
              </a:rPr>
              <a:t> I</a:t>
            </a:r>
            <a:r>
              <a:rPr lang="en-US" sz="2000" dirty="0">
                <a:latin typeface="Helvetica" pitchFamily="2" charset="0"/>
                <a:cs typeface="Times New Roman" panose="02020603050405020304" pitchFamily="18" charset="0"/>
              </a:rPr>
              <a:t>nvestors expect strong future growth with relatively low risk.</a:t>
            </a:r>
          </a:p>
          <a:p>
            <a:pPr marL="800100" lvl="1" indent="-342900">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Low P/E ratios </a:t>
            </a:r>
            <a:r>
              <a:rPr lang="en-US" sz="2000" dirty="0">
                <a:latin typeface="Helvetica" pitchFamily="2" charset="0"/>
                <a:cs typeface="Times New Roman" panose="02020603050405020304" pitchFamily="18" charset="0"/>
                <a:sym typeface="Wingdings" pitchFamily="2" charset="2"/>
              </a:rPr>
              <a:t> T</a:t>
            </a:r>
            <a:r>
              <a:rPr lang="en-US" sz="2000" dirty="0">
                <a:latin typeface="Helvetica" pitchFamily="2" charset="0"/>
                <a:cs typeface="Times New Roman" panose="02020603050405020304" pitchFamily="18" charset="0"/>
              </a:rPr>
              <a:t>he market perceives a company as risky or having poor growth prospects.</a:t>
            </a:r>
          </a:p>
          <a:p>
            <a:pPr marL="800100" lvl="1" indent="-342900">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Helps investors gauge whether a stock is overvalued or undervalued relative to its earnings.</a:t>
            </a:r>
          </a:p>
        </p:txBody>
      </p:sp>
      <p:grpSp>
        <p:nvGrpSpPr>
          <p:cNvPr id="3" name="Group 2">
            <a:extLst>
              <a:ext uri="{FF2B5EF4-FFF2-40B4-BE49-F238E27FC236}">
                <a16:creationId xmlns:a16="http://schemas.microsoft.com/office/drawing/2014/main" id="{753B9661-A6E5-211A-32E4-0A719508CC3F}"/>
              </a:ext>
            </a:extLst>
          </p:cNvPr>
          <p:cNvGrpSpPr/>
          <p:nvPr/>
        </p:nvGrpSpPr>
        <p:grpSpPr>
          <a:xfrm>
            <a:off x="2767692" y="1381122"/>
            <a:ext cx="6656613" cy="1008482"/>
            <a:chOff x="1027071" y="3016659"/>
            <a:chExt cx="6656613" cy="1008482"/>
          </a:xfrm>
        </p:grpSpPr>
        <p:sp>
          <p:nvSpPr>
            <p:cNvPr id="5" name="TextBox 4">
              <a:extLst>
                <a:ext uri="{FF2B5EF4-FFF2-40B4-BE49-F238E27FC236}">
                  <a16:creationId xmlns:a16="http://schemas.microsoft.com/office/drawing/2014/main" id="{F5A092CF-F8B3-DC2C-BE8F-5682D86618A9}"/>
                </a:ext>
              </a:extLst>
            </p:cNvPr>
            <p:cNvSpPr txBox="1">
              <a:spLocks/>
            </p:cNvSpPr>
            <p:nvPr/>
          </p:nvSpPr>
          <p:spPr>
            <a:xfrm>
              <a:off x="1027071" y="3315326"/>
              <a:ext cx="3200399" cy="461665"/>
            </a:xfrm>
            <a:prstGeom prst="rect">
              <a:avLst/>
            </a:prstGeom>
            <a:noFill/>
          </p:spPr>
          <p:txBody>
            <a:bodyPr wrap="square" rtlCol="0">
              <a:spAutoFit/>
            </a:bodyPr>
            <a:lstStyle/>
            <a:p>
              <a:pPr algn="ctr"/>
              <a:r>
                <a:rPr lang="en-US" sz="2400" b="1" dirty="0">
                  <a:solidFill>
                    <a:srgbClr val="C00000"/>
                  </a:solidFill>
                  <a:latin typeface="Helvetica" pitchFamily="2" charset="0"/>
                  <a:cs typeface="Times New Roman" panose="02020603050405020304" pitchFamily="18" charset="0"/>
                </a:rPr>
                <a:t>Price-Earnings Ratio</a:t>
              </a:r>
            </a:p>
          </p:txBody>
        </p:sp>
        <p:sp>
          <p:nvSpPr>
            <p:cNvPr id="7" name="TextBox 6">
              <a:extLst>
                <a:ext uri="{FF2B5EF4-FFF2-40B4-BE49-F238E27FC236}">
                  <a16:creationId xmlns:a16="http://schemas.microsoft.com/office/drawing/2014/main" id="{1E2ABFCE-5986-7474-0895-B0F992906FC3}"/>
                </a:ext>
              </a:extLst>
            </p:cNvPr>
            <p:cNvSpPr txBox="1"/>
            <p:nvPr/>
          </p:nvSpPr>
          <p:spPr>
            <a:xfrm>
              <a:off x="4170723" y="3307534"/>
              <a:ext cx="297455" cy="461665"/>
            </a:xfrm>
            <a:prstGeom prst="rect">
              <a:avLst/>
            </a:prstGeom>
            <a:noFill/>
          </p:spPr>
          <p:txBody>
            <a:bodyPr wrap="square" rtlCol="0">
              <a:spAutoFit/>
            </a:bodyPr>
            <a:lstStyle/>
            <a:p>
              <a:r>
                <a:rPr lang="en-US" sz="2400" b="1" dirty="0">
                  <a:solidFill>
                    <a:srgbClr val="C00000"/>
                  </a:solidFill>
                </a:rPr>
                <a:t>=</a:t>
              </a:r>
            </a:p>
          </p:txBody>
        </p:sp>
        <p:sp>
          <p:nvSpPr>
            <p:cNvPr id="8" name="TextBox 7">
              <a:extLst>
                <a:ext uri="{FF2B5EF4-FFF2-40B4-BE49-F238E27FC236}">
                  <a16:creationId xmlns:a16="http://schemas.microsoft.com/office/drawing/2014/main" id="{BF7D612E-3857-54DB-E06C-7D4EAFF4DB94}"/>
                </a:ext>
              </a:extLst>
            </p:cNvPr>
            <p:cNvSpPr txBox="1">
              <a:spLocks/>
            </p:cNvSpPr>
            <p:nvPr/>
          </p:nvSpPr>
          <p:spPr>
            <a:xfrm>
              <a:off x="5676242" y="3016659"/>
              <a:ext cx="938078"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Price</a:t>
              </a:r>
              <a:endParaRPr lang="en-US" sz="2400" b="1" dirty="0">
                <a:solidFill>
                  <a:srgbClr val="C00000"/>
                </a:solidFill>
              </a:endParaRPr>
            </a:p>
          </p:txBody>
        </p:sp>
        <p:sp>
          <p:nvSpPr>
            <p:cNvPr id="9" name="TextBox 8">
              <a:extLst>
                <a:ext uri="{FF2B5EF4-FFF2-40B4-BE49-F238E27FC236}">
                  <a16:creationId xmlns:a16="http://schemas.microsoft.com/office/drawing/2014/main" id="{E1B8B47B-092B-2C6D-B776-49502608EE7D}"/>
                </a:ext>
              </a:extLst>
            </p:cNvPr>
            <p:cNvSpPr txBox="1">
              <a:spLocks/>
            </p:cNvSpPr>
            <p:nvPr/>
          </p:nvSpPr>
          <p:spPr>
            <a:xfrm>
              <a:off x="4642305" y="3563476"/>
              <a:ext cx="3005952"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Earnings per Share</a:t>
              </a:r>
              <a:endParaRPr lang="en-US" sz="2400" b="1" dirty="0">
                <a:solidFill>
                  <a:srgbClr val="C00000"/>
                </a:solidFill>
              </a:endParaRPr>
            </a:p>
          </p:txBody>
        </p:sp>
        <p:cxnSp>
          <p:nvCxnSpPr>
            <p:cNvPr id="10" name="Straight Connector 9">
              <a:extLst>
                <a:ext uri="{FF2B5EF4-FFF2-40B4-BE49-F238E27FC236}">
                  <a16:creationId xmlns:a16="http://schemas.microsoft.com/office/drawing/2014/main" id="{B60B7D7D-89F2-8810-1F0D-617F5F88EC3B}"/>
                </a:ext>
              </a:extLst>
            </p:cNvPr>
            <p:cNvCxnSpPr>
              <a:cxnSpLocks/>
            </p:cNvCxnSpPr>
            <p:nvPr/>
          </p:nvCxnSpPr>
          <p:spPr>
            <a:xfrm>
              <a:off x="4606879" y="3535273"/>
              <a:ext cx="3076805" cy="567"/>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2249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72C7C-F741-CC4A-898C-79D93AAADF8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9A21524-BFF3-5D10-AB58-FB742D874508}"/>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59FF42-697D-DFA5-689F-7DC8223089A2}"/>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5-2. PEG Ratio</a:t>
            </a:r>
          </a:p>
        </p:txBody>
      </p:sp>
      <p:sp>
        <p:nvSpPr>
          <p:cNvPr id="15" name="TextBox 14">
            <a:extLst>
              <a:ext uri="{FF2B5EF4-FFF2-40B4-BE49-F238E27FC236}">
                <a16:creationId xmlns:a16="http://schemas.microsoft.com/office/drawing/2014/main" id="{A46F6C1D-70D3-D0CA-0878-51FDDB0843DB}"/>
              </a:ext>
            </a:extLst>
          </p:cNvPr>
          <p:cNvSpPr txBox="1"/>
          <p:nvPr/>
        </p:nvSpPr>
        <p:spPr>
          <a:xfrm>
            <a:off x="251636" y="2505670"/>
            <a:ext cx="11688727" cy="923330"/>
          </a:xfrm>
          <a:prstGeom prst="rect">
            <a:avLst/>
          </a:prstGeom>
          <a:noFill/>
        </p:spPr>
        <p:txBody>
          <a:bodyPr wrap="square" rtlCol="0">
            <a:spAutoFit/>
          </a:bodyPr>
          <a:lstStyle/>
          <a:p>
            <a:pPr marL="342900" indent="-342900">
              <a:lnSpc>
                <a:spcPct val="100000"/>
              </a:lnSpc>
              <a:spcBef>
                <a:spcPts val="600"/>
              </a:spcBef>
              <a:spcAft>
                <a:spcPts val="600"/>
              </a:spcAft>
              <a:buFont typeface="Arial" panose="020B0604020202020204" pitchFamily="34" charset="0"/>
              <a:buChar char="•"/>
            </a:pPr>
            <a:r>
              <a:rPr lang="en-US" sz="2200" dirty="0">
                <a:latin typeface="Helvetica" pitchFamily="2" charset="0"/>
              </a:rPr>
              <a:t>The </a:t>
            </a:r>
            <a:r>
              <a:rPr lang="en-US" sz="2200" b="1" dirty="0">
                <a:latin typeface="Helvetica" pitchFamily="2" charset="0"/>
              </a:rPr>
              <a:t>PEG Ratio</a:t>
            </a:r>
            <a:r>
              <a:rPr lang="en-US" sz="2200" dirty="0">
                <a:latin typeface="Helvetica" pitchFamily="2" charset="0"/>
              </a:rPr>
              <a:t> adjusts the </a:t>
            </a:r>
            <a:r>
              <a:rPr lang="en-US" sz="2200" b="1" dirty="0">
                <a:latin typeface="Helvetica" pitchFamily="2" charset="0"/>
              </a:rPr>
              <a:t>Price–Earnings (P/E) ratio</a:t>
            </a:r>
            <a:r>
              <a:rPr lang="en-US" sz="2200" dirty="0">
                <a:latin typeface="Helvetica" pitchFamily="2" charset="0"/>
              </a:rPr>
              <a:t> for expected earnings growth.</a:t>
            </a:r>
          </a:p>
          <a:p>
            <a:pPr marL="342900" indent="-342900">
              <a:lnSpc>
                <a:spcPct val="100000"/>
              </a:lnSpc>
              <a:spcBef>
                <a:spcPts val="600"/>
              </a:spcBef>
              <a:spcAft>
                <a:spcPts val="600"/>
              </a:spcAft>
              <a:buFont typeface="Arial" panose="020B0604020202020204" pitchFamily="34" charset="0"/>
              <a:buChar char="•"/>
            </a:pPr>
            <a:r>
              <a:rPr lang="en-US" sz="2200" dirty="0">
                <a:latin typeface="Helvetica" pitchFamily="2" charset="0"/>
              </a:rPr>
              <a:t>It evaluates whether a stock’s valuation is reasonable </a:t>
            </a:r>
            <a:r>
              <a:rPr lang="en-US" sz="2200" b="1" dirty="0">
                <a:latin typeface="Helvetica" pitchFamily="2" charset="0"/>
              </a:rPr>
              <a:t>given its growth prospects</a:t>
            </a:r>
            <a:r>
              <a:rPr lang="en-US" sz="2200" dirty="0">
                <a:latin typeface="Helvetica" pitchFamily="2" charset="0"/>
              </a:rPr>
              <a:t>.</a:t>
            </a:r>
            <a:endParaRPr lang="en-US" sz="2200" dirty="0">
              <a:latin typeface="Helvetica" pitchFamily="2" charset="0"/>
              <a:cs typeface="Times New Roman" panose="02020603050405020304" pitchFamily="18" charset="0"/>
            </a:endParaRPr>
          </a:p>
        </p:txBody>
      </p:sp>
      <p:sp>
        <p:nvSpPr>
          <p:cNvPr id="4" name="TextBox 3">
            <a:extLst>
              <a:ext uri="{FF2B5EF4-FFF2-40B4-BE49-F238E27FC236}">
                <a16:creationId xmlns:a16="http://schemas.microsoft.com/office/drawing/2014/main" id="{1A20E35E-F0E8-698E-4EC8-057F1172AA37}"/>
              </a:ext>
            </a:extLst>
          </p:cNvPr>
          <p:cNvSpPr txBox="1"/>
          <p:nvPr/>
        </p:nvSpPr>
        <p:spPr>
          <a:xfrm>
            <a:off x="217387" y="3528461"/>
            <a:ext cx="11688727" cy="2900794"/>
          </a:xfrm>
          <a:prstGeom prst="rect">
            <a:avLst/>
          </a:prstGeom>
          <a:noFill/>
        </p:spPr>
        <p:txBody>
          <a:bodyPr wrap="square" rtlCol="0">
            <a:spAutoFit/>
          </a:bodyPr>
          <a:lstStyle/>
          <a:p>
            <a:pPr marL="342900" indent="-342900">
              <a:lnSpc>
                <a:spcPct val="100000"/>
              </a:lnSpc>
              <a:spcBef>
                <a:spcPts val="600"/>
              </a:spcBef>
              <a:spcAft>
                <a:spcPts val="600"/>
              </a:spcAft>
              <a:buFont typeface="Arial" panose="020B0604020202020204" pitchFamily="34" charset="0"/>
              <a:buChar char="•"/>
            </a:pPr>
            <a:r>
              <a:rPr lang="en-US" sz="2000" b="1" dirty="0">
                <a:latin typeface="Helvetica" pitchFamily="2" charset="0"/>
                <a:cs typeface="Times New Roman" panose="02020603050405020304" pitchFamily="18" charset="0"/>
              </a:rPr>
              <a:t>Key Points:</a:t>
            </a:r>
            <a:endParaRPr lang="en-US" sz="2000" dirty="0">
              <a:latin typeface="Helvetica" pitchFamily="2" charset="0"/>
              <a:cs typeface="Times New Roman" panose="02020603050405020304" pitchFamily="18" charset="0"/>
            </a:endParaRPr>
          </a:p>
          <a:p>
            <a:pPr marL="1200150" lvl="2" indent="-285750">
              <a:spcBef>
                <a:spcPts val="300"/>
              </a:spcBef>
              <a:spcAft>
                <a:spcPts val="300"/>
              </a:spcAft>
              <a:buFont typeface="Arial" panose="020B0604020202020204" pitchFamily="34" charset="0"/>
              <a:buChar char="•"/>
            </a:pPr>
            <a:r>
              <a:rPr lang="en-US" sz="2000" b="1" dirty="0">
                <a:latin typeface="Helvetica" pitchFamily="2" charset="0"/>
              </a:rPr>
              <a:t>PEG ≈ 1</a:t>
            </a:r>
            <a:endParaRPr lang="en-US" sz="2000" dirty="0">
              <a:latin typeface="Helvetica" pitchFamily="2" charset="0"/>
            </a:endParaRPr>
          </a:p>
          <a:p>
            <a:pPr marL="2114550" lvl="4" indent="-285750">
              <a:spcBef>
                <a:spcPts val="300"/>
              </a:spcBef>
              <a:spcAft>
                <a:spcPts val="300"/>
              </a:spcAft>
              <a:buFont typeface="Arial" panose="020B0604020202020204" pitchFamily="34" charset="0"/>
              <a:buChar char="•"/>
            </a:pPr>
            <a:r>
              <a:rPr lang="en-US" sz="2000" dirty="0">
                <a:latin typeface="Helvetica" pitchFamily="2" charset="0"/>
              </a:rPr>
              <a:t>Stock is </a:t>
            </a:r>
            <a:r>
              <a:rPr lang="en-US" sz="2000" b="1" dirty="0">
                <a:latin typeface="Helvetica" pitchFamily="2" charset="0"/>
              </a:rPr>
              <a:t>fairly valued</a:t>
            </a:r>
            <a:r>
              <a:rPr lang="en-US" sz="2000" dirty="0">
                <a:latin typeface="Helvetica" pitchFamily="2" charset="0"/>
              </a:rPr>
              <a:t> relative to growth</a:t>
            </a:r>
          </a:p>
          <a:p>
            <a:pPr marL="1200150" lvl="2" indent="-285750">
              <a:spcBef>
                <a:spcPts val="900"/>
              </a:spcBef>
              <a:spcAft>
                <a:spcPts val="300"/>
              </a:spcAft>
              <a:buFont typeface="Arial" panose="020B0604020202020204" pitchFamily="34" charset="0"/>
              <a:buChar char="•"/>
            </a:pPr>
            <a:r>
              <a:rPr lang="en-US" sz="2000" b="1" dirty="0">
                <a:latin typeface="Helvetica" pitchFamily="2" charset="0"/>
              </a:rPr>
              <a:t>PEG &lt; 1</a:t>
            </a:r>
            <a:endParaRPr lang="en-US" sz="2000" dirty="0">
              <a:latin typeface="Helvetica" pitchFamily="2" charset="0"/>
            </a:endParaRPr>
          </a:p>
          <a:p>
            <a:pPr marL="2114550" lvl="4" indent="-285750">
              <a:spcBef>
                <a:spcPts val="300"/>
              </a:spcBef>
              <a:spcAft>
                <a:spcPts val="300"/>
              </a:spcAft>
              <a:buFont typeface="Arial" panose="020B0604020202020204" pitchFamily="34" charset="0"/>
              <a:buChar char="•"/>
            </a:pPr>
            <a:r>
              <a:rPr lang="en-US" sz="2000" dirty="0">
                <a:latin typeface="Helvetica" pitchFamily="2" charset="0"/>
              </a:rPr>
              <a:t>Stock may be </a:t>
            </a:r>
            <a:r>
              <a:rPr lang="en-US" sz="2000" b="1" dirty="0">
                <a:latin typeface="Helvetica" pitchFamily="2" charset="0"/>
              </a:rPr>
              <a:t>undervalued</a:t>
            </a:r>
            <a:r>
              <a:rPr lang="en-US" sz="2000" dirty="0">
                <a:latin typeface="Helvetica" pitchFamily="2" charset="0"/>
              </a:rPr>
              <a:t> given its growth prospects</a:t>
            </a:r>
          </a:p>
          <a:p>
            <a:pPr marL="1200150" lvl="2" indent="-285750">
              <a:spcBef>
                <a:spcPts val="900"/>
              </a:spcBef>
              <a:spcAft>
                <a:spcPts val="300"/>
              </a:spcAft>
              <a:buFont typeface="Arial" panose="020B0604020202020204" pitchFamily="34" charset="0"/>
              <a:buChar char="•"/>
            </a:pPr>
            <a:r>
              <a:rPr lang="en-US" sz="2000" b="1" dirty="0">
                <a:latin typeface="Helvetica" pitchFamily="2" charset="0"/>
              </a:rPr>
              <a:t>PEG &gt; 1</a:t>
            </a:r>
            <a:endParaRPr lang="en-US" sz="2000" dirty="0">
              <a:latin typeface="Helvetica" pitchFamily="2" charset="0"/>
            </a:endParaRPr>
          </a:p>
          <a:p>
            <a:pPr marL="2114550" lvl="4" indent="-285750">
              <a:spcBef>
                <a:spcPts val="300"/>
              </a:spcBef>
              <a:spcAft>
                <a:spcPts val="300"/>
              </a:spcAft>
              <a:buFont typeface="Arial" panose="020B0604020202020204" pitchFamily="34" charset="0"/>
              <a:buChar char="•"/>
            </a:pPr>
            <a:r>
              <a:rPr lang="en-US" sz="2000" dirty="0">
                <a:latin typeface="Helvetica" pitchFamily="2" charset="0"/>
              </a:rPr>
              <a:t>Stock may be </a:t>
            </a:r>
            <a:r>
              <a:rPr lang="en-US" sz="2000" b="1" dirty="0">
                <a:latin typeface="Helvetica" pitchFamily="2" charset="0"/>
              </a:rPr>
              <a:t>overvalued</a:t>
            </a:r>
            <a:r>
              <a:rPr lang="en-US" sz="2000" dirty="0">
                <a:latin typeface="Helvetica" pitchFamily="2" charset="0"/>
              </a:rPr>
              <a:t> relative to expected growth</a:t>
            </a:r>
          </a:p>
        </p:txBody>
      </p:sp>
      <p:grpSp>
        <p:nvGrpSpPr>
          <p:cNvPr id="3" name="Group 2">
            <a:extLst>
              <a:ext uri="{FF2B5EF4-FFF2-40B4-BE49-F238E27FC236}">
                <a16:creationId xmlns:a16="http://schemas.microsoft.com/office/drawing/2014/main" id="{8C73B16D-0EC4-27A8-E508-FB66A47C32E1}"/>
              </a:ext>
            </a:extLst>
          </p:cNvPr>
          <p:cNvGrpSpPr/>
          <p:nvPr/>
        </p:nvGrpSpPr>
        <p:grpSpPr>
          <a:xfrm>
            <a:off x="3477984" y="1414324"/>
            <a:ext cx="6253845" cy="1009626"/>
            <a:chOff x="2447655" y="3031079"/>
            <a:chExt cx="6253845" cy="1009626"/>
          </a:xfrm>
        </p:grpSpPr>
        <p:sp>
          <p:nvSpPr>
            <p:cNvPr id="5" name="TextBox 4">
              <a:extLst>
                <a:ext uri="{FF2B5EF4-FFF2-40B4-BE49-F238E27FC236}">
                  <a16:creationId xmlns:a16="http://schemas.microsoft.com/office/drawing/2014/main" id="{8F44CAEE-BFF2-B73C-90CF-AD334C610475}"/>
                </a:ext>
              </a:extLst>
            </p:cNvPr>
            <p:cNvSpPr txBox="1">
              <a:spLocks/>
            </p:cNvSpPr>
            <p:nvPr/>
          </p:nvSpPr>
          <p:spPr>
            <a:xfrm>
              <a:off x="2447655" y="3315326"/>
              <a:ext cx="1779815" cy="461665"/>
            </a:xfrm>
            <a:prstGeom prst="rect">
              <a:avLst/>
            </a:prstGeom>
            <a:noFill/>
          </p:spPr>
          <p:txBody>
            <a:bodyPr wrap="square" rtlCol="0">
              <a:spAutoFit/>
            </a:bodyPr>
            <a:lstStyle/>
            <a:p>
              <a:pPr algn="ctr"/>
              <a:r>
                <a:rPr lang="en-US" sz="2400" b="1" dirty="0">
                  <a:solidFill>
                    <a:srgbClr val="C00000"/>
                  </a:solidFill>
                  <a:latin typeface="Helvetica" pitchFamily="2" charset="0"/>
                  <a:cs typeface="Times New Roman" panose="02020603050405020304" pitchFamily="18" charset="0"/>
                </a:rPr>
                <a:t>PEG Ratio</a:t>
              </a:r>
            </a:p>
          </p:txBody>
        </p:sp>
        <p:sp>
          <p:nvSpPr>
            <p:cNvPr id="7" name="TextBox 6">
              <a:extLst>
                <a:ext uri="{FF2B5EF4-FFF2-40B4-BE49-F238E27FC236}">
                  <a16:creationId xmlns:a16="http://schemas.microsoft.com/office/drawing/2014/main" id="{717E9A11-802F-50A4-3296-724849E540ED}"/>
                </a:ext>
              </a:extLst>
            </p:cNvPr>
            <p:cNvSpPr txBox="1"/>
            <p:nvPr/>
          </p:nvSpPr>
          <p:spPr>
            <a:xfrm>
              <a:off x="4170723" y="3307534"/>
              <a:ext cx="297455" cy="461665"/>
            </a:xfrm>
            <a:prstGeom prst="rect">
              <a:avLst/>
            </a:prstGeom>
            <a:noFill/>
          </p:spPr>
          <p:txBody>
            <a:bodyPr wrap="square" rtlCol="0">
              <a:spAutoFit/>
            </a:bodyPr>
            <a:lstStyle/>
            <a:p>
              <a:r>
                <a:rPr lang="en-US" sz="2400" b="1" dirty="0">
                  <a:solidFill>
                    <a:srgbClr val="C00000"/>
                  </a:solidFill>
                </a:rPr>
                <a:t>=</a:t>
              </a:r>
            </a:p>
          </p:txBody>
        </p:sp>
        <p:sp>
          <p:nvSpPr>
            <p:cNvPr id="8" name="TextBox 7">
              <a:extLst>
                <a:ext uri="{FF2B5EF4-FFF2-40B4-BE49-F238E27FC236}">
                  <a16:creationId xmlns:a16="http://schemas.microsoft.com/office/drawing/2014/main" id="{7B5F0589-0B0B-DA3E-30F8-4A8E854694E5}"/>
                </a:ext>
              </a:extLst>
            </p:cNvPr>
            <p:cNvSpPr txBox="1">
              <a:spLocks/>
            </p:cNvSpPr>
            <p:nvPr/>
          </p:nvSpPr>
          <p:spPr>
            <a:xfrm>
              <a:off x="5048621" y="3031079"/>
              <a:ext cx="3211135"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Price-Earnings Ratio</a:t>
              </a:r>
            </a:p>
          </p:txBody>
        </p:sp>
        <p:sp>
          <p:nvSpPr>
            <p:cNvPr id="9" name="TextBox 8">
              <a:extLst>
                <a:ext uri="{FF2B5EF4-FFF2-40B4-BE49-F238E27FC236}">
                  <a16:creationId xmlns:a16="http://schemas.microsoft.com/office/drawing/2014/main" id="{756B61D2-6052-A1C5-B729-E23E6C48D3EE}"/>
                </a:ext>
              </a:extLst>
            </p:cNvPr>
            <p:cNvSpPr txBox="1">
              <a:spLocks/>
            </p:cNvSpPr>
            <p:nvPr/>
          </p:nvSpPr>
          <p:spPr>
            <a:xfrm>
              <a:off x="4678982" y="3579040"/>
              <a:ext cx="3978974"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Earnings Growth Rate (%)</a:t>
              </a:r>
              <a:endParaRPr lang="en-US" sz="2400" b="1" dirty="0">
                <a:solidFill>
                  <a:srgbClr val="C00000"/>
                </a:solidFill>
              </a:endParaRPr>
            </a:p>
          </p:txBody>
        </p:sp>
        <p:cxnSp>
          <p:nvCxnSpPr>
            <p:cNvPr id="10" name="Straight Connector 9">
              <a:extLst>
                <a:ext uri="{FF2B5EF4-FFF2-40B4-BE49-F238E27FC236}">
                  <a16:creationId xmlns:a16="http://schemas.microsoft.com/office/drawing/2014/main" id="{179E53CD-EBB1-FCBC-EF51-C9E6BF18E747}"/>
                </a:ext>
              </a:extLst>
            </p:cNvPr>
            <p:cNvCxnSpPr>
              <a:cxnSpLocks/>
            </p:cNvCxnSpPr>
            <p:nvPr/>
          </p:nvCxnSpPr>
          <p:spPr>
            <a:xfrm>
              <a:off x="4606879" y="3535273"/>
              <a:ext cx="409462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05040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10F87-1D65-FCF4-DC94-C0660F48ACB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A958BCD-2788-C352-6977-D4A3D24ECCC5}"/>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61DCD4-5854-5CDF-DA87-1A251AD454FD}"/>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5-3. Price-Sales Ratio (P/S)</a:t>
            </a:r>
          </a:p>
        </p:txBody>
      </p:sp>
      <p:sp>
        <p:nvSpPr>
          <p:cNvPr id="15" name="TextBox 14">
            <a:extLst>
              <a:ext uri="{FF2B5EF4-FFF2-40B4-BE49-F238E27FC236}">
                <a16:creationId xmlns:a16="http://schemas.microsoft.com/office/drawing/2014/main" id="{F798418D-CFFD-08D9-07EA-41DDF9E54793}"/>
              </a:ext>
            </a:extLst>
          </p:cNvPr>
          <p:cNvSpPr txBox="1"/>
          <p:nvPr/>
        </p:nvSpPr>
        <p:spPr>
          <a:xfrm>
            <a:off x="251636" y="2516556"/>
            <a:ext cx="11688727" cy="1184940"/>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Helvetica" pitchFamily="2" charset="0"/>
              </a:rPr>
              <a:t>The </a:t>
            </a:r>
            <a:r>
              <a:rPr lang="en-US" sz="2200" b="1" dirty="0">
                <a:latin typeface="Helvetica" pitchFamily="2" charset="0"/>
              </a:rPr>
              <a:t>Price-to-Sales (P/S) Ratio</a:t>
            </a:r>
            <a:r>
              <a:rPr lang="en-US" sz="2200" dirty="0">
                <a:latin typeface="Helvetica" pitchFamily="2" charset="0"/>
              </a:rPr>
              <a:t> measures </a:t>
            </a:r>
            <a:r>
              <a:rPr lang="en-US" sz="2200" b="1" dirty="0">
                <a:latin typeface="Helvetica" pitchFamily="2" charset="0"/>
              </a:rPr>
              <a:t>how much investors are willing to pay for each dollar of a firm’s sales</a:t>
            </a:r>
            <a:r>
              <a:rPr lang="en-US" sz="2200" dirty="0">
                <a:latin typeface="Helvetica" pitchFamily="2" charset="0"/>
              </a:rPr>
              <a:t>.</a:t>
            </a:r>
          </a:p>
          <a:p>
            <a:pPr marL="342900" indent="-342900">
              <a:spcBef>
                <a:spcPts val="600"/>
              </a:spcBef>
              <a:spcAft>
                <a:spcPts val="600"/>
              </a:spcAft>
              <a:buFont typeface="Arial" panose="020B0604020202020204" pitchFamily="34" charset="0"/>
              <a:buChar char="•"/>
            </a:pPr>
            <a:r>
              <a:rPr lang="en-US" sz="2200" dirty="0">
                <a:latin typeface="Helvetica" pitchFamily="2" charset="0"/>
              </a:rPr>
              <a:t>It is especially useful when earnings are </a:t>
            </a:r>
            <a:r>
              <a:rPr lang="en-US" sz="2200" b="1" dirty="0">
                <a:latin typeface="Helvetica" pitchFamily="2" charset="0"/>
              </a:rPr>
              <a:t>low, volatile, or negative</a:t>
            </a:r>
            <a:r>
              <a:rPr lang="en-US" sz="2200" dirty="0">
                <a:latin typeface="Helvetica" pitchFamily="2" charset="0"/>
              </a:rPr>
              <a:t>.</a:t>
            </a:r>
          </a:p>
        </p:txBody>
      </p:sp>
      <p:sp>
        <p:nvSpPr>
          <p:cNvPr id="4" name="TextBox 3">
            <a:extLst>
              <a:ext uri="{FF2B5EF4-FFF2-40B4-BE49-F238E27FC236}">
                <a16:creationId xmlns:a16="http://schemas.microsoft.com/office/drawing/2014/main" id="{A6C04173-0B7C-291D-F8FD-BD62123C7E11}"/>
              </a:ext>
            </a:extLst>
          </p:cNvPr>
          <p:cNvSpPr txBox="1"/>
          <p:nvPr/>
        </p:nvSpPr>
        <p:spPr>
          <a:xfrm>
            <a:off x="251635" y="3816346"/>
            <a:ext cx="11688727" cy="2708434"/>
          </a:xfrm>
          <a:prstGeom prst="rect">
            <a:avLst/>
          </a:prstGeom>
          <a:noFill/>
        </p:spPr>
        <p:txBody>
          <a:bodyPr wrap="square" rtlCol="0">
            <a:spAutoFit/>
          </a:bodyPr>
          <a:lstStyle/>
          <a:p>
            <a:pPr marL="342900" indent="-342900">
              <a:lnSpc>
                <a:spcPct val="100000"/>
              </a:lnSpc>
              <a:spcBef>
                <a:spcPts val="600"/>
              </a:spcBef>
              <a:spcAft>
                <a:spcPts val="600"/>
              </a:spcAft>
              <a:buFont typeface="Arial" panose="020B0604020202020204" pitchFamily="34" charset="0"/>
              <a:buChar char="•"/>
            </a:pPr>
            <a:r>
              <a:rPr lang="en-US" sz="2000" b="1" dirty="0">
                <a:latin typeface="Helvetica" pitchFamily="2" charset="0"/>
                <a:cs typeface="Times New Roman" panose="02020603050405020304" pitchFamily="18" charset="0"/>
              </a:rPr>
              <a:t>Key Points:</a:t>
            </a:r>
          </a:p>
          <a:p>
            <a:pPr marL="800100" lvl="1" indent="-342900">
              <a:spcBef>
                <a:spcPts val="600"/>
              </a:spcBef>
              <a:spcAft>
                <a:spcPts val="600"/>
              </a:spcAft>
              <a:buFont typeface="Arial" panose="020B0604020202020204" pitchFamily="34" charset="0"/>
              <a:buChar char="•"/>
            </a:pPr>
            <a:r>
              <a:rPr lang="en-US" sz="2000" dirty="0">
                <a:latin typeface="Helvetica" pitchFamily="2" charset="0"/>
              </a:rPr>
              <a:t>High P/S reflects: Strong growth expectations and Anticipated future profitability</a:t>
            </a:r>
          </a:p>
          <a:p>
            <a:pPr marL="800100" lvl="1" indent="-342900">
              <a:spcBef>
                <a:spcPts val="600"/>
              </a:spcBef>
              <a:spcAft>
                <a:spcPts val="600"/>
              </a:spcAft>
              <a:buFont typeface="Arial" panose="020B0604020202020204" pitchFamily="34" charset="0"/>
              <a:buChar char="•"/>
            </a:pPr>
            <a:r>
              <a:rPr lang="en-US" sz="2000" dirty="0">
                <a:latin typeface="Helvetica" pitchFamily="2" charset="0"/>
              </a:rPr>
              <a:t>Low P/S may indicate: Thin margins and Mature or struggling business</a:t>
            </a:r>
          </a:p>
          <a:p>
            <a:pPr marL="800100" lvl="1" indent="-342900">
              <a:spcBef>
                <a:spcPts val="600"/>
              </a:spcBef>
              <a:spcAft>
                <a:spcPts val="600"/>
              </a:spcAft>
              <a:buFont typeface="Arial" panose="020B0604020202020204" pitchFamily="34" charset="0"/>
              <a:buChar char="•"/>
            </a:pPr>
            <a:r>
              <a:rPr lang="en-US" sz="2000" dirty="0">
                <a:latin typeface="Helvetica" pitchFamily="2" charset="0"/>
              </a:rPr>
              <a:t>Sales are </a:t>
            </a:r>
            <a:r>
              <a:rPr lang="en-US" sz="2000" b="1" dirty="0">
                <a:latin typeface="Helvetica" pitchFamily="2" charset="0"/>
              </a:rPr>
              <a:t>less manipulable</a:t>
            </a:r>
            <a:r>
              <a:rPr lang="en-US" sz="2000" dirty="0">
                <a:latin typeface="Helvetica" pitchFamily="2" charset="0"/>
              </a:rPr>
              <a:t> than earnings</a:t>
            </a:r>
          </a:p>
          <a:p>
            <a:pPr marL="800100" lvl="1" indent="-342900">
              <a:spcBef>
                <a:spcPts val="600"/>
              </a:spcBef>
              <a:spcAft>
                <a:spcPts val="600"/>
              </a:spcAft>
              <a:buFont typeface="Arial" panose="020B0604020202020204" pitchFamily="34" charset="0"/>
              <a:buChar char="•"/>
            </a:pPr>
            <a:r>
              <a:rPr lang="en-US" sz="2000" dirty="0">
                <a:latin typeface="Helvetica" pitchFamily="2" charset="0"/>
              </a:rPr>
              <a:t>Must be analyzed </a:t>
            </a:r>
            <a:r>
              <a:rPr lang="en-US" sz="2000" b="1" dirty="0">
                <a:latin typeface="Helvetica" pitchFamily="2" charset="0"/>
              </a:rPr>
              <a:t>with profit margins and industry benchmarks</a:t>
            </a:r>
            <a:endParaRPr lang="en-US" sz="2000" dirty="0">
              <a:latin typeface="Helvetica" pitchFamily="2" charset="0"/>
              <a:cs typeface="Times New Roman" panose="02020603050405020304" pitchFamily="18" charset="0"/>
            </a:endParaRPr>
          </a:p>
          <a:p>
            <a:pPr marL="800100" lvl="1" indent="-342900">
              <a:spcBef>
                <a:spcPts val="600"/>
              </a:spcBef>
              <a:spcAft>
                <a:spcPts val="600"/>
              </a:spcAft>
              <a:buFont typeface="Arial" panose="020B0604020202020204" pitchFamily="34" charset="0"/>
              <a:buChar char="•"/>
            </a:pPr>
            <a:r>
              <a:rPr lang="en-US" sz="2000" dirty="0">
                <a:latin typeface="Helvetica" pitchFamily="2" charset="0"/>
              </a:rPr>
              <a:t>Particularly relevant for Startups and High-growth firms</a:t>
            </a:r>
          </a:p>
        </p:txBody>
      </p:sp>
      <p:grpSp>
        <p:nvGrpSpPr>
          <p:cNvPr id="3" name="Group 2">
            <a:extLst>
              <a:ext uri="{FF2B5EF4-FFF2-40B4-BE49-F238E27FC236}">
                <a16:creationId xmlns:a16="http://schemas.microsoft.com/office/drawing/2014/main" id="{A90DB344-4306-E08C-25E3-F10E6584CC58}"/>
              </a:ext>
            </a:extLst>
          </p:cNvPr>
          <p:cNvGrpSpPr/>
          <p:nvPr/>
        </p:nvGrpSpPr>
        <p:grpSpPr>
          <a:xfrm>
            <a:off x="2425921" y="1396583"/>
            <a:ext cx="7271657" cy="1009626"/>
            <a:chOff x="1429843" y="3031079"/>
            <a:chExt cx="7271657" cy="1009626"/>
          </a:xfrm>
        </p:grpSpPr>
        <p:sp>
          <p:nvSpPr>
            <p:cNvPr id="5" name="TextBox 4">
              <a:extLst>
                <a:ext uri="{FF2B5EF4-FFF2-40B4-BE49-F238E27FC236}">
                  <a16:creationId xmlns:a16="http://schemas.microsoft.com/office/drawing/2014/main" id="{B9C0E04D-F208-C92A-4A85-53F0EAB9CAB0}"/>
                </a:ext>
              </a:extLst>
            </p:cNvPr>
            <p:cNvSpPr txBox="1">
              <a:spLocks/>
            </p:cNvSpPr>
            <p:nvPr/>
          </p:nvSpPr>
          <p:spPr>
            <a:xfrm>
              <a:off x="1429843" y="3315326"/>
              <a:ext cx="2797628" cy="461665"/>
            </a:xfrm>
            <a:prstGeom prst="rect">
              <a:avLst/>
            </a:prstGeom>
            <a:noFill/>
          </p:spPr>
          <p:txBody>
            <a:bodyPr wrap="square" rtlCol="0">
              <a:spAutoFit/>
            </a:bodyPr>
            <a:lstStyle/>
            <a:p>
              <a:pPr algn="ctr"/>
              <a:r>
                <a:rPr lang="en-US" sz="2400" b="1" dirty="0">
                  <a:solidFill>
                    <a:srgbClr val="C00000"/>
                  </a:solidFill>
                  <a:latin typeface="Helvetica" pitchFamily="2" charset="0"/>
                  <a:cs typeface="Times New Roman" panose="02020603050405020304" pitchFamily="18" charset="0"/>
                </a:rPr>
                <a:t>Price-Sales Ratio</a:t>
              </a:r>
            </a:p>
          </p:txBody>
        </p:sp>
        <p:sp>
          <p:nvSpPr>
            <p:cNvPr id="7" name="TextBox 6">
              <a:extLst>
                <a:ext uri="{FF2B5EF4-FFF2-40B4-BE49-F238E27FC236}">
                  <a16:creationId xmlns:a16="http://schemas.microsoft.com/office/drawing/2014/main" id="{E3C3C3C3-814F-B0B6-584B-2E2D5CA827BB}"/>
                </a:ext>
              </a:extLst>
            </p:cNvPr>
            <p:cNvSpPr txBox="1"/>
            <p:nvPr/>
          </p:nvSpPr>
          <p:spPr>
            <a:xfrm>
              <a:off x="4170723" y="3307534"/>
              <a:ext cx="297455" cy="461665"/>
            </a:xfrm>
            <a:prstGeom prst="rect">
              <a:avLst/>
            </a:prstGeom>
            <a:noFill/>
          </p:spPr>
          <p:txBody>
            <a:bodyPr wrap="square" rtlCol="0">
              <a:spAutoFit/>
            </a:bodyPr>
            <a:lstStyle/>
            <a:p>
              <a:r>
                <a:rPr lang="en-US" sz="2400" b="1" dirty="0">
                  <a:solidFill>
                    <a:srgbClr val="C00000"/>
                  </a:solidFill>
                </a:rPr>
                <a:t>=</a:t>
              </a:r>
            </a:p>
          </p:txBody>
        </p:sp>
        <p:sp>
          <p:nvSpPr>
            <p:cNvPr id="8" name="TextBox 7">
              <a:extLst>
                <a:ext uri="{FF2B5EF4-FFF2-40B4-BE49-F238E27FC236}">
                  <a16:creationId xmlns:a16="http://schemas.microsoft.com/office/drawing/2014/main" id="{2FCA2A22-656B-8A54-15E5-79510203DB50}"/>
                </a:ext>
              </a:extLst>
            </p:cNvPr>
            <p:cNvSpPr txBox="1">
              <a:spLocks/>
            </p:cNvSpPr>
            <p:nvPr/>
          </p:nvSpPr>
          <p:spPr>
            <a:xfrm>
              <a:off x="5432541" y="3031079"/>
              <a:ext cx="2443298"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Price per Share</a:t>
              </a:r>
            </a:p>
          </p:txBody>
        </p:sp>
        <p:sp>
          <p:nvSpPr>
            <p:cNvPr id="9" name="TextBox 8">
              <a:extLst>
                <a:ext uri="{FF2B5EF4-FFF2-40B4-BE49-F238E27FC236}">
                  <a16:creationId xmlns:a16="http://schemas.microsoft.com/office/drawing/2014/main" id="{A401879A-7F71-EBBE-C95D-3C4200AE3E6E}"/>
                </a:ext>
              </a:extLst>
            </p:cNvPr>
            <p:cNvSpPr txBox="1">
              <a:spLocks/>
            </p:cNvSpPr>
            <p:nvPr/>
          </p:nvSpPr>
          <p:spPr>
            <a:xfrm>
              <a:off x="5421176" y="3579040"/>
              <a:ext cx="2494594"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Sales per Share</a:t>
              </a:r>
              <a:endParaRPr lang="en-US" sz="2400" b="1" dirty="0">
                <a:solidFill>
                  <a:srgbClr val="C00000"/>
                </a:solidFill>
              </a:endParaRPr>
            </a:p>
          </p:txBody>
        </p:sp>
        <p:cxnSp>
          <p:nvCxnSpPr>
            <p:cNvPr id="10" name="Straight Connector 9">
              <a:extLst>
                <a:ext uri="{FF2B5EF4-FFF2-40B4-BE49-F238E27FC236}">
                  <a16:creationId xmlns:a16="http://schemas.microsoft.com/office/drawing/2014/main" id="{A98C96AE-5816-A03C-77CE-6EB0B193A323}"/>
                </a:ext>
              </a:extLst>
            </p:cNvPr>
            <p:cNvCxnSpPr>
              <a:cxnSpLocks/>
            </p:cNvCxnSpPr>
            <p:nvPr/>
          </p:nvCxnSpPr>
          <p:spPr>
            <a:xfrm>
              <a:off x="4606879" y="3535273"/>
              <a:ext cx="409462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40960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58D83-F304-4118-F47B-F2147C895E0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39D4B57-56E8-E494-B1A4-4F76AFA49FFC}"/>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6C4B8D-266F-C092-12DF-7505FC06A521}"/>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5-4. Market-to-Book-Ratio (M/B)</a:t>
            </a:r>
          </a:p>
        </p:txBody>
      </p:sp>
      <p:sp>
        <p:nvSpPr>
          <p:cNvPr id="15" name="TextBox 14">
            <a:extLst>
              <a:ext uri="{FF2B5EF4-FFF2-40B4-BE49-F238E27FC236}">
                <a16:creationId xmlns:a16="http://schemas.microsoft.com/office/drawing/2014/main" id="{0F55531B-DB86-5A53-AE84-D7FC60E12C74}"/>
              </a:ext>
            </a:extLst>
          </p:cNvPr>
          <p:cNvSpPr txBox="1"/>
          <p:nvPr/>
        </p:nvSpPr>
        <p:spPr>
          <a:xfrm>
            <a:off x="251636" y="2516556"/>
            <a:ext cx="11688727" cy="1600438"/>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The </a:t>
            </a:r>
            <a:r>
              <a:rPr lang="en-US" sz="2200" b="1" dirty="0">
                <a:latin typeface="Helvetica" pitchFamily="2" charset="0"/>
                <a:cs typeface="Times New Roman" panose="02020603050405020304" pitchFamily="18" charset="0"/>
              </a:rPr>
              <a:t>Market/Book (M/B) ratio</a:t>
            </a:r>
            <a:r>
              <a:rPr lang="en-US" sz="2200" dirty="0">
                <a:latin typeface="Helvetica" pitchFamily="2" charset="0"/>
                <a:cs typeface="Times New Roman" panose="02020603050405020304" pitchFamily="18" charset="0"/>
              </a:rPr>
              <a:t> compares a company’s market value (stock price) to its book value.</a:t>
            </a:r>
          </a:p>
          <a:p>
            <a:pPr marL="342900" indent="-342900">
              <a:spcBef>
                <a:spcPts val="600"/>
              </a:spcBef>
              <a:spcAft>
                <a:spcPts val="600"/>
              </a:spcAft>
              <a:buFont typeface="Arial" panose="020B0604020202020204" pitchFamily="34" charset="0"/>
              <a:buChar char="•"/>
            </a:pPr>
            <a:r>
              <a:rPr lang="en-US" sz="2200" dirty="0">
                <a:latin typeface="Helvetica" pitchFamily="2" charset="0"/>
                <a:cs typeface="Times New Roman" panose="02020603050405020304" pitchFamily="18" charset="0"/>
              </a:rPr>
              <a:t>It gives insight into how the market values the company's assets relative to their historical cost. </a:t>
            </a:r>
          </a:p>
        </p:txBody>
      </p:sp>
      <p:sp>
        <p:nvSpPr>
          <p:cNvPr id="4" name="TextBox 3">
            <a:extLst>
              <a:ext uri="{FF2B5EF4-FFF2-40B4-BE49-F238E27FC236}">
                <a16:creationId xmlns:a16="http://schemas.microsoft.com/office/drawing/2014/main" id="{978F41BD-01B1-4CB5-CAE9-591DD1AC6DAA}"/>
              </a:ext>
            </a:extLst>
          </p:cNvPr>
          <p:cNvSpPr txBox="1"/>
          <p:nvPr/>
        </p:nvSpPr>
        <p:spPr>
          <a:xfrm>
            <a:off x="251635" y="4227341"/>
            <a:ext cx="11688727" cy="1785104"/>
          </a:xfrm>
          <a:prstGeom prst="rect">
            <a:avLst/>
          </a:prstGeom>
          <a:noFill/>
        </p:spPr>
        <p:txBody>
          <a:bodyPr wrap="square" rtlCol="0">
            <a:spAutoFit/>
          </a:bodyPr>
          <a:lstStyle/>
          <a:p>
            <a:pPr marL="342900" indent="-342900">
              <a:lnSpc>
                <a:spcPct val="100000"/>
              </a:lnSpc>
              <a:spcBef>
                <a:spcPts val="600"/>
              </a:spcBef>
              <a:spcAft>
                <a:spcPts val="600"/>
              </a:spcAft>
              <a:buFont typeface="Arial" panose="020B0604020202020204" pitchFamily="34" charset="0"/>
              <a:buChar char="•"/>
            </a:pPr>
            <a:r>
              <a:rPr lang="en-US" sz="2000" b="1" dirty="0">
                <a:latin typeface="Helvetica" pitchFamily="2" charset="0"/>
                <a:cs typeface="Times New Roman" panose="02020603050405020304" pitchFamily="18" charset="0"/>
              </a:rPr>
              <a:t>Key Points:</a:t>
            </a:r>
          </a:p>
          <a:p>
            <a:pPr marL="800100" lvl="1" indent="-342900">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High M/B ratios </a:t>
            </a:r>
            <a:r>
              <a:rPr lang="en-US" sz="2000" dirty="0">
                <a:latin typeface="Helvetica" pitchFamily="2" charset="0"/>
                <a:cs typeface="Times New Roman" panose="02020603050405020304" pitchFamily="18" charset="0"/>
                <a:sym typeface="Wingdings" pitchFamily="2" charset="2"/>
              </a:rPr>
              <a:t> I</a:t>
            </a:r>
            <a:r>
              <a:rPr lang="en-US" sz="2000" dirty="0">
                <a:latin typeface="Helvetica" pitchFamily="2" charset="0"/>
                <a:cs typeface="Times New Roman" panose="02020603050405020304" pitchFamily="18" charset="0"/>
              </a:rPr>
              <a:t>nvestors view the company as having high growth potential and low risk.</a:t>
            </a:r>
          </a:p>
          <a:p>
            <a:pPr marL="800100" lvl="1" indent="-342900">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Reflects market value relative to accounting value.</a:t>
            </a:r>
          </a:p>
          <a:p>
            <a:pPr marL="800100" lvl="1" indent="-342900">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Companies with strong growth prospects tend to have M/B ratios greater than 1.</a:t>
            </a:r>
            <a:endParaRPr lang="en-US" sz="2000" dirty="0">
              <a:latin typeface="Helvetica" pitchFamily="2" charset="0"/>
            </a:endParaRPr>
          </a:p>
        </p:txBody>
      </p:sp>
      <p:grpSp>
        <p:nvGrpSpPr>
          <p:cNvPr id="3" name="Group 2">
            <a:extLst>
              <a:ext uri="{FF2B5EF4-FFF2-40B4-BE49-F238E27FC236}">
                <a16:creationId xmlns:a16="http://schemas.microsoft.com/office/drawing/2014/main" id="{0033034C-0C3B-0FA3-BE07-92E0D638015D}"/>
              </a:ext>
            </a:extLst>
          </p:cNvPr>
          <p:cNvGrpSpPr/>
          <p:nvPr/>
        </p:nvGrpSpPr>
        <p:grpSpPr>
          <a:xfrm>
            <a:off x="1926771" y="1396583"/>
            <a:ext cx="7770807" cy="1009626"/>
            <a:chOff x="930693" y="3031079"/>
            <a:chExt cx="7770807" cy="1009626"/>
          </a:xfrm>
        </p:grpSpPr>
        <p:sp>
          <p:nvSpPr>
            <p:cNvPr id="5" name="TextBox 4">
              <a:extLst>
                <a:ext uri="{FF2B5EF4-FFF2-40B4-BE49-F238E27FC236}">
                  <a16:creationId xmlns:a16="http://schemas.microsoft.com/office/drawing/2014/main" id="{942AC2CE-C3FD-702F-588C-42595B697DD5}"/>
                </a:ext>
              </a:extLst>
            </p:cNvPr>
            <p:cNvSpPr txBox="1">
              <a:spLocks/>
            </p:cNvSpPr>
            <p:nvPr/>
          </p:nvSpPr>
          <p:spPr>
            <a:xfrm>
              <a:off x="930693" y="3315326"/>
              <a:ext cx="3296778" cy="461665"/>
            </a:xfrm>
            <a:prstGeom prst="rect">
              <a:avLst/>
            </a:prstGeom>
            <a:noFill/>
          </p:spPr>
          <p:txBody>
            <a:bodyPr wrap="square" rtlCol="0">
              <a:spAutoFit/>
            </a:bodyPr>
            <a:lstStyle/>
            <a:p>
              <a:pPr algn="ctr"/>
              <a:r>
                <a:rPr lang="en-US" sz="2400" b="1" dirty="0">
                  <a:solidFill>
                    <a:srgbClr val="C00000"/>
                  </a:solidFill>
                  <a:latin typeface="Helvetica" pitchFamily="2" charset="0"/>
                  <a:cs typeface="Times New Roman" panose="02020603050405020304" pitchFamily="18" charset="0"/>
                </a:rPr>
                <a:t>Market-to-Book-Ratio</a:t>
              </a:r>
            </a:p>
          </p:txBody>
        </p:sp>
        <p:sp>
          <p:nvSpPr>
            <p:cNvPr id="7" name="TextBox 6">
              <a:extLst>
                <a:ext uri="{FF2B5EF4-FFF2-40B4-BE49-F238E27FC236}">
                  <a16:creationId xmlns:a16="http://schemas.microsoft.com/office/drawing/2014/main" id="{6268A353-55D4-83E7-1B69-5F8F2CC7A1C5}"/>
                </a:ext>
              </a:extLst>
            </p:cNvPr>
            <p:cNvSpPr txBox="1"/>
            <p:nvPr/>
          </p:nvSpPr>
          <p:spPr>
            <a:xfrm>
              <a:off x="4170723" y="3307534"/>
              <a:ext cx="297455" cy="461665"/>
            </a:xfrm>
            <a:prstGeom prst="rect">
              <a:avLst/>
            </a:prstGeom>
            <a:noFill/>
          </p:spPr>
          <p:txBody>
            <a:bodyPr wrap="square" rtlCol="0">
              <a:spAutoFit/>
            </a:bodyPr>
            <a:lstStyle/>
            <a:p>
              <a:r>
                <a:rPr lang="en-US" sz="2400" b="1" dirty="0">
                  <a:solidFill>
                    <a:srgbClr val="C00000"/>
                  </a:solidFill>
                </a:rPr>
                <a:t>=</a:t>
              </a:r>
            </a:p>
          </p:txBody>
        </p:sp>
        <p:sp>
          <p:nvSpPr>
            <p:cNvPr id="8" name="TextBox 7">
              <a:extLst>
                <a:ext uri="{FF2B5EF4-FFF2-40B4-BE49-F238E27FC236}">
                  <a16:creationId xmlns:a16="http://schemas.microsoft.com/office/drawing/2014/main" id="{61FE7B65-C6A5-ACDE-E500-0BD0B9AE0E70}"/>
                </a:ext>
              </a:extLst>
            </p:cNvPr>
            <p:cNvSpPr txBox="1">
              <a:spLocks/>
            </p:cNvSpPr>
            <p:nvPr/>
          </p:nvSpPr>
          <p:spPr>
            <a:xfrm>
              <a:off x="5620511" y="3031079"/>
              <a:ext cx="2067362"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Market Value</a:t>
              </a:r>
            </a:p>
          </p:txBody>
        </p:sp>
        <p:sp>
          <p:nvSpPr>
            <p:cNvPr id="9" name="TextBox 8">
              <a:extLst>
                <a:ext uri="{FF2B5EF4-FFF2-40B4-BE49-F238E27FC236}">
                  <a16:creationId xmlns:a16="http://schemas.microsoft.com/office/drawing/2014/main" id="{CA7D53B6-BFFB-B21E-8DA1-A26305E2484D}"/>
                </a:ext>
              </a:extLst>
            </p:cNvPr>
            <p:cNvSpPr txBox="1">
              <a:spLocks/>
            </p:cNvSpPr>
            <p:nvPr/>
          </p:nvSpPr>
          <p:spPr>
            <a:xfrm>
              <a:off x="5747005" y="3579040"/>
              <a:ext cx="1842940"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Book Value</a:t>
              </a:r>
              <a:endParaRPr lang="en-US" sz="2400" b="1" dirty="0">
                <a:solidFill>
                  <a:srgbClr val="C00000"/>
                </a:solidFill>
              </a:endParaRPr>
            </a:p>
          </p:txBody>
        </p:sp>
        <p:cxnSp>
          <p:nvCxnSpPr>
            <p:cNvPr id="10" name="Straight Connector 9">
              <a:extLst>
                <a:ext uri="{FF2B5EF4-FFF2-40B4-BE49-F238E27FC236}">
                  <a16:creationId xmlns:a16="http://schemas.microsoft.com/office/drawing/2014/main" id="{636DAC5F-A05A-0FEA-76D3-43D77BA0747F}"/>
                </a:ext>
              </a:extLst>
            </p:cNvPr>
            <p:cNvCxnSpPr>
              <a:cxnSpLocks/>
            </p:cNvCxnSpPr>
            <p:nvPr/>
          </p:nvCxnSpPr>
          <p:spPr>
            <a:xfrm>
              <a:off x="4606879" y="3535273"/>
              <a:ext cx="409462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5809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9236F-8723-421D-C88A-048382DB45F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7A096AD-5E73-76E2-816F-8AC19A2CDB76}"/>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07C2DF-BBA3-5CDB-B7F6-EF49EC9230A5}"/>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5-5. Tobin’s Q Ratio</a:t>
            </a:r>
          </a:p>
        </p:txBody>
      </p:sp>
      <p:sp>
        <p:nvSpPr>
          <p:cNvPr id="15" name="TextBox 14">
            <a:extLst>
              <a:ext uri="{FF2B5EF4-FFF2-40B4-BE49-F238E27FC236}">
                <a16:creationId xmlns:a16="http://schemas.microsoft.com/office/drawing/2014/main" id="{CC2F659A-A91A-4618-F9CD-D5E31FAC5FCA}"/>
              </a:ext>
            </a:extLst>
          </p:cNvPr>
          <p:cNvSpPr txBox="1"/>
          <p:nvPr/>
        </p:nvSpPr>
        <p:spPr>
          <a:xfrm>
            <a:off x="251636" y="2516556"/>
            <a:ext cx="11688727" cy="923330"/>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200" dirty="0">
                <a:latin typeface="Helvetica" pitchFamily="2" charset="0"/>
              </a:rPr>
              <a:t>Measures the </a:t>
            </a:r>
            <a:r>
              <a:rPr lang="en-US" sz="2200" b="1" dirty="0">
                <a:latin typeface="Helvetica" pitchFamily="2" charset="0"/>
              </a:rPr>
              <a:t>market value of a firm relative to the replacement cost of its assets</a:t>
            </a:r>
            <a:endParaRPr lang="en-US" sz="2200" dirty="0">
              <a:latin typeface="Helvetica" pitchFamily="2" charset="0"/>
            </a:endParaRPr>
          </a:p>
          <a:p>
            <a:pPr marL="342900" indent="-342900">
              <a:spcBef>
                <a:spcPts val="600"/>
              </a:spcBef>
              <a:spcAft>
                <a:spcPts val="600"/>
              </a:spcAft>
              <a:buFont typeface="Arial" panose="020B0604020202020204" pitchFamily="34" charset="0"/>
              <a:buChar char="•"/>
            </a:pPr>
            <a:r>
              <a:rPr lang="en-US" sz="2200" dirty="0">
                <a:latin typeface="Helvetica" pitchFamily="2" charset="0"/>
              </a:rPr>
              <a:t>Indicates whether the market values the firm </a:t>
            </a:r>
            <a:r>
              <a:rPr lang="en-US" sz="2200" b="1" dirty="0">
                <a:latin typeface="Helvetica" pitchFamily="2" charset="0"/>
              </a:rPr>
              <a:t>more or less than the cost of its assets</a:t>
            </a:r>
            <a:endParaRPr lang="en-US" sz="2200" dirty="0">
              <a:latin typeface="Helvetica" pitchFamily="2" charset="0"/>
            </a:endParaRPr>
          </a:p>
        </p:txBody>
      </p:sp>
      <p:sp>
        <p:nvSpPr>
          <p:cNvPr id="4" name="TextBox 3">
            <a:extLst>
              <a:ext uri="{FF2B5EF4-FFF2-40B4-BE49-F238E27FC236}">
                <a16:creationId xmlns:a16="http://schemas.microsoft.com/office/drawing/2014/main" id="{C88B0E95-B6CA-55B7-5A34-DBAFF3A48CE9}"/>
              </a:ext>
            </a:extLst>
          </p:cNvPr>
          <p:cNvSpPr txBox="1"/>
          <p:nvPr/>
        </p:nvSpPr>
        <p:spPr>
          <a:xfrm>
            <a:off x="251635" y="3628627"/>
            <a:ext cx="11688727" cy="2862322"/>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000" b="1" dirty="0">
                <a:latin typeface="Helvetica" pitchFamily="2" charset="0"/>
              </a:rPr>
              <a:t>Q &gt; 1</a:t>
            </a:r>
            <a:r>
              <a:rPr lang="en-US" sz="2000" dirty="0">
                <a:latin typeface="Helvetica" pitchFamily="2" charset="0"/>
              </a:rPr>
              <a:t>: Market values the firm more than its asset cost</a:t>
            </a:r>
          </a:p>
          <a:p>
            <a:pPr marL="1257300" lvl="2" indent="-342900">
              <a:spcBef>
                <a:spcPts val="600"/>
              </a:spcBef>
              <a:spcAft>
                <a:spcPts val="600"/>
              </a:spcAft>
              <a:buFont typeface="Arial" panose="020B0604020202020204" pitchFamily="34" charset="0"/>
              <a:buChar char="•"/>
            </a:pPr>
            <a:r>
              <a:rPr lang="en-US" sz="2000" dirty="0">
                <a:latin typeface="Helvetica" pitchFamily="2" charset="0"/>
              </a:rPr>
              <a:t>Suggests strong growth opportunities or intangible assets</a:t>
            </a:r>
          </a:p>
          <a:p>
            <a:pPr marL="1257300" lvl="2" indent="-342900">
              <a:spcBef>
                <a:spcPts val="600"/>
              </a:spcBef>
              <a:spcAft>
                <a:spcPts val="600"/>
              </a:spcAft>
              <a:buFont typeface="Arial" panose="020B0604020202020204" pitchFamily="34" charset="0"/>
              <a:buChar char="•"/>
            </a:pPr>
            <a:r>
              <a:rPr lang="en-US" sz="2000" dirty="0">
                <a:latin typeface="Helvetica" pitchFamily="2" charset="0"/>
              </a:rPr>
              <a:t>Higher Q encourages new investment</a:t>
            </a:r>
          </a:p>
          <a:p>
            <a:pPr marL="342900" indent="-342900">
              <a:spcBef>
                <a:spcPts val="1800"/>
              </a:spcBef>
              <a:spcAft>
                <a:spcPts val="600"/>
              </a:spcAft>
              <a:buFont typeface="Arial" panose="020B0604020202020204" pitchFamily="34" charset="0"/>
              <a:buChar char="•"/>
            </a:pPr>
            <a:r>
              <a:rPr lang="en-US" sz="2000" b="1" dirty="0">
                <a:latin typeface="Helvetica" pitchFamily="2" charset="0"/>
              </a:rPr>
              <a:t>Q &lt; 1</a:t>
            </a:r>
            <a:r>
              <a:rPr lang="en-US" sz="2000" dirty="0">
                <a:latin typeface="Helvetica" pitchFamily="2" charset="0"/>
              </a:rPr>
              <a:t>: Market values the firm below asset replacement cost</a:t>
            </a:r>
          </a:p>
          <a:p>
            <a:pPr marL="1257300" lvl="2" indent="-342900">
              <a:spcBef>
                <a:spcPts val="600"/>
              </a:spcBef>
              <a:spcAft>
                <a:spcPts val="600"/>
              </a:spcAft>
              <a:buFont typeface="Arial" panose="020B0604020202020204" pitchFamily="34" charset="0"/>
              <a:buChar char="•"/>
            </a:pPr>
            <a:r>
              <a:rPr lang="en-US" sz="2000" dirty="0">
                <a:latin typeface="Helvetica" pitchFamily="2" charset="0"/>
              </a:rPr>
              <a:t>Indicates poor growth prospects or undervaluation</a:t>
            </a:r>
          </a:p>
          <a:p>
            <a:pPr marL="1257300" lvl="2" indent="-342900">
              <a:spcBef>
                <a:spcPts val="600"/>
              </a:spcBef>
              <a:spcAft>
                <a:spcPts val="600"/>
              </a:spcAft>
              <a:buFont typeface="Arial" panose="020B0604020202020204" pitchFamily="34" charset="0"/>
              <a:buChar char="•"/>
            </a:pPr>
            <a:r>
              <a:rPr lang="en-US" sz="2000" dirty="0">
                <a:latin typeface="Helvetica" pitchFamily="2" charset="0"/>
              </a:rPr>
              <a:t>Lower Q discourages investment</a:t>
            </a:r>
          </a:p>
        </p:txBody>
      </p:sp>
      <p:grpSp>
        <p:nvGrpSpPr>
          <p:cNvPr id="3" name="Group 2">
            <a:extLst>
              <a:ext uri="{FF2B5EF4-FFF2-40B4-BE49-F238E27FC236}">
                <a16:creationId xmlns:a16="http://schemas.microsoft.com/office/drawing/2014/main" id="{3DA8918B-CCFB-35FC-7EC8-4E26C7D682D1}"/>
              </a:ext>
            </a:extLst>
          </p:cNvPr>
          <p:cNvGrpSpPr/>
          <p:nvPr/>
        </p:nvGrpSpPr>
        <p:grpSpPr>
          <a:xfrm>
            <a:off x="2494421" y="1396583"/>
            <a:ext cx="7335922" cy="1009626"/>
            <a:chOff x="1498343" y="3031079"/>
            <a:chExt cx="7335922" cy="1009626"/>
          </a:xfrm>
        </p:grpSpPr>
        <p:sp>
          <p:nvSpPr>
            <p:cNvPr id="5" name="TextBox 4">
              <a:extLst>
                <a:ext uri="{FF2B5EF4-FFF2-40B4-BE49-F238E27FC236}">
                  <a16:creationId xmlns:a16="http://schemas.microsoft.com/office/drawing/2014/main" id="{36F8E131-A2A1-1AE6-3273-37FA675880D9}"/>
                </a:ext>
              </a:extLst>
            </p:cNvPr>
            <p:cNvSpPr txBox="1">
              <a:spLocks/>
            </p:cNvSpPr>
            <p:nvPr/>
          </p:nvSpPr>
          <p:spPr>
            <a:xfrm>
              <a:off x="1498343" y="3315326"/>
              <a:ext cx="2729127" cy="461665"/>
            </a:xfrm>
            <a:prstGeom prst="rect">
              <a:avLst/>
            </a:prstGeom>
            <a:noFill/>
          </p:spPr>
          <p:txBody>
            <a:bodyPr wrap="square" rtlCol="0">
              <a:spAutoFit/>
            </a:bodyPr>
            <a:lstStyle/>
            <a:p>
              <a:pPr algn="ctr"/>
              <a:r>
                <a:rPr lang="en-US" sz="2400" b="1" dirty="0">
                  <a:solidFill>
                    <a:srgbClr val="C00000"/>
                  </a:solidFill>
                  <a:latin typeface="Helvetica" pitchFamily="2" charset="0"/>
                  <a:cs typeface="Times New Roman" panose="02020603050405020304" pitchFamily="18" charset="0"/>
                </a:rPr>
                <a:t>Tobin’s Q  Ratio</a:t>
              </a:r>
            </a:p>
          </p:txBody>
        </p:sp>
        <p:sp>
          <p:nvSpPr>
            <p:cNvPr id="7" name="TextBox 6">
              <a:extLst>
                <a:ext uri="{FF2B5EF4-FFF2-40B4-BE49-F238E27FC236}">
                  <a16:creationId xmlns:a16="http://schemas.microsoft.com/office/drawing/2014/main" id="{A859867A-A113-A515-C536-B99ED6142850}"/>
                </a:ext>
              </a:extLst>
            </p:cNvPr>
            <p:cNvSpPr txBox="1"/>
            <p:nvPr/>
          </p:nvSpPr>
          <p:spPr>
            <a:xfrm>
              <a:off x="4170723" y="3307534"/>
              <a:ext cx="297455" cy="461665"/>
            </a:xfrm>
            <a:prstGeom prst="rect">
              <a:avLst/>
            </a:prstGeom>
            <a:noFill/>
          </p:spPr>
          <p:txBody>
            <a:bodyPr wrap="square" rtlCol="0">
              <a:spAutoFit/>
            </a:bodyPr>
            <a:lstStyle/>
            <a:p>
              <a:r>
                <a:rPr lang="en-US" sz="2400" b="1" dirty="0">
                  <a:solidFill>
                    <a:srgbClr val="C00000"/>
                  </a:solidFill>
                </a:rPr>
                <a:t>=</a:t>
              </a:r>
            </a:p>
          </p:txBody>
        </p:sp>
        <p:sp>
          <p:nvSpPr>
            <p:cNvPr id="8" name="TextBox 7">
              <a:extLst>
                <a:ext uri="{FF2B5EF4-FFF2-40B4-BE49-F238E27FC236}">
                  <a16:creationId xmlns:a16="http://schemas.microsoft.com/office/drawing/2014/main" id="{835A54BF-6F72-8F8D-F54B-712BFD90CDA6}"/>
                </a:ext>
              </a:extLst>
            </p:cNvPr>
            <p:cNvSpPr txBox="1">
              <a:spLocks/>
            </p:cNvSpPr>
            <p:nvPr/>
          </p:nvSpPr>
          <p:spPr>
            <a:xfrm>
              <a:off x="4890378" y="3031079"/>
              <a:ext cx="3527633"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Market Value of Assets</a:t>
              </a:r>
            </a:p>
          </p:txBody>
        </p:sp>
        <p:sp>
          <p:nvSpPr>
            <p:cNvPr id="9" name="TextBox 8">
              <a:extLst>
                <a:ext uri="{FF2B5EF4-FFF2-40B4-BE49-F238E27FC236}">
                  <a16:creationId xmlns:a16="http://schemas.microsoft.com/office/drawing/2014/main" id="{F74D8924-8A91-4126-AB37-551AB1E2714E}"/>
                </a:ext>
              </a:extLst>
            </p:cNvPr>
            <p:cNvSpPr txBox="1">
              <a:spLocks/>
            </p:cNvSpPr>
            <p:nvPr/>
          </p:nvSpPr>
          <p:spPr>
            <a:xfrm>
              <a:off x="4502695" y="3579040"/>
              <a:ext cx="4331570" cy="461665"/>
            </a:xfrm>
            <a:prstGeom prst="rect">
              <a:avLst/>
            </a:prstGeom>
            <a:noFill/>
          </p:spPr>
          <p:txBody>
            <a:bodyPr wrap="none" rtlCol="0">
              <a:spAutoFit/>
            </a:bodyPr>
            <a:lstStyle/>
            <a:p>
              <a:pPr algn="ctr"/>
              <a:r>
                <a:rPr lang="en-US" sz="2400" b="1" dirty="0">
                  <a:solidFill>
                    <a:srgbClr val="C00000"/>
                  </a:solidFill>
                  <a:latin typeface="Helvetica" pitchFamily="2" charset="0"/>
                  <a:cs typeface="Times New Roman" panose="02020603050405020304" pitchFamily="18" charset="0"/>
                </a:rPr>
                <a:t>Replacement Cost of Assets</a:t>
              </a:r>
              <a:endParaRPr lang="en-US" sz="2400" b="1" dirty="0">
                <a:solidFill>
                  <a:srgbClr val="C00000"/>
                </a:solidFill>
              </a:endParaRPr>
            </a:p>
          </p:txBody>
        </p:sp>
        <p:cxnSp>
          <p:nvCxnSpPr>
            <p:cNvPr id="10" name="Straight Connector 9">
              <a:extLst>
                <a:ext uri="{FF2B5EF4-FFF2-40B4-BE49-F238E27FC236}">
                  <a16:creationId xmlns:a16="http://schemas.microsoft.com/office/drawing/2014/main" id="{BFBBCB3E-6916-9E3F-2A26-93E4F77CFBEE}"/>
                </a:ext>
              </a:extLst>
            </p:cNvPr>
            <p:cNvCxnSpPr>
              <a:cxnSpLocks/>
            </p:cNvCxnSpPr>
            <p:nvPr/>
          </p:nvCxnSpPr>
          <p:spPr>
            <a:xfrm>
              <a:off x="4606879" y="3535273"/>
              <a:ext cx="409462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593270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financial ratio overview&#10;&#10;AI-generated content may be incorrect.">
            <a:extLst>
              <a:ext uri="{FF2B5EF4-FFF2-40B4-BE49-F238E27FC236}">
                <a16:creationId xmlns:a16="http://schemas.microsoft.com/office/drawing/2014/main" id="{AE72FC3C-825B-A12C-CE62-5C6570DA6D3C}"/>
              </a:ext>
            </a:extLst>
          </p:cNvPr>
          <p:cNvPicPr>
            <a:picLocks noChangeAspect="1"/>
          </p:cNvPicPr>
          <p:nvPr/>
        </p:nvPicPr>
        <p:blipFill>
          <a:blip r:embed="rId2"/>
          <a:stretch>
            <a:fillRect/>
          </a:stretch>
        </p:blipFill>
        <p:spPr>
          <a:xfrm>
            <a:off x="1066800" y="76200"/>
            <a:ext cx="10058400" cy="6705600"/>
          </a:xfrm>
          <a:prstGeom prst="rect">
            <a:avLst/>
          </a:prstGeom>
        </p:spPr>
      </p:pic>
    </p:spTree>
    <p:extLst>
      <p:ext uri="{BB962C8B-B14F-4D97-AF65-F5344CB8AC3E}">
        <p14:creationId xmlns:p14="http://schemas.microsoft.com/office/powerpoint/2010/main" val="7870737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3CDFD-F8DC-0651-53F2-9B6625F6770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F45197F-F36C-4160-BBBB-AA066EA728B6}"/>
              </a:ext>
            </a:extLst>
          </p:cNvPr>
          <p:cNvSpPr/>
          <p:nvPr/>
        </p:nvSpPr>
        <p:spPr>
          <a:xfrm>
            <a:off x="0" y="-2"/>
            <a:ext cx="12192000" cy="1366795"/>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D476E3-4BC2-5EC8-3ED2-BE5C8D0BB479}"/>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DuPont Equation</a:t>
            </a:r>
          </a:p>
        </p:txBody>
      </p:sp>
      <p:sp>
        <p:nvSpPr>
          <p:cNvPr id="15" name="TextBox 14">
            <a:extLst>
              <a:ext uri="{FF2B5EF4-FFF2-40B4-BE49-F238E27FC236}">
                <a16:creationId xmlns:a16="http://schemas.microsoft.com/office/drawing/2014/main" id="{8D655C93-D236-BCF5-66F6-9B6238E87E4E}"/>
              </a:ext>
            </a:extLst>
          </p:cNvPr>
          <p:cNvSpPr txBox="1"/>
          <p:nvPr/>
        </p:nvSpPr>
        <p:spPr>
          <a:xfrm>
            <a:off x="251634" y="1558858"/>
            <a:ext cx="11688727" cy="400110"/>
          </a:xfrm>
          <a:prstGeom prst="rect">
            <a:avLst/>
          </a:prstGeom>
          <a:noFill/>
        </p:spPr>
        <p:txBody>
          <a:bodyPr wrap="square" rtlCol="0">
            <a:spAutoFit/>
          </a:bodyPr>
          <a:lstStyle/>
          <a:p>
            <a:pPr marL="342900" indent="-342900">
              <a:lnSpc>
                <a:spcPct val="100000"/>
              </a:lnSpc>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The DuPont equation breaks down Return on Equity (ROE) into three key components:</a:t>
            </a:r>
          </a:p>
        </p:txBody>
      </p:sp>
      <p:sp>
        <p:nvSpPr>
          <p:cNvPr id="4" name="TextBox 3">
            <a:extLst>
              <a:ext uri="{FF2B5EF4-FFF2-40B4-BE49-F238E27FC236}">
                <a16:creationId xmlns:a16="http://schemas.microsoft.com/office/drawing/2014/main" id="{8C131BF9-10E9-A2B9-80AA-C9E7A2F64729}"/>
              </a:ext>
            </a:extLst>
          </p:cNvPr>
          <p:cNvSpPr txBox="1"/>
          <p:nvPr/>
        </p:nvSpPr>
        <p:spPr>
          <a:xfrm>
            <a:off x="251635" y="3587807"/>
            <a:ext cx="11688727" cy="3170099"/>
          </a:xfrm>
          <a:prstGeom prst="rect">
            <a:avLst/>
          </a:prstGeom>
          <a:noFill/>
        </p:spPr>
        <p:txBody>
          <a:bodyPr wrap="square" rtlCol="0">
            <a:spAutoFit/>
          </a:bodyPr>
          <a:lstStyle/>
          <a:p>
            <a:pPr marL="342900" indent="-342900">
              <a:lnSpc>
                <a:spcPct val="100000"/>
              </a:lnSpc>
              <a:spcBef>
                <a:spcPts val="600"/>
              </a:spcBef>
              <a:spcAft>
                <a:spcPts val="600"/>
              </a:spcAft>
              <a:buFont typeface="Arial" panose="020B0604020202020204" pitchFamily="34" charset="0"/>
              <a:buChar char="•"/>
            </a:pPr>
            <a:r>
              <a:rPr lang="en-US" sz="2000" b="1" dirty="0">
                <a:latin typeface="Helvetica" pitchFamily="2" charset="0"/>
                <a:cs typeface="Times New Roman" panose="02020603050405020304" pitchFamily="18" charset="0"/>
              </a:rPr>
              <a:t>Key Components:</a:t>
            </a:r>
            <a:endParaRPr lang="en-US" sz="2000" dirty="0">
              <a:latin typeface="Helvetica" pitchFamily="2" charset="0"/>
              <a:cs typeface="Times New Roman" panose="02020603050405020304" pitchFamily="18" charset="0"/>
            </a:endParaRPr>
          </a:p>
          <a:p>
            <a:pPr marL="800100" lvl="1" indent="-342900">
              <a:lnSpc>
                <a:spcPct val="100000"/>
              </a:lnSpc>
              <a:spcBef>
                <a:spcPts val="600"/>
              </a:spcBef>
              <a:spcAft>
                <a:spcPts val="600"/>
              </a:spcAft>
              <a:buFont typeface="Arial" panose="020B0604020202020204" pitchFamily="34" charset="0"/>
              <a:buChar char="•"/>
            </a:pPr>
            <a:r>
              <a:rPr lang="en-US" sz="2000" b="1" dirty="0">
                <a:latin typeface="Helvetica" pitchFamily="2" charset="0"/>
                <a:cs typeface="Times New Roman" panose="02020603050405020304" pitchFamily="18" charset="0"/>
              </a:rPr>
              <a:t>Profit Margin: </a:t>
            </a:r>
            <a:r>
              <a:rPr lang="en-US" sz="2000" dirty="0">
                <a:latin typeface="Helvetica" pitchFamily="2" charset="0"/>
                <a:cs typeface="Times New Roman" panose="02020603050405020304" pitchFamily="18" charset="0"/>
              </a:rPr>
              <a:t>Measures profitability per dollar of sales.</a:t>
            </a:r>
          </a:p>
          <a:p>
            <a:pPr marL="1257300" lvl="2" indent="-342900">
              <a:lnSpc>
                <a:spcPct val="100000"/>
              </a:lnSpc>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Higher profit margins indicate better cost control and premium pricing power.</a:t>
            </a:r>
          </a:p>
          <a:p>
            <a:pPr marL="800100" lvl="1" indent="-342900">
              <a:lnSpc>
                <a:spcPct val="100000"/>
              </a:lnSpc>
              <a:spcBef>
                <a:spcPts val="600"/>
              </a:spcBef>
              <a:spcAft>
                <a:spcPts val="600"/>
              </a:spcAft>
              <a:buFont typeface="Arial" panose="020B0604020202020204" pitchFamily="34" charset="0"/>
              <a:buChar char="•"/>
            </a:pPr>
            <a:r>
              <a:rPr lang="en-US" sz="2000" b="1" dirty="0">
                <a:latin typeface="Helvetica" pitchFamily="2" charset="0"/>
                <a:cs typeface="Times New Roman" panose="02020603050405020304" pitchFamily="18" charset="0"/>
              </a:rPr>
              <a:t>Total Asset Turnover: </a:t>
            </a:r>
            <a:r>
              <a:rPr lang="en-US" sz="2000" dirty="0">
                <a:latin typeface="Helvetica" pitchFamily="2" charset="0"/>
                <a:cs typeface="Times New Roman" panose="02020603050405020304" pitchFamily="18" charset="0"/>
              </a:rPr>
              <a:t>Measures how efficiently assets generate revenue.</a:t>
            </a:r>
          </a:p>
          <a:p>
            <a:pPr marL="1257300" lvl="2" indent="-342900">
              <a:lnSpc>
                <a:spcPct val="100000"/>
              </a:lnSpc>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Higher turnover means the firm uses assets effectively to drive sales.</a:t>
            </a:r>
          </a:p>
          <a:p>
            <a:pPr marL="800100" lvl="1" indent="-342900">
              <a:lnSpc>
                <a:spcPct val="100000"/>
              </a:lnSpc>
              <a:spcBef>
                <a:spcPts val="600"/>
              </a:spcBef>
              <a:spcAft>
                <a:spcPts val="600"/>
              </a:spcAft>
              <a:buFont typeface="Arial" panose="020B0604020202020204" pitchFamily="34" charset="0"/>
              <a:buChar char="•"/>
            </a:pPr>
            <a:r>
              <a:rPr lang="en-US" sz="2000" b="1" dirty="0">
                <a:latin typeface="Helvetica" pitchFamily="2" charset="0"/>
                <a:cs typeface="Times New Roman" panose="02020603050405020304" pitchFamily="18" charset="0"/>
              </a:rPr>
              <a:t>Equity Multiplier: Measures financial leverage (debt usage).</a:t>
            </a:r>
          </a:p>
          <a:p>
            <a:pPr marL="1257300" lvl="2" indent="-342900">
              <a:lnSpc>
                <a:spcPct val="100000"/>
              </a:lnSpc>
              <a:spcBef>
                <a:spcPts val="600"/>
              </a:spcBef>
              <a:spcAft>
                <a:spcPts val="600"/>
              </a:spcAft>
              <a:buFont typeface="Arial" panose="020B0604020202020204" pitchFamily="34" charset="0"/>
              <a:buChar char="•"/>
            </a:pPr>
            <a:r>
              <a:rPr lang="en-US" sz="2000" dirty="0">
                <a:latin typeface="Helvetica" pitchFamily="2" charset="0"/>
                <a:cs typeface="Times New Roman" panose="02020603050405020304" pitchFamily="18" charset="0"/>
              </a:rPr>
              <a:t>High leverage boosts ROE but also increases financial risk.</a:t>
            </a:r>
          </a:p>
        </p:txBody>
      </p:sp>
      <p:grpSp>
        <p:nvGrpSpPr>
          <p:cNvPr id="39" name="Group 38">
            <a:extLst>
              <a:ext uri="{FF2B5EF4-FFF2-40B4-BE49-F238E27FC236}">
                <a16:creationId xmlns:a16="http://schemas.microsoft.com/office/drawing/2014/main" id="{CB8B24EA-A104-AABC-E10E-CF42AF907C3F}"/>
              </a:ext>
            </a:extLst>
          </p:cNvPr>
          <p:cNvGrpSpPr/>
          <p:nvPr/>
        </p:nvGrpSpPr>
        <p:grpSpPr>
          <a:xfrm>
            <a:off x="2574276" y="2629025"/>
            <a:ext cx="7043442" cy="841239"/>
            <a:chOff x="2035322" y="2497860"/>
            <a:chExt cx="7043442" cy="841239"/>
          </a:xfrm>
        </p:grpSpPr>
        <p:grpSp>
          <p:nvGrpSpPr>
            <p:cNvPr id="12" name="Group 11">
              <a:extLst>
                <a:ext uri="{FF2B5EF4-FFF2-40B4-BE49-F238E27FC236}">
                  <a16:creationId xmlns:a16="http://schemas.microsoft.com/office/drawing/2014/main" id="{A05B6EAA-5031-0A54-D6F2-6C14CB1E8528}"/>
                </a:ext>
              </a:extLst>
            </p:cNvPr>
            <p:cNvGrpSpPr/>
            <p:nvPr/>
          </p:nvGrpSpPr>
          <p:grpSpPr>
            <a:xfrm>
              <a:off x="2035322" y="2497860"/>
              <a:ext cx="1824541" cy="830353"/>
              <a:chOff x="2572308" y="2415801"/>
              <a:chExt cx="1824541" cy="830353"/>
            </a:xfrm>
          </p:grpSpPr>
          <p:grpSp>
            <p:nvGrpSpPr>
              <p:cNvPr id="13" name="Group 12">
                <a:extLst>
                  <a:ext uri="{FF2B5EF4-FFF2-40B4-BE49-F238E27FC236}">
                    <a16:creationId xmlns:a16="http://schemas.microsoft.com/office/drawing/2014/main" id="{223F013F-29DC-119E-69E1-22AE8FEA0EC2}"/>
                  </a:ext>
                </a:extLst>
              </p:cNvPr>
              <p:cNvGrpSpPr/>
              <p:nvPr/>
            </p:nvGrpSpPr>
            <p:grpSpPr>
              <a:xfrm>
                <a:off x="2572308" y="2415801"/>
                <a:ext cx="1499230" cy="830353"/>
                <a:chOff x="4450394" y="3123149"/>
                <a:chExt cx="1499230" cy="830353"/>
              </a:xfrm>
            </p:grpSpPr>
            <p:sp>
              <p:nvSpPr>
                <p:cNvPr id="17" name="TextBox 16">
                  <a:extLst>
                    <a:ext uri="{FF2B5EF4-FFF2-40B4-BE49-F238E27FC236}">
                      <a16:creationId xmlns:a16="http://schemas.microsoft.com/office/drawing/2014/main" id="{D88497BA-5D13-452C-0AEF-228C439CD7F2}"/>
                    </a:ext>
                  </a:extLst>
                </p:cNvPr>
                <p:cNvSpPr txBox="1">
                  <a:spLocks/>
                </p:cNvSpPr>
                <p:nvPr/>
              </p:nvSpPr>
              <p:spPr>
                <a:xfrm>
                  <a:off x="4483205" y="3123149"/>
                  <a:ext cx="1428596" cy="369332"/>
                </a:xfrm>
                <a:prstGeom prst="rect">
                  <a:avLst/>
                </a:prstGeom>
                <a:noFill/>
              </p:spPr>
              <p:txBody>
                <a:bodyPr wrap="none" rtlCol="0">
                  <a:spAutoFit/>
                </a:bodyPr>
                <a:lstStyle/>
                <a:p>
                  <a:pPr algn="ctr"/>
                  <a:r>
                    <a:rPr lang="en-US" b="1" dirty="0">
                      <a:solidFill>
                        <a:srgbClr val="C00000"/>
                      </a:solidFill>
                      <a:latin typeface="Helvetica" pitchFamily="2" charset="0"/>
                      <a:cs typeface="Times New Roman" panose="02020603050405020304" pitchFamily="18" charset="0"/>
                    </a:rPr>
                    <a:t>Net Income</a:t>
                  </a:r>
                  <a:endParaRPr lang="en-US" b="1" dirty="0">
                    <a:solidFill>
                      <a:srgbClr val="C00000"/>
                    </a:solidFill>
                  </a:endParaRPr>
                </a:p>
              </p:txBody>
            </p:sp>
            <p:sp>
              <p:nvSpPr>
                <p:cNvPr id="18" name="TextBox 17">
                  <a:extLst>
                    <a:ext uri="{FF2B5EF4-FFF2-40B4-BE49-F238E27FC236}">
                      <a16:creationId xmlns:a16="http://schemas.microsoft.com/office/drawing/2014/main" id="{5F691433-EE16-BDC0-E5DE-EF78AFDAA976}"/>
                    </a:ext>
                  </a:extLst>
                </p:cNvPr>
                <p:cNvSpPr txBox="1">
                  <a:spLocks/>
                </p:cNvSpPr>
                <p:nvPr/>
              </p:nvSpPr>
              <p:spPr>
                <a:xfrm>
                  <a:off x="4457754" y="3584170"/>
                  <a:ext cx="1488549" cy="369332"/>
                </a:xfrm>
                <a:prstGeom prst="rect">
                  <a:avLst/>
                </a:prstGeom>
                <a:noFill/>
              </p:spPr>
              <p:txBody>
                <a:bodyPr wrap="none" rtlCol="0">
                  <a:spAutoFit/>
                </a:bodyPr>
                <a:lstStyle/>
                <a:p>
                  <a:pPr algn="ctr"/>
                  <a:r>
                    <a:rPr lang="en-US" b="1" dirty="0">
                      <a:solidFill>
                        <a:srgbClr val="C00000"/>
                      </a:solidFill>
                      <a:latin typeface="Helvetica" pitchFamily="2" charset="0"/>
                      <a:cs typeface="Times New Roman" panose="02020603050405020304" pitchFamily="18" charset="0"/>
                    </a:rPr>
                    <a:t>Total Equity</a:t>
                  </a:r>
                  <a:endParaRPr lang="en-US" b="1" dirty="0">
                    <a:solidFill>
                      <a:srgbClr val="C00000"/>
                    </a:solidFill>
                  </a:endParaRPr>
                </a:p>
              </p:txBody>
            </p:sp>
            <p:cxnSp>
              <p:nvCxnSpPr>
                <p:cNvPr id="19" name="Straight Connector 18">
                  <a:extLst>
                    <a:ext uri="{FF2B5EF4-FFF2-40B4-BE49-F238E27FC236}">
                      <a16:creationId xmlns:a16="http://schemas.microsoft.com/office/drawing/2014/main" id="{07512CC0-5049-E474-06E7-55E59F220D48}"/>
                    </a:ext>
                  </a:extLst>
                </p:cNvPr>
                <p:cNvCxnSpPr>
                  <a:cxnSpLocks/>
                </p:cNvCxnSpPr>
                <p:nvPr/>
              </p:nvCxnSpPr>
              <p:spPr>
                <a:xfrm>
                  <a:off x="4450394" y="3539733"/>
                  <a:ext cx="1499230" cy="639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4" name="TextBox 13">
                <a:extLst>
                  <a:ext uri="{FF2B5EF4-FFF2-40B4-BE49-F238E27FC236}">
                    <a16:creationId xmlns:a16="http://schemas.microsoft.com/office/drawing/2014/main" id="{B6D476F5-7BD5-877C-FFC1-AE5F10947008}"/>
                  </a:ext>
                </a:extLst>
              </p:cNvPr>
              <p:cNvSpPr txBox="1"/>
              <p:nvPr/>
            </p:nvSpPr>
            <p:spPr>
              <a:xfrm>
                <a:off x="4099394" y="2674547"/>
                <a:ext cx="297455" cy="369332"/>
              </a:xfrm>
              <a:prstGeom prst="rect">
                <a:avLst/>
              </a:prstGeom>
              <a:noFill/>
            </p:spPr>
            <p:txBody>
              <a:bodyPr wrap="square" rtlCol="0">
                <a:spAutoFit/>
              </a:bodyPr>
              <a:lstStyle/>
              <a:p>
                <a:pPr algn="ctr"/>
                <a:r>
                  <a:rPr lang="en-US" b="1" dirty="0"/>
                  <a:t>=</a:t>
                </a:r>
              </a:p>
            </p:txBody>
          </p:sp>
        </p:grpSp>
        <p:grpSp>
          <p:nvGrpSpPr>
            <p:cNvPr id="20" name="Group 19">
              <a:extLst>
                <a:ext uri="{FF2B5EF4-FFF2-40B4-BE49-F238E27FC236}">
                  <a16:creationId xmlns:a16="http://schemas.microsoft.com/office/drawing/2014/main" id="{0665FC02-72C2-9BC5-E222-FE2B80EFEFE8}"/>
                </a:ext>
              </a:extLst>
            </p:cNvPr>
            <p:cNvGrpSpPr/>
            <p:nvPr/>
          </p:nvGrpSpPr>
          <p:grpSpPr>
            <a:xfrm>
              <a:off x="3932082" y="2497860"/>
              <a:ext cx="1886834" cy="841239"/>
              <a:chOff x="1853375" y="2411433"/>
              <a:chExt cx="1886834" cy="841239"/>
            </a:xfrm>
          </p:grpSpPr>
          <p:grpSp>
            <p:nvGrpSpPr>
              <p:cNvPr id="21" name="Group 20">
                <a:extLst>
                  <a:ext uri="{FF2B5EF4-FFF2-40B4-BE49-F238E27FC236}">
                    <a16:creationId xmlns:a16="http://schemas.microsoft.com/office/drawing/2014/main" id="{8B033885-6DBE-8FB1-5663-69F48A0004A8}"/>
                  </a:ext>
                </a:extLst>
              </p:cNvPr>
              <p:cNvGrpSpPr/>
              <p:nvPr/>
            </p:nvGrpSpPr>
            <p:grpSpPr>
              <a:xfrm>
                <a:off x="1853375" y="2411433"/>
                <a:ext cx="1610120" cy="841239"/>
                <a:chOff x="3731461" y="3118781"/>
                <a:chExt cx="1610120" cy="841239"/>
              </a:xfrm>
            </p:grpSpPr>
            <p:sp>
              <p:nvSpPr>
                <p:cNvPr id="24" name="TextBox 23">
                  <a:extLst>
                    <a:ext uri="{FF2B5EF4-FFF2-40B4-BE49-F238E27FC236}">
                      <a16:creationId xmlns:a16="http://schemas.microsoft.com/office/drawing/2014/main" id="{39317E81-E06B-9178-1B14-B6151D3E1677}"/>
                    </a:ext>
                  </a:extLst>
                </p:cNvPr>
                <p:cNvSpPr txBox="1">
                  <a:spLocks/>
                </p:cNvSpPr>
                <p:nvPr/>
              </p:nvSpPr>
              <p:spPr>
                <a:xfrm>
                  <a:off x="3815041" y="3118781"/>
                  <a:ext cx="1428596" cy="369332"/>
                </a:xfrm>
                <a:prstGeom prst="rect">
                  <a:avLst/>
                </a:prstGeom>
                <a:noFill/>
              </p:spPr>
              <p:txBody>
                <a:bodyPr wrap="none" rtlCol="0">
                  <a:spAutoFit/>
                </a:bodyPr>
                <a:lstStyle/>
                <a:p>
                  <a:pPr algn="ctr"/>
                  <a:r>
                    <a:rPr lang="en-US" b="1" dirty="0">
                      <a:solidFill>
                        <a:schemeClr val="accent4">
                          <a:lumMod val="75000"/>
                        </a:schemeClr>
                      </a:solidFill>
                      <a:latin typeface="Helvetica" pitchFamily="2" charset="0"/>
                      <a:cs typeface="Times New Roman" panose="02020603050405020304" pitchFamily="18" charset="0"/>
                    </a:rPr>
                    <a:t>Net Income</a:t>
                  </a:r>
                  <a:endParaRPr lang="en-US" b="1" dirty="0">
                    <a:solidFill>
                      <a:schemeClr val="accent4">
                        <a:lumMod val="75000"/>
                      </a:schemeClr>
                    </a:solidFill>
                  </a:endParaRPr>
                </a:p>
              </p:txBody>
            </p:sp>
            <p:sp>
              <p:nvSpPr>
                <p:cNvPr id="25" name="TextBox 24">
                  <a:extLst>
                    <a:ext uri="{FF2B5EF4-FFF2-40B4-BE49-F238E27FC236}">
                      <a16:creationId xmlns:a16="http://schemas.microsoft.com/office/drawing/2014/main" id="{08B4CF9D-B05D-B806-FA05-41034D05AC72}"/>
                    </a:ext>
                  </a:extLst>
                </p:cNvPr>
                <p:cNvSpPr txBox="1">
                  <a:spLocks/>
                </p:cNvSpPr>
                <p:nvPr/>
              </p:nvSpPr>
              <p:spPr>
                <a:xfrm>
                  <a:off x="3919209" y="3590688"/>
                  <a:ext cx="1223412" cy="369332"/>
                </a:xfrm>
                <a:prstGeom prst="rect">
                  <a:avLst/>
                </a:prstGeom>
                <a:noFill/>
              </p:spPr>
              <p:txBody>
                <a:bodyPr wrap="none" rtlCol="0">
                  <a:spAutoFit/>
                </a:bodyPr>
                <a:lstStyle/>
                <a:p>
                  <a:pPr algn="ctr"/>
                  <a:r>
                    <a:rPr lang="en-US" b="1" dirty="0">
                      <a:solidFill>
                        <a:schemeClr val="accent4">
                          <a:lumMod val="75000"/>
                        </a:schemeClr>
                      </a:solidFill>
                      <a:latin typeface="Helvetica" pitchFamily="2" charset="0"/>
                      <a:cs typeface="Times New Roman" panose="02020603050405020304" pitchFamily="18" charset="0"/>
                    </a:rPr>
                    <a:t>Net Sales</a:t>
                  </a:r>
                  <a:endParaRPr lang="en-US" b="1" dirty="0">
                    <a:solidFill>
                      <a:schemeClr val="accent4">
                        <a:lumMod val="75000"/>
                      </a:schemeClr>
                    </a:solidFill>
                  </a:endParaRPr>
                </a:p>
              </p:txBody>
            </p:sp>
            <p:cxnSp>
              <p:nvCxnSpPr>
                <p:cNvPr id="26" name="Straight Connector 25">
                  <a:extLst>
                    <a:ext uri="{FF2B5EF4-FFF2-40B4-BE49-F238E27FC236}">
                      <a16:creationId xmlns:a16="http://schemas.microsoft.com/office/drawing/2014/main" id="{BB2C976C-235A-C029-6337-44E9BE45752E}"/>
                    </a:ext>
                  </a:extLst>
                </p:cNvPr>
                <p:cNvCxnSpPr>
                  <a:cxnSpLocks/>
                </p:cNvCxnSpPr>
                <p:nvPr/>
              </p:nvCxnSpPr>
              <p:spPr>
                <a:xfrm>
                  <a:off x="3731461" y="3535869"/>
                  <a:ext cx="161012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2" name="TextBox 21">
                <a:extLst>
                  <a:ext uri="{FF2B5EF4-FFF2-40B4-BE49-F238E27FC236}">
                    <a16:creationId xmlns:a16="http://schemas.microsoft.com/office/drawing/2014/main" id="{AFB52514-4DF7-099C-DCCB-634CE0BBDAE3}"/>
                  </a:ext>
                </a:extLst>
              </p:cNvPr>
              <p:cNvSpPr txBox="1"/>
              <p:nvPr/>
            </p:nvSpPr>
            <p:spPr>
              <a:xfrm>
                <a:off x="3442754" y="2640829"/>
                <a:ext cx="297455" cy="369332"/>
              </a:xfrm>
              <a:prstGeom prst="rect">
                <a:avLst/>
              </a:prstGeom>
              <a:noFill/>
            </p:spPr>
            <p:txBody>
              <a:bodyPr wrap="square" rtlCol="0">
                <a:spAutoFit/>
              </a:bodyPr>
              <a:lstStyle/>
              <a:p>
                <a:r>
                  <a:rPr lang="en-US" b="1" dirty="0">
                    <a:latin typeface="Helvetica" pitchFamily="2" charset="0"/>
                    <a:cs typeface="Times New Roman" panose="02020603050405020304" pitchFamily="18" charset="0"/>
                  </a:rPr>
                  <a:t>×</a:t>
                </a:r>
                <a:endParaRPr lang="en-US" b="1" dirty="0"/>
              </a:p>
            </p:txBody>
          </p:sp>
        </p:grpSp>
        <p:grpSp>
          <p:nvGrpSpPr>
            <p:cNvPr id="27" name="Group 26">
              <a:extLst>
                <a:ext uri="{FF2B5EF4-FFF2-40B4-BE49-F238E27FC236}">
                  <a16:creationId xmlns:a16="http://schemas.microsoft.com/office/drawing/2014/main" id="{E41F42D7-9773-A708-8BB0-6E68EFA1C328}"/>
                </a:ext>
              </a:extLst>
            </p:cNvPr>
            <p:cNvGrpSpPr/>
            <p:nvPr/>
          </p:nvGrpSpPr>
          <p:grpSpPr>
            <a:xfrm>
              <a:off x="5798885" y="2497860"/>
              <a:ext cx="1757418" cy="830353"/>
              <a:chOff x="977103" y="2411433"/>
              <a:chExt cx="1757418" cy="830353"/>
            </a:xfrm>
          </p:grpSpPr>
          <p:grpSp>
            <p:nvGrpSpPr>
              <p:cNvPr id="28" name="Group 27">
                <a:extLst>
                  <a:ext uri="{FF2B5EF4-FFF2-40B4-BE49-F238E27FC236}">
                    <a16:creationId xmlns:a16="http://schemas.microsoft.com/office/drawing/2014/main" id="{A530666A-9C3D-1F7E-054C-5890B1CE7DBB}"/>
                  </a:ext>
                </a:extLst>
              </p:cNvPr>
              <p:cNvGrpSpPr/>
              <p:nvPr/>
            </p:nvGrpSpPr>
            <p:grpSpPr>
              <a:xfrm>
                <a:off x="977103" y="2411433"/>
                <a:ext cx="1531381" cy="830353"/>
                <a:chOff x="2855189" y="3118781"/>
                <a:chExt cx="1531381" cy="830353"/>
              </a:xfrm>
            </p:grpSpPr>
            <p:sp>
              <p:nvSpPr>
                <p:cNvPr id="30" name="TextBox 29">
                  <a:extLst>
                    <a:ext uri="{FF2B5EF4-FFF2-40B4-BE49-F238E27FC236}">
                      <a16:creationId xmlns:a16="http://schemas.microsoft.com/office/drawing/2014/main" id="{F5B4238D-B878-C06D-363A-DEBA8F2EA33B}"/>
                    </a:ext>
                  </a:extLst>
                </p:cNvPr>
                <p:cNvSpPr txBox="1">
                  <a:spLocks/>
                </p:cNvSpPr>
                <p:nvPr/>
              </p:nvSpPr>
              <p:spPr>
                <a:xfrm>
                  <a:off x="3019328" y="3118781"/>
                  <a:ext cx="1223412" cy="369332"/>
                </a:xfrm>
                <a:prstGeom prst="rect">
                  <a:avLst/>
                </a:prstGeom>
                <a:noFill/>
              </p:spPr>
              <p:txBody>
                <a:bodyPr wrap="none" rtlCol="0">
                  <a:spAutoFit/>
                </a:bodyPr>
                <a:lstStyle/>
                <a:p>
                  <a:pPr algn="ctr"/>
                  <a:r>
                    <a:rPr lang="en-US" b="1" dirty="0">
                      <a:solidFill>
                        <a:schemeClr val="accent6">
                          <a:lumMod val="75000"/>
                        </a:schemeClr>
                      </a:solidFill>
                      <a:latin typeface="Helvetica" pitchFamily="2" charset="0"/>
                      <a:cs typeface="Times New Roman" panose="02020603050405020304" pitchFamily="18" charset="0"/>
                    </a:rPr>
                    <a:t>Net Sales</a:t>
                  </a:r>
                  <a:endParaRPr lang="en-US" b="1" dirty="0">
                    <a:solidFill>
                      <a:schemeClr val="accent6">
                        <a:lumMod val="75000"/>
                      </a:schemeClr>
                    </a:solidFill>
                  </a:endParaRPr>
                </a:p>
              </p:txBody>
            </p:sp>
            <p:sp>
              <p:nvSpPr>
                <p:cNvPr id="31" name="TextBox 30">
                  <a:extLst>
                    <a:ext uri="{FF2B5EF4-FFF2-40B4-BE49-F238E27FC236}">
                      <a16:creationId xmlns:a16="http://schemas.microsoft.com/office/drawing/2014/main" id="{FF4C486A-ACE0-6EBD-3A32-3C208A2FD55A}"/>
                    </a:ext>
                  </a:extLst>
                </p:cNvPr>
                <p:cNvSpPr txBox="1">
                  <a:spLocks/>
                </p:cNvSpPr>
                <p:nvPr/>
              </p:nvSpPr>
              <p:spPr>
                <a:xfrm>
                  <a:off x="2855189" y="3579802"/>
                  <a:ext cx="1531381" cy="369332"/>
                </a:xfrm>
                <a:prstGeom prst="rect">
                  <a:avLst/>
                </a:prstGeom>
                <a:noFill/>
              </p:spPr>
              <p:txBody>
                <a:bodyPr wrap="none" rtlCol="0">
                  <a:spAutoFit/>
                </a:bodyPr>
                <a:lstStyle/>
                <a:p>
                  <a:pPr algn="ctr"/>
                  <a:r>
                    <a:rPr lang="en-US" b="1" dirty="0">
                      <a:solidFill>
                        <a:schemeClr val="accent6">
                          <a:lumMod val="75000"/>
                        </a:schemeClr>
                      </a:solidFill>
                      <a:latin typeface="Helvetica" pitchFamily="2" charset="0"/>
                      <a:cs typeface="Times New Roman" panose="02020603050405020304" pitchFamily="18" charset="0"/>
                    </a:rPr>
                    <a:t>Total Assets</a:t>
                  </a:r>
                  <a:endParaRPr lang="en-US" b="1" dirty="0">
                    <a:solidFill>
                      <a:schemeClr val="accent6">
                        <a:lumMod val="75000"/>
                      </a:schemeClr>
                    </a:solidFill>
                  </a:endParaRPr>
                </a:p>
              </p:txBody>
            </p:sp>
            <p:cxnSp>
              <p:nvCxnSpPr>
                <p:cNvPr id="32" name="Straight Connector 31">
                  <a:extLst>
                    <a:ext uri="{FF2B5EF4-FFF2-40B4-BE49-F238E27FC236}">
                      <a16:creationId xmlns:a16="http://schemas.microsoft.com/office/drawing/2014/main" id="{6AB92E0D-8D42-B57B-3A89-F1F699FF36A3}"/>
                    </a:ext>
                  </a:extLst>
                </p:cNvPr>
                <p:cNvCxnSpPr>
                  <a:cxnSpLocks/>
                </p:cNvCxnSpPr>
                <p:nvPr/>
              </p:nvCxnSpPr>
              <p:spPr>
                <a:xfrm>
                  <a:off x="2929372" y="3532966"/>
                  <a:ext cx="1408136" cy="2307"/>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9" name="TextBox 28">
                <a:extLst>
                  <a:ext uri="{FF2B5EF4-FFF2-40B4-BE49-F238E27FC236}">
                    <a16:creationId xmlns:a16="http://schemas.microsoft.com/office/drawing/2014/main" id="{579BE08B-7F50-F26B-400E-A775A2EB0E6E}"/>
                  </a:ext>
                </a:extLst>
              </p:cNvPr>
              <p:cNvSpPr txBox="1"/>
              <p:nvPr/>
            </p:nvSpPr>
            <p:spPr>
              <a:xfrm>
                <a:off x="2437066" y="2640829"/>
                <a:ext cx="297455" cy="369332"/>
              </a:xfrm>
              <a:prstGeom prst="rect">
                <a:avLst/>
              </a:prstGeom>
              <a:noFill/>
            </p:spPr>
            <p:txBody>
              <a:bodyPr wrap="square" rtlCol="0">
                <a:spAutoFit/>
              </a:bodyPr>
              <a:lstStyle/>
              <a:p>
                <a:r>
                  <a:rPr lang="en-US" b="1" dirty="0">
                    <a:latin typeface="Helvetica" pitchFamily="2" charset="0"/>
                    <a:cs typeface="Times New Roman" panose="02020603050405020304" pitchFamily="18" charset="0"/>
                  </a:rPr>
                  <a:t>×</a:t>
                </a:r>
                <a:endParaRPr lang="en-US" b="1" dirty="0"/>
              </a:p>
            </p:txBody>
          </p:sp>
        </p:grpSp>
        <p:grpSp>
          <p:nvGrpSpPr>
            <p:cNvPr id="34" name="Group 33">
              <a:extLst>
                <a:ext uri="{FF2B5EF4-FFF2-40B4-BE49-F238E27FC236}">
                  <a16:creationId xmlns:a16="http://schemas.microsoft.com/office/drawing/2014/main" id="{D6F4D650-90BA-579B-DF5B-30F8D54CCADD}"/>
                </a:ext>
              </a:extLst>
            </p:cNvPr>
            <p:cNvGrpSpPr/>
            <p:nvPr/>
          </p:nvGrpSpPr>
          <p:grpSpPr>
            <a:xfrm>
              <a:off x="7547383" y="2498547"/>
              <a:ext cx="1531381" cy="840552"/>
              <a:chOff x="2057685" y="3119468"/>
              <a:chExt cx="1531381" cy="840552"/>
            </a:xfrm>
          </p:grpSpPr>
          <p:sp>
            <p:nvSpPr>
              <p:cNvPr id="36" name="TextBox 35">
                <a:extLst>
                  <a:ext uri="{FF2B5EF4-FFF2-40B4-BE49-F238E27FC236}">
                    <a16:creationId xmlns:a16="http://schemas.microsoft.com/office/drawing/2014/main" id="{81F47EAB-3D89-8298-4E48-B4F9C219F3F1}"/>
                  </a:ext>
                </a:extLst>
              </p:cNvPr>
              <p:cNvSpPr txBox="1">
                <a:spLocks/>
              </p:cNvSpPr>
              <p:nvPr/>
            </p:nvSpPr>
            <p:spPr>
              <a:xfrm>
                <a:off x="2057685" y="3119468"/>
                <a:ext cx="1531381" cy="369332"/>
              </a:xfrm>
              <a:prstGeom prst="rect">
                <a:avLst/>
              </a:prstGeom>
              <a:noFill/>
            </p:spPr>
            <p:txBody>
              <a:bodyPr wrap="none" rtlCol="0">
                <a:spAutoFit/>
              </a:bodyPr>
              <a:lstStyle/>
              <a:p>
                <a:pPr algn="ctr"/>
                <a:r>
                  <a:rPr lang="en-US" b="1" dirty="0">
                    <a:solidFill>
                      <a:schemeClr val="accent5">
                        <a:lumMod val="50000"/>
                      </a:schemeClr>
                    </a:solidFill>
                    <a:latin typeface="Helvetica" pitchFamily="2" charset="0"/>
                    <a:cs typeface="Times New Roman" panose="02020603050405020304" pitchFamily="18" charset="0"/>
                  </a:rPr>
                  <a:t>Total Assets</a:t>
                </a:r>
                <a:endParaRPr lang="en-US" b="1" dirty="0">
                  <a:solidFill>
                    <a:schemeClr val="accent5">
                      <a:lumMod val="50000"/>
                    </a:schemeClr>
                  </a:solidFill>
                </a:endParaRPr>
              </a:p>
            </p:txBody>
          </p:sp>
          <p:sp>
            <p:nvSpPr>
              <p:cNvPr id="37" name="TextBox 36">
                <a:extLst>
                  <a:ext uri="{FF2B5EF4-FFF2-40B4-BE49-F238E27FC236}">
                    <a16:creationId xmlns:a16="http://schemas.microsoft.com/office/drawing/2014/main" id="{B3A6B1F8-D301-399D-52B9-170C39108839}"/>
                  </a:ext>
                </a:extLst>
              </p:cNvPr>
              <p:cNvSpPr txBox="1">
                <a:spLocks/>
              </p:cNvSpPr>
              <p:nvPr/>
            </p:nvSpPr>
            <p:spPr>
              <a:xfrm>
                <a:off x="2083561" y="3590688"/>
                <a:ext cx="1488549" cy="369332"/>
              </a:xfrm>
              <a:prstGeom prst="rect">
                <a:avLst/>
              </a:prstGeom>
              <a:noFill/>
            </p:spPr>
            <p:txBody>
              <a:bodyPr wrap="none" rtlCol="0">
                <a:spAutoFit/>
              </a:bodyPr>
              <a:lstStyle/>
              <a:p>
                <a:pPr algn="ctr"/>
                <a:r>
                  <a:rPr lang="en-US" b="1" dirty="0">
                    <a:solidFill>
                      <a:schemeClr val="accent5">
                        <a:lumMod val="50000"/>
                      </a:schemeClr>
                    </a:solidFill>
                    <a:latin typeface="Helvetica" pitchFamily="2" charset="0"/>
                    <a:cs typeface="Times New Roman" panose="02020603050405020304" pitchFamily="18" charset="0"/>
                  </a:rPr>
                  <a:t>Total Equity</a:t>
                </a:r>
                <a:endParaRPr lang="en-US" b="1" dirty="0">
                  <a:solidFill>
                    <a:schemeClr val="accent5">
                      <a:lumMod val="50000"/>
                    </a:schemeClr>
                  </a:solidFill>
                </a:endParaRPr>
              </a:p>
            </p:txBody>
          </p:sp>
          <p:cxnSp>
            <p:nvCxnSpPr>
              <p:cNvPr id="38" name="Straight Connector 37">
                <a:extLst>
                  <a:ext uri="{FF2B5EF4-FFF2-40B4-BE49-F238E27FC236}">
                    <a16:creationId xmlns:a16="http://schemas.microsoft.com/office/drawing/2014/main" id="{9BCEE432-C5E2-4D61-1962-E8BA9C1043F7}"/>
                  </a:ext>
                </a:extLst>
              </p:cNvPr>
              <p:cNvCxnSpPr>
                <a:cxnSpLocks/>
              </p:cNvCxnSpPr>
              <p:nvPr/>
            </p:nvCxnSpPr>
            <p:spPr>
              <a:xfrm>
                <a:off x="2066605" y="3541763"/>
                <a:ext cx="1509965"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47" name="TextBox 46">
            <a:extLst>
              <a:ext uri="{FF2B5EF4-FFF2-40B4-BE49-F238E27FC236}">
                <a16:creationId xmlns:a16="http://schemas.microsoft.com/office/drawing/2014/main" id="{521ED0FB-782E-3090-5699-7DB83AEB9F1E}"/>
              </a:ext>
            </a:extLst>
          </p:cNvPr>
          <p:cNvSpPr txBox="1"/>
          <p:nvPr/>
        </p:nvSpPr>
        <p:spPr>
          <a:xfrm>
            <a:off x="2588049" y="2129011"/>
            <a:ext cx="7144135" cy="369332"/>
          </a:xfrm>
          <a:prstGeom prst="rect">
            <a:avLst/>
          </a:prstGeom>
          <a:noFill/>
        </p:spPr>
        <p:txBody>
          <a:bodyPr wrap="none" rtlCol="0">
            <a:spAutoFit/>
          </a:bodyPr>
          <a:lstStyle/>
          <a:p>
            <a:r>
              <a:rPr lang="en-US" b="1" dirty="0">
                <a:solidFill>
                  <a:srgbClr val="C00000"/>
                </a:solidFill>
                <a:latin typeface="Helvetica" pitchFamily="2" charset="0"/>
                <a:cs typeface="Times New Roman" panose="02020603050405020304" pitchFamily="18" charset="0"/>
              </a:rPr>
              <a:t>ROE</a:t>
            </a:r>
            <a:r>
              <a:rPr lang="en-US" b="1" dirty="0">
                <a:latin typeface="Helvetica" pitchFamily="2" charset="0"/>
                <a:cs typeface="Times New Roman" panose="02020603050405020304" pitchFamily="18" charset="0"/>
              </a:rPr>
              <a:t>  =  </a:t>
            </a:r>
            <a:r>
              <a:rPr lang="en-US" b="1" dirty="0">
                <a:solidFill>
                  <a:schemeClr val="accent4">
                    <a:lumMod val="75000"/>
                  </a:schemeClr>
                </a:solidFill>
                <a:latin typeface="Helvetica" pitchFamily="2" charset="0"/>
                <a:cs typeface="Times New Roman" panose="02020603050405020304" pitchFamily="18" charset="0"/>
              </a:rPr>
              <a:t>Profit Margin </a:t>
            </a:r>
            <a:r>
              <a:rPr lang="en-US" b="1" dirty="0">
                <a:latin typeface="Helvetica" pitchFamily="2" charset="0"/>
                <a:cs typeface="Times New Roman" panose="02020603050405020304" pitchFamily="18" charset="0"/>
              </a:rPr>
              <a:t>× </a:t>
            </a:r>
            <a:r>
              <a:rPr lang="en-US" b="1" dirty="0">
                <a:solidFill>
                  <a:schemeClr val="accent6">
                    <a:lumMod val="75000"/>
                  </a:schemeClr>
                </a:solidFill>
                <a:latin typeface="Helvetica" pitchFamily="2" charset="0"/>
                <a:cs typeface="Times New Roman" panose="02020603050405020304" pitchFamily="18" charset="0"/>
              </a:rPr>
              <a:t>Total Asset Turnover </a:t>
            </a:r>
            <a:r>
              <a:rPr lang="en-US" b="1" dirty="0">
                <a:latin typeface="Helvetica" pitchFamily="2" charset="0"/>
                <a:cs typeface="Times New Roman" panose="02020603050405020304" pitchFamily="18" charset="0"/>
              </a:rPr>
              <a:t>× </a:t>
            </a:r>
            <a:r>
              <a:rPr lang="en-US" b="1" dirty="0">
                <a:solidFill>
                  <a:schemeClr val="accent5">
                    <a:lumMod val="50000"/>
                  </a:schemeClr>
                </a:solidFill>
                <a:latin typeface="Helvetica" pitchFamily="2" charset="0"/>
                <a:cs typeface="Times New Roman" panose="02020603050405020304" pitchFamily="18" charset="0"/>
              </a:rPr>
              <a:t>Equity Multiplier </a:t>
            </a:r>
          </a:p>
        </p:txBody>
      </p:sp>
    </p:spTree>
    <p:extLst>
      <p:ext uri="{BB962C8B-B14F-4D97-AF65-F5344CB8AC3E}">
        <p14:creationId xmlns:p14="http://schemas.microsoft.com/office/powerpoint/2010/main" val="56358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4" grpId="0"/>
      <p:bldP spid="4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BFD58-7BDA-4C9B-3636-E082423911C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3C770EA-50BF-8C31-FBBC-534EF826E9B3}"/>
              </a:ext>
            </a:extLst>
          </p:cNvPr>
          <p:cNvSpPr/>
          <p:nvPr/>
        </p:nvSpPr>
        <p:spPr>
          <a:xfrm>
            <a:off x="0" y="-2"/>
            <a:ext cx="12192000" cy="1211137"/>
          </a:xfrm>
          <a:prstGeom prst="rect">
            <a:avLst/>
          </a:prstGeom>
          <a:solidFill>
            <a:srgbClr val="6C33B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D06ECD-61B9-1EB9-7F59-2EE6E8E2D93B}"/>
              </a:ext>
            </a:extLst>
          </p:cNvPr>
          <p:cNvSpPr>
            <a:spLocks noGrp="1"/>
          </p:cNvSpPr>
          <p:nvPr>
            <p:ph type="title"/>
          </p:nvPr>
        </p:nvSpPr>
        <p:spPr>
          <a:xfrm>
            <a:off x="341970" y="192063"/>
            <a:ext cx="10515600" cy="982663"/>
          </a:xfrm>
        </p:spPr>
        <p:txBody>
          <a:bodyPr>
            <a:normAutofit/>
          </a:bodyPr>
          <a:lstStyle/>
          <a:p>
            <a:r>
              <a:rPr lang="en-US" b="1" dirty="0">
                <a:solidFill>
                  <a:schemeClr val="bg1"/>
                </a:solidFill>
                <a:latin typeface="Helvetica" pitchFamily="2" charset="0"/>
                <a:cs typeface="Times New Roman" panose="02020603050405020304" pitchFamily="18" charset="0"/>
              </a:rPr>
              <a:t>DuPont Equation</a:t>
            </a:r>
          </a:p>
        </p:txBody>
      </p:sp>
      <p:grpSp>
        <p:nvGrpSpPr>
          <p:cNvPr id="39" name="Group 38">
            <a:extLst>
              <a:ext uri="{FF2B5EF4-FFF2-40B4-BE49-F238E27FC236}">
                <a16:creationId xmlns:a16="http://schemas.microsoft.com/office/drawing/2014/main" id="{965D756A-6AC2-A61F-34BA-A8904024FB12}"/>
              </a:ext>
            </a:extLst>
          </p:cNvPr>
          <p:cNvGrpSpPr/>
          <p:nvPr/>
        </p:nvGrpSpPr>
        <p:grpSpPr>
          <a:xfrm>
            <a:off x="2574276" y="3473926"/>
            <a:ext cx="7043442" cy="841239"/>
            <a:chOff x="2035322" y="2497860"/>
            <a:chExt cx="7043442" cy="841239"/>
          </a:xfrm>
        </p:grpSpPr>
        <p:grpSp>
          <p:nvGrpSpPr>
            <p:cNvPr id="12" name="Group 11">
              <a:extLst>
                <a:ext uri="{FF2B5EF4-FFF2-40B4-BE49-F238E27FC236}">
                  <a16:creationId xmlns:a16="http://schemas.microsoft.com/office/drawing/2014/main" id="{6F92BCC0-CBF6-C9BA-F9FF-C11A79627F9D}"/>
                </a:ext>
              </a:extLst>
            </p:cNvPr>
            <p:cNvGrpSpPr/>
            <p:nvPr/>
          </p:nvGrpSpPr>
          <p:grpSpPr>
            <a:xfrm>
              <a:off x="2035322" y="2497860"/>
              <a:ext cx="1824541" cy="830353"/>
              <a:chOff x="2572308" y="2415801"/>
              <a:chExt cx="1824541" cy="830353"/>
            </a:xfrm>
          </p:grpSpPr>
          <p:grpSp>
            <p:nvGrpSpPr>
              <p:cNvPr id="13" name="Group 12">
                <a:extLst>
                  <a:ext uri="{FF2B5EF4-FFF2-40B4-BE49-F238E27FC236}">
                    <a16:creationId xmlns:a16="http://schemas.microsoft.com/office/drawing/2014/main" id="{EDE494AC-3F74-BC80-AD2E-A5495558A6DC}"/>
                  </a:ext>
                </a:extLst>
              </p:cNvPr>
              <p:cNvGrpSpPr/>
              <p:nvPr/>
            </p:nvGrpSpPr>
            <p:grpSpPr>
              <a:xfrm>
                <a:off x="2572308" y="2415801"/>
                <a:ext cx="1499230" cy="830353"/>
                <a:chOff x="4450394" y="3123149"/>
                <a:chExt cx="1499230" cy="830353"/>
              </a:xfrm>
            </p:grpSpPr>
            <p:sp>
              <p:nvSpPr>
                <p:cNvPr id="17" name="TextBox 16">
                  <a:extLst>
                    <a:ext uri="{FF2B5EF4-FFF2-40B4-BE49-F238E27FC236}">
                      <a16:creationId xmlns:a16="http://schemas.microsoft.com/office/drawing/2014/main" id="{A58A7A4F-4A99-0F7B-4E24-FE199AA0FD0E}"/>
                    </a:ext>
                  </a:extLst>
                </p:cNvPr>
                <p:cNvSpPr txBox="1">
                  <a:spLocks/>
                </p:cNvSpPr>
                <p:nvPr/>
              </p:nvSpPr>
              <p:spPr>
                <a:xfrm>
                  <a:off x="4483205" y="3123149"/>
                  <a:ext cx="1428596" cy="369332"/>
                </a:xfrm>
                <a:prstGeom prst="rect">
                  <a:avLst/>
                </a:prstGeom>
                <a:noFill/>
              </p:spPr>
              <p:txBody>
                <a:bodyPr wrap="none" rtlCol="0">
                  <a:spAutoFit/>
                </a:bodyPr>
                <a:lstStyle/>
                <a:p>
                  <a:pPr algn="ctr"/>
                  <a:r>
                    <a:rPr lang="en-US" b="1" dirty="0">
                      <a:solidFill>
                        <a:srgbClr val="C00000"/>
                      </a:solidFill>
                      <a:latin typeface="Helvetica" pitchFamily="2" charset="0"/>
                      <a:cs typeface="Times New Roman" panose="02020603050405020304" pitchFamily="18" charset="0"/>
                    </a:rPr>
                    <a:t>Net Income</a:t>
                  </a:r>
                  <a:endParaRPr lang="en-US" b="1" dirty="0">
                    <a:solidFill>
                      <a:srgbClr val="C00000"/>
                    </a:solidFill>
                  </a:endParaRPr>
                </a:p>
              </p:txBody>
            </p:sp>
            <p:sp>
              <p:nvSpPr>
                <p:cNvPr id="18" name="TextBox 17">
                  <a:extLst>
                    <a:ext uri="{FF2B5EF4-FFF2-40B4-BE49-F238E27FC236}">
                      <a16:creationId xmlns:a16="http://schemas.microsoft.com/office/drawing/2014/main" id="{DDB603CF-40A1-9EFB-4541-CD29E3C54AC0}"/>
                    </a:ext>
                  </a:extLst>
                </p:cNvPr>
                <p:cNvSpPr txBox="1">
                  <a:spLocks/>
                </p:cNvSpPr>
                <p:nvPr/>
              </p:nvSpPr>
              <p:spPr>
                <a:xfrm>
                  <a:off x="4457754" y="3584170"/>
                  <a:ext cx="1488549" cy="369332"/>
                </a:xfrm>
                <a:prstGeom prst="rect">
                  <a:avLst/>
                </a:prstGeom>
                <a:noFill/>
              </p:spPr>
              <p:txBody>
                <a:bodyPr wrap="none" rtlCol="0">
                  <a:spAutoFit/>
                </a:bodyPr>
                <a:lstStyle/>
                <a:p>
                  <a:pPr algn="ctr"/>
                  <a:r>
                    <a:rPr lang="en-US" b="1" dirty="0">
                      <a:solidFill>
                        <a:srgbClr val="C00000"/>
                      </a:solidFill>
                      <a:latin typeface="Helvetica" pitchFamily="2" charset="0"/>
                      <a:cs typeface="Times New Roman" panose="02020603050405020304" pitchFamily="18" charset="0"/>
                    </a:rPr>
                    <a:t>Total Equity</a:t>
                  </a:r>
                  <a:endParaRPr lang="en-US" b="1" dirty="0">
                    <a:solidFill>
                      <a:srgbClr val="C00000"/>
                    </a:solidFill>
                  </a:endParaRPr>
                </a:p>
              </p:txBody>
            </p:sp>
            <p:cxnSp>
              <p:nvCxnSpPr>
                <p:cNvPr id="19" name="Straight Connector 18">
                  <a:extLst>
                    <a:ext uri="{FF2B5EF4-FFF2-40B4-BE49-F238E27FC236}">
                      <a16:creationId xmlns:a16="http://schemas.microsoft.com/office/drawing/2014/main" id="{3E29E6F8-3B93-1809-AD07-603B17B33891}"/>
                    </a:ext>
                  </a:extLst>
                </p:cNvPr>
                <p:cNvCxnSpPr>
                  <a:cxnSpLocks/>
                </p:cNvCxnSpPr>
                <p:nvPr/>
              </p:nvCxnSpPr>
              <p:spPr>
                <a:xfrm>
                  <a:off x="4450394" y="3539733"/>
                  <a:ext cx="1499230" cy="639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4" name="TextBox 13">
                <a:extLst>
                  <a:ext uri="{FF2B5EF4-FFF2-40B4-BE49-F238E27FC236}">
                    <a16:creationId xmlns:a16="http://schemas.microsoft.com/office/drawing/2014/main" id="{2918D425-66B5-4F18-9797-2BB717DCA73F}"/>
                  </a:ext>
                </a:extLst>
              </p:cNvPr>
              <p:cNvSpPr txBox="1"/>
              <p:nvPr/>
            </p:nvSpPr>
            <p:spPr>
              <a:xfrm>
                <a:off x="4099394" y="2674547"/>
                <a:ext cx="297455" cy="369332"/>
              </a:xfrm>
              <a:prstGeom prst="rect">
                <a:avLst/>
              </a:prstGeom>
              <a:noFill/>
            </p:spPr>
            <p:txBody>
              <a:bodyPr wrap="square" rtlCol="0">
                <a:spAutoFit/>
              </a:bodyPr>
              <a:lstStyle/>
              <a:p>
                <a:pPr algn="ctr"/>
                <a:r>
                  <a:rPr lang="en-US" b="1" dirty="0"/>
                  <a:t>=</a:t>
                </a:r>
              </a:p>
            </p:txBody>
          </p:sp>
        </p:grpSp>
        <p:grpSp>
          <p:nvGrpSpPr>
            <p:cNvPr id="20" name="Group 19">
              <a:extLst>
                <a:ext uri="{FF2B5EF4-FFF2-40B4-BE49-F238E27FC236}">
                  <a16:creationId xmlns:a16="http://schemas.microsoft.com/office/drawing/2014/main" id="{C3BA3126-AE94-9C5B-D1A3-F49CF2B3226C}"/>
                </a:ext>
              </a:extLst>
            </p:cNvPr>
            <p:cNvGrpSpPr/>
            <p:nvPr/>
          </p:nvGrpSpPr>
          <p:grpSpPr>
            <a:xfrm>
              <a:off x="3932082" y="2497860"/>
              <a:ext cx="1886834" cy="841239"/>
              <a:chOff x="1853375" y="2411433"/>
              <a:chExt cx="1886834" cy="841239"/>
            </a:xfrm>
          </p:grpSpPr>
          <p:grpSp>
            <p:nvGrpSpPr>
              <p:cNvPr id="21" name="Group 20">
                <a:extLst>
                  <a:ext uri="{FF2B5EF4-FFF2-40B4-BE49-F238E27FC236}">
                    <a16:creationId xmlns:a16="http://schemas.microsoft.com/office/drawing/2014/main" id="{F01100B8-8686-7583-4AE6-CE2485216D92}"/>
                  </a:ext>
                </a:extLst>
              </p:cNvPr>
              <p:cNvGrpSpPr/>
              <p:nvPr/>
            </p:nvGrpSpPr>
            <p:grpSpPr>
              <a:xfrm>
                <a:off x="1853375" y="2411433"/>
                <a:ext cx="1610120" cy="841239"/>
                <a:chOff x="3731461" y="3118781"/>
                <a:chExt cx="1610120" cy="841239"/>
              </a:xfrm>
            </p:grpSpPr>
            <p:sp>
              <p:nvSpPr>
                <p:cNvPr id="24" name="TextBox 23">
                  <a:extLst>
                    <a:ext uri="{FF2B5EF4-FFF2-40B4-BE49-F238E27FC236}">
                      <a16:creationId xmlns:a16="http://schemas.microsoft.com/office/drawing/2014/main" id="{7C2097D6-6DB7-5287-DE15-334143E4818A}"/>
                    </a:ext>
                  </a:extLst>
                </p:cNvPr>
                <p:cNvSpPr txBox="1">
                  <a:spLocks/>
                </p:cNvSpPr>
                <p:nvPr/>
              </p:nvSpPr>
              <p:spPr>
                <a:xfrm>
                  <a:off x="3815041" y="3118781"/>
                  <a:ext cx="1428596" cy="369332"/>
                </a:xfrm>
                <a:prstGeom prst="rect">
                  <a:avLst/>
                </a:prstGeom>
                <a:noFill/>
              </p:spPr>
              <p:txBody>
                <a:bodyPr wrap="none" rtlCol="0">
                  <a:spAutoFit/>
                </a:bodyPr>
                <a:lstStyle/>
                <a:p>
                  <a:pPr algn="ctr"/>
                  <a:r>
                    <a:rPr lang="en-US" b="1" dirty="0">
                      <a:solidFill>
                        <a:schemeClr val="accent4">
                          <a:lumMod val="75000"/>
                        </a:schemeClr>
                      </a:solidFill>
                      <a:latin typeface="Helvetica" pitchFamily="2" charset="0"/>
                      <a:cs typeface="Times New Roman" panose="02020603050405020304" pitchFamily="18" charset="0"/>
                    </a:rPr>
                    <a:t>Net Income</a:t>
                  </a:r>
                  <a:endParaRPr lang="en-US" b="1" dirty="0">
                    <a:solidFill>
                      <a:schemeClr val="accent4">
                        <a:lumMod val="75000"/>
                      </a:schemeClr>
                    </a:solidFill>
                  </a:endParaRPr>
                </a:p>
              </p:txBody>
            </p:sp>
            <p:sp>
              <p:nvSpPr>
                <p:cNvPr id="25" name="TextBox 24">
                  <a:extLst>
                    <a:ext uri="{FF2B5EF4-FFF2-40B4-BE49-F238E27FC236}">
                      <a16:creationId xmlns:a16="http://schemas.microsoft.com/office/drawing/2014/main" id="{C89B90A5-989D-11BA-9D57-B76CA7A445FC}"/>
                    </a:ext>
                  </a:extLst>
                </p:cNvPr>
                <p:cNvSpPr txBox="1">
                  <a:spLocks/>
                </p:cNvSpPr>
                <p:nvPr/>
              </p:nvSpPr>
              <p:spPr>
                <a:xfrm>
                  <a:off x="3919209" y="3590688"/>
                  <a:ext cx="1223412" cy="369332"/>
                </a:xfrm>
                <a:prstGeom prst="rect">
                  <a:avLst/>
                </a:prstGeom>
                <a:noFill/>
              </p:spPr>
              <p:txBody>
                <a:bodyPr wrap="none" rtlCol="0">
                  <a:spAutoFit/>
                </a:bodyPr>
                <a:lstStyle/>
                <a:p>
                  <a:pPr algn="ctr"/>
                  <a:r>
                    <a:rPr lang="en-US" b="1" dirty="0">
                      <a:solidFill>
                        <a:schemeClr val="accent4">
                          <a:lumMod val="75000"/>
                        </a:schemeClr>
                      </a:solidFill>
                      <a:latin typeface="Helvetica" pitchFamily="2" charset="0"/>
                      <a:cs typeface="Times New Roman" panose="02020603050405020304" pitchFamily="18" charset="0"/>
                    </a:rPr>
                    <a:t>Net Sales</a:t>
                  </a:r>
                  <a:endParaRPr lang="en-US" b="1" dirty="0">
                    <a:solidFill>
                      <a:schemeClr val="accent4">
                        <a:lumMod val="75000"/>
                      </a:schemeClr>
                    </a:solidFill>
                  </a:endParaRPr>
                </a:p>
              </p:txBody>
            </p:sp>
            <p:cxnSp>
              <p:nvCxnSpPr>
                <p:cNvPr id="26" name="Straight Connector 25">
                  <a:extLst>
                    <a:ext uri="{FF2B5EF4-FFF2-40B4-BE49-F238E27FC236}">
                      <a16:creationId xmlns:a16="http://schemas.microsoft.com/office/drawing/2014/main" id="{0981DB12-B280-87DC-6A21-D3D8C16DD167}"/>
                    </a:ext>
                  </a:extLst>
                </p:cNvPr>
                <p:cNvCxnSpPr>
                  <a:cxnSpLocks/>
                </p:cNvCxnSpPr>
                <p:nvPr/>
              </p:nvCxnSpPr>
              <p:spPr>
                <a:xfrm>
                  <a:off x="3731461" y="3535869"/>
                  <a:ext cx="161012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2" name="TextBox 21">
                <a:extLst>
                  <a:ext uri="{FF2B5EF4-FFF2-40B4-BE49-F238E27FC236}">
                    <a16:creationId xmlns:a16="http://schemas.microsoft.com/office/drawing/2014/main" id="{4DB1592B-7CF3-7942-EFE2-49C1C2859AF4}"/>
                  </a:ext>
                </a:extLst>
              </p:cNvPr>
              <p:cNvSpPr txBox="1"/>
              <p:nvPr/>
            </p:nvSpPr>
            <p:spPr>
              <a:xfrm>
                <a:off x="3442754" y="2640829"/>
                <a:ext cx="297455" cy="369332"/>
              </a:xfrm>
              <a:prstGeom prst="rect">
                <a:avLst/>
              </a:prstGeom>
              <a:noFill/>
            </p:spPr>
            <p:txBody>
              <a:bodyPr wrap="square" rtlCol="0">
                <a:spAutoFit/>
              </a:bodyPr>
              <a:lstStyle/>
              <a:p>
                <a:r>
                  <a:rPr lang="en-US" b="1" dirty="0">
                    <a:latin typeface="Helvetica" pitchFamily="2" charset="0"/>
                    <a:cs typeface="Times New Roman" panose="02020603050405020304" pitchFamily="18" charset="0"/>
                  </a:rPr>
                  <a:t>×</a:t>
                </a:r>
                <a:endParaRPr lang="en-US" b="1" dirty="0"/>
              </a:p>
            </p:txBody>
          </p:sp>
        </p:grpSp>
        <p:grpSp>
          <p:nvGrpSpPr>
            <p:cNvPr id="27" name="Group 26">
              <a:extLst>
                <a:ext uri="{FF2B5EF4-FFF2-40B4-BE49-F238E27FC236}">
                  <a16:creationId xmlns:a16="http://schemas.microsoft.com/office/drawing/2014/main" id="{362D5EFB-ECB2-6D67-B260-9484F43139FB}"/>
                </a:ext>
              </a:extLst>
            </p:cNvPr>
            <p:cNvGrpSpPr/>
            <p:nvPr/>
          </p:nvGrpSpPr>
          <p:grpSpPr>
            <a:xfrm>
              <a:off x="5798885" y="2497860"/>
              <a:ext cx="1757418" cy="830353"/>
              <a:chOff x="977103" y="2411433"/>
              <a:chExt cx="1757418" cy="830353"/>
            </a:xfrm>
          </p:grpSpPr>
          <p:grpSp>
            <p:nvGrpSpPr>
              <p:cNvPr id="28" name="Group 27">
                <a:extLst>
                  <a:ext uri="{FF2B5EF4-FFF2-40B4-BE49-F238E27FC236}">
                    <a16:creationId xmlns:a16="http://schemas.microsoft.com/office/drawing/2014/main" id="{4AE499F6-FE93-43DD-4D6D-3DD88F246CD6}"/>
                  </a:ext>
                </a:extLst>
              </p:cNvPr>
              <p:cNvGrpSpPr/>
              <p:nvPr/>
            </p:nvGrpSpPr>
            <p:grpSpPr>
              <a:xfrm>
                <a:off x="977103" y="2411433"/>
                <a:ext cx="1531381" cy="830353"/>
                <a:chOff x="2855189" y="3118781"/>
                <a:chExt cx="1531381" cy="830353"/>
              </a:xfrm>
            </p:grpSpPr>
            <p:sp>
              <p:nvSpPr>
                <p:cNvPr id="30" name="TextBox 29">
                  <a:extLst>
                    <a:ext uri="{FF2B5EF4-FFF2-40B4-BE49-F238E27FC236}">
                      <a16:creationId xmlns:a16="http://schemas.microsoft.com/office/drawing/2014/main" id="{E8FA53F8-06A4-19FE-3F06-2E5F8B0A1586}"/>
                    </a:ext>
                  </a:extLst>
                </p:cNvPr>
                <p:cNvSpPr txBox="1">
                  <a:spLocks/>
                </p:cNvSpPr>
                <p:nvPr/>
              </p:nvSpPr>
              <p:spPr>
                <a:xfrm>
                  <a:off x="3019328" y="3118781"/>
                  <a:ext cx="1223412" cy="369332"/>
                </a:xfrm>
                <a:prstGeom prst="rect">
                  <a:avLst/>
                </a:prstGeom>
                <a:noFill/>
              </p:spPr>
              <p:txBody>
                <a:bodyPr wrap="none" rtlCol="0">
                  <a:spAutoFit/>
                </a:bodyPr>
                <a:lstStyle/>
                <a:p>
                  <a:pPr algn="ctr"/>
                  <a:r>
                    <a:rPr lang="en-US" b="1" dirty="0">
                      <a:solidFill>
                        <a:schemeClr val="accent6">
                          <a:lumMod val="75000"/>
                        </a:schemeClr>
                      </a:solidFill>
                      <a:latin typeface="Helvetica" pitchFamily="2" charset="0"/>
                      <a:cs typeface="Times New Roman" panose="02020603050405020304" pitchFamily="18" charset="0"/>
                    </a:rPr>
                    <a:t>Net Sales</a:t>
                  </a:r>
                  <a:endParaRPr lang="en-US" b="1" dirty="0">
                    <a:solidFill>
                      <a:schemeClr val="accent6">
                        <a:lumMod val="75000"/>
                      </a:schemeClr>
                    </a:solidFill>
                  </a:endParaRPr>
                </a:p>
              </p:txBody>
            </p:sp>
            <p:sp>
              <p:nvSpPr>
                <p:cNvPr id="31" name="TextBox 30">
                  <a:extLst>
                    <a:ext uri="{FF2B5EF4-FFF2-40B4-BE49-F238E27FC236}">
                      <a16:creationId xmlns:a16="http://schemas.microsoft.com/office/drawing/2014/main" id="{40A4C1FD-D604-230A-3DDE-60212915F43B}"/>
                    </a:ext>
                  </a:extLst>
                </p:cNvPr>
                <p:cNvSpPr txBox="1">
                  <a:spLocks/>
                </p:cNvSpPr>
                <p:nvPr/>
              </p:nvSpPr>
              <p:spPr>
                <a:xfrm>
                  <a:off x="2855189" y="3579802"/>
                  <a:ext cx="1531381" cy="369332"/>
                </a:xfrm>
                <a:prstGeom prst="rect">
                  <a:avLst/>
                </a:prstGeom>
                <a:noFill/>
              </p:spPr>
              <p:txBody>
                <a:bodyPr wrap="none" rtlCol="0">
                  <a:spAutoFit/>
                </a:bodyPr>
                <a:lstStyle/>
                <a:p>
                  <a:pPr algn="ctr"/>
                  <a:r>
                    <a:rPr lang="en-US" b="1" dirty="0">
                      <a:solidFill>
                        <a:schemeClr val="accent6">
                          <a:lumMod val="75000"/>
                        </a:schemeClr>
                      </a:solidFill>
                      <a:latin typeface="Helvetica" pitchFamily="2" charset="0"/>
                      <a:cs typeface="Times New Roman" panose="02020603050405020304" pitchFamily="18" charset="0"/>
                    </a:rPr>
                    <a:t>Total Assets</a:t>
                  </a:r>
                  <a:endParaRPr lang="en-US" b="1" dirty="0">
                    <a:solidFill>
                      <a:schemeClr val="accent6">
                        <a:lumMod val="75000"/>
                      </a:schemeClr>
                    </a:solidFill>
                  </a:endParaRPr>
                </a:p>
              </p:txBody>
            </p:sp>
            <p:cxnSp>
              <p:nvCxnSpPr>
                <p:cNvPr id="32" name="Straight Connector 31">
                  <a:extLst>
                    <a:ext uri="{FF2B5EF4-FFF2-40B4-BE49-F238E27FC236}">
                      <a16:creationId xmlns:a16="http://schemas.microsoft.com/office/drawing/2014/main" id="{26D596CB-BFF2-29F4-4E1F-79FD223BB5AC}"/>
                    </a:ext>
                  </a:extLst>
                </p:cNvPr>
                <p:cNvCxnSpPr>
                  <a:cxnSpLocks/>
                </p:cNvCxnSpPr>
                <p:nvPr/>
              </p:nvCxnSpPr>
              <p:spPr>
                <a:xfrm>
                  <a:off x="2929372" y="3532966"/>
                  <a:ext cx="1408136" cy="2307"/>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9" name="TextBox 28">
                <a:extLst>
                  <a:ext uri="{FF2B5EF4-FFF2-40B4-BE49-F238E27FC236}">
                    <a16:creationId xmlns:a16="http://schemas.microsoft.com/office/drawing/2014/main" id="{D578EFFF-17E3-ECAC-6297-F505E6A0D9D1}"/>
                  </a:ext>
                </a:extLst>
              </p:cNvPr>
              <p:cNvSpPr txBox="1"/>
              <p:nvPr/>
            </p:nvSpPr>
            <p:spPr>
              <a:xfrm>
                <a:off x="2437066" y="2640829"/>
                <a:ext cx="297455" cy="369332"/>
              </a:xfrm>
              <a:prstGeom prst="rect">
                <a:avLst/>
              </a:prstGeom>
              <a:noFill/>
            </p:spPr>
            <p:txBody>
              <a:bodyPr wrap="square" rtlCol="0">
                <a:spAutoFit/>
              </a:bodyPr>
              <a:lstStyle/>
              <a:p>
                <a:r>
                  <a:rPr lang="en-US" b="1" dirty="0">
                    <a:latin typeface="Helvetica" pitchFamily="2" charset="0"/>
                    <a:cs typeface="Times New Roman" panose="02020603050405020304" pitchFamily="18" charset="0"/>
                  </a:rPr>
                  <a:t>×</a:t>
                </a:r>
                <a:endParaRPr lang="en-US" b="1" dirty="0"/>
              </a:p>
            </p:txBody>
          </p:sp>
        </p:grpSp>
        <p:grpSp>
          <p:nvGrpSpPr>
            <p:cNvPr id="34" name="Group 33">
              <a:extLst>
                <a:ext uri="{FF2B5EF4-FFF2-40B4-BE49-F238E27FC236}">
                  <a16:creationId xmlns:a16="http://schemas.microsoft.com/office/drawing/2014/main" id="{17C477FA-679A-90D3-15BE-62B0E25811DA}"/>
                </a:ext>
              </a:extLst>
            </p:cNvPr>
            <p:cNvGrpSpPr/>
            <p:nvPr/>
          </p:nvGrpSpPr>
          <p:grpSpPr>
            <a:xfrm>
              <a:off x="7547383" y="2498547"/>
              <a:ext cx="1531381" cy="840552"/>
              <a:chOff x="2057685" y="3119468"/>
              <a:chExt cx="1531381" cy="840552"/>
            </a:xfrm>
          </p:grpSpPr>
          <p:sp>
            <p:nvSpPr>
              <p:cNvPr id="36" name="TextBox 35">
                <a:extLst>
                  <a:ext uri="{FF2B5EF4-FFF2-40B4-BE49-F238E27FC236}">
                    <a16:creationId xmlns:a16="http://schemas.microsoft.com/office/drawing/2014/main" id="{374F7F9C-0FC6-5353-13D7-750D59E5FDA6}"/>
                  </a:ext>
                </a:extLst>
              </p:cNvPr>
              <p:cNvSpPr txBox="1">
                <a:spLocks/>
              </p:cNvSpPr>
              <p:nvPr/>
            </p:nvSpPr>
            <p:spPr>
              <a:xfrm>
                <a:off x="2057685" y="3119468"/>
                <a:ext cx="1531381" cy="369332"/>
              </a:xfrm>
              <a:prstGeom prst="rect">
                <a:avLst/>
              </a:prstGeom>
              <a:noFill/>
            </p:spPr>
            <p:txBody>
              <a:bodyPr wrap="none" rtlCol="0">
                <a:spAutoFit/>
              </a:bodyPr>
              <a:lstStyle/>
              <a:p>
                <a:pPr algn="ctr"/>
                <a:r>
                  <a:rPr lang="en-US" b="1" dirty="0">
                    <a:solidFill>
                      <a:schemeClr val="accent5">
                        <a:lumMod val="50000"/>
                      </a:schemeClr>
                    </a:solidFill>
                    <a:latin typeface="Helvetica" pitchFamily="2" charset="0"/>
                    <a:cs typeface="Times New Roman" panose="02020603050405020304" pitchFamily="18" charset="0"/>
                  </a:rPr>
                  <a:t>Total Assets</a:t>
                </a:r>
                <a:endParaRPr lang="en-US" b="1" dirty="0">
                  <a:solidFill>
                    <a:schemeClr val="accent5">
                      <a:lumMod val="50000"/>
                    </a:schemeClr>
                  </a:solidFill>
                </a:endParaRPr>
              </a:p>
            </p:txBody>
          </p:sp>
          <p:sp>
            <p:nvSpPr>
              <p:cNvPr id="37" name="TextBox 36">
                <a:extLst>
                  <a:ext uri="{FF2B5EF4-FFF2-40B4-BE49-F238E27FC236}">
                    <a16:creationId xmlns:a16="http://schemas.microsoft.com/office/drawing/2014/main" id="{410750EA-80C1-321D-6D62-56E075F338DE}"/>
                  </a:ext>
                </a:extLst>
              </p:cNvPr>
              <p:cNvSpPr txBox="1">
                <a:spLocks/>
              </p:cNvSpPr>
              <p:nvPr/>
            </p:nvSpPr>
            <p:spPr>
              <a:xfrm>
                <a:off x="2083561" y="3590688"/>
                <a:ext cx="1488549" cy="369332"/>
              </a:xfrm>
              <a:prstGeom prst="rect">
                <a:avLst/>
              </a:prstGeom>
              <a:noFill/>
            </p:spPr>
            <p:txBody>
              <a:bodyPr wrap="none" rtlCol="0">
                <a:spAutoFit/>
              </a:bodyPr>
              <a:lstStyle/>
              <a:p>
                <a:pPr algn="ctr"/>
                <a:r>
                  <a:rPr lang="en-US" b="1" dirty="0">
                    <a:solidFill>
                      <a:schemeClr val="accent5">
                        <a:lumMod val="50000"/>
                      </a:schemeClr>
                    </a:solidFill>
                    <a:latin typeface="Helvetica" pitchFamily="2" charset="0"/>
                    <a:cs typeface="Times New Roman" panose="02020603050405020304" pitchFamily="18" charset="0"/>
                  </a:rPr>
                  <a:t>Total Equity</a:t>
                </a:r>
                <a:endParaRPr lang="en-US" b="1" dirty="0">
                  <a:solidFill>
                    <a:schemeClr val="accent5">
                      <a:lumMod val="50000"/>
                    </a:schemeClr>
                  </a:solidFill>
                </a:endParaRPr>
              </a:p>
            </p:txBody>
          </p:sp>
          <p:cxnSp>
            <p:nvCxnSpPr>
              <p:cNvPr id="38" name="Straight Connector 37">
                <a:extLst>
                  <a:ext uri="{FF2B5EF4-FFF2-40B4-BE49-F238E27FC236}">
                    <a16:creationId xmlns:a16="http://schemas.microsoft.com/office/drawing/2014/main" id="{334533B7-2903-7FD6-B321-4549A0757C2B}"/>
                  </a:ext>
                </a:extLst>
              </p:cNvPr>
              <p:cNvCxnSpPr>
                <a:cxnSpLocks/>
              </p:cNvCxnSpPr>
              <p:nvPr/>
            </p:nvCxnSpPr>
            <p:spPr>
              <a:xfrm>
                <a:off x="2066605" y="3541763"/>
                <a:ext cx="1509965"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47" name="TextBox 46">
            <a:extLst>
              <a:ext uri="{FF2B5EF4-FFF2-40B4-BE49-F238E27FC236}">
                <a16:creationId xmlns:a16="http://schemas.microsoft.com/office/drawing/2014/main" id="{B905BD8A-A46D-85E8-A0E9-D5704F7528E5}"/>
              </a:ext>
            </a:extLst>
          </p:cNvPr>
          <p:cNvSpPr txBox="1"/>
          <p:nvPr/>
        </p:nvSpPr>
        <p:spPr>
          <a:xfrm>
            <a:off x="2588049" y="2879642"/>
            <a:ext cx="7144135" cy="369332"/>
          </a:xfrm>
          <a:prstGeom prst="rect">
            <a:avLst/>
          </a:prstGeom>
          <a:noFill/>
        </p:spPr>
        <p:txBody>
          <a:bodyPr wrap="none" rtlCol="0">
            <a:spAutoFit/>
          </a:bodyPr>
          <a:lstStyle/>
          <a:p>
            <a:r>
              <a:rPr lang="en-US" b="1" dirty="0">
                <a:solidFill>
                  <a:srgbClr val="C00000"/>
                </a:solidFill>
                <a:latin typeface="Helvetica" pitchFamily="2" charset="0"/>
                <a:cs typeface="Times New Roman" panose="02020603050405020304" pitchFamily="18" charset="0"/>
              </a:rPr>
              <a:t>ROE</a:t>
            </a:r>
            <a:r>
              <a:rPr lang="en-US" b="1" dirty="0">
                <a:latin typeface="Helvetica" pitchFamily="2" charset="0"/>
                <a:cs typeface="Times New Roman" panose="02020603050405020304" pitchFamily="18" charset="0"/>
              </a:rPr>
              <a:t>  =  </a:t>
            </a:r>
            <a:r>
              <a:rPr lang="en-US" b="1" dirty="0">
                <a:solidFill>
                  <a:schemeClr val="accent4">
                    <a:lumMod val="75000"/>
                  </a:schemeClr>
                </a:solidFill>
                <a:latin typeface="Helvetica" pitchFamily="2" charset="0"/>
                <a:cs typeface="Times New Roman" panose="02020603050405020304" pitchFamily="18" charset="0"/>
              </a:rPr>
              <a:t>Profit Margin </a:t>
            </a:r>
            <a:r>
              <a:rPr lang="en-US" b="1" dirty="0">
                <a:latin typeface="Helvetica" pitchFamily="2" charset="0"/>
                <a:cs typeface="Times New Roman" panose="02020603050405020304" pitchFamily="18" charset="0"/>
              </a:rPr>
              <a:t>× </a:t>
            </a:r>
            <a:r>
              <a:rPr lang="en-US" b="1" dirty="0">
                <a:solidFill>
                  <a:schemeClr val="accent6">
                    <a:lumMod val="75000"/>
                  </a:schemeClr>
                </a:solidFill>
                <a:latin typeface="Helvetica" pitchFamily="2" charset="0"/>
                <a:cs typeface="Times New Roman" panose="02020603050405020304" pitchFamily="18" charset="0"/>
              </a:rPr>
              <a:t>Total Asset Turnover </a:t>
            </a:r>
            <a:r>
              <a:rPr lang="en-US" b="1" dirty="0">
                <a:latin typeface="Helvetica" pitchFamily="2" charset="0"/>
                <a:cs typeface="Times New Roman" panose="02020603050405020304" pitchFamily="18" charset="0"/>
              </a:rPr>
              <a:t>× </a:t>
            </a:r>
            <a:r>
              <a:rPr lang="en-US" b="1" dirty="0">
                <a:solidFill>
                  <a:schemeClr val="accent5">
                    <a:lumMod val="50000"/>
                  </a:schemeClr>
                </a:solidFill>
                <a:latin typeface="Helvetica" pitchFamily="2" charset="0"/>
                <a:cs typeface="Times New Roman" panose="02020603050405020304" pitchFamily="18" charset="0"/>
              </a:rPr>
              <a:t>Equity Multiplier </a:t>
            </a:r>
          </a:p>
        </p:txBody>
      </p:sp>
      <p:sp>
        <p:nvSpPr>
          <p:cNvPr id="3" name="TextBox 2">
            <a:extLst>
              <a:ext uri="{FF2B5EF4-FFF2-40B4-BE49-F238E27FC236}">
                <a16:creationId xmlns:a16="http://schemas.microsoft.com/office/drawing/2014/main" id="{FF2B5952-6C74-B72F-802E-A63D99ADC7C2}"/>
              </a:ext>
            </a:extLst>
          </p:cNvPr>
          <p:cNvSpPr txBox="1"/>
          <p:nvPr/>
        </p:nvSpPr>
        <p:spPr>
          <a:xfrm>
            <a:off x="280021" y="1679197"/>
            <a:ext cx="11757304" cy="1058816"/>
          </a:xfrm>
          <a:prstGeom prst="rect">
            <a:avLst/>
          </a:prstGeom>
          <a:noFill/>
        </p:spPr>
        <p:txBody>
          <a:bodyPr wrap="square" rtlCol="0">
            <a:spAutoFit/>
          </a:bodyPr>
          <a:lstStyle/>
          <a:p>
            <a:pPr>
              <a:lnSpc>
                <a:spcPct val="150000"/>
              </a:lnSpc>
            </a:pPr>
            <a:r>
              <a:rPr lang="en-US" sz="2200" dirty="0">
                <a:latin typeface="Helvetica" pitchFamily="2" charset="0"/>
                <a:cs typeface="Times New Roman" panose="02020603050405020304" pitchFamily="18" charset="0"/>
              </a:rPr>
              <a:t>A company has $17,000 in sales, its ROE is 17%, and its total assets turnover is 3.2. Common equity on the firm’s balance sheet is 50% of its total assets. What is its net income? </a:t>
            </a:r>
          </a:p>
        </p:txBody>
      </p:sp>
      <p:sp>
        <p:nvSpPr>
          <p:cNvPr id="5" name="TextBox 4">
            <a:extLst>
              <a:ext uri="{FF2B5EF4-FFF2-40B4-BE49-F238E27FC236}">
                <a16:creationId xmlns:a16="http://schemas.microsoft.com/office/drawing/2014/main" id="{6CD38135-083E-1781-78E9-22C66BD93136}"/>
              </a:ext>
            </a:extLst>
          </p:cNvPr>
          <p:cNvSpPr txBox="1"/>
          <p:nvPr/>
        </p:nvSpPr>
        <p:spPr>
          <a:xfrm>
            <a:off x="280021" y="1374520"/>
            <a:ext cx="1674296" cy="430887"/>
          </a:xfrm>
          <a:prstGeom prst="rect">
            <a:avLst/>
          </a:prstGeom>
          <a:noFill/>
        </p:spPr>
        <p:txBody>
          <a:bodyPr wrap="square" rtlCol="0">
            <a:spAutoFit/>
          </a:bodyPr>
          <a:lstStyle/>
          <a:p>
            <a:r>
              <a:rPr lang="en-US" sz="2200" b="1" dirty="0">
                <a:latin typeface="Helvetica" pitchFamily="2" charset="0"/>
                <a:cs typeface="Times New Roman" panose="02020603050405020304" pitchFamily="18" charset="0"/>
              </a:rPr>
              <a:t>Question-9</a:t>
            </a:r>
            <a:endParaRPr lang="en-US" sz="2200" dirty="0">
              <a:latin typeface="Helvetica" pitchFamily="2" charset="0"/>
            </a:endParaRPr>
          </a:p>
        </p:txBody>
      </p:sp>
      <p:sp>
        <p:nvSpPr>
          <p:cNvPr id="7" name="TextBox 6">
            <a:extLst>
              <a:ext uri="{FF2B5EF4-FFF2-40B4-BE49-F238E27FC236}">
                <a16:creationId xmlns:a16="http://schemas.microsoft.com/office/drawing/2014/main" id="{63A550FD-F806-A995-9733-2D33E8D9F108}"/>
              </a:ext>
            </a:extLst>
          </p:cNvPr>
          <p:cNvSpPr txBox="1"/>
          <p:nvPr/>
        </p:nvSpPr>
        <p:spPr>
          <a:xfrm>
            <a:off x="3838851" y="4782933"/>
            <a:ext cx="1018227" cy="400110"/>
          </a:xfrm>
          <a:prstGeom prst="rect">
            <a:avLst/>
          </a:prstGeom>
          <a:noFill/>
        </p:spPr>
        <p:txBody>
          <a:bodyPr wrap="square" rtlCol="0">
            <a:spAutoFit/>
          </a:bodyPr>
          <a:lstStyle/>
          <a:p>
            <a:r>
              <a:rPr lang="en-US" sz="2000" b="1" dirty="0">
                <a:latin typeface="Helvetica" pitchFamily="2" charset="0"/>
              </a:rPr>
              <a:t>0.17  =  </a:t>
            </a:r>
          </a:p>
        </p:txBody>
      </p:sp>
      <p:grpSp>
        <p:nvGrpSpPr>
          <p:cNvPr id="48" name="Group 47">
            <a:extLst>
              <a:ext uri="{FF2B5EF4-FFF2-40B4-BE49-F238E27FC236}">
                <a16:creationId xmlns:a16="http://schemas.microsoft.com/office/drawing/2014/main" id="{5F42F203-992A-EDD1-F14B-6736B7A83768}"/>
              </a:ext>
            </a:extLst>
          </p:cNvPr>
          <p:cNvGrpSpPr/>
          <p:nvPr/>
        </p:nvGrpSpPr>
        <p:grpSpPr>
          <a:xfrm>
            <a:off x="4857078" y="4550511"/>
            <a:ext cx="1997577" cy="841239"/>
            <a:chOff x="4857078" y="4550511"/>
            <a:chExt cx="1997577" cy="841239"/>
          </a:xfrm>
        </p:grpSpPr>
        <p:sp>
          <p:nvSpPr>
            <p:cNvPr id="8" name="TextBox 7">
              <a:extLst>
                <a:ext uri="{FF2B5EF4-FFF2-40B4-BE49-F238E27FC236}">
                  <a16:creationId xmlns:a16="http://schemas.microsoft.com/office/drawing/2014/main" id="{2A5F30A7-7E42-53F7-78CD-11EA98FF758E}"/>
                </a:ext>
              </a:extLst>
            </p:cNvPr>
            <p:cNvSpPr txBox="1">
              <a:spLocks/>
            </p:cNvSpPr>
            <p:nvPr/>
          </p:nvSpPr>
          <p:spPr>
            <a:xfrm>
              <a:off x="4940658" y="4550511"/>
              <a:ext cx="1428596" cy="369332"/>
            </a:xfrm>
            <a:prstGeom prst="rect">
              <a:avLst/>
            </a:prstGeom>
            <a:noFill/>
          </p:spPr>
          <p:txBody>
            <a:bodyPr wrap="none" rtlCol="0">
              <a:spAutoFit/>
            </a:bodyPr>
            <a:lstStyle/>
            <a:p>
              <a:pPr algn="ctr"/>
              <a:r>
                <a:rPr lang="en-US" b="1" dirty="0">
                  <a:solidFill>
                    <a:schemeClr val="accent4">
                      <a:lumMod val="75000"/>
                    </a:schemeClr>
                  </a:solidFill>
                  <a:latin typeface="Helvetica" pitchFamily="2" charset="0"/>
                  <a:cs typeface="Times New Roman" panose="02020603050405020304" pitchFamily="18" charset="0"/>
                </a:rPr>
                <a:t>Net Income</a:t>
              </a:r>
              <a:endParaRPr lang="en-US" b="1" dirty="0">
                <a:solidFill>
                  <a:schemeClr val="accent4">
                    <a:lumMod val="75000"/>
                  </a:schemeClr>
                </a:solidFill>
              </a:endParaRPr>
            </a:p>
          </p:txBody>
        </p:sp>
        <p:sp>
          <p:nvSpPr>
            <p:cNvPr id="9" name="TextBox 8">
              <a:extLst>
                <a:ext uri="{FF2B5EF4-FFF2-40B4-BE49-F238E27FC236}">
                  <a16:creationId xmlns:a16="http://schemas.microsoft.com/office/drawing/2014/main" id="{B3F6CE28-55BA-7BEE-8C88-6B348F422FF4}"/>
                </a:ext>
              </a:extLst>
            </p:cNvPr>
            <p:cNvSpPr txBox="1">
              <a:spLocks/>
            </p:cNvSpPr>
            <p:nvPr/>
          </p:nvSpPr>
          <p:spPr>
            <a:xfrm>
              <a:off x="5147420" y="5022418"/>
              <a:ext cx="1018228" cy="369332"/>
            </a:xfrm>
            <a:prstGeom prst="rect">
              <a:avLst/>
            </a:prstGeom>
            <a:noFill/>
          </p:spPr>
          <p:txBody>
            <a:bodyPr wrap="none" rtlCol="0">
              <a:spAutoFit/>
            </a:bodyPr>
            <a:lstStyle/>
            <a:p>
              <a:pPr algn="ctr"/>
              <a:r>
                <a:rPr lang="en-US" b="1" dirty="0">
                  <a:solidFill>
                    <a:schemeClr val="accent4">
                      <a:lumMod val="75000"/>
                    </a:schemeClr>
                  </a:solidFill>
                  <a:latin typeface="Helvetica" pitchFamily="2" charset="0"/>
                  <a:cs typeface="Times New Roman" panose="02020603050405020304" pitchFamily="18" charset="0"/>
                </a:rPr>
                <a:t>$17,000</a:t>
              </a:r>
              <a:endParaRPr lang="en-US" b="1" dirty="0">
                <a:solidFill>
                  <a:schemeClr val="accent4">
                    <a:lumMod val="75000"/>
                  </a:schemeClr>
                </a:solidFill>
              </a:endParaRPr>
            </a:p>
          </p:txBody>
        </p:sp>
        <p:cxnSp>
          <p:nvCxnSpPr>
            <p:cNvPr id="10" name="Straight Connector 9">
              <a:extLst>
                <a:ext uri="{FF2B5EF4-FFF2-40B4-BE49-F238E27FC236}">
                  <a16:creationId xmlns:a16="http://schemas.microsoft.com/office/drawing/2014/main" id="{3E3FEF40-E1C8-FE06-1E21-36756EA31166}"/>
                </a:ext>
              </a:extLst>
            </p:cNvPr>
            <p:cNvCxnSpPr>
              <a:cxnSpLocks/>
            </p:cNvCxnSpPr>
            <p:nvPr/>
          </p:nvCxnSpPr>
          <p:spPr>
            <a:xfrm>
              <a:off x="4857078" y="4967599"/>
              <a:ext cx="161012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E9E5733-802A-6184-8A26-69C2DDB36DC5}"/>
                </a:ext>
              </a:extLst>
            </p:cNvPr>
            <p:cNvSpPr txBox="1"/>
            <p:nvPr/>
          </p:nvSpPr>
          <p:spPr>
            <a:xfrm>
              <a:off x="6538543" y="4782933"/>
              <a:ext cx="316112" cy="369332"/>
            </a:xfrm>
            <a:prstGeom prst="rect">
              <a:avLst/>
            </a:prstGeom>
            <a:noFill/>
          </p:spPr>
          <p:txBody>
            <a:bodyPr wrap="none" rtlCol="0">
              <a:spAutoFit/>
            </a:bodyPr>
            <a:lstStyle/>
            <a:p>
              <a:r>
                <a:rPr lang="en-US" b="1" dirty="0">
                  <a:latin typeface="Helvetica" pitchFamily="2" charset="0"/>
                  <a:cs typeface="Times New Roman" panose="02020603050405020304" pitchFamily="18" charset="0"/>
                </a:rPr>
                <a:t>×</a:t>
              </a:r>
              <a:endParaRPr lang="en-US" b="1" dirty="0"/>
            </a:p>
          </p:txBody>
        </p:sp>
      </p:grpSp>
      <p:grpSp>
        <p:nvGrpSpPr>
          <p:cNvPr id="49" name="Group 48">
            <a:extLst>
              <a:ext uri="{FF2B5EF4-FFF2-40B4-BE49-F238E27FC236}">
                <a16:creationId xmlns:a16="http://schemas.microsoft.com/office/drawing/2014/main" id="{24023F40-9BE2-A00E-9312-1B696E65ADBB}"/>
              </a:ext>
            </a:extLst>
          </p:cNvPr>
          <p:cNvGrpSpPr/>
          <p:nvPr/>
        </p:nvGrpSpPr>
        <p:grpSpPr>
          <a:xfrm>
            <a:off x="6857873" y="4782933"/>
            <a:ext cx="925520" cy="400110"/>
            <a:chOff x="6757578" y="4782933"/>
            <a:chExt cx="763515" cy="400110"/>
          </a:xfrm>
        </p:grpSpPr>
        <p:sp>
          <p:nvSpPr>
            <p:cNvPr id="16" name="TextBox 15">
              <a:extLst>
                <a:ext uri="{FF2B5EF4-FFF2-40B4-BE49-F238E27FC236}">
                  <a16:creationId xmlns:a16="http://schemas.microsoft.com/office/drawing/2014/main" id="{93108FB1-AC97-73A1-08F8-861BBFD010CB}"/>
                </a:ext>
              </a:extLst>
            </p:cNvPr>
            <p:cNvSpPr txBox="1"/>
            <p:nvPr/>
          </p:nvSpPr>
          <p:spPr>
            <a:xfrm>
              <a:off x="6757578" y="4782933"/>
              <a:ext cx="445917" cy="400110"/>
            </a:xfrm>
            <a:prstGeom prst="rect">
              <a:avLst/>
            </a:prstGeom>
            <a:noFill/>
          </p:spPr>
          <p:txBody>
            <a:bodyPr wrap="square" rtlCol="0">
              <a:spAutoFit/>
            </a:bodyPr>
            <a:lstStyle/>
            <a:p>
              <a:r>
                <a:rPr lang="en-US" sz="2000" b="1" dirty="0">
                  <a:latin typeface="Helvetica" pitchFamily="2" charset="0"/>
                  <a:cs typeface="Times New Roman" panose="02020603050405020304" pitchFamily="18" charset="0"/>
                </a:rPr>
                <a:t>3.2</a:t>
              </a:r>
              <a:endParaRPr lang="en-US" sz="2000" b="1" dirty="0">
                <a:latin typeface="Helvetica" pitchFamily="2" charset="0"/>
              </a:endParaRPr>
            </a:p>
          </p:txBody>
        </p:sp>
        <p:sp>
          <p:nvSpPr>
            <p:cNvPr id="23" name="TextBox 22">
              <a:extLst>
                <a:ext uri="{FF2B5EF4-FFF2-40B4-BE49-F238E27FC236}">
                  <a16:creationId xmlns:a16="http://schemas.microsoft.com/office/drawing/2014/main" id="{1FE011CF-D39A-7010-8DF6-250D462184AE}"/>
                </a:ext>
              </a:extLst>
            </p:cNvPr>
            <p:cNvSpPr txBox="1"/>
            <p:nvPr/>
          </p:nvSpPr>
          <p:spPr>
            <a:xfrm>
              <a:off x="7248412" y="4782933"/>
              <a:ext cx="272681" cy="400110"/>
            </a:xfrm>
            <a:prstGeom prst="rect">
              <a:avLst/>
            </a:prstGeom>
            <a:noFill/>
          </p:spPr>
          <p:txBody>
            <a:bodyPr wrap="none" rtlCol="0">
              <a:spAutoFit/>
            </a:bodyPr>
            <a:lstStyle/>
            <a:p>
              <a:pPr algn="ctr"/>
              <a:r>
                <a:rPr lang="en-US" sz="2000" b="1" dirty="0">
                  <a:latin typeface="Helvetica" pitchFamily="2" charset="0"/>
                  <a:cs typeface="Times New Roman" panose="02020603050405020304" pitchFamily="18" charset="0"/>
                </a:rPr>
                <a:t>×</a:t>
              </a:r>
              <a:endParaRPr lang="en-US" sz="2000" b="1" dirty="0">
                <a:latin typeface="Helvetica" pitchFamily="2" charset="0"/>
              </a:endParaRPr>
            </a:p>
          </p:txBody>
        </p:sp>
      </p:grpSp>
      <p:sp>
        <p:nvSpPr>
          <p:cNvPr id="33" name="TextBox 32">
            <a:extLst>
              <a:ext uri="{FF2B5EF4-FFF2-40B4-BE49-F238E27FC236}">
                <a16:creationId xmlns:a16="http://schemas.microsoft.com/office/drawing/2014/main" id="{C025EA9D-5969-59AB-9A20-6BBBB64F625A}"/>
              </a:ext>
            </a:extLst>
          </p:cNvPr>
          <p:cNvSpPr txBox="1"/>
          <p:nvPr/>
        </p:nvSpPr>
        <p:spPr>
          <a:xfrm>
            <a:off x="7774718" y="4782933"/>
            <a:ext cx="373471" cy="400110"/>
          </a:xfrm>
          <a:prstGeom prst="rect">
            <a:avLst/>
          </a:prstGeom>
          <a:noFill/>
        </p:spPr>
        <p:txBody>
          <a:bodyPr wrap="square" rtlCol="0">
            <a:spAutoFit/>
          </a:bodyPr>
          <a:lstStyle/>
          <a:p>
            <a:r>
              <a:rPr lang="en-US" sz="2000" b="1" dirty="0">
                <a:latin typeface="Helvetica" pitchFamily="2" charset="0"/>
              </a:rPr>
              <a:t>2</a:t>
            </a:r>
          </a:p>
        </p:txBody>
      </p:sp>
      <p:sp>
        <p:nvSpPr>
          <p:cNvPr id="35" name="TextBox 34">
            <a:extLst>
              <a:ext uri="{FF2B5EF4-FFF2-40B4-BE49-F238E27FC236}">
                <a16:creationId xmlns:a16="http://schemas.microsoft.com/office/drawing/2014/main" id="{075CB0DC-51A9-622E-9322-1F470DCD9A34}"/>
              </a:ext>
            </a:extLst>
          </p:cNvPr>
          <p:cNvSpPr txBox="1"/>
          <p:nvPr/>
        </p:nvSpPr>
        <p:spPr>
          <a:xfrm>
            <a:off x="3838851" y="5635008"/>
            <a:ext cx="1018228" cy="400110"/>
          </a:xfrm>
          <a:prstGeom prst="rect">
            <a:avLst/>
          </a:prstGeom>
          <a:noFill/>
        </p:spPr>
        <p:txBody>
          <a:bodyPr wrap="square" rtlCol="0">
            <a:spAutoFit/>
          </a:bodyPr>
          <a:lstStyle/>
          <a:p>
            <a:r>
              <a:rPr lang="en-US" sz="2000" b="1" dirty="0">
                <a:latin typeface="Helvetica" pitchFamily="2" charset="0"/>
              </a:rPr>
              <a:t>0.17  =  </a:t>
            </a:r>
          </a:p>
        </p:txBody>
      </p:sp>
      <p:grpSp>
        <p:nvGrpSpPr>
          <p:cNvPr id="50" name="Group 49">
            <a:extLst>
              <a:ext uri="{FF2B5EF4-FFF2-40B4-BE49-F238E27FC236}">
                <a16:creationId xmlns:a16="http://schemas.microsoft.com/office/drawing/2014/main" id="{118A0231-196B-6FA8-75DA-C65B8CBAA52A}"/>
              </a:ext>
            </a:extLst>
          </p:cNvPr>
          <p:cNvGrpSpPr/>
          <p:nvPr/>
        </p:nvGrpSpPr>
        <p:grpSpPr>
          <a:xfrm>
            <a:off x="4857078" y="5430867"/>
            <a:ext cx="1997577" cy="841239"/>
            <a:chOff x="4857078" y="5430867"/>
            <a:chExt cx="1997577" cy="841239"/>
          </a:xfrm>
        </p:grpSpPr>
        <p:sp>
          <p:nvSpPr>
            <p:cNvPr id="40" name="TextBox 39">
              <a:extLst>
                <a:ext uri="{FF2B5EF4-FFF2-40B4-BE49-F238E27FC236}">
                  <a16:creationId xmlns:a16="http://schemas.microsoft.com/office/drawing/2014/main" id="{7F7DD37B-D165-9E76-AA15-734C8B731A2D}"/>
                </a:ext>
              </a:extLst>
            </p:cNvPr>
            <p:cNvSpPr txBox="1">
              <a:spLocks/>
            </p:cNvSpPr>
            <p:nvPr/>
          </p:nvSpPr>
          <p:spPr>
            <a:xfrm>
              <a:off x="4940658" y="5430867"/>
              <a:ext cx="1428596" cy="369332"/>
            </a:xfrm>
            <a:prstGeom prst="rect">
              <a:avLst/>
            </a:prstGeom>
            <a:noFill/>
          </p:spPr>
          <p:txBody>
            <a:bodyPr wrap="none" rtlCol="0">
              <a:spAutoFit/>
            </a:bodyPr>
            <a:lstStyle/>
            <a:p>
              <a:pPr algn="ctr"/>
              <a:r>
                <a:rPr lang="en-US" b="1" dirty="0">
                  <a:solidFill>
                    <a:schemeClr val="accent4">
                      <a:lumMod val="75000"/>
                    </a:schemeClr>
                  </a:solidFill>
                  <a:latin typeface="Helvetica" pitchFamily="2" charset="0"/>
                  <a:cs typeface="Times New Roman" panose="02020603050405020304" pitchFamily="18" charset="0"/>
                </a:rPr>
                <a:t>Net Income</a:t>
              </a:r>
              <a:endParaRPr lang="en-US" b="1" dirty="0">
                <a:solidFill>
                  <a:schemeClr val="accent4">
                    <a:lumMod val="75000"/>
                  </a:schemeClr>
                </a:solidFill>
              </a:endParaRPr>
            </a:p>
          </p:txBody>
        </p:sp>
        <p:sp>
          <p:nvSpPr>
            <p:cNvPr id="41" name="TextBox 40">
              <a:extLst>
                <a:ext uri="{FF2B5EF4-FFF2-40B4-BE49-F238E27FC236}">
                  <a16:creationId xmlns:a16="http://schemas.microsoft.com/office/drawing/2014/main" id="{85FB596C-6E9D-2FAB-FAE5-B560AF2751E5}"/>
                </a:ext>
              </a:extLst>
            </p:cNvPr>
            <p:cNvSpPr txBox="1">
              <a:spLocks/>
            </p:cNvSpPr>
            <p:nvPr/>
          </p:nvSpPr>
          <p:spPr>
            <a:xfrm>
              <a:off x="5147420" y="5902774"/>
              <a:ext cx="1018228" cy="369332"/>
            </a:xfrm>
            <a:prstGeom prst="rect">
              <a:avLst/>
            </a:prstGeom>
            <a:noFill/>
          </p:spPr>
          <p:txBody>
            <a:bodyPr wrap="none" rtlCol="0">
              <a:spAutoFit/>
            </a:bodyPr>
            <a:lstStyle/>
            <a:p>
              <a:pPr algn="ctr"/>
              <a:r>
                <a:rPr lang="en-US" b="1" dirty="0">
                  <a:solidFill>
                    <a:schemeClr val="accent4">
                      <a:lumMod val="75000"/>
                    </a:schemeClr>
                  </a:solidFill>
                  <a:latin typeface="Helvetica" pitchFamily="2" charset="0"/>
                  <a:cs typeface="Times New Roman" panose="02020603050405020304" pitchFamily="18" charset="0"/>
                </a:rPr>
                <a:t>$17,000</a:t>
              </a:r>
              <a:endParaRPr lang="en-US" b="1" dirty="0">
                <a:solidFill>
                  <a:schemeClr val="accent4">
                    <a:lumMod val="75000"/>
                  </a:schemeClr>
                </a:solidFill>
              </a:endParaRPr>
            </a:p>
          </p:txBody>
        </p:sp>
        <p:cxnSp>
          <p:nvCxnSpPr>
            <p:cNvPr id="42" name="Straight Connector 41">
              <a:extLst>
                <a:ext uri="{FF2B5EF4-FFF2-40B4-BE49-F238E27FC236}">
                  <a16:creationId xmlns:a16="http://schemas.microsoft.com/office/drawing/2014/main" id="{E93380A7-E2BF-54D6-53E5-6E9C5C7C39D4}"/>
                </a:ext>
              </a:extLst>
            </p:cNvPr>
            <p:cNvCxnSpPr>
              <a:cxnSpLocks/>
            </p:cNvCxnSpPr>
            <p:nvPr/>
          </p:nvCxnSpPr>
          <p:spPr>
            <a:xfrm>
              <a:off x="4857078" y="5847955"/>
              <a:ext cx="1610120"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8E82A556-6732-510C-F9D7-2FB7BE491028}"/>
                </a:ext>
              </a:extLst>
            </p:cNvPr>
            <p:cNvSpPr txBox="1"/>
            <p:nvPr/>
          </p:nvSpPr>
          <p:spPr>
            <a:xfrm>
              <a:off x="6538543" y="5663289"/>
              <a:ext cx="316112" cy="369332"/>
            </a:xfrm>
            <a:prstGeom prst="rect">
              <a:avLst/>
            </a:prstGeom>
            <a:noFill/>
          </p:spPr>
          <p:txBody>
            <a:bodyPr wrap="none" rtlCol="0">
              <a:spAutoFit/>
            </a:bodyPr>
            <a:lstStyle/>
            <a:p>
              <a:r>
                <a:rPr lang="en-US" b="1" dirty="0">
                  <a:latin typeface="Helvetica" pitchFamily="2" charset="0"/>
                  <a:cs typeface="Times New Roman" panose="02020603050405020304" pitchFamily="18" charset="0"/>
                </a:rPr>
                <a:t>×</a:t>
              </a:r>
              <a:endParaRPr lang="en-US" b="1" dirty="0"/>
            </a:p>
          </p:txBody>
        </p:sp>
      </p:grpSp>
      <p:sp>
        <p:nvSpPr>
          <p:cNvPr id="44" name="TextBox 43">
            <a:extLst>
              <a:ext uri="{FF2B5EF4-FFF2-40B4-BE49-F238E27FC236}">
                <a16:creationId xmlns:a16="http://schemas.microsoft.com/office/drawing/2014/main" id="{D7334220-44B8-60EF-436B-EF3F9F2B2CD9}"/>
              </a:ext>
            </a:extLst>
          </p:cNvPr>
          <p:cNvSpPr txBox="1"/>
          <p:nvPr/>
        </p:nvSpPr>
        <p:spPr>
          <a:xfrm>
            <a:off x="6823567" y="5625581"/>
            <a:ext cx="540533" cy="400110"/>
          </a:xfrm>
          <a:prstGeom prst="rect">
            <a:avLst/>
          </a:prstGeom>
          <a:noFill/>
        </p:spPr>
        <p:txBody>
          <a:bodyPr wrap="none" rtlCol="0">
            <a:spAutoFit/>
          </a:bodyPr>
          <a:lstStyle/>
          <a:p>
            <a:r>
              <a:rPr lang="en-US" sz="2000" b="1" dirty="0">
                <a:latin typeface="Helvetica" pitchFamily="2" charset="0"/>
                <a:cs typeface="Times New Roman" panose="02020603050405020304" pitchFamily="18" charset="0"/>
              </a:rPr>
              <a:t>6.4</a:t>
            </a:r>
            <a:endParaRPr lang="en-US" sz="2000" b="1" dirty="0"/>
          </a:p>
        </p:txBody>
      </p:sp>
      <p:sp>
        <p:nvSpPr>
          <p:cNvPr id="51" name="TextBox 50">
            <a:extLst>
              <a:ext uri="{FF2B5EF4-FFF2-40B4-BE49-F238E27FC236}">
                <a16:creationId xmlns:a16="http://schemas.microsoft.com/office/drawing/2014/main" id="{1D8A6E2E-C00D-E0B0-8DC5-CDA48DDB3FE9}"/>
              </a:ext>
            </a:extLst>
          </p:cNvPr>
          <p:cNvSpPr txBox="1">
            <a:spLocks/>
          </p:cNvSpPr>
          <p:nvPr/>
        </p:nvSpPr>
        <p:spPr>
          <a:xfrm>
            <a:off x="4784806" y="6358979"/>
            <a:ext cx="2396811" cy="369332"/>
          </a:xfrm>
          <a:prstGeom prst="rect">
            <a:avLst/>
          </a:prstGeom>
          <a:noFill/>
        </p:spPr>
        <p:txBody>
          <a:bodyPr wrap="none" rtlCol="0">
            <a:spAutoFit/>
          </a:bodyPr>
          <a:lstStyle/>
          <a:p>
            <a:pPr algn="ctr"/>
            <a:r>
              <a:rPr lang="en-US" b="1" dirty="0">
                <a:solidFill>
                  <a:schemeClr val="accent4">
                    <a:lumMod val="75000"/>
                  </a:schemeClr>
                </a:solidFill>
                <a:latin typeface="Helvetica" pitchFamily="2" charset="0"/>
                <a:cs typeface="Times New Roman" panose="02020603050405020304" pitchFamily="18" charset="0"/>
              </a:rPr>
              <a:t>Net Income = 451.56</a:t>
            </a:r>
            <a:endParaRPr lang="en-US" b="1" dirty="0">
              <a:solidFill>
                <a:schemeClr val="accent4">
                  <a:lumMod val="75000"/>
                </a:schemeClr>
              </a:solidFill>
            </a:endParaRPr>
          </a:p>
        </p:txBody>
      </p:sp>
    </p:spTree>
    <p:extLst>
      <p:ext uri="{BB962C8B-B14F-4D97-AF65-F5344CB8AC3E}">
        <p14:creationId xmlns:p14="http://schemas.microsoft.com/office/powerpoint/2010/main" val="4195933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3" grpId="0"/>
      <p:bldP spid="7" grpId="0"/>
      <p:bldP spid="33" grpId="0"/>
      <p:bldP spid="35" grpId="0"/>
      <p:bldP spid="44" grpId="0"/>
      <p:bldP spid="5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37CFE-20B6-2C67-68CB-E5B772A4A2CF}"/>
            </a:ext>
          </a:extLst>
        </p:cNvPr>
        <p:cNvGrpSpPr/>
        <p:nvPr/>
      </p:nvGrpSpPr>
      <p:grpSpPr>
        <a:xfrm>
          <a:off x="0" y="0"/>
          <a:ext cx="0" cy="0"/>
          <a:chOff x="0" y="0"/>
          <a:chExt cx="0" cy="0"/>
        </a:xfrm>
      </p:grpSpPr>
      <p:pic>
        <p:nvPicPr>
          <p:cNvPr id="16" name="Graphic 15" descr="Smiling Face with No Fill">
            <a:extLst>
              <a:ext uri="{FF2B5EF4-FFF2-40B4-BE49-F238E27FC236}">
                <a16:creationId xmlns:a16="http://schemas.microsoft.com/office/drawing/2014/main" id="{26FD02E1-7F23-DA6C-B6CA-D55E99F3B0D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12639" y="660596"/>
            <a:ext cx="4940104" cy="4940104"/>
          </a:xfrm>
          <a:prstGeom prst="rect">
            <a:avLst/>
          </a:prstGeom>
        </p:spPr>
      </p:pic>
      <p:sp>
        <p:nvSpPr>
          <p:cNvPr id="3" name="Content Placeholder 2">
            <a:extLst>
              <a:ext uri="{FF2B5EF4-FFF2-40B4-BE49-F238E27FC236}">
                <a16:creationId xmlns:a16="http://schemas.microsoft.com/office/drawing/2014/main" id="{6D368A18-9096-8CF9-5F4E-A2E194FDA1AF}"/>
              </a:ext>
            </a:extLst>
          </p:cNvPr>
          <p:cNvSpPr>
            <a:spLocks noGrp="1"/>
          </p:cNvSpPr>
          <p:nvPr>
            <p:ph idx="1"/>
          </p:nvPr>
        </p:nvSpPr>
        <p:spPr>
          <a:xfrm>
            <a:off x="1097026" y="2234802"/>
            <a:ext cx="5852193" cy="4254501"/>
          </a:xfrm>
        </p:spPr>
        <p:txBody>
          <a:bodyPr>
            <a:normAutofit/>
          </a:bodyPr>
          <a:lstStyle/>
          <a:p>
            <a:pPr marL="0" indent="0">
              <a:buNone/>
            </a:pPr>
            <a:r>
              <a:rPr lang="en-US" sz="6600" dirty="0">
                <a:latin typeface="Helvetica" pitchFamily="2" charset="0"/>
              </a:rPr>
              <a:t>Thank you</a:t>
            </a:r>
          </a:p>
        </p:txBody>
      </p:sp>
    </p:spTree>
    <p:extLst>
      <p:ext uri="{BB962C8B-B14F-4D97-AF65-F5344CB8AC3E}">
        <p14:creationId xmlns:p14="http://schemas.microsoft.com/office/powerpoint/2010/main" val="4812668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6322</TotalTime>
  <Words>4374</Words>
  <Application>Microsoft Macintosh PowerPoint</Application>
  <PresentationFormat>Widescreen</PresentationFormat>
  <Paragraphs>810</Paragraphs>
  <Slides>51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Aptos</vt:lpstr>
      <vt:lpstr>Aptos Display</vt:lpstr>
      <vt:lpstr>Arial</vt:lpstr>
      <vt:lpstr>Cambria Math</vt:lpstr>
      <vt:lpstr>Helvetica</vt:lpstr>
      <vt:lpstr>Times New Roman</vt:lpstr>
      <vt:lpstr>Office Theme</vt:lpstr>
      <vt:lpstr>PowerPoint Presentation</vt:lpstr>
      <vt:lpstr>Introduction</vt:lpstr>
      <vt:lpstr>How Do We Know If the Company Is Creating Long-Term Value?</vt:lpstr>
      <vt:lpstr>Where Financial Ratios Fit In</vt:lpstr>
      <vt:lpstr>What Are Financial Ratios?</vt:lpstr>
      <vt:lpstr>We Need Different Types of Ratios</vt:lpstr>
      <vt:lpstr>Categories of Ratios</vt:lpstr>
      <vt:lpstr>1- Liquidity Ratios</vt:lpstr>
      <vt:lpstr>Incremental Cash Flows</vt:lpstr>
      <vt:lpstr>1-1.Current Ratio</vt:lpstr>
      <vt:lpstr>1-1.Current Ratio</vt:lpstr>
      <vt:lpstr>1-2.Quick Ratio or Acid Test</vt:lpstr>
      <vt:lpstr>1-2.Quick Ratio or Acid Test</vt:lpstr>
      <vt:lpstr>1-3.Cash Ratio</vt:lpstr>
      <vt:lpstr>2- Asset Management Ratios</vt:lpstr>
      <vt:lpstr>2-1. Inventory Turnover Ratio</vt:lpstr>
      <vt:lpstr>2-1. Inventory Turnover</vt:lpstr>
      <vt:lpstr>2-2. Days’ sales in inventories</vt:lpstr>
      <vt:lpstr>2-3. Accounts Receivable Turnover</vt:lpstr>
      <vt:lpstr>2-4. Days Sales Outstanding (DSO)</vt:lpstr>
      <vt:lpstr>2-4. Days Sales Outstanding (DSO)</vt:lpstr>
      <vt:lpstr>2-5. Accounts Payable Turnover</vt:lpstr>
      <vt:lpstr>2-6. Fixed Asset Turnover</vt:lpstr>
      <vt:lpstr>2-6. Fixed Asset Turnover</vt:lpstr>
      <vt:lpstr>2-7. Total Asset Turnover</vt:lpstr>
      <vt:lpstr>2-7. Total Asset Turnover</vt:lpstr>
      <vt:lpstr>3- Debt Management Ratios (Also called Leverage or Solvency Ratios)</vt:lpstr>
      <vt:lpstr>3-1.Total Debt Ratio </vt:lpstr>
      <vt:lpstr>3-2. Debt-to-Equity Ratio </vt:lpstr>
      <vt:lpstr>3-3. Equity Multiplier </vt:lpstr>
      <vt:lpstr>3- Example (3-1 to 3-3)</vt:lpstr>
      <vt:lpstr>3-4. Long-term Debt Ratio</vt:lpstr>
      <vt:lpstr>3-5. Times Interest Earned Ratio</vt:lpstr>
      <vt:lpstr>3. Example (3-4 to 3-5)</vt:lpstr>
      <vt:lpstr>4- Profitability Ratios</vt:lpstr>
      <vt:lpstr>4-1. Operating Margin</vt:lpstr>
      <vt:lpstr>4-2. Profit Margin or Net Profit Margin </vt:lpstr>
      <vt:lpstr>4-3. Return on Assets (ROA)</vt:lpstr>
      <vt:lpstr>4-5. Return on Invested Capital (ROIC)</vt:lpstr>
      <vt:lpstr>4-6. Basic Earning Power (BEP) Ratio</vt:lpstr>
      <vt:lpstr>4. Example (4-1 to 4-6)</vt:lpstr>
      <vt:lpstr>5- Market Value Ratios</vt:lpstr>
      <vt:lpstr>5-1. Price-Earnings Ratio (P/E)</vt:lpstr>
      <vt:lpstr>5-2. PEG Ratio</vt:lpstr>
      <vt:lpstr>5-3. Price-Sales Ratio (P/S)</vt:lpstr>
      <vt:lpstr>5-4. Market-to-Book-Ratio (M/B)</vt:lpstr>
      <vt:lpstr>5-5. Tobin’s Q Ratio</vt:lpstr>
      <vt:lpstr>PowerPoint Presentation</vt:lpstr>
      <vt:lpstr>DuPont Equation</vt:lpstr>
      <vt:lpstr>DuPont Equation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HAGHIGHI ZADEH, REIHANEH</dc:creator>
  <cp:lastModifiedBy>reza bavili</cp:lastModifiedBy>
  <cp:revision>84</cp:revision>
  <dcterms:created xsi:type="dcterms:W3CDTF">2024-10-08T02:28:39Z</dcterms:created>
  <dcterms:modified xsi:type="dcterms:W3CDTF">2026-01-20T22:18:25Z</dcterms:modified>
</cp:coreProperties>
</file>