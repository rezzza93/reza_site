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5" r:id="rId4"/>
    <p:sldId id="258" r:id="rId5"/>
    <p:sldId id="259" r:id="rId6"/>
    <p:sldId id="260" r:id="rId7"/>
    <p:sldId id="262" r:id="rId8"/>
    <p:sldId id="261" r:id="rId9"/>
    <p:sldId id="263" r:id="rId10"/>
    <p:sldId id="266" r:id="rId11"/>
    <p:sldId id="267" r:id="rId12"/>
    <p:sldId id="268" r:id="rId13"/>
    <p:sldId id="269" r:id="rId14"/>
    <p:sldId id="270" r:id="rId15"/>
    <p:sldId id="265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5859"/>
  </p:normalViewPr>
  <p:slideViewPr>
    <p:cSldViewPr snapToGrid="0">
      <p:cViewPr varScale="1">
        <p:scale>
          <a:sx n="120" d="100"/>
          <a:sy n="12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9014-03D0-4A36-416B-401ABC3A8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670756"/>
            <a:ext cx="7766936" cy="164630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Welcome to FIN323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9C5F1-70D5-BFEE-1623-A4736A257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90345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Introductory Financial Management</a:t>
            </a:r>
          </a:p>
        </p:txBody>
      </p:sp>
    </p:spTree>
    <p:extLst>
      <p:ext uri="{BB962C8B-B14F-4D97-AF65-F5344CB8AC3E}">
        <p14:creationId xmlns:p14="http://schemas.microsoft.com/office/powerpoint/2010/main" val="388699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334B-6E9F-8A3B-AF49-7EBE53B7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480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57EE-3D2C-303C-A184-9A24666A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12" y="1388533"/>
            <a:ext cx="9256888" cy="50292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Söhne"/>
              </a:rPr>
              <a:t>Name:</a:t>
            </a: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Reza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K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ahibavil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Söhne"/>
              </a:rPr>
              <a:t>Contact Information:</a:t>
            </a: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Email: 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Söhne"/>
              </a:rPr>
              <a:t>Rkahi001@odu.edu</a:t>
            </a: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Söhne"/>
              </a:rPr>
              <a:t>Academic Background:</a:t>
            </a: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PhD student in finance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Söhne"/>
              </a:rPr>
              <a:t>Professional Achievements:</a:t>
            </a: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Passed CFA Level I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Söhne"/>
              </a:rPr>
              <a:t>Interest:</a:t>
            </a: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Passionate about investment</a:t>
            </a:r>
          </a:p>
        </p:txBody>
      </p:sp>
    </p:spTree>
    <p:extLst>
      <p:ext uri="{BB962C8B-B14F-4D97-AF65-F5344CB8AC3E}">
        <p14:creationId xmlns:p14="http://schemas.microsoft.com/office/powerpoint/2010/main" val="398668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A0AA-C270-D7FE-C8C1-F6B6404B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E976-3D3B-116E-2318-EA29F4AE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480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Abou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9E21-583A-97BB-B1C8-204D3538B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12" y="1388533"/>
            <a:ext cx="9256888" cy="50292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dirty="0"/>
              <a:t>Now that you know a bit about me, I’d like to get to know you. </a:t>
            </a:r>
          </a:p>
          <a:p>
            <a:pPr marL="0" indent="0" algn="l">
              <a:buNone/>
            </a:pPr>
            <a:r>
              <a:rPr lang="en-US" sz="2000" dirty="0"/>
              <a:t>Let’s take a few minutes for introductions. just a quick way to learn more about each other.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Your name and your academic background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Your career goals (If you want)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Your comfort level with math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What you expect from this course:</a:t>
            </a:r>
            <a:r>
              <a:rPr lang="en-US" sz="2000" b="1" dirty="0"/>
              <a:t> 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have you studied finance before? Are there specific topics you're curious about or skills you want to develop?</a:t>
            </a:r>
          </a:p>
        </p:txBody>
      </p:sp>
    </p:spTree>
    <p:extLst>
      <p:ext uri="{BB962C8B-B14F-4D97-AF65-F5344CB8AC3E}">
        <p14:creationId xmlns:p14="http://schemas.microsoft.com/office/powerpoint/2010/main" val="54625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4F10-2152-1B68-1647-4DDD2E96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B19A1-D8D8-77A9-B83D-0F3264BD3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öhne"/>
              </a:rPr>
              <a:t>Maximize Firm Values</a:t>
            </a:r>
            <a:endParaRPr lang="en-US" sz="2400" b="0" i="0" dirty="0">
              <a:solidFill>
                <a:srgbClr val="000000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Söhne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öhne"/>
              </a:rPr>
              <a:t>he fundamental goal of financial management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öhne"/>
              </a:rPr>
              <a:t>Valuation Principles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öhne"/>
              </a:rPr>
              <a:t>Time Value of Money (TVM)</a:t>
            </a:r>
            <a:endParaRPr lang="en-US" sz="2400" b="0" i="0" dirty="0">
              <a:solidFill>
                <a:srgbClr val="000000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öhne"/>
              </a:rPr>
              <a:t>Financial Market Understanding</a:t>
            </a:r>
            <a:endParaRPr lang="en-US" sz="2400" b="0" i="0" dirty="0">
              <a:solidFill>
                <a:srgbClr val="000000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öhne"/>
              </a:rPr>
              <a:t>Application of Financial Tools</a:t>
            </a:r>
            <a:endParaRPr lang="en-US" sz="2400" b="0" i="0" dirty="0">
              <a:solidFill>
                <a:srgbClr val="000000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Söhne"/>
              </a:rPr>
              <a:t>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öhne"/>
              </a:rPr>
              <a:t>apital budgeting, optimal capital structure, dividend policy, working capital, and financial forecasting.</a:t>
            </a:r>
            <a:br>
              <a:rPr lang="en-US" b="0" i="0" dirty="0">
                <a:solidFill>
                  <a:srgbClr val="000000"/>
                </a:solidFill>
                <a:effectLst/>
                <a:latin typeface="Söhne"/>
              </a:rPr>
            </a:br>
            <a:endParaRPr lang="en-US" b="0" i="0" dirty="0">
              <a:solidFill>
                <a:srgbClr val="000000"/>
              </a:solidFill>
              <a:effectLst/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735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CE89-676B-A045-D837-41523702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01355-8294-5E7E-D316-AA7960CFF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424" y="1657947"/>
            <a:ext cx="8596668" cy="3880773"/>
          </a:xfrm>
        </p:spPr>
        <p:txBody>
          <a:bodyPr>
            <a:normAutofit/>
          </a:bodyPr>
          <a:lstStyle/>
          <a:p>
            <a:pPr marR="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Fundamentals of Financial Management: Concise </a:t>
            </a:r>
            <a:endParaRPr lang="en-US" sz="2400" dirty="0">
              <a:solidFill>
                <a:schemeClr val="tx1"/>
              </a:solidFill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Eugene F. Brigham, Joel F. Houston, 11th edition</a:t>
            </a:r>
            <a:endParaRPr lang="en-US" sz="2400" dirty="0">
              <a:solidFill>
                <a:schemeClr val="tx1"/>
              </a:solidFill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5261F-D022-5A5E-CF27-0F3B2628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271" y="2612347"/>
            <a:ext cx="3366821" cy="39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1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A58D-34E2-A2DA-6334-999E7C77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42417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Financial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48DFD-7B27-72C3-2694-5DF570CC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157" y="2544410"/>
            <a:ext cx="9223022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Texas Instruments BAII Plus/Professional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Please remember to bring your calculator to every session!!</a:t>
            </a:r>
          </a:p>
        </p:txBody>
      </p:sp>
    </p:spTree>
    <p:extLst>
      <p:ext uri="{BB962C8B-B14F-4D97-AF65-F5344CB8AC3E}">
        <p14:creationId xmlns:p14="http://schemas.microsoft.com/office/powerpoint/2010/main" val="342659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1DFBF0-51CD-A8BE-E0CC-AE2ABEB86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961911"/>
              </p:ext>
            </p:extLst>
          </p:nvPr>
        </p:nvGraphicFramePr>
        <p:xfrm>
          <a:off x="1145648" y="1191469"/>
          <a:ext cx="8064499" cy="4303395"/>
        </p:xfrm>
        <a:graphic>
          <a:graphicData uri="http://schemas.openxmlformats.org/drawingml/2006/table">
            <a:tbl>
              <a:tblPr firstRow="1" firstCol="1" bandRow="1"/>
              <a:tblGrid>
                <a:gridCol w="435123">
                  <a:extLst>
                    <a:ext uri="{9D8B030D-6E8A-4147-A177-3AD203B41FA5}">
                      <a16:colId xmlns:a16="http://schemas.microsoft.com/office/drawing/2014/main" val="3193074992"/>
                    </a:ext>
                  </a:extLst>
                </a:gridCol>
                <a:gridCol w="1650909">
                  <a:extLst>
                    <a:ext uri="{9D8B030D-6E8A-4147-A177-3AD203B41FA5}">
                      <a16:colId xmlns:a16="http://schemas.microsoft.com/office/drawing/2014/main" val="1023799499"/>
                    </a:ext>
                  </a:extLst>
                </a:gridCol>
                <a:gridCol w="294348">
                  <a:extLst>
                    <a:ext uri="{9D8B030D-6E8A-4147-A177-3AD203B41FA5}">
                      <a16:colId xmlns:a16="http://schemas.microsoft.com/office/drawing/2014/main" val="2236852229"/>
                    </a:ext>
                  </a:extLst>
                </a:gridCol>
                <a:gridCol w="2930684">
                  <a:extLst>
                    <a:ext uri="{9D8B030D-6E8A-4147-A177-3AD203B41FA5}">
                      <a16:colId xmlns:a16="http://schemas.microsoft.com/office/drawing/2014/main" val="998585663"/>
                    </a:ext>
                  </a:extLst>
                </a:gridCol>
                <a:gridCol w="94703">
                  <a:extLst>
                    <a:ext uri="{9D8B030D-6E8A-4147-A177-3AD203B41FA5}">
                      <a16:colId xmlns:a16="http://schemas.microsoft.com/office/drawing/2014/main" val="2510313475"/>
                    </a:ext>
                  </a:extLst>
                </a:gridCol>
                <a:gridCol w="2658732">
                  <a:extLst>
                    <a:ext uri="{9D8B030D-6E8A-4147-A177-3AD203B41FA5}">
                      <a16:colId xmlns:a16="http://schemas.microsoft.com/office/drawing/2014/main" val="3608557611"/>
                    </a:ext>
                  </a:extLst>
                </a:gridCol>
              </a:tblGrid>
              <a:tr h="712470">
                <a:tc gridSpan="6"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en-US" sz="360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Course grade</a:t>
                      </a:r>
                    </a:p>
                    <a:p>
                      <a:pPr marL="0" marR="0"/>
                      <a:r>
                        <a:rPr lang="en-US" sz="2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35674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/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/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9272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/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Participation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(5%)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456449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/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Homework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(25%)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25159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/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Midterm(1)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(20%)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85776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/>
                      <a:endParaRPr lang="en-US" sz="16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Midterm(2)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(20%)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415996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/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Final Exam</a:t>
                      </a:r>
                      <a:endParaRPr lang="en-US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(30%)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823787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/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(100%)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05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529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0AE8-60F3-C857-2124-370BF119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Exam dates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9CD3D83-BBE3-3B79-3158-EB4667C34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89642"/>
              </p:ext>
            </p:extLst>
          </p:nvPr>
        </p:nvGraphicFramePr>
        <p:xfrm>
          <a:off x="813593" y="1639711"/>
          <a:ext cx="5465620" cy="2777617"/>
        </p:xfrm>
        <a:graphic>
          <a:graphicData uri="http://schemas.openxmlformats.org/drawingml/2006/table">
            <a:tbl>
              <a:tblPr firstRow="1" firstCol="1" bandRow="1"/>
              <a:tblGrid>
                <a:gridCol w="2590846">
                  <a:extLst>
                    <a:ext uri="{9D8B030D-6E8A-4147-A177-3AD203B41FA5}">
                      <a16:colId xmlns:a16="http://schemas.microsoft.com/office/drawing/2014/main" val="1139861856"/>
                    </a:ext>
                  </a:extLst>
                </a:gridCol>
                <a:gridCol w="2874774">
                  <a:extLst>
                    <a:ext uri="{9D8B030D-6E8A-4147-A177-3AD203B41FA5}">
                      <a16:colId xmlns:a16="http://schemas.microsoft.com/office/drawing/2014/main" val="2085034493"/>
                    </a:ext>
                  </a:extLst>
                </a:gridCol>
              </a:tblGrid>
              <a:tr h="9358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cap="all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>
                        <a:effectLst/>
                        <a:latin typeface="SAS Monospace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2400">
                        <a:effectLst/>
                        <a:latin typeface="SAS Monospace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040183"/>
                  </a:ext>
                </a:extLst>
              </a:tr>
              <a:tr h="800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all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Midterms</a:t>
                      </a:r>
                      <a:endParaRPr lang="en-US" sz="2400" dirty="0">
                        <a:effectLst/>
                        <a:latin typeface="SAS Monospace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 be announced </a:t>
                      </a:r>
                      <a:endParaRPr lang="en-US" sz="2400" dirty="0">
                        <a:effectLst/>
                        <a:latin typeface="SAS Monospace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892224"/>
                  </a:ext>
                </a:extLst>
              </a:tr>
              <a:tr h="10408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all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 exam</a:t>
                      </a:r>
                      <a:endParaRPr lang="en-US" sz="2400">
                        <a:effectLst/>
                        <a:latin typeface="SAS Monospace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May 7, 12:30 pm</a:t>
                      </a:r>
                      <a:endParaRPr lang="en-US" sz="2400" dirty="0">
                        <a:effectLst/>
                        <a:latin typeface="SAS Monospace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279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1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2F83-C772-C04E-5F6A-B037F0C9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EVALUATION</a:t>
            </a:r>
            <a:br>
              <a:rPr lang="en-US" sz="3600" dirty="0">
                <a:effectLst/>
                <a:latin typeface="SAS Monospace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9DBE9-5256-BBF9-715C-C81A0BD2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8056"/>
            <a:ext cx="8596668" cy="3880773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tabLst>
                <a:tab pos="520700" algn="l"/>
              </a:tabLst>
            </a:pPr>
            <a:r>
              <a:rPr lang="en-US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tabLst>
                <a:tab pos="520700" algn="l"/>
              </a:tabLst>
            </a:pPr>
            <a:r>
              <a:rPr lang="en-US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Participation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tabLst>
                <a:tab pos="520700" algn="l"/>
              </a:tabLst>
            </a:pPr>
            <a:r>
              <a:rPr lang="en-US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Homework Assignments</a:t>
            </a:r>
            <a:endParaRPr lang="en-US" sz="24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Mid-term Examinations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Examination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8658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984C-8C2E-331D-E82F-59F6354E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COURSE OUTLINE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1658-4AD6-1C85-C71A-64D3ECC3D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401"/>
            <a:ext cx="8963377" cy="41109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1 (An overview of Financial Management)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b="1" dirty="0">
              <a:latin typeface="SAS Monospace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ü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ooney-web"/>
              </a:rPr>
              <a:t>Forms of Business Organization</a:t>
            </a:r>
          </a:p>
          <a:p>
            <a:pPr algn="l">
              <a:buFont typeface="Wingdings" pitchFamily="2" charset="2"/>
              <a:buChar char="ü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ooney-web"/>
              </a:rPr>
              <a:t>The Main Financial Goal: Creating Value for Investors</a:t>
            </a:r>
          </a:p>
          <a:p>
            <a:pPr algn="l">
              <a:buFont typeface="Wingdings" pitchFamily="2" charset="2"/>
              <a:buChar char="ü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ooney-web"/>
              </a:rPr>
              <a:t>Stockholder–Manager Conflicts</a:t>
            </a:r>
          </a:p>
          <a:p>
            <a:pPr algn="l">
              <a:buFont typeface="Wingdings" pitchFamily="2" charset="2"/>
              <a:buChar char="ü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ooney-web"/>
              </a:rPr>
              <a:t>Stockholder–Debtholder Conflicts</a:t>
            </a:r>
          </a:p>
          <a:p>
            <a:pPr algn="l">
              <a:buFont typeface="Wingdings" pitchFamily="2" charset="2"/>
              <a:buChar char="ü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ooney-web"/>
              </a:rPr>
              <a:t>Balancing Shareholder Interests and the Interests of Society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04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EF98-3A23-6D79-334D-3CB9A1B13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4" y="1009123"/>
            <a:ext cx="8596668" cy="3880773"/>
          </a:xfrm>
        </p:spPr>
        <p:txBody>
          <a:bodyPr>
            <a:normAutofit fontScale="55000" lnSpcReduction="20000"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4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3 (Financial Statements, Cash Flow, and Taxes)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575757"/>
              </a:solidFill>
              <a:effectLst/>
              <a:latin typeface="rooney-web"/>
            </a:endParaRP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Financial Statements and Reports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The Balance Sheet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The Income Statement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Statement of Cash Flows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Statement of Stockholders’ Equity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Free Cash Flow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MVA and EVA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3200" dirty="0">
                <a:solidFill>
                  <a:schemeClr val="tx1"/>
                </a:solidFill>
                <a:latin typeface="rooney-web"/>
              </a:rPr>
              <a:t>Income Taxes</a:t>
            </a:r>
            <a:br>
              <a:rPr lang="en-US" b="0" i="0" dirty="0">
                <a:solidFill>
                  <a:srgbClr val="575757"/>
                </a:solidFill>
                <a:effectLst/>
                <a:latin typeface="rooney-web"/>
              </a:rPr>
            </a:br>
            <a:endParaRPr lang="en-US" b="0" i="0" dirty="0">
              <a:solidFill>
                <a:srgbClr val="575757"/>
              </a:solidFill>
              <a:effectLst/>
              <a:latin typeface="rooney-web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83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2E90-657A-EA72-DCF9-D9A151CB6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7" y="839789"/>
            <a:ext cx="8596668" cy="3880773"/>
          </a:xfrm>
        </p:spPr>
        <p:txBody>
          <a:bodyPr>
            <a:normAutofit fontScale="85000" lnSpcReduction="20000"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4 (Analysis of Financial Statements)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2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Ratio Analysis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Liquidity Ratios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Asset Management Ratios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Debt Management Ratios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Profitability Ratios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Market Value Ratios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Tying the Ratios Together: The DuPont Equation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900" dirty="0">
                <a:solidFill>
                  <a:schemeClr val="tx1"/>
                </a:solidFill>
                <a:latin typeface="rooney-web"/>
              </a:rPr>
              <a:t>Using Financial Ratios to Assess Performance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9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ACEDF-1FDD-BF64-FE75-E68384FCE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117600"/>
            <a:ext cx="9588499" cy="5130799"/>
          </a:xfrm>
        </p:spPr>
        <p:txBody>
          <a:bodyPr>
            <a:normAutofit fontScale="47500" lnSpcReduction="20000"/>
          </a:bodyPr>
          <a:lstStyle/>
          <a:p>
            <a:pPr algn="l">
              <a:buFont typeface="Courier New" panose="02070309020205020404" pitchFamily="49" charset="0"/>
              <a:buChar char="o"/>
            </a:pPr>
            <a:r>
              <a:rPr lang="en-US" sz="5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5 (</a:t>
            </a:r>
            <a:r>
              <a:rPr lang="en-US" sz="5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5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Value of Money)</a:t>
            </a:r>
          </a:p>
          <a:p>
            <a:pPr marL="0" indent="0" algn="l">
              <a:buNone/>
            </a:pP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i="0" dirty="0">
              <a:solidFill>
                <a:srgbClr val="575757"/>
              </a:solidFill>
              <a:effectLst/>
              <a:latin typeface="rooney-web"/>
            </a:endParaRP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Future Values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Present Values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Finding the Interest Rate, Number of Years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Annuities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Perpetuities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Uneven Cash Flows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Semiannual and Other Compounding Periods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Comparing Interest Rates</a:t>
            </a:r>
          </a:p>
          <a:p>
            <a:pPr marL="342900" lvl="1" indent="-342900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900" dirty="0">
                <a:solidFill>
                  <a:schemeClr val="tx1"/>
                </a:solidFill>
                <a:latin typeface="rooney-web"/>
              </a:rPr>
              <a:t>Amortized Loans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8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7B53-0733-D4E5-2B2D-7A365D1BA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817304"/>
            <a:ext cx="8884049" cy="465639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6 (Interest Rates)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The Cost of Money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Interest Rate Levels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The Determinants of Market Interest Rates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The Term Structure of Interest Rates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What Determines the Shape of the Yield Curve?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Using the Yield Curve to Estimate Future Interest Rates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Interest Rates and Business Decisions</a:t>
            </a:r>
          </a:p>
          <a:p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2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5E36-8201-D574-38AB-AA24BD3D8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21" y="553156"/>
            <a:ext cx="8207022" cy="4935052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7 (Bond and Their Valuation)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2600" b="1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Who Issues Bonds?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Key Characteristics of Bonds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Bond Valuation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Bond Yields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Changes in Bond Values over Time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Bonds with Semiannual Coupons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Assessing a Bond’s Riskiness investment Risk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rooney-web"/>
              </a:rPr>
              <a:t>Default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21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80C7-4522-754E-D930-FEAE04FFB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72" y="1032371"/>
            <a:ext cx="8596668" cy="388077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8 (Risk and Rates of Return)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The Risk-Return Trade-Off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Stand-Alone Risk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Risk in a Portfolio Context: The CAPM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The Relationship between Risk and Rates of Return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Concerns about Beta and the CAPM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971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286B-0E67-EAF8-E380-084C76C48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08" y="624097"/>
            <a:ext cx="9582392" cy="474800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9 (Stocks and Their Valuation)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26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Legal Rights and Privileges of Common Stockholders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Types of Common Stock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Stock Price versus Intrinsic Value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The Discounted Dividend Model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Constant Growth Stocks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Valuing Nonconstant Growth Stocks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Enterprise-Based Approach to Valuation</a:t>
            </a:r>
          </a:p>
          <a:p>
            <a:pPr marL="342900" lvl="1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rooney-web"/>
              </a:rPr>
              <a:t>Preferred Stock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95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54C60-F3A8-5EF2-4D9D-B0D8270C3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055272"/>
            <a:ext cx="8509000" cy="450732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10 (The cost of capital)</a:t>
            </a:r>
          </a:p>
          <a:p>
            <a:pPr marL="0" indent="0">
              <a:buNone/>
            </a:pPr>
            <a:endParaRPr lang="en-US" sz="26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An Overview of the Weighted Average Cost of Capital (WACC)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Cost of Debt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Cost of Preferred Stock 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Cost of Retained Earnings 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Cost of New Common Stock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Composite, or Weighted Average, Cost of Capital, WACC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rooney-web"/>
              </a:rPr>
              <a:t>Adjusting the Cost of Capital for Risk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0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0F3A-946A-7C00-A097-EA3B9B9B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98" y="1388634"/>
            <a:ext cx="9186402" cy="408073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 11 (The Basic of Capital Budgeting)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rooney-web"/>
              </a:rPr>
              <a:t>Book, Market, or “Target” Weights?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rooney-web"/>
              </a:rPr>
              <a:t>Business and Financial Risk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rooney-web"/>
              </a:rPr>
              <a:t>Determining the Optimal Capital Structure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rooney-web"/>
              </a:rPr>
              <a:t>Capital Structure Theory</a:t>
            </a:r>
          </a:p>
          <a:p>
            <a:pPr marL="342900" lvl="1" indent="-342900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rooney-web"/>
              </a:rPr>
              <a:t>Variations in Capital Structures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>
              <a:effectLst/>
              <a:latin typeface="SAS Monospace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AEA09-D7BB-FCD9-2375-8671251087B0}"/>
              </a:ext>
            </a:extLst>
          </p:cNvPr>
          <p:cNvSpPr txBox="1"/>
          <p:nvPr/>
        </p:nvSpPr>
        <p:spPr>
          <a:xfrm>
            <a:off x="7531100" y="1612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5366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526</TotalTime>
  <Words>695</Words>
  <Application>Microsoft Macintosh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Courier New</vt:lpstr>
      <vt:lpstr>rooney-web</vt:lpstr>
      <vt:lpstr>SAS Monospace</vt:lpstr>
      <vt:lpstr>Söhne</vt:lpstr>
      <vt:lpstr>Times New Roman</vt:lpstr>
      <vt:lpstr>Trebuchet MS</vt:lpstr>
      <vt:lpstr>Wingdings</vt:lpstr>
      <vt:lpstr>Wingdings 3</vt:lpstr>
      <vt:lpstr>Facet</vt:lpstr>
      <vt:lpstr>Welcome to FIN323</vt:lpstr>
      <vt:lpstr>About me</vt:lpstr>
      <vt:lpstr>Abou You</vt:lpstr>
      <vt:lpstr>Course objectives</vt:lpstr>
      <vt:lpstr>Textbook</vt:lpstr>
      <vt:lpstr>Financial calculator</vt:lpstr>
      <vt:lpstr>PowerPoint Presentation</vt:lpstr>
      <vt:lpstr>Exam dates</vt:lpstr>
      <vt:lpstr>STUDENT EVALUATION </vt:lpstr>
      <vt:lpstr>COURSE 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FIN323</dc:title>
  <dc:creator>Reyhane Haghighizade</dc:creator>
  <cp:lastModifiedBy>reza bavili</cp:lastModifiedBy>
  <cp:revision>42</cp:revision>
  <dcterms:created xsi:type="dcterms:W3CDTF">2024-01-08T20:00:06Z</dcterms:created>
  <dcterms:modified xsi:type="dcterms:W3CDTF">2025-01-14T18:27:23Z</dcterms:modified>
</cp:coreProperties>
</file>