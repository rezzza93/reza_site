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8" r:id="rId2"/>
    <p:sldId id="263" r:id="rId3"/>
    <p:sldId id="264" r:id="rId4"/>
    <p:sldId id="265" r:id="rId5"/>
    <p:sldId id="266" r:id="rId6"/>
    <p:sldId id="267" r:id="rId7"/>
    <p:sldId id="268" r:id="rId8"/>
    <p:sldId id="270" r:id="rId9"/>
    <p:sldId id="280" r:id="rId10"/>
    <p:sldId id="271" r:id="rId11"/>
    <p:sldId id="272" r:id="rId12"/>
    <p:sldId id="273" r:id="rId13"/>
    <p:sldId id="269" r:id="rId14"/>
    <p:sldId id="274" r:id="rId15"/>
    <p:sldId id="275" r:id="rId16"/>
    <p:sldId id="319" r:id="rId17"/>
    <p:sldId id="320" r:id="rId18"/>
    <p:sldId id="281" r:id="rId19"/>
    <p:sldId id="321" r:id="rId20"/>
    <p:sldId id="322" r:id="rId21"/>
    <p:sldId id="323" r:id="rId22"/>
    <p:sldId id="279" r:id="rId23"/>
    <p:sldId id="324" r:id="rId24"/>
    <p:sldId id="325" r:id="rId25"/>
    <p:sldId id="277" r:id="rId26"/>
    <p:sldId id="278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1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293"/>
    <a:srgbClr val="A600AF"/>
    <a:srgbClr val="A60086"/>
    <a:srgbClr val="6C33B0"/>
    <a:srgbClr val="171DB0"/>
    <a:srgbClr val="0061B4"/>
    <a:srgbClr val="0032FF"/>
    <a:srgbClr val="820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/>
    <p:restoredTop sz="96087"/>
  </p:normalViewPr>
  <p:slideViewPr>
    <p:cSldViewPr snapToGrid="0">
      <p:cViewPr varScale="1">
        <p:scale>
          <a:sx n="123" d="100"/>
          <a:sy n="123" d="100"/>
        </p:scale>
        <p:origin x="31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6570-999A-DC42-8E66-F3D58899C2B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49C8-EEFF-0D43-99AE-419F2E81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9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17C5-B33B-DB8E-BEAD-6438C0A7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103A8-8811-E274-9C6A-0AAEA001D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9BF57-0EBD-97B3-387B-0AACBD6ED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C880A-F85C-7516-3874-98441C652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13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1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0120-6440-5236-6D8C-D08A51CE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594D-896D-D537-1309-11546FE58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E3520-117F-5F44-A323-350F82014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8318D-F400-A357-F0C2-1BEACC361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80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AD0F-D8D6-E722-A15D-45A4A369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C2D68-FC89-FBEE-0417-F651B404D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FF196-D153-9687-E6C4-091F29668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1801-D902-FE35-1F26-9589B735D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43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0889-3909-6BBF-2B0A-C915F446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3FB3F-74F1-E5F7-63F5-2B6F29E16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53549-7E67-DCE4-8B36-BDCB3733E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232E3-E09E-C252-01B1-723E5030F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47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3815-04A7-30EB-484E-D88AA1C5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C9C14-F59D-3A02-CE38-16F5D1712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55510-17D7-6F11-8523-ED7871474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2D145-8ADF-41F8-E800-272CF6703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45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DA048-6DA1-A70F-842B-B42BD5B7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3C76E-71F7-25CB-B7C7-B4CB024D9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93C8B-6B6E-52BC-6F0F-61BB36BDC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33F89-3254-09E0-303C-A0720C0C6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77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92A7-E48B-8813-AFD6-51B57E8F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18896-11DA-51B7-8871-9D24D5449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C9CBB-E1B7-CA05-4531-248B7BB64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0AE3-D899-2C48-A528-77122EEEB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9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A8E-ECB8-D713-DD4C-032B576F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B05F5-0B8E-1642-4F81-F643D533D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3CC83-F190-B61F-1967-AAE0580FF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0FF4F-E74D-FB71-ED4D-83AE169D9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02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6511-525E-AEFB-03EE-066CAA20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70CC4-6331-3659-A05D-81860A77A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2A62E-0322-DE3E-9111-2624B9133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228CC-CA9E-6689-18AB-6F04CFBB1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69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DB65-429C-5F89-0E71-37723A01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0EA6C-F0EC-44A4-F48A-5C77F5CF4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8C984-8FCC-967E-3CDB-43B954E64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AB3DB-74A8-BE5B-8B7E-BD5459506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1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B85D-A7CC-D132-7098-F4D76547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B8110-3DD5-6194-85A8-53B41C72E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BDF66-0960-207E-4AA1-DDA265CE2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B9E5E-B472-FA41-65F8-1BBEC5D28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50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747C-D662-DEA6-4FC0-9F929A9A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EF4E3-27D4-A652-FA4E-8CC86C943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F8910-CA03-E506-C373-EA01D7253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46A7-FA18-6FB2-3F1E-879CF329C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51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3FF33-9D0B-EA71-901D-F364A186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01381-CF7E-94F3-1792-982C7E920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47767-D4C0-6DF4-8503-C60E0D36E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BFCA0-7E9E-9C3D-9E65-20E684185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32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28E4-04B9-C2C3-EC39-D9464E99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03574-44D9-61E2-4B90-52A9B075F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2B59F-5A14-C1C9-6BA6-D0A810D8C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35007-6030-C63B-8E3E-C222764E1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71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C684-3518-01D9-EC40-30CE0333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088DB-ECBB-12D8-5FBB-4618A1F6D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F79D4-AFEF-B3AF-5FB2-734C440A5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590AF-4A50-D6DE-5C68-F583EF866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93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3757-68C8-4EB8-33F8-604728FB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4B393-7CD6-967B-1CB3-FA37687DC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C88CE-76AB-D540-BE34-F14A08A35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D3551-F168-4BC0-C70C-6FFE83AB9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53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0BC8-A2E2-8903-2848-6E390410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C1E2B-8433-ED66-FCDE-672F371D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E467F-F4F1-DCE6-1FB2-50092DD0C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5C3C7-C2E7-C481-41EA-82B8C8D7D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840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4EE1-5268-6222-43CA-FD341E43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214CB-2BF3-B7CD-E391-3F14A044E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E5251-CD8F-DFF6-198B-58E23CF2E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BDB3D-C999-D008-FDF8-2A0113FF7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81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D4601-01AB-8EEF-2882-EA2EC45A1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62AD8-31F6-5FB4-041F-E2CFA3B08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1A840-45E0-C099-261B-4F14EB002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9C7C-C037-D476-C2F0-5C1029416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73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EC735-7C93-7582-A36E-24C7617B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48B00-D05E-DDC3-2580-F8FED2932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F546-B996-D615-56BB-EE7568160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9ED47-9E31-7653-D7C5-D777424A1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59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D7D1-4094-DE14-53BB-BE0D5D00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C07C2-BECD-CE3D-34CA-DA73E7B3B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53BFE-8150-CC90-A1B4-87A5024EF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4B8AC-24CF-7888-EBB8-5E59046F8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443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FA90-2DFD-752C-5D63-E0445BC4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E553D-C5F7-87CC-DC2B-F4623084A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1E7DA-7A8B-6B60-8541-308CBF293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5889B-F57D-C302-4C2A-E24274989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316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86F04-3126-F624-DEB2-7C210A92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8E9DE-7DBE-496B-D491-7DA61847E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6D999-FFE7-A886-A108-7C2B13E4B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5F841-6455-D331-8622-493F2931D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6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B6C-482D-0CA6-0DE7-A1A454DF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B1028-71D8-5431-C858-18A13E212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1E4A-C709-833E-8BD5-AB357ED3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701-E60B-FACF-D008-D697307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5F21-F310-25D3-E67C-F367F2C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9575-D8E5-4A66-CADA-E482F14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6E56-9AC0-66AD-C7DA-85910109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363D-B7C6-7735-2FDD-08180DD6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0FD0-7E51-D047-6E3E-6637F26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C9BB-7E26-F3B6-D943-BC8B533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BF2-11A0-FD24-CE3F-086326F8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59D0-8E25-45D1-541F-EDC02B15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8559-E522-D16F-4CAC-3D25F8FA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839E-DE62-2C49-49CA-9764CD2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B57B-61F5-5150-2D2C-5DD8EB00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5D95-82B1-D51C-FC84-DEDAF8F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9C2F-C4D3-4114-08A3-C63246E1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2FEC3-2E6A-634C-C36E-31960FBB4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948A8-F8A0-43CE-61CB-23D8EEA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F85D-0A8C-EF4C-0BBB-781FE0A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5E45-8598-93A6-A975-39200CE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8E9C-41D5-756E-2210-73BE516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B8B5E-F5F4-C12D-6E69-79E7DC6C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3AF9-BAAB-7C0C-2A9F-EE277C72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E2C7-77F5-0CC3-0DB1-C603AD9D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B85B7-C95B-6EB7-30B0-D7970DF9E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A31BD-258A-FF61-A40F-2AECE67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6FAEC-491C-9FBC-DD4F-E38CDBB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BF88-4C03-9D43-A69E-20C380CB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4D1B-1BCD-9A2B-3972-2543F4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FBEE9-22E7-9DCE-1FD7-6524DA6A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0769-0478-F802-85F4-44852F87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E0EE1-A079-CFE1-AE9C-9186427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F334-4B8C-D680-9553-CA10C9D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9754-111E-6272-2C89-0F3EDA69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9B71-4C50-D2A2-020D-5DD0FA05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A0B8-477D-35B0-7412-32F428B9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6865-2165-7C1C-940B-05399239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155-0BFB-86F7-059B-EEF97ABF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A07E-E050-ABCF-9243-A6FBB25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DD39-1D14-5AB7-1A69-8027B38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E8-698B-2C4D-D21E-BE3EBD39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FCD6-1E57-B4FB-9408-566E359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37DE9-1135-AA14-17F4-548BBF1F4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0764-D82B-D75E-993F-B9CCD1F07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3F2CD-FEBD-1ECF-8F44-D4F81977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2630-7380-E112-5F8B-043D986B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E5B24-DC64-AB0B-30EC-52DD036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E52A-1FE4-B6B8-F089-5384E314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E456-17A9-C6A9-2755-A45D7F45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BDF4-6082-1290-3E8E-57A5ABAA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894A-2F3C-4B8E-8810-AEE57326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F87-8AE7-BC2E-A207-358D87DC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805F-BB64-2EB1-35DB-4E7F78E8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F093D-B18C-38A6-A275-E4007CFD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3AC-A7FB-2BA1-986B-83976C2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A69-29F0-C94B-C22B-5F9A5A22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7028-1573-C1DF-F272-C3A0F37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212E9-93E5-CDD1-498F-A39B259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3DC2-F13F-F521-C0E4-4F54796F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B16-78AF-C336-F905-BF1D852A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5B35-3F3A-CD41-9377-C81DC4A252A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59BC-03CD-E536-A6BF-FA28D0AC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3CA-4F84-65CA-AA42-4F0F2A5F0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alpha val="84000"/>
                <a:lumMod val="76000"/>
              </a:schemeClr>
            </a:gs>
            <a:gs pos="52000">
              <a:schemeClr val="accent1">
                <a:lumMod val="45000"/>
                <a:lumOff val="5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CBDF4-8170-E480-75D3-55CE01005CD1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B0839-5E9D-30E7-D14B-C47804BA44F4}"/>
              </a:ext>
            </a:extLst>
          </p:cNvPr>
          <p:cNvSpPr txBox="1"/>
          <p:nvPr/>
        </p:nvSpPr>
        <p:spPr>
          <a:xfrm>
            <a:off x="4903845" y="1024967"/>
            <a:ext cx="2640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12</a:t>
            </a:r>
          </a:p>
        </p:txBody>
      </p:sp>
      <p:pic>
        <p:nvPicPr>
          <p:cNvPr id="5" name="Picture 4" descr="A computer and papers on a table&#10;&#10;AI-generated content may be incorrect.">
            <a:extLst>
              <a:ext uri="{FF2B5EF4-FFF2-40B4-BE49-F238E27FC236}">
                <a16:creationId xmlns:a16="http://schemas.microsoft.com/office/drawing/2014/main" id="{DA3E89A2-5878-1D8C-0939-54678677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96" y="1833214"/>
            <a:ext cx="6375607" cy="35862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0158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6F0F-6DA7-76FD-EC05-B5048D47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BB7291-95BA-C571-70CC-82605DFE149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1DE40-E457-30D5-0E6F-73DE6868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Where We Are in Capital Budgeting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6075A-CB9F-0D62-B13F-3B3D6B1DF837}"/>
              </a:ext>
            </a:extLst>
          </p:cNvPr>
          <p:cNvSpPr txBox="1"/>
          <p:nvPr/>
        </p:nvSpPr>
        <p:spPr>
          <a:xfrm>
            <a:off x="377082" y="1458863"/>
            <a:ext cx="1143783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So far, we learned…</a:t>
            </a:r>
            <a:endParaRPr lang="en-US" sz="24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How to </a:t>
            </a:r>
            <a:r>
              <a:rPr lang="en-US" sz="2400" b="1" dirty="0">
                <a:latin typeface="Helvetica" pitchFamily="2" charset="0"/>
              </a:rPr>
              <a:t>evaluate projects</a:t>
            </a:r>
            <a:r>
              <a:rPr lang="en-US" sz="2400" dirty="0">
                <a:latin typeface="Helvetica" pitchFamily="2" charset="0"/>
              </a:rPr>
              <a:t> using NPV, IRR, MIRR, Payback.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How NPV determines whether a project creates value.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9D53EF-5850-00B3-B4D5-678CBCF443F8}"/>
              </a:ext>
            </a:extLst>
          </p:cNvPr>
          <p:cNvSpPr txBox="1"/>
          <p:nvPr/>
        </p:nvSpPr>
        <p:spPr>
          <a:xfrm>
            <a:off x="377083" y="4670418"/>
            <a:ext cx="11437835" cy="203132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Now we dive deeper…</a:t>
            </a:r>
            <a:endParaRPr lang="en-US" sz="24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Where do the cash flows come from?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How do firms estimate revenues, expenses, taxes, terminal values?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How do we deal with risk and uncertainty in these estimates?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F33A9-69A8-FC29-B05F-7C06D218CD7E}"/>
              </a:ext>
            </a:extLst>
          </p:cNvPr>
          <p:cNvSpPr txBox="1"/>
          <p:nvPr/>
        </p:nvSpPr>
        <p:spPr>
          <a:xfrm>
            <a:off x="2925441" y="3210819"/>
            <a:ext cx="670376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CF1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803C0-C43A-F555-1776-2C8DCE7A59D6}"/>
              </a:ext>
            </a:extLst>
          </p:cNvPr>
          <p:cNvSpPr txBox="1"/>
          <p:nvPr/>
        </p:nvSpPr>
        <p:spPr>
          <a:xfrm>
            <a:off x="5082344" y="3210819"/>
            <a:ext cx="670376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CF2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511EB7-B34F-19DE-D986-0C1ED0DA0C4D}"/>
              </a:ext>
            </a:extLst>
          </p:cNvPr>
          <p:cNvSpPr txBox="1"/>
          <p:nvPr/>
        </p:nvSpPr>
        <p:spPr>
          <a:xfrm>
            <a:off x="7134091" y="3210819"/>
            <a:ext cx="670376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CF3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1CA464-9424-186A-8EF8-E425D18D55A1}"/>
              </a:ext>
            </a:extLst>
          </p:cNvPr>
          <p:cNvSpPr txBox="1"/>
          <p:nvPr/>
        </p:nvSpPr>
        <p:spPr>
          <a:xfrm>
            <a:off x="9204386" y="3210819"/>
            <a:ext cx="670376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CF4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5DF58F-5D34-BBBD-61C1-F85F3386D885}"/>
              </a:ext>
            </a:extLst>
          </p:cNvPr>
          <p:cNvGrpSpPr/>
          <p:nvPr/>
        </p:nvGrpSpPr>
        <p:grpSpPr>
          <a:xfrm>
            <a:off x="1070517" y="3686854"/>
            <a:ext cx="10515604" cy="731042"/>
            <a:chOff x="1070517" y="3686854"/>
            <a:chExt cx="10515604" cy="7310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0D018F-2FCC-088C-D6D2-8FE4AF3D5E0E}"/>
                </a:ext>
              </a:extLst>
            </p:cNvPr>
            <p:cNvCxnSpPr>
              <a:cxnSpLocks/>
            </p:cNvCxnSpPr>
            <p:nvPr/>
          </p:nvCxnSpPr>
          <p:spPr>
            <a:xfrm>
              <a:off x="11251794" y="3707314"/>
              <a:ext cx="0" cy="317945"/>
            </a:xfrm>
            <a:prstGeom prst="lin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E951BF0-F89A-B0CF-7F0A-0D25CE10D578}"/>
                </a:ext>
              </a:extLst>
            </p:cNvPr>
            <p:cNvGrpSpPr/>
            <p:nvPr/>
          </p:nvGrpSpPr>
          <p:grpSpPr>
            <a:xfrm>
              <a:off x="1070517" y="3686854"/>
              <a:ext cx="10515604" cy="731042"/>
              <a:chOff x="1070517" y="3686854"/>
              <a:chExt cx="10515604" cy="73104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03538D2-09EC-F262-9D6E-56F2677FFE71}"/>
                  </a:ext>
                </a:extLst>
              </p:cNvPr>
              <p:cNvGrpSpPr/>
              <p:nvPr/>
            </p:nvGrpSpPr>
            <p:grpSpPr>
              <a:xfrm>
                <a:off x="1070517" y="3686854"/>
                <a:ext cx="10515604" cy="731042"/>
                <a:chOff x="873086" y="5053331"/>
                <a:chExt cx="11151100" cy="1051224"/>
              </a:xfrm>
              <a:noFill/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58A04EF5-0526-7E33-EDF0-0BA231F57A6D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997051" cy="475932"/>
                  <a:chOff x="1027135" y="5053331"/>
                  <a:chExt cx="10997051" cy="475932"/>
                </a:xfrm>
                <a:grpFill/>
              </p:grpSpPr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E692D79E-C776-1AA9-79C4-92DDBD9C9F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997051" cy="14676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4DB4C24E-6A79-A863-F83F-27FC38103E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CF72BE32-8660-3CF8-6ECA-1D9331EB27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82380" y="5072062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2A57BEF1-F358-B794-F93D-D89BDE4F32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55728" y="5072061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B674FA2D-83CE-CE31-932B-37180C6293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47504" y="5053331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6022E685-0BE5-FA85-11A5-B0246C4E18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63413" y="5072064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A79B072-43C2-ABAD-67F4-2F66F8A70FE9}"/>
                    </a:ext>
                  </a:extLst>
                </p:cNvPr>
                <p:cNvSpPr txBox="1"/>
                <p:nvPr/>
              </p:nvSpPr>
              <p:spPr>
                <a:xfrm>
                  <a:off x="873086" y="5617718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8BBB65-451F-A9D4-2FEC-3D9081063C87}"/>
                    </a:ext>
                  </a:extLst>
                </p:cNvPr>
                <p:cNvSpPr txBox="1"/>
                <p:nvPr/>
              </p:nvSpPr>
              <p:spPr>
                <a:xfrm>
                  <a:off x="3028331" y="5617721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9522CD3-EB52-11B9-6CC6-4D4BCE24A9A7}"/>
                    </a:ext>
                  </a:extLst>
                </p:cNvPr>
                <p:cNvSpPr txBox="1"/>
                <p:nvPr/>
              </p:nvSpPr>
              <p:spPr>
                <a:xfrm>
                  <a:off x="5309364" y="5617721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221DEA6-3F9D-5E0E-BFFB-FA07D1BCE7A6}"/>
                    </a:ext>
                  </a:extLst>
                </p:cNvPr>
                <p:cNvSpPr txBox="1"/>
                <p:nvPr/>
              </p:nvSpPr>
              <p:spPr>
                <a:xfrm>
                  <a:off x="7493455" y="5614507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0FC0605-7DD0-6172-BA01-D5E3CE1F8EA1}"/>
                    </a:ext>
                  </a:extLst>
                </p:cNvPr>
                <p:cNvSpPr txBox="1"/>
                <p:nvPr/>
              </p:nvSpPr>
              <p:spPr>
                <a:xfrm>
                  <a:off x="9701679" y="5614507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0A9BB8-C812-535C-4ECD-BB96250C2BF3}"/>
                  </a:ext>
                </a:extLst>
              </p:cNvPr>
              <p:cNvSpPr txBox="1"/>
              <p:nvPr/>
            </p:nvSpPr>
            <p:spPr>
              <a:xfrm>
                <a:off x="11111060" y="4077106"/>
                <a:ext cx="298480" cy="33855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70C0"/>
                    </a:solidFill>
                    <a:latin typeface="Helvetica" pitchFamily="2" charset="0"/>
                  </a:rPr>
                  <a:t>5</a:t>
                </a: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C39E68-425A-ECFF-930D-7616316E620E}"/>
              </a:ext>
            </a:extLst>
          </p:cNvPr>
          <p:cNvSpPr txBox="1"/>
          <p:nvPr/>
        </p:nvSpPr>
        <p:spPr>
          <a:xfrm>
            <a:off x="10932803" y="3209200"/>
            <a:ext cx="670376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CF5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019D18-F759-5A58-E0B9-381C1831F227}"/>
              </a:ext>
            </a:extLst>
          </p:cNvPr>
          <p:cNvSpPr txBox="1"/>
          <p:nvPr/>
        </p:nvSpPr>
        <p:spPr>
          <a:xfrm>
            <a:off x="464894" y="3209200"/>
            <a:ext cx="1492716" cy="4001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Initial Cost</a:t>
            </a:r>
          </a:p>
        </p:txBody>
      </p:sp>
    </p:spTree>
    <p:extLst>
      <p:ext uri="{BB962C8B-B14F-4D97-AF65-F5344CB8AC3E}">
        <p14:creationId xmlns:p14="http://schemas.microsoft.com/office/powerpoint/2010/main" val="56311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1" grpId="0" animBg="1"/>
      <p:bldP spid="12" grpId="0" animBg="1"/>
      <p:bldP spid="13" grpId="0" animBg="1"/>
      <p:bldP spid="15" grpId="0" animBg="1"/>
      <p:bldP spid="9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82432-9276-386C-2139-FAE008064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2F83BD-1338-A0E2-387E-367B7CB96DA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660EE-541B-4166-099A-A44F9B97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What Counts as a Relevant Cash Flow?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DAB6A6-161C-9D21-FDE4-A6DECDC3AA82}"/>
              </a:ext>
            </a:extLst>
          </p:cNvPr>
          <p:cNvSpPr txBox="1"/>
          <p:nvPr/>
        </p:nvSpPr>
        <p:spPr>
          <a:xfrm>
            <a:off x="377082" y="1525769"/>
            <a:ext cx="11437836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400" b="1" dirty="0">
                <a:latin typeface="Helvetica" pitchFamily="2" charset="0"/>
              </a:rPr>
              <a:t>“Which cash flows should be included, and which should be ignored?”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To answer this, we need to understand several foundational concepts: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Free cash flow vs. accounting income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Timing assumptions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Incremental cash flows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Replacement vs. expansion projects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Sunk costs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Opportunity costs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Externalities (cannibalization, synergies, environmental effects)</a:t>
            </a:r>
          </a:p>
        </p:txBody>
      </p:sp>
    </p:spTree>
    <p:extLst>
      <p:ext uri="{BB962C8B-B14F-4D97-AF65-F5344CB8AC3E}">
        <p14:creationId xmlns:p14="http://schemas.microsoft.com/office/powerpoint/2010/main" val="191123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C437-C5BA-E452-42CD-E8635200B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8F7470-644A-4C18-D2BF-4CBF4F3D53F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1A808-F474-0D28-8B2F-DA819FF68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Free Cash Flow vs. Accounting Income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AB5490-4B7D-0032-2B81-AF73C5950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24" y="1508125"/>
            <a:ext cx="11686478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cs typeface="Times New Roman" panose="02020603050405020304" pitchFamily="18" charset="0"/>
              </a:rPr>
              <a:t>Accounting income includes non-cash items (accruals, GAAP rules)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  <a:cs typeface="Times New Roman" panose="02020603050405020304" pitchFamily="18" charset="0"/>
              </a:rPr>
              <a:t>FCF measures actual cash available to investors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44F8C-0AA6-DBB1-93CD-DF3D3CB1E5AB}"/>
              </a:ext>
            </a:extLst>
          </p:cNvPr>
          <p:cNvSpPr txBox="1"/>
          <p:nvPr/>
        </p:nvSpPr>
        <p:spPr>
          <a:xfrm>
            <a:off x="2713572" y="4215276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C7E4E-A10B-E31A-BA40-4F58A1625348}"/>
              </a:ext>
            </a:extLst>
          </p:cNvPr>
          <p:cNvSpPr txBox="1"/>
          <p:nvPr/>
        </p:nvSpPr>
        <p:spPr>
          <a:xfrm>
            <a:off x="4870475" y="4215276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C77E4-876D-AC12-B42D-530DC33B54E2}"/>
              </a:ext>
            </a:extLst>
          </p:cNvPr>
          <p:cNvSpPr txBox="1"/>
          <p:nvPr/>
        </p:nvSpPr>
        <p:spPr>
          <a:xfrm>
            <a:off x="6922222" y="4215276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0D28F-0A50-A379-051D-00AA993193DF}"/>
              </a:ext>
            </a:extLst>
          </p:cNvPr>
          <p:cNvSpPr txBox="1"/>
          <p:nvPr/>
        </p:nvSpPr>
        <p:spPr>
          <a:xfrm>
            <a:off x="8992517" y="4215276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FCF4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C1B0BB-4D05-B8D0-26CF-92C57A70D56B}"/>
              </a:ext>
            </a:extLst>
          </p:cNvPr>
          <p:cNvGrpSpPr/>
          <p:nvPr/>
        </p:nvGrpSpPr>
        <p:grpSpPr>
          <a:xfrm>
            <a:off x="959007" y="4680160"/>
            <a:ext cx="10515604" cy="731042"/>
            <a:chOff x="1070517" y="3686854"/>
            <a:chExt cx="10515604" cy="73104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079975-887F-BF1E-53DB-0A36DFD467C9}"/>
                </a:ext>
              </a:extLst>
            </p:cNvPr>
            <p:cNvCxnSpPr>
              <a:cxnSpLocks/>
            </p:cNvCxnSpPr>
            <p:nvPr/>
          </p:nvCxnSpPr>
          <p:spPr>
            <a:xfrm>
              <a:off x="11251794" y="3707314"/>
              <a:ext cx="0" cy="317945"/>
            </a:xfrm>
            <a:prstGeom prst="lin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A3F19D1-C53E-E2C0-D1D8-DFF9A7CA2870}"/>
                </a:ext>
              </a:extLst>
            </p:cNvPr>
            <p:cNvGrpSpPr/>
            <p:nvPr/>
          </p:nvGrpSpPr>
          <p:grpSpPr>
            <a:xfrm>
              <a:off x="1070517" y="3686854"/>
              <a:ext cx="10515604" cy="731042"/>
              <a:chOff x="1070517" y="3686854"/>
              <a:chExt cx="10515604" cy="731042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B75EFD9-0E07-4E8A-62FA-85F4F9EE0C0D}"/>
                  </a:ext>
                </a:extLst>
              </p:cNvPr>
              <p:cNvGrpSpPr/>
              <p:nvPr/>
            </p:nvGrpSpPr>
            <p:grpSpPr>
              <a:xfrm>
                <a:off x="1070517" y="3686854"/>
                <a:ext cx="10515604" cy="731042"/>
                <a:chOff x="873086" y="5053331"/>
                <a:chExt cx="11151100" cy="1051224"/>
              </a:xfrm>
              <a:noFill/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D83DE5C8-66CA-94F0-7009-B59ADFFAE1CE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997051" cy="475932"/>
                  <a:chOff x="1027135" y="5053331"/>
                  <a:chExt cx="10997051" cy="475932"/>
                </a:xfrm>
                <a:grpFill/>
              </p:grpSpPr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025AE0BB-6904-C2A6-1C37-E4BEFEC351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997051" cy="14676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637291F6-1CBD-01FE-F56C-FD1ADCFC53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B5AB4A5E-BDB5-F34A-117C-B40BA01235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82380" y="5072062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276C8966-28F3-0D98-7170-A9DE7E3C79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55728" y="5072061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A00632BE-F1BB-08B5-010B-013A61190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47504" y="5053331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59AE7DAF-98EF-EC88-3481-E3F67C3FD3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63413" y="5072064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49D18A6-A951-BFC7-2076-2C37B359101A}"/>
                    </a:ext>
                  </a:extLst>
                </p:cNvPr>
                <p:cNvSpPr txBox="1"/>
                <p:nvPr/>
              </p:nvSpPr>
              <p:spPr>
                <a:xfrm>
                  <a:off x="873086" y="5617718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8D4269C-591A-76A4-FE1F-32ED6A43B799}"/>
                    </a:ext>
                  </a:extLst>
                </p:cNvPr>
                <p:cNvSpPr txBox="1"/>
                <p:nvPr/>
              </p:nvSpPr>
              <p:spPr>
                <a:xfrm>
                  <a:off x="3028331" y="5617721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4624A39-681F-1ED1-0E90-8108DC8CC522}"/>
                    </a:ext>
                  </a:extLst>
                </p:cNvPr>
                <p:cNvSpPr txBox="1"/>
                <p:nvPr/>
              </p:nvSpPr>
              <p:spPr>
                <a:xfrm>
                  <a:off x="5309364" y="5617721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4BC05B1-93D1-1A2A-4E16-C466225D6695}"/>
                    </a:ext>
                  </a:extLst>
                </p:cNvPr>
                <p:cNvSpPr txBox="1"/>
                <p:nvPr/>
              </p:nvSpPr>
              <p:spPr>
                <a:xfrm>
                  <a:off x="7493455" y="5614507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52971F-FE9C-B8C7-3DC9-49361EA583D4}"/>
                    </a:ext>
                  </a:extLst>
                </p:cNvPr>
                <p:cNvSpPr txBox="1"/>
                <p:nvPr/>
              </p:nvSpPr>
              <p:spPr>
                <a:xfrm>
                  <a:off x="9701679" y="5614507"/>
                  <a:ext cx="316518" cy="486834"/>
                </a:xfrm>
                <a:prstGeom prst="rect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055A8D-941B-2618-788A-001E56E492A8}"/>
                  </a:ext>
                </a:extLst>
              </p:cNvPr>
              <p:cNvSpPr txBox="1"/>
              <p:nvPr/>
            </p:nvSpPr>
            <p:spPr>
              <a:xfrm>
                <a:off x="11111060" y="4077106"/>
                <a:ext cx="298480" cy="33855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70C0"/>
                    </a:solidFill>
                    <a:latin typeface="Helvetica" pitchFamily="2" charset="0"/>
                  </a:rPr>
                  <a:t>5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8341C85-9FB8-DEA3-6A41-79A9C30010F3}"/>
              </a:ext>
            </a:extLst>
          </p:cNvPr>
          <p:cNvSpPr txBox="1"/>
          <p:nvPr/>
        </p:nvSpPr>
        <p:spPr>
          <a:xfrm>
            <a:off x="10720934" y="4213657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398AF-1BAE-4426-9D9B-E73EF2D33A7F}"/>
              </a:ext>
            </a:extLst>
          </p:cNvPr>
          <p:cNvSpPr txBox="1"/>
          <p:nvPr/>
        </p:nvSpPr>
        <p:spPr>
          <a:xfrm>
            <a:off x="353384" y="4202506"/>
            <a:ext cx="1492716" cy="4001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Initial Cost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6CFEE8-41E4-45C8-0C40-72E16AFCB20F}"/>
              </a:ext>
            </a:extLst>
          </p:cNvPr>
          <p:cNvSpPr txBox="1"/>
          <p:nvPr/>
        </p:nvSpPr>
        <p:spPr>
          <a:xfrm>
            <a:off x="220424" y="3387896"/>
            <a:ext cx="188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Spend on fixed assets + NOWC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A40E1E-ACCF-EF41-413F-99C105D6F259}"/>
              </a:ext>
            </a:extLst>
          </p:cNvPr>
          <p:cNvSpPr txBox="1"/>
          <p:nvPr/>
        </p:nvSpPr>
        <p:spPr>
          <a:xfrm>
            <a:off x="9861985" y="3260302"/>
            <a:ext cx="2176753" cy="64633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Recovery of NOWC </a:t>
            </a:r>
            <a:r>
              <a:rPr lang="en-US" dirty="0"/>
              <a:t>and </a:t>
            </a:r>
            <a:r>
              <a:rPr lang="en-US" b="1" dirty="0">
                <a:latin typeface="Helvetica" pitchFamily="2" charset="0"/>
              </a:rPr>
              <a:t>salvage value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C4709B-FEFD-03B2-5459-638C7E36EB38}"/>
              </a:ext>
            </a:extLst>
          </p:cNvPr>
          <p:cNvSpPr txBox="1"/>
          <p:nvPr/>
        </p:nvSpPr>
        <p:spPr>
          <a:xfrm>
            <a:off x="10980620" y="3835583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62A4DF-1945-EFA4-F7A5-20C9B4A21C5C}"/>
              </a:ext>
            </a:extLst>
          </p:cNvPr>
          <p:cNvSpPr txBox="1"/>
          <p:nvPr/>
        </p:nvSpPr>
        <p:spPr>
          <a:xfrm>
            <a:off x="2369228" y="2531691"/>
            <a:ext cx="7492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FCF = EBIT(1−T) + </a:t>
            </a:r>
            <a:r>
              <a:rPr lang="en-US" altLang="en-US" sz="2400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</a:t>
            </a:r>
            <a:r>
              <a:rPr lang="en-US" altLang="en-US" sz="2400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CapEx</a:t>
            </a:r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ΔNOWC</a:t>
            </a:r>
            <a:endParaRPr lang="en-US" altLang="en-US" sz="2400" dirty="0">
              <a:solidFill>
                <a:srgbClr val="0070C0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377621-DEB8-89B3-2AB7-EA242CC74F9D}"/>
                  </a:ext>
                </a:extLst>
              </p:cNvPr>
              <p:cNvSpPr txBox="1"/>
              <p:nvPr/>
            </p:nvSpPr>
            <p:spPr>
              <a:xfrm>
                <a:off x="288160" y="5723434"/>
                <a:ext cx="1161568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" pitchFamily="2" charset="0"/>
                  </a:rPr>
                  <a:t>If the Salvage value exceeds book value, then we have to pay tax for that additional part:</a:t>
                </a:r>
              </a:p>
              <a:p>
                <a:pPr algn="ctr"/>
                <a:r>
                  <a:rPr lang="en-US" sz="2200" dirty="0">
                    <a:latin typeface="Helvetica" pitchFamily="2" charset="0"/>
                  </a:rPr>
                  <a:t>Taxes on Salvage = Tax rate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Helvetica" pitchFamily="2" charset="0"/>
                  </a:rPr>
                  <a:t>(Salvage Value – Book value)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B377621-DEB8-89B3-2AB7-EA242CC74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60" y="5723434"/>
                <a:ext cx="11615680" cy="769441"/>
              </a:xfrm>
              <a:prstGeom prst="rect">
                <a:avLst/>
              </a:prstGeom>
              <a:blipFill>
                <a:blip r:embed="rId2"/>
                <a:stretch>
                  <a:fillRect l="-546" t="-4839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43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27" grpId="0" animBg="1"/>
      <p:bldP spid="28" grpId="0" animBg="1"/>
      <p:bldP spid="29" grpId="0"/>
      <p:bldP spid="30" grpId="0" animBg="1"/>
      <p:bldP spid="33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35E4-95C8-A405-CC69-38FDA23A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965D74-DF5C-C02C-F15C-042FC4C841D7}"/>
              </a:ext>
            </a:extLst>
          </p:cNvPr>
          <p:cNvSpPr/>
          <p:nvPr/>
        </p:nvSpPr>
        <p:spPr>
          <a:xfrm>
            <a:off x="0" y="-1"/>
            <a:ext cx="12192000" cy="774354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0735B-1B20-2414-35F0-8DFFE98C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6" y="74256"/>
            <a:ext cx="10515600" cy="5868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Exp(1)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70E902-40EA-3115-8228-C2A7F29A3E6F}"/>
              </a:ext>
            </a:extLst>
          </p:cNvPr>
          <p:cNvSpPr txBox="1"/>
          <p:nvPr/>
        </p:nvSpPr>
        <p:spPr>
          <a:xfrm>
            <a:off x="239751" y="846660"/>
            <a:ext cx="1171249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900" b="1" dirty="0">
                <a:latin typeface="Helvetica" pitchFamily="2" charset="0"/>
              </a:rPr>
              <a:t>A company is considering a 4-year project with the following information: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Initial Investments (Year 0): Fixed assets $600,000 and Increase in NOWC: $50,000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Operating Assumptions: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itchFamily="2" charset="0"/>
                <a:cs typeface="Times New Roman" panose="02020603050405020304" pitchFamily="18" charset="0"/>
              </a:rPr>
              <a:t>EBIT </a:t>
            </a:r>
            <a:r>
              <a:rPr lang="en-US" sz="1900" dirty="0">
                <a:latin typeface="Helvetica" pitchFamily="2" charset="0"/>
              </a:rPr>
              <a:t>: $200,000 per year, Depreciation: $100,000 per year, Tax rate: 25%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No additional </a:t>
            </a:r>
            <a:r>
              <a:rPr lang="en-US" sz="1900" dirty="0" err="1">
                <a:latin typeface="Helvetica" pitchFamily="2" charset="0"/>
              </a:rPr>
              <a:t>CapEx</a:t>
            </a:r>
            <a:r>
              <a:rPr lang="en-US" sz="1900" dirty="0">
                <a:latin typeface="Helvetica" pitchFamily="2" charset="0"/>
              </a:rPr>
              <a:t> or NOWC changes during years 1–4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Salvage value at end of Year 4: $150,000 and Book value at end of Year 4: $100,000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FA0570-A126-8D84-BCCC-43C69B51271A}"/>
              </a:ext>
            </a:extLst>
          </p:cNvPr>
          <p:cNvSpPr txBox="1"/>
          <p:nvPr/>
        </p:nvSpPr>
        <p:spPr>
          <a:xfrm>
            <a:off x="3179915" y="5508818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6ECF87-96D1-47E9-D9C5-511091A8AC43}"/>
              </a:ext>
            </a:extLst>
          </p:cNvPr>
          <p:cNvSpPr txBox="1"/>
          <p:nvPr/>
        </p:nvSpPr>
        <p:spPr>
          <a:xfrm>
            <a:off x="5562922" y="5508818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D0224E-B31A-9BB6-CA94-A4EB20DC1343}"/>
              </a:ext>
            </a:extLst>
          </p:cNvPr>
          <p:cNvSpPr txBox="1"/>
          <p:nvPr/>
        </p:nvSpPr>
        <p:spPr>
          <a:xfrm>
            <a:off x="7945929" y="5508818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C704D0-4711-2CEF-0272-FD888A26E015}"/>
              </a:ext>
            </a:extLst>
          </p:cNvPr>
          <p:cNvSpPr txBox="1"/>
          <p:nvPr/>
        </p:nvSpPr>
        <p:spPr>
          <a:xfrm>
            <a:off x="10418604" y="5508818"/>
            <a:ext cx="82747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Helvetica" pitchFamily="2" charset="0"/>
              </a:rPr>
              <a:t>FCF4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272215-CCDA-34B3-13F2-3F77464B8128}"/>
              </a:ext>
            </a:extLst>
          </p:cNvPr>
          <p:cNvGrpSpPr/>
          <p:nvPr/>
        </p:nvGrpSpPr>
        <p:grpSpPr>
          <a:xfrm>
            <a:off x="1045769" y="5973702"/>
            <a:ext cx="10515604" cy="731042"/>
            <a:chOff x="873086" y="5053331"/>
            <a:chExt cx="11151100" cy="1051224"/>
          </a:xfrm>
          <a:noFill/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05EFD00-7576-2E06-FC94-C84E7BD65A10}"/>
                </a:ext>
              </a:extLst>
            </p:cNvPr>
            <p:cNvGrpSpPr/>
            <p:nvPr/>
          </p:nvGrpSpPr>
          <p:grpSpPr>
            <a:xfrm>
              <a:off x="1027135" y="5053331"/>
              <a:ext cx="10997051" cy="475932"/>
              <a:chOff x="1027135" y="5053331"/>
              <a:chExt cx="10997051" cy="475932"/>
            </a:xfrm>
            <a:grpFill/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B843400F-5092-D966-803D-6969D4E348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997051" cy="14676"/>
              </a:xfrm>
              <a:prstGeom prst="straightConnector1">
                <a:avLst/>
              </a:prstGeom>
              <a:grpFill/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C453529-673B-CAF3-EBE2-E30916CE8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5FDFD84-3055-5BAD-AD53-43BB93B0FB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2608" y="5072062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1D5975E-E3E5-64D0-EFEB-EF0D23E2BB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51095" y="5072061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6E2E309-32F9-1AFE-51FF-41EE5EE50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8987" y="5053331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1CB4953C-9635-4BCA-D86C-D4CEE7D257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0141" y="5072064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871EF1E-3B78-DE64-30FC-99B73B166B3A}"/>
                </a:ext>
              </a:extLst>
            </p:cNvPr>
            <p:cNvSpPr txBox="1"/>
            <p:nvPr/>
          </p:nvSpPr>
          <p:spPr>
            <a:xfrm>
              <a:off x="873086" y="5617718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A246EFB-3162-69E4-7488-FDEE6E91D969}"/>
                </a:ext>
              </a:extLst>
            </p:cNvPr>
            <p:cNvSpPr txBox="1"/>
            <p:nvPr/>
          </p:nvSpPr>
          <p:spPr>
            <a:xfrm>
              <a:off x="3418559" y="5617721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4E8391A-99A0-166C-A51B-21873A1B33D3}"/>
                </a:ext>
              </a:extLst>
            </p:cNvPr>
            <p:cNvSpPr txBox="1"/>
            <p:nvPr/>
          </p:nvSpPr>
          <p:spPr>
            <a:xfrm>
              <a:off x="5936092" y="5617721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C078D12-D990-85B7-122C-0E4EC1CF56DA}"/>
                </a:ext>
              </a:extLst>
            </p:cNvPr>
            <p:cNvSpPr txBox="1"/>
            <p:nvPr/>
          </p:nvSpPr>
          <p:spPr>
            <a:xfrm>
              <a:off x="8474938" y="5614507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CD8E32-CEFD-E247-00A6-7E0617AF7DA2}"/>
                </a:ext>
              </a:extLst>
            </p:cNvPr>
            <p:cNvSpPr txBox="1"/>
            <p:nvPr/>
          </p:nvSpPr>
          <p:spPr>
            <a:xfrm>
              <a:off x="11097047" y="5614507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4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34F38C1-6E21-870F-A660-5829E6A2ECF4}"/>
              </a:ext>
            </a:extLst>
          </p:cNvPr>
          <p:cNvSpPr txBox="1"/>
          <p:nvPr/>
        </p:nvSpPr>
        <p:spPr>
          <a:xfrm>
            <a:off x="440146" y="5504572"/>
            <a:ext cx="1492716" cy="4001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Initial Cost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EE6D18-8726-A266-F13F-0D0B3326281D}"/>
              </a:ext>
            </a:extLst>
          </p:cNvPr>
          <p:cNvSpPr txBox="1"/>
          <p:nvPr/>
        </p:nvSpPr>
        <p:spPr>
          <a:xfrm>
            <a:off x="73548" y="4658097"/>
            <a:ext cx="2242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$600,000 + $50,000</a:t>
            </a:r>
          </a:p>
          <a:p>
            <a:pPr algn="ctr"/>
            <a:r>
              <a:rPr lang="en-US" dirty="0">
                <a:latin typeface="Helvetica" pitchFamily="2" charset="0"/>
              </a:rPr>
              <a:t>= $650,000 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D55545-B845-FE81-48F8-5E2A7D78ED85}"/>
              </a:ext>
            </a:extLst>
          </p:cNvPr>
          <p:cNvSpPr txBox="1"/>
          <p:nvPr/>
        </p:nvSpPr>
        <p:spPr>
          <a:xfrm>
            <a:off x="3902926" y="3576474"/>
            <a:ext cx="5666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FCF = EBIT(1−T) +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CapEx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ΔNOWC</a:t>
            </a:r>
            <a:endParaRPr lang="en-US" altLang="en-US" dirty="0">
              <a:solidFill>
                <a:srgbClr val="0070C0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A95758-87B9-283A-3805-022AF8AE230D}"/>
              </a:ext>
            </a:extLst>
          </p:cNvPr>
          <p:cNvSpPr txBox="1"/>
          <p:nvPr/>
        </p:nvSpPr>
        <p:spPr>
          <a:xfrm>
            <a:off x="4718246" y="3958564"/>
            <a:ext cx="379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($200,000)(0.75)+ $100,000 - 0 - 0 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29F03F-3226-1FA8-FADE-1DAD5B8CE608}"/>
              </a:ext>
            </a:extLst>
          </p:cNvPr>
          <p:cNvSpPr txBox="1"/>
          <p:nvPr/>
        </p:nvSpPr>
        <p:spPr>
          <a:xfrm>
            <a:off x="3034243" y="507797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$250,000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E3C375-409A-59E4-69DF-21E75409D02F}"/>
              </a:ext>
            </a:extLst>
          </p:cNvPr>
          <p:cNvSpPr txBox="1"/>
          <p:nvPr/>
        </p:nvSpPr>
        <p:spPr>
          <a:xfrm>
            <a:off x="5435056" y="507797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$250,000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7FBF86-0C73-9CF0-909C-87E58ECA0F37}"/>
              </a:ext>
            </a:extLst>
          </p:cNvPr>
          <p:cNvSpPr txBox="1"/>
          <p:nvPr/>
        </p:nvSpPr>
        <p:spPr>
          <a:xfrm>
            <a:off x="7802460" y="5082137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$250,000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F20311-2333-386E-5DB8-6A668494C5EA}"/>
              </a:ext>
            </a:extLst>
          </p:cNvPr>
          <p:cNvSpPr txBox="1"/>
          <p:nvPr/>
        </p:nvSpPr>
        <p:spPr>
          <a:xfrm>
            <a:off x="10275135" y="507797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$250,000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A37E83-2639-0E7C-C643-F78AB19FB7A3}"/>
              </a:ext>
            </a:extLst>
          </p:cNvPr>
          <p:cNvSpPr txBox="1"/>
          <p:nvPr/>
        </p:nvSpPr>
        <p:spPr>
          <a:xfrm>
            <a:off x="10687071" y="47778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5B0E1B4-697C-C370-C22E-B1EADBBF0365}"/>
                  </a:ext>
                </a:extLst>
              </p:cNvPr>
              <p:cNvSpPr txBox="1"/>
              <p:nvPr/>
            </p:nvSpPr>
            <p:spPr>
              <a:xfrm>
                <a:off x="9257280" y="4506363"/>
                <a:ext cx="29530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$150,000 – (0.25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$50,000)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5B0E1B4-697C-C370-C22E-B1EADBBF0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280" y="4506363"/>
                <a:ext cx="2953053" cy="369332"/>
              </a:xfrm>
              <a:prstGeom prst="rect">
                <a:avLst/>
              </a:prstGeom>
              <a:blipFill>
                <a:blip r:embed="rId2"/>
                <a:stretch>
                  <a:fillRect l="-2146" t="-6667" r="-8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83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6" grpId="0" animBg="1"/>
      <p:bldP spid="37" grpId="0" animBg="1"/>
      <p:bldP spid="56" grpId="0" animBg="1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65DC-9663-8FC3-6482-FB971723E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1715DD-1796-CDD0-B4EC-436EAAB9923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2E94A-DB72-7C6E-B445-A4156489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Timing of Cash Flows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C9E87F-C89B-62AF-9A4B-45FDB052F5D9}"/>
              </a:ext>
            </a:extLst>
          </p:cNvPr>
          <p:cNvSpPr txBox="1"/>
          <p:nvPr/>
        </p:nvSpPr>
        <p:spPr>
          <a:xfrm>
            <a:off x="341970" y="1476117"/>
            <a:ext cx="1150805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The most accurate capital budgeting analysis would record cash flows exactly at the moment they happen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Daily or weekly forecasting would be ideal if it were possible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Forecasting cash flows at a daily level for 5–10 years is not feasible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It provides no meaningful improvement in accuracy and increases forecasting complexity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Corporate finance generally assumes all cash flows occur at year-end.</a:t>
            </a:r>
            <a:r>
              <a:rPr lang="en-US" sz="2000" dirty="0">
                <a:latin typeface="Helvetica" pitchFamily="2" charset="0"/>
              </a:rPr>
              <a:t> This keeps analysis simple and avoids false precision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Exceptions: Highly Predictable Projects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For stable, regular cash flows (e.g., rentals, utilities):</a:t>
            </a:r>
          </a:p>
          <a:p>
            <a:pPr marL="1257300" lvl="2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Midyear, Quarterly or monthly assumptions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These are only used when predictability is high</a:t>
            </a:r>
          </a:p>
        </p:txBody>
      </p:sp>
    </p:spTree>
    <p:extLst>
      <p:ext uri="{BB962C8B-B14F-4D97-AF65-F5344CB8AC3E}">
        <p14:creationId xmlns:p14="http://schemas.microsoft.com/office/powerpoint/2010/main" val="1543857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50269-7F8A-CEA0-25E6-B0773EEF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542918-FFC4-35F0-A22A-7ABF5C0F82F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424F0-7ACD-22A3-A465-F6FF14AE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Incremental Cash Flows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A2543-F179-B138-88A4-A82CE3726918}"/>
              </a:ext>
            </a:extLst>
          </p:cNvPr>
          <p:cNvSpPr txBox="1"/>
          <p:nvPr/>
        </p:nvSpPr>
        <p:spPr>
          <a:xfrm>
            <a:off x="341970" y="1476117"/>
            <a:ext cx="1150805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What Are Incremental Cash Flows?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Cash flows that occur if and only if the firm accepts the project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These are the only cash flows relevant for capital budgeting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Examples of Incremental Cash Flows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New investments in buildings, equipment, technology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Additional working capital needed for the project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New sales revenues generated by the project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Operating costs associated with running the project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Why They Matter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Incremental cash flows isolate the true economic impact of the decision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They answer: “How will accepting this project change the firm’s cash flows?”</a:t>
            </a:r>
          </a:p>
        </p:txBody>
      </p:sp>
    </p:spTree>
    <p:extLst>
      <p:ext uri="{BB962C8B-B14F-4D97-AF65-F5344CB8AC3E}">
        <p14:creationId xmlns:p14="http://schemas.microsoft.com/office/powerpoint/2010/main" val="341685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D0871-5D64-9C79-B45E-892E54DD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160D87-CDBE-AA7B-3772-3325579F2A6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3027B-04DE-EE2F-5517-913C7019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Sunk Costs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DBF79C-C1E6-E5B1-6EA7-769A87571735}"/>
              </a:ext>
            </a:extLst>
          </p:cNvPr>
          <p:cNvSpPr txBox="1"/>
          <p:nvPr/>
        </p:nvSpPr>
        <p:spPr>
          <a:xfrm>
            <a:off x="341970" y="1476117"/>
            <a:ext cx="115080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What Are Sunk Costs?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Costs that were incurred </a:t>
            </a:r>
            <a:r>
              <a:rPr lang="en-US" sz="2000" b="1" dirty="0">
                <a:latin typeface="Helvetica" pitchFamily="2" charset="0"/>
              </a:rPr>
              <a:t>in the past</a:t>
            </a:r>
            <a:endParaRPr lang="en-US" sz="20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Cannot be recovered </a:t>
            </a:r>
            <a:r>
              <a:rPr lang="en-US" sz="2000" b="1" dirty="0">
                <a:latin typeface="Helvetica" pitchFamily="2" charset="0"/>
              </a:rPr>
              <a:t>regardless</a:t>
            </a:r>
            <a:r>
              <a:rPr lang="en-US" sz="2000" dirty="0">
                <a:latin typeface="Helvetica" pitchFamily="2" charset="0"/>
              </a:rPr>
              <a:t> of whether the project is accepted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Not relevant</a:t>
            </a:r>
            <a:r>
              <a:rPr lang="en-US" sz="2000" dirty="0">
                <a:latin typeface="Helvetica" pitchFamily="2" charset="0"/>
              </a:rPr>
              <a:t> for capital budgeting decisions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Capital Budgeting Focus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We care only about </a:t>
            </a:r>
            <a:r>
              <a:rPr lang="en-US" sz="2000" b="1" dirty="0">
                <a:latin typeface="Helvetica" pitchFamily="2" charset="0"/>
              </a:rPr>
              <a:t>future incremental cash flows</a:t>
            </a:r>
            <a:r>
              <a:rPr lang="en-US" sz="2000" dirty="0">
                <a:latin typeface="Helvetica" pitchFamily="2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Sunk costs do </a:t>
            </a:r>
            <a:r>
              <a:rPr lang="en-US" sz="2000" b="1" dirty="0">
                <a:latin typeface="Helvetica" pitchFamily="2" charset="0"/>
              </a:rPr>
              <a:t>not</a:t>
            </a:r>
            <a:r>
              <a:rPr lang="en-US" sz="2000" dirty="0">
                <a:latin typeface="Helvetica" pitchFamily="2" charset="0"/>
              </a:rPr>
              <a:t> change when the project is accepted or rejected.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8BB1F-6E8A-C4CB-C812-39CC6750ED62}"/>
              </a:ext>
            </a:extLst>
          </p:cNvPr>
          <p:cNvSpPr txBox="1"/>
          <p:nvPr/>
        </p:nvSpPr>
        <p:spPr>
          <a:xfrm>
            <a:off x="319663" y="4833598"/>
            <a:ext cx="5534723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Last year, the company paid $300,000 to a consulting firm to research the market for the new product.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FA097-BF7A-582A-748F-DC013317BD6D}"/>
              </a:ext>
            </a:extLst>
          </p:cNvPr>
          <p:cNvSpPr txBox="1"/>
          <p:nvPr/>
        </p:nvSpPr>
        <p:spPr>
          <a:xfrm>
            <a:off x="6456563" y="4833598"/>
            <a:ext cx="5404623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the project is launched, the company must spend $1,200,000 on new equipment.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FA0F8-F6DF-9AE1-5CC0-1F77716EB712}"/>
              </a:ext>
            </a:extLst>
          </p:cNvPr>
          <p:cNvSpPr txBox="1"/>
          <p:nvPr/>
        </p:nvSpPr>
        <p:spPr>
          <a:xfrm>
            <a:off x="319663" y="5535684"/>
            <a:ext cx="5534723" cy="1231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money has already been spent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cannot be recovered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project decision does not change this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4303C-4458-BA72-B713-0661A5DCF369}"/>
              </a:ext>
            </a:extLst>
          </p:cNvPr>
          <p:cNvSpPr txBox="1"/>
          <p:nvPr/>
        </p:nvSpPr>
        <p:spPr>
          <a:xfrm>
            <a:off x="6456562" y="5638795"/>
            <a:ext cx="5404623" cy="8002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37719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cost only occurs </a:t>
            </a:r>
            <a:r>
              <a:rPr lang="en-US" b="1" dirty="0"/>
              <a:t>if</a:t>
            </a:r>
            <a:r>
              <a:rPr lang="en-US" dirty="0"/>
              <a:t> the project is accepted</a:t>
            </a:r>
          </a:p>
          <a:p>
            <a:pPr marL="37719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is part of the project’s incremental cash flows</a:t>
            </a:r>
          </a:p>
        </p:txBody>
      </p:sp>
    </p:spTree>
    <p:extLst>
      <p:ext uri="{BB962C8B-B14F-4D97-AF65-F5344CB8AC3E}">
        <p14:creationId xmlns:p14="http://schemas.microsoft.com/office/powerpoint/2010/main" val="197687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BD02C-B5B1-0751-8FD9-A88F778B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D1E660-AF64-1EBE-BC40-D2D82A3D09E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27CBA-5085-2F58-E245-3154856B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Sunk Costs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ACCC40-9436-9148-7C85-3A05E0490B82}"/>
                  </a:ext>
                </a:extLst>
              </p:cNvPr>
              <p:cNvSpPr txBox="1"/>
              <p:nvPr/>
            </p:nvSpPr>
            <p:spPr>
              <a:xfrm>
                <a:off x="341970" y="1476117"/>
                <a:ext cx="11508059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b="1" dirty="0">
                    <a:latin typeface="Helvetica" pitchFamily="2" charset="0"/>
                  </a:rPr>
                  <a:t>How It Affects the Decision:</a:t>
                </a:r>
              </a:p>
              <a:p>
                <a:pPr marL="342900" lvl="0" indent="-3429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Helvetica" pitchFamily="2" charset="0"/>
                  </a:rPr>
                  <a:t>Suppose a company previously spent $150 on a marketing study</a:t>
                </a:r>
              </a:p>
              <a:p>
                <a:pPr lvl="0" eaLnBrk="0" fontAlgn="base" hangingPunct="0"/>
                <a:r>
                  <a:rPr lang="en-US" altLang="en-US" sz="2000" dirty="0">
                    <a:latin typeface="Helvetica" pitchFamily="2" charset="0"/>
                  </a:rPr>
                  <a:t>	This money cannot be recovered, no matter what the company decides</a:t>
                </a:r>
              </a:p>
              <a:p>
                <a:pPr lvl="0" eaLnBrk="0" fontAlgn="base" hangingPunct="0"/>
                <a:r>
                  <a:rPr lang="en-US" altLang="en-US" sz="2000" dirty="0">
                    <a:latin typeface="Helvetica" pitchFamily="2" charset="0"/>
                  </a:rPr>
                  <a:t>	Therefore, the $150 is a sunk cost and must NOT be included in NPV</a:t>
                </a:r>
              </a:p>
              <a:p>
                <a:pPr marL="342900" lvl="0" indent="-3429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>
                    <a:latin typeface="Helvetica" pitchFamily="2" charset="0"/>
                  </a:rPr>
                  <a:t>Imagine t</a:t>
                </a:r>
                <a:r>
                  <a:rPr lang="en-US" sz="2000" dirty="0">
                    <a:latin typeface="Helvetica" pitchFamily="2" charset="0"/>
                  </a:rPr>
                  <a:t>he project generates +78.82 in incremental NPV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itchFamily="2" charset="0"/>
                  </a:rPr>
                  <a:t>At this point, the company has two choices: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itchFamily="2" charset="0"/>
                  </a:rPr>
                  <a:t>Option 1 — Abandon the project</a:t>
                </a:r>
              </a:p>
              <a:p>
                <a:pPr marL="1257300" lvl="2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itchFamily="2" charset="0"/>
                  </a:rPr>
                  <a:t>Total loss = </a:t>
                </a:r>
                <a:r>
                  <a:rPr lang="en-US" sz="2000" b="1" dirty="0">
                    <a:latin typeface="Helvetica" pitchFamily="2" charset="0"/>
                  </a:rPr>
                  <a:t>–$150</a:t>
                </a:r>
                <a:r>
                  <a:rPr lang="en-US" sz="2000" dirty="0">
                    <a:latin typeface="Helvetica" pitchFamily="2" charset="0"/>
                  </a:rPr>
                  <a:t> (the sunk cost)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itchFamily="2" charset="0"/>
                  </a:rPr>
                  <a:t>Option 2 — Accept the project</a:t>
                </a:r>
              </a:p>
              <a:p>
                <a:pPr marL="1257300" lvl="2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itchFamily="2" charset="0"/>
                  </a:rPr>
                  <a:t>The project generates </a:t>
                </a:r>
                <a:r>
                  <a:rPr lang="en-US" sz="2000" b="1" dirty="0">
                    <a:latin typeface="Helvetica" pitchFamily="2" charset="0"/>
                  </a:rPr>
                  <a:t>+78.82</a:t>
                </a:r>
                <a:r>
                  <a:rPr lang="en-US" sz="2000" dirty="0">
                    <a:latin typeface="Helvetica" pitchFamily="2" charset="0"/>
                  </a:rPr>
                  <a:t> in incremental NPV</a:t>
                </a:r>
              </a:p>
              <a:p>
                <a:pPr marL="1257300" lvl="2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itchFamily="2" charset="0"/>
                  </a:rPr>
                  <a:t>Total impact =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−150+78.82=−71.18</m:t>
                    </m:r>
                  </m:oMath>
                </a14:m>
                <a:endParaRPr lang="en-US" sz="2000" dirty="0">
                  <a:latin typeface="Helvetica" pitchFamily="2" charset="0"/>
                </a:endParaRPr>
              </a:p>
              <a:p>
                <a:pPr marL="1257300" lvl="2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itchFamily="2" charset="0"/>
                  </a:rPr>
                  <a:t>Accepting the project reduces the loss</a:t>
                </a:r>
                <a:r>
                  <a:rPr lang="en-US" sz="2000" dirty="0">
                    <a:latin typeface="Helvetica" pitchFamily="2" charset="0"/>
                  </a:rPr>
                  <a:t>, even though the sunk cost occurred.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ACCC40-9436-9148-7C85-3A05E0490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0" y="1476117"/>
                <a:ext cx="11508059" cy="5170646"/>
              </a:xfrm>
              <a:prstGeom prst="rect">
                <a:avLst/>
              </a:prstGeom>
              <a:blipFill>
                <a:blip r:embed="rId2"/>
                <a:stretch>
                  <a:fillRect l="-441" t="-735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581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FCAF3-9B52-C7B7-7DFF-5E551E1F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93E7C7-A7E7-27D6-17AD-2E0B07BC9D2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F51B1-D841-728E-7D06-66EB3E6E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2883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Opportunity Costs of Assets the Firm Owns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81A4E-4A3E-7025-87F3-082C4EE9AA3C}"/>
              </a:ext>
            </a:extLst>
          </p:cNvPr>
          <p:cNvSpPr txBox="1"/>
          <p:nvPr/>
        </p:nvSpPr>
        <p:spPr>
          <a:xfrm>
            <a:off x="341970" y="1476117"/>
            <a:ext cx="115080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What Is an Opportunity Cost?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The </a:t>
            </a:r>
            <a:r>
              <a:rPr lang="en-US" sz="2400" b="1" dirty="0">
                <a:latin typeface="Helvetica" pitchFamily="2" charset="0"/>
              </a:rPr>
              <a:t>benefit the firm gives up</a:t>
            </a:r>
            <a:r>
              <a:rPr lang="en-US" sz="2400" dirty="0">
                <a:latin typeface="Helvetica" pitchFamily="2" charset="0"/>
              </a:rPr>
              <a:t> when using an asset for one project instead of its next best alternative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Even if the firm pays </a:t>
            </a:r>
            <a:r>
              <a:rPr lang="en-US" sz="2400" b="1" dirty="0">
                <a:latin typeface="Helvetica" pitchFamily="2" charset="0"/>
              </a:rPr>
              <a:t>no new cash</a:t>
            </a:r>
            <a:r>
              <a:rPr lang="en-US" sz="2400" dirty="0">
                <a:latin typeface="Helvetica" pitchFamily="2" charset="0"/>
              </a:rPr>
              <a:t> for the asset, the asset still has value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This value must be treated as a </a:t>
            </a:r>
            <a:r>
              <a:rPr lang="en-US" sz="2400" b="1" dirty="0">
                <a:latin typeface="Helvetica" pitchFamily="2" charset="0"/>
              </a:rPr>
              <a:t>cost</a:t>
            </a:r>
            <a:r>
              <a:rPr lang="en-US" sz="2400" dirty="0">
                <a:latin typeface="Helvetica" pitchFamily="2" charset="0"/>
              </a:rPr>
              <a:t> in capital budgeting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61E6F-425E-A3D0-6556-1FB2D626FB35}"/>
              </a:ext>
            </a:extLst>
          </p:cNvPr>
          <p:cNvSpPr txBox="1"/>
          <p:nvPr/>
        </p:nvSpPr>
        <p:spPr>
          <a:xfrm>
            <a:off x="341970" y="3876774"/>
            <a:ext cx="1138911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Example: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Company A owns land worth </a:t>
            </a:r>
            <a:r>
              <a:rPr lang="en-US" sz="2000" b="1" dirty="0">
                <a:latin typeface="Helvetica" pitchFamily="2" charset="0"/>
              </a:rPr>
              <a:t>$2 million</a:t>
            </a:r>
            <a:endParaRPr lang="en-US" sz="20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New store requires this land + </a:t>
            </a:r>
            <a:r>
              <a:rPr lang="en-US" sz="2000" b="1" dirty="0">
                <a:latin typeface="Helvetica" pitchFamily="2" charset="0"/>
              </a:rPr>
              <a:t>$15 million</a:t>
            </a:r>
            <a:r>
              <a:rPr lang="en-US" sz="2000" dirty="0">
                <a:latin typeface="Helvetica" pitchFamily="2" charset="0"/>
              </a:rPr>
              <a:t> additional investment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True economic cost = </a:t>
            </a:r>
            <a:r>
              <a:rPr lang="en-US" sz="2000" b="1" dirty="0">
                <a:latin typeface="Helvetica" pitchFamily="2" charset="0"/>
              </a:rPr>
              <a:t>$17 million</a:t>
            </a:r>
            <a:r>
              <a:rPr lang="en-US" sz="2000" dirty="0">
                <a:latin typeface="Helvetica" pitchFamily="2" charset="0"/>
              </a:rPr>
              <a:t>, not $15 million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Because using the land means giving up the </a:t>
            </a:r>
            <a:r>
              <a:rPr lang="en-US" sz="2000" b="1" dirty="0">
                <a:latin typeface="Helvetica" pitchFamily="2" charset="0"/>
              </a:rPr>
              <a:t>$2 million</a:t>
            </a:r>
            <a:r>
              <a:rPr lang="en-US" sz="2000" dirty="0">
                <a:latin typeface="Helvetica" pitchFamily="2" charset="0"/>
              </a:rPr>
              <a:t> the firm could get from selling it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The $2M is an opportunity cost and must be included.</a:t>
            </a:r>
            <a:endParaRPr lang="en-US" sz="2000" dirty="0">
              <a:solidFill>
                <a:srgbClr val="0070C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D470D-314E-F1AC-E36D-4D94C7CB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B6D454-7F32-4315-DA2E-6F54B43FD5C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F2CB7-1EF9-887C-E364-85096206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Externalities(1)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CF5C5-71AA-2F22-5D91-8A8F16572E9F}"/>
              </a:ext>
            </a:extLst>
          </p:cNvPr>
          <p:cNvSpPr txBox="1"/>
          <p:nvPr/>
        </p:nvSpPr>
        <p:spPr>
          <a:xfrm>
            <a:off x="234176" y="1476117"/>
            <a:ext cx="11831444" cy="535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What Are Externalities?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Effects of a project on </a:t>
            </a:r>
            <a:r>
              <a:rPr lang="en-US" sz="2000" b="1" dirty="0">
                <a:latin typeface="Helvetica" pitchFamily="2" charset="0"/>
              </a:rPr>
              <a:t>other parts of the firm</a:t>
            </a:r>
            <a:r>
              <a:rPr lang="en-US" sz="2000" dirty="0">
                <a:latin typeface="Helvetica" pitchFamily="2" charset="0"/>
              </a:rPr>
              <a:t> or on the </a:t>
            </a:r>
            <a:r>
              <a:rPr lang="en-US" sz="2000" b="1" dirty="0">
                <a:latin typeface="Helvetica" pitchFamily="2" charset="0"/>
              </a:rPr>
              <a:t>environment</a:t>
            </a:r>
            <a:r>
              <a:rPr lang="en-US" sz="2000" dirty="0">
                <a:latin typeface="Helvetica" pitchFamily="2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These impacts must be included in capital budgeting </a:t>
            </a:r>
            <a:r>
              <a:rPr lang="en-US" sz="2000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sz="2000" dirty="0">
                <a:latin typeface="Helvetica" pitchFamily="2" charset="0"/>
              </a:rPr>
              <a:t> they affect </a:t>
            </a:r>
            <a:r>
              <a:rPr lang="en-US" sz="2000" b="1" dirty="0">
                <a:latin typeface="Helvetica" pitchFamily="2" charset="0"/>
              </a:rPr>
              <a:t>incremental cash flows</a:t>
            </a:r>
            <a:r>
              <a:rPr lang="en-US" sz="2000" dirty="0">
                <a:latin typeface="Helvetica" pitchFamily="2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Negative Within-Firm Externalities (Cannibalization)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Occur when a new project </a:t>
            </a:r>
            <a:r>
              <a:rPr lang="en-US" sz="2000" b="1" dirty="0">
                <a:latin typeface="Helvetica" pitchFamily="2" charset="0"/>
              </a:rPr>
              <a:t>reduces cash flows</a:t>
            </a:r>
            <a:r>
              <a:rPr lang="en-US" sz="2000" dirty="0">
                <a:latin typeface="Helvetica" pitchFamily="2" charset="0"/>
              </a:rPr>
              <a:t> from existing operations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Example: Home Depot opens a new store too close to an existing one</a:t>
            </a:r>
            <a:br>
              <a:rPr lang="en-US" sz="2000" dirty="0">
                <a:latin typeface="Helvetica" pitchFamily="2" charset="0"/>
              </a:rPr>
            </a:br>
            <a:r>
              <a:rPr lang="en-US" sz="2000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sz="2000" dirty="0">
                <a:latin typeface="Helvetica" pitchFamily="2" charset="0"/>
              </a:rPr>
              <a:t> New store steals customers </a:t>
            </a:r>
            <a:r>
              <a:rPr lang="en-US" sz="2000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sz="2000" dirty="0">
                <a:latin typeface="Helvetica" pitchFamily="2" charset="0"/>
              </a:rPr>
              <a:t> lowers sales at the old store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These losses </a:t>
            </a:r>
            <a:r>
              <a:rPr lang="en-US" sz="2000" b="1" dirty="0">
                <a:latin typeface="Helvetica" pitchFamily="2" charset="0"/>
              </a:rPr>
              <a:t>must be deducted</a:t>
            </a:r>
            <a:r>
              <a:rPr lang="en-US" sz="2000" dirty="0">
                <a:latin typeface="Helvetica" pitchFamily="2" charset="0"/>
              </a:rPr>
              <a:t> in the NPV analysis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Why Cannibalization Is Tricky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If the firm doesn’t build the store, a </a:t>
            </a:r>
            <a:r>
              <a:rPr lang="en-US" sz="2000" b="1" dirty="0">
                <a:latin typeface="Helvetica" pitchFamily="2" charset="0"/>
              </a:rPr>
              <a:t>competitor might</a:t>
            </a:r>
            <a:r>
              <a:rPr lang="en-US" sz="2000" dirty="0">
                <a:latin typeface="Helvetica" pitchFamily="2" charset="0"/>
              </a:rPr>
              <a:t>, causing the same sales drop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Requires judgment, industry knowledge, and competitive analysis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70C0"/>
                </a:solidFill>
                <a:latin typeface="Helvetica" pitchFamily="2" charset="0"/>
              </a:rPr>
              <a:t>Ignoring cannibalization leads to overstated NPV and bad decisions.</a:t>
            </a:r>
            <a:endParaRPr lang="en-US" b="1" dirty="0">
              <a:solidFill>
                <a:srgbClr val="0070C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37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82CF-9375-562E-7C93-4395144F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0DA1FB-CA98-99B9-F921-96B8E99A176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3DC7C-2518-45D2-317F-45EA28B1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Externalities(2)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8470D6-BAD9-5C30-AB75-CC103CA7C8CA}"/>
              </a:ext>
            </a:extLst>
          </p:cNvPr>
          <p:cNvSpPr txBox="1"/>
          <p:nvPr/>
        </p:nvSpPr>
        <p:spPr>
          <a:xfrm>
            <a:off x="178420" y="1476117"/>
            <a:ext cx="118872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Positive Within-Firm Externalities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New projects may </a:t>
            </a:r>
            <a:r>
              <a:rPr lang="en-US" sz="2000" b="1" dirty="0">
                <a:latin typeface="Helvetica" pitchFamily="2" charset="0"/>
              </a:rPr>
              <a:t>boost</a:t>
            </a:r>
            <a:r>
              <a:rPr lang="en-US" sz="2000" dirty="0">
                <a:latin typeface="Helvetica" pitchFamily="2" charset="0"/>
              </a:rPr>
              <a:t> existing business cash flows.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Example: Apple’s investment in </a:t>
            </a:r>
            <a:r>
              <a:rPr lang="en-US" sz="2000" b="1" dirty="0">
                <a:latin typeface="Helvetica" pitchFamily="2" charset="0"/>
              </a:rPr>
              <a:t>iTunes</a:t>
            </a:r>
            <a:r>
              <a:rPr lang="en-US" sz="2000" dirty="0">
                <a:latin typeface="Helvetica" pitchFamily="2" charset="0"/>
              </a:rPr>
              <a:t> increased sales of the </a:t>
            </a:r>
            <a:r>
              <a:rPr lang="en-US" sz="2000" b="1" dirty="0">
                <a:latin typeface="Helvetica" pitchFamily="2" charset="0"/>
              </a:rPr>
              <a:t>iPod</a:t>
            </a:r>
            <a:endParaRPr lang="en-US" sz="2000" dirty="0">
              <a:latin typeface="Helvetica" pitchFamily="2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A standalone NPV for iTunes might look negative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But combined value (iTunes + iPod) is </a:t>
            </a:r>
            <a:r>
              <a:rPr lang="en-US" sz="2000" b="1" dirty="0">
                <a:latin typeface="Helvetica" pitchFamily="2" charset="0"/>
              </a:rPr>
              <a:t>positive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Must </a:t>
            </a:r>
            <a:r>
              <a:rPr lang="en-US" sz="2000" b="1" dirty="0">
                <a:latin typeface="Helvetica" pitchFamily="2" charset="0"/>
              </a:rPr>
              <a:t>add complementary benefits</a:t>
            </a:r>
            <a:r>
              <a:rPr lang="en-US" sz="2000" dirty="0">
                <a:latin typeface="Helvetica" pitchFamily="2" charset="0"/>
              </a:rPr>
              <a:t> to the NPV.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Environmental Externalities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Project effects on the surrounding community or natural environment.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Examples: A plant meets regulations for $1M but still emits annoying fumes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Extra spending could reduce pollution and improve neighborhood goodwill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Goodwill may help with: Future permits, Sales, and Government relationships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200" b="1" dirty="0">
                <a:latin typeface="Helvetica" pitchFamily="2" charset="0"/>
              </a:rPr>
              <a:t>Positive, negative, or environmental externalities, must be considered because finance, competition, and the environment are interconnected.</a:t>
            </a:r>
          </a:p>
        </p:txBody>
      </p:sp>
    </p:spTree>
    <p:extLst>
      <p:ext uri="{BB962C8B-B14F-4D97-AF65-F5344CB8AC3E}">
        <p14:creationId xmlns:p14="http://schemas.microsoft.com/office/powerpoint/2010/main" val="4268410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90022-59A8-7707-C296-01B0F308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6DCC49-F23C-BB70-B10A-E5167B8699D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3AF64-6958-9671-483B-F182F180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Types of Projects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1BB1E8-3735-636D-EFF3-3AC41B8A5BEC}"/>
              </a:ext>
            </a:extLst>
          </p:cNvPr>
          <p:cNvSpPr txBox="1"/>
          <p:nvPr/>
        </p:nvSpPr>
        <p:spPr>
          <a:xfrm>
            <a:off x="341971" y="1476117"/>
            <a:ext cx="1169019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Two Types of Projects: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Expansion projects</a:t>
            </a:r>
            <a:r>
              <a:rPr lang="en-US" sz="2000" dirty="0">
                <a:latin typeface="Helvetica" pitchFamily="2" charset="0"/>
              </a:rPr>
              <a:t>: new stores, new products, new capacity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Replacement projects</a:t>
            </a:r>
            <a:r>
              <a:rPr lang="en-US" sz="2000" dirty="0">
                <a:latin typeface="Helvetica" pitchFamily="2" charset="0"/>
              </a:rPr>
              <a:t>: replacing old assets to reduce costs or improve efficiency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Almost all cash flows are incremental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We compare: New asset cash flows – Old asset cash flows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Only the difference matters for NPV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56868-2138-9F95-468A-011CCFC78835}"/>
              </a:ext>
            </a:extLst>
          </p:cNvPr>
          <p:cNvSpPr txBox="1"/>
          <p:nvPr/>
        </p:nvSpPr>
        <p:spPr>
          <a:xfrm>
            <a:off x="341971" y="4489331"/>
            <a:ext cx="6326459" cy="178510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Decision Rule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Compute incremental cash flows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Discount them and calculate NPV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Replace the asset only if incremental NPV &gt;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FCE25-2860-F888-C8A7-71D5A3D0917F}"/>
              </a:ext>
            </a:extLst>
          </p:cNvPr>
          <p:cNvSpPr txBox="1"/>
          <p:nvPr/>
        </p:nvSpPr>
        <p:spPr>
          <a:xfrm>
            <a:off x="7072772" y="4489331"/>
            <a:ext cx="4895385" cy="166199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Example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Old truck fuel cost = $15,000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New truck fuel cost = $10,000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Incremental savings = $5,000 per year</a:t>
            </a:r>
          </a:p>
        </p:txBody>
      </p:sp>
    </p:spTree>
    <p:extLst>
      <p:ext uri="{BB962C8B-B14F-4D97-AF65-F5344CB8AC3E}">
        <p14:creationId xmlns:p14="http://schemas.microsoft.com/office/powerpoint/2010/main" val="13624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20B2D-38E2-7783-275F-CC5A98EA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CCE9CE-988C-911E-4945-0D4859225C5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E8D5A-A978-1C1B-D0E9-B3ECE95B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Expansion Projects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37B95A-2BC3-07D4-80F8-EF71CEDA51EB}"/>
              </a:ext>
            </a:extLst>
          </p:cNvPr>
          <p:cNvSpPr txBox="1"/>
          <p:nvPr/>
        </p:nvSpPr>
        <p:spPr>
          <a:xfrm>
            <a:off x="178420" y="1476117"/>
            <a:ext cx="11887200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What Is an Expansion Project?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A new investment that adds a </a:t>
            </a:r>
            <a:r>
              <a:rPr lang="en-US" sz="2200" b="1" dirty="0">
                <a:latin typeface="Helvetica" pitchFamily="2" charset="0"/>
              </a:rPr>
              <a:t>new product</a:t>
            </a:r>
            <a:r>
              <a:rPr lang="en-US" sz="2200" dirty="0">
                <a:latin typeface="Helvetica" pitchFamily="2" charset="0"/>
              </a:rPr>
              <a:t>, </a:t>
            </a:r>
            <a:r>
              <a:rPr lang="en-US" sz="2200" b="1" dirty="0">
                <a:latin typeface="Helvetica" pitchFamily="2" charset="0"/>
              </a:rPr>
              <a:t>new store</a:t>
            </a:r>
            <a:r>
              <a:rPr lang="en-US" sz="2200" dirty="0">
                <a:latin typeface="Helvetica" pitchFamily="2" charset="0"/>
              </a:rPr>
              <a:t>, or </a:t>
            </a:r>
            <a:r>
              <a:rPr lang="en-US" sz="2200" b="1" dirty="0">
                <a:latin typeface="Helvetica" pitchFamily="2" charset="0"/>
              </a:rPr>
              <a:t>new capacity</a:t>
            </a:r>
            <a:endParaRPr lang="en-US" sz="22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Cash flows are </a:t>
            </a:r>
            <a:r>
              <a:rPr lang="en-US" sz="2200" b="1" dirty="0">
                <a:latin typeface="Helvetica" pitchFamily="2" charset="0"/>
              </a:rPr>
              <a:t>not given</a:t>
            </a:r>
            <a:r>
              <a:rPr lang="en-US" sz="2200" dirty="0">
                <a:latin typeface="Helvetica" pitchFamily="2" charset="0"/>
              </a:rPr>
              <a:t> in real-world settings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Must be </a:t>
            </a:r>
            <a:r>
              <a:rPr lang="en-US" sz="2200" b="1" dirty="0">
                <a:latin typeface="Helvetica" pitchFamily="2" charset="0"/>
              </a:rPr>
              <a:t>assembled</a:t>
            </a:r>
            <a:r>
              <a:rPr lang="en-US" sz="2200" dirty="0">
                <a:latin typeface="Helvetica" pitchFamily="2" charset="0"/>
              </a:rPr>
              <a:t> by combining data from marketing, engineering, accounting, and finance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FCCE24-B417-B5A4-8051-138DE22BFE81}"/>
              </a:ext>
            </a:extLst>
          </p:cNvPr>
          <p:cNvGrpSpPr/>
          <p:nvPr/>
        </p:nvGrpSpPr>
        <p:grpSpPr>
          <a:xfrm>
            <a:off x="498488" y="5018055"/>
            <a:ext cx="11195021" cy="1208696"/>
            <a:chOff x="232576" y="5206116"/>
            <a:chExt cx="11195021" cy="120869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8D8F44B-F118-2563-84A1-41585E975BEF}"/>
                </a:ext>
              </a:extLst>
            </p:cNvPr>
            <p:cNvSpPr txBox="1"/>
            <p:nvPr/>
          </p:nvSpPr>
          <p:spPr>
            <a:xfrm>
              <a:off x="2592764" y="5218886"/>
              <a:ext cx="827471" cy="40011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Helvetica" pitchFamily="2" charset="0"/>
                </a:rPr>
                <a:t>FCF1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BDA64C5-1DC9-6AC0-454B-BF460D23E6C1}"/>
                </a:ext>
              </a:extLst>
            </p:cNvPr>
            <p:cNvSpPr txBox="1"/>
            <p:nvPr/>
          </p:nvSpPr>
          <p:spPr>
            <a:xfrm>
              <a:off x="4749667" y="5218886"/>
              <a:ext cx="827471" cy="40011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Helvetica" pitchFamily="2" charset="0"/>
                </a:rPr>
                <a:t>FCF2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C263FC-E013-1031-CCB3-4553A23750B0}"/>
                </a:ext>
              </a:extLst>
            </p:cNvPr>
            <p:cNvSpPr txBox="1"/>
            <p:nvPr/>
          </p:nvSpPr>
          <p:spPr>
            <a:xfrm>
              <a:off x="6801414" y="5218886"/>
              <a:ext cx="827471" cy="40011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Helvetica" pitchFamily="2" charset="0"/>
                </a:rPr>
                <a:t>FCF3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2006EC-95EF-780A-F07B-18EB92ED660A}"/>
                </a:ext>
              </a:extLst>
            </p:cNvPr>
            <p:cNvSpPr txBox="1"/>
            <p:nvPr/>
          </p:nvSpPr>
          <p:spPr>
            <a:xfrm>
              <a:off x="8871709" y="5218886"/>
              <a:ext cx="827471" cy="40011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Helvetica" pitchFamily="2" charset="0"/>
                </a:rPr>
                <a:t>FCF4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03272B7-906B-EA9F-419D-8E1FB6FB632B}"/>
                </a:ext>
              </a:extLst>
            </p:cNvPr>
            <p:cNvGrpSpPr/>
            <p:nvPr/>
          </p:nvGrpSpPr>
          <p:grpSpPr>
            <a:xfrm>
              <a:off x="838199" y="5683770"/>
              <a:ext cx="10515604" cy="731042"/>
              <a:chOff x="1070517" y="3686854"/>
              <a:chExt cx="10515604" cy="731042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5E371A2-0C97-EFFF-D8D8-BDEDFB5D1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51794" y="3707314"/>
                <a:ext cx="0" cy="317945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14094DE-7689-3253-A462-34CEAE342F6C}"/>
                  </a:ext>
                </a:extLst>
              </p:cNvPr>
              <p:cNvGrpSpPr/>
              <p:nvPr/>
            </p:nvGrpSpPr>
            <p:grpSpPr>
              <a:xfrm>
                <a:off x="1070517" y="3686854"/>
                <a:ext cx="10515604" cy="731042"/>
                <a:chOff x="1070517" y="3686854"/>
                <a:chExt cx="10515604" cy="731042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1D0C6F31-CA14-1DE7-A841-9F784D443C76}"/>
                    </a:ext>
                  </a:extLst>
                </p:cNvPr>
                <p:cNvGrpSpPr/>
                <p:nvPr/>
              </p:nvGrpSpPr>
              <p:grpSpPr>
                <a:xfrm>
                  <a:off x="1070517" y="3686854"/>
                  <a:ext cx="10515604" cy="731042"/>
                  <a:chOff x="873086" y="5053331"/>
                  <a:chExt cx="11151100" cy="1051224"/>
                </a:xfrm>
                <a:noFill/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D096B6D3-68BC-0F75-EFEA-EB2AD51873A7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53331"/>
                    <a:ext cx="10997051" cy="475932"/>
                    <a:chOff x="1027135" y="5053331"/>
                    <a:chExt cx="10997051" cy="475932"/>
                  </a:xfrm>
                  <a:grpFill/>
                </p:grpSpPr>
                <p:cxnSp>
                  <p:nvCxnSpPr>
                    <p:cNvPr id="20" name="Straight Arrow Connector 19">
                      <a:extLst>
                        <a:ext uri="{FF2B5EF4-FFF2-40B4-BE49-F238E27FC236}">
                          <a16:creationId xmlns:a16="http://schemas.microsoft.com/office/drawing/2014/main" id="{EC9C099D-CE15-954A-8AF0-3A90AF30F5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997051" cy="14676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rgbClr val="0070C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FB12C70B-9DCD-E065-689D-A8D2D69F4C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1FCCA6C1-91B7-4E68-E142-981B25761F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82380" y="5072062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4D2E9CF4-A861-5325-5C1F-6C3BB934004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55728" y="5072061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DDA92486-6EEF-F4E7-A4A6-CBB0A7229F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647504" y="5053331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D7D23A8C-3052-AA63-6C65-BD7F7C24F2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463413" y="5072064"/>
                      <a:ext cx="0" cy="457199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8E3AE7D-51F9-1D4B-700B-3BDDE41EF64B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617718"/>
                    <a:ext cx="316518" cy="486834"/>
                  </a:xfrm>
                  <a:prstGeom prst="rect">
                    <a:avLst/>
                  </a:prstGeom>
                  <a:grpFill/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CA648BC-082E-8EFE-5AC7-5E9638C2C7B8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331" y="5617721"/>
                    <a:ext cx="316518" cy="486834"/>
                  </a:xfrm>
                  <a:prstGeom prst="rect">
                    <a:avLst/>
                  </a:prstGeom>
                  <a:grpFill/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68860AA-0AD8-C841-95A1-AAECA232789A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364" y="5617721"/>
                    <a:ext cx="316518" cy="486834"/>
                  </a:xfrm>
                  <a:prstGeom prst="rect">
                    <a:avLst/>
                  </a:prstGeom>
                  <a:grpFill/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1250F2E7-CBC5-EB1D-32A9-9CC36CBB05C8}"/>
                      </a:ext>
                    </a:extLst>
                  </p:cNvPr>
                  <p:cNvSpPr txBox="1"/>
                  <p:nvPr/>
                </p:nvSpPr>
                <p:spPr>
                  <a:xfrm>
                    <a:off x="7493455" y="5614507"/>
                    <a:ext cx="316518" cy="486834"/>
                  </a:xfrm>
                  <a:prstGeom prst="rect">
                    <a:avLst/>
                  </a:prstGeom>
                  <a:grpFill/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EBD5FF0-FAAE-4A4F-E707-7DA9A98E286A}"/>
                      </a:ext>
                    </a:extLst>
                  </p:cNvPr>
                  <p:cNvSpPr txBox="1"/>
                  <p:nvPr/>
                </p:nvSpPr>
                <p:spPr>
                  <a:xfrm>
                    <a:off x="9701679" y="5614507"/>
                    <a:ext cx="316518" cy="486834"/>
                  </a:xfrm>
                  <a:prstGeom prst="rect">
                    <a:avLst/>
                  </a:prstGeom>
                  <a:grpFill/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1EAD9FE-FFFB-903A-7D60-2D149F428D71}"/>
                    </a:ext>
                  </a:extLst>
                </p:cNvPr>
                <p:cNvSpPr txBox="1"/>
                <p:nvPr/>
              </p:nvSpPr>
              <p:spPr>
                <a:xfrm>
                  <a:off x="11111060" y="4077106"/>
                  <a:ext cx="298480" cy="338554"/>
                </a:xfrm>
                <a:prstGeom prst="rect">
                  <a:avLst/>
                </a:prstGeom>
                <a:noFill/>
                <a:ln>
                  <a:solidFill>
                    <a:srgbClr val="0070C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0070C0"/>
                      </a:solidFill>
                      <a:latin typeface="Helvetica" pitchFamily="2" charset="0"/>
                    </a:rPr>
                    <a:t>5</a:t>
                  </a:r>
                </a:p>
              </p:txBody>
            </p:sp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AB8BCDC-5A7E-1128-50C0-13DC385221F3}"/>
                </a:ext>
              </a:extLst>
            </p:cNvPr>
            <p:cNvSpPr txBox="1"/>
            <p:nvPr/>
          </p:nvSpPr>
          <p:spPr>
            <a:xfrm>
              <a:off x="10600126" y="5217267"/>
              <a:ext cx="827471" cy="40011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Helvetica" pitchFamily="2" charset="0"/>
                </a:rPr>
                <a:t>FCF5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15376D1-D282-C55A-C530-B67FD1370BA5}"/>
                </a:ext>
              </a:extLst>
            </p:cNvPr>
            <p:cNvSpPr txBox="1"/>
            <p:nvPr/>
          </p:nvSpPr>
          <p:spPr>
            <a:xfrm>
              <a:off x="232576" y="5206116"/>
              <a:ext cx="1492716" cy="400110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Helvetica" pitchFamily="2" charset="0"/>
                </a:rPr>
                <a:t>Initial Cost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B66DE00-BDA8-1CAA-AFD6-316820E0A51B}"/>
              </a:ext>
            </a:extLst>
          </p:cNvPr>
          <p:cNvSpPr txBox="1"/>
          <p:nvPr/>
        </p:nvSpPr>
        <p:spPr>
          <a:xfrm>
            <a:off x="2538261" y="3746696"/>
            <a:ext cx="7492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FCF = EBIT(1−T) + </a:t>
            </a:r>
            <a:r>
              <a:rPr lang="en-US" altLang="en-US" sz="2400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</a:t>
            </a:r>
            <a:r>
              <a:rPr lang="en-US" altLang="en-US" sz="2400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CapEx</a:t>
            </a:r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ΔNOWC</a:t>
            </a:r>
            <a:endParaRPr lang="en-US" altLang="en-US" sz="2400" dirty="0">
              <a:solidFill>
                <a:srgbClr val="0070C0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E76ECB-BC71-7B88-D024-E8D175E4D9FE}"/>
              </a:ext>
            </a:extLst>
          </p:cNvPr>
          <p:cNvSpPr txBox="1"/>
          <p:nvPr/>
        </p:nvSpPr>
        <p:spPr>
          <a:xfrm>
            <a:off x="3560690" y="4434927"/>
            <a:ext cx="507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EBIT = Sale – Operating costs −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2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2037-2281-0629-AB04-150098FF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41317F-6B9C-5884-6821-0E54FFC1C51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D1E01-F4E1-F1B5-9AB3-17C99E88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Expansion Projects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E877E0-8561-6B5E-1403-2B84E79CF50E}"/>
              </a:ext>
            </a:extLst>
          </p:cNvPr>
          <p:cNvSpPr txBox="1"/>
          <p:nvPr/>
        </p:nvSpPr>
        <p:spPr>
          <a:xfrm>
            <a:off x="167269" y="1471780"/>
            <a:ext cx="5363736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Sales (Revenues)</a:t>
            </a:r>
          </a:p>
          <a:p>
            <a:r>
              <a:rPr lang="en-US" dirty="0">
                <a:latin typeface="Helvetica" pitchFamily="2" charset="0"/>
              </a:rPr>
              <a:t>Forecast units sold × price per unit</a:t>
            </a:r>
          </a:p>
          <a:p>
            <a:r>
              <a:rPr lang="en-US" dirty="0">
                <a:latin typeface="Helvetica" pitchFamily="2" charset="0"/>
              </a:rPr>
              <a:t>Typically provided by </a:t>
            </a:r>
            <a:r>
              <a:rPr lang="en-US" b="1" dirty="0">
                <a:latin typeface="Helvetica" pitchFamily="2" charset="0"/>
              </a:rPr>
              <a:t>marketing</a:t>
            </a:r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Drives all operating cash flows</a:t>
            </a:r>
          </a:p>
          <a:p>
            <a:r>
              <a:rPr lang="en-US" dirty="0">
                <a:latin typeface="Helvetica" pitchFamily="2" charset="0"/>
              </a:rPr>
              <a:t>May increase, decrease, or stay flat over time</a:t>
            </a:r>
            <a:endParaRPr lang="en-US" sz="1600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8CA541-732A-2070-2FEE-18E40D3C9C7B}"/>
              </a:ext>
            </a:extLst>
          </p:cNvPr>
          <p:cNvSpPr txBox="1"/>
          <p:nvPr/>
        </p:nvSpPr>
        <p:spPr>
          <a:xfrm>
            <a:off x="5865543" y="1471780"/>
            <a:ext cx="6237249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Operating Costs</a:t>
            </a:r>
          </a:p>
          <a:p>
            <a:r>
              <a:rPr lang="en-US" b="1" dirty="0">
                <a:latin typeface="Helvetica" pitchFamily="2" charset="0"/>
              </a:rPr>
              <a:t>Variable costs</a:t>
            </a:r>
            <a:r>
              <a:rPr lang="en-US" dirty="0">
                <a:latin typeface="Helvetica" pitchFamily="2" charset="0"/>
              </a:rPr>
              <a:t> (cost per unit × units)</a:t>
            </a:r>
          </a:p>
          <a:p>
            <a:r>
              <a:rPr lang="en-US" b="1" dirty="0">
                <a:latin typeface="Helvetica" pitchFamily="2" charset="0"/>
              </a:rPr>
              <a:t>Fixed costs</a:t>
            </a:r>
            <a:r>
              <a:rPr lang="en-US" dirty="0">
                <a:latin typeface="Helvetica" pitchFamily="2" charset="0"/>
              </a:rPr>
              <a:t> (rent, salaries, overhead)</a:t>
            </a:r>
          </a:p>
          <a:p>
            <a:r>
              <a:rPr lang="en-US" dirty="0">
                <a:latin typeface="Helvetica" pitchFamily="2" charset="0"/>
              </a:rPr>
              <a:t>Provided by </a:t>
            </a:r>
            <a:r>
              <a:rPr lang="en-US" b="1" dirty="0">
                <a:latin typeface="Helvetica" pitchFamily="2" charset="0"/>
              </a:rPr>
              <a:t>operations/engineering</a:t>
            </a:r>
            <a:endParaRPr lang="en-US" dirty="0"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83F23C-39D4-894E-C73F-8C91FB1F1D44}"/>
              </a:ext>
            </a:extLst>
          </p:cNvPr>
          <p:cNvSpPr txBox="1"/>
          <p:nvPr/>
        </p:nvSpPr>
        <p:spPr>
          <a:xfrm>
            <a:off x="167269" y="3458397"/>
            <a:ext cx="5523668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Depreciation &amp; Amortization</a:t>
            </a:r>
          </a:p>
          <a:p>
            <a:r>
              <a:rPr lang="en-US" dirty="0">
                <a:latin typeface="Helvetica" pitchFamily="2" charset="0"/>
              </a:rPr>
              <a:t>Comes from the </a:t>
            </a:r>
            <a:r>
              <a:rPr lang="en-US" b="1" dirty="0">
                <a:latin typeface="Helvetica" pitchFamily="2" charset="0"/>
              </a:rPr>
              <a:t>investment in fixed assets</a:t>
            </a:r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Affects taxes </a:t>
            </a:r>
            <a:r>
              <a:rPr lang="en-US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dirty="0">
                <a:latin typeface="Helvetica" pitchFamily="2" charset="0"/>
              </a:rPr>
              <a:t> impacts after-tax operating cash flow</a:t>
            </a:r>
          </a:p>
          <a:p>
            <a:r>
              <a:rPr lang="en-US" dirty="0">
                <a:latin typeface="Helvetica" pitchFamily="2" charset="0"/>
              </a:rPr>
              <a:t>Provided by </a:t>
            </a:r>
            <a:r>
              <a:rPr lang="en-US" b="1" dirty="0">
                <a:latin typeface="Helvetica" pitchFamily="2" charset="0"/>
              </a:rPr>
              <a:t>accounting / tax department</a:t>
            </a:r>
            <a:endParaRPr lang="en-US" sz="1600" dirty="0">
              <a:latin typeface="Helvetica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A4C7AB-EEFA-F985-D850-5841E995625B}"/>
              </a:ext>
            </a:extLst>
          </p:cNvPr>
          <p:cNvSpPr txBox="1"/>
          <p:nvPr/>
        </p:nvSpPr>
        <p:spPr>
          <a:xfrm>
            <a:off x="5865542" y="3458397"/>
            <a:ext cx="6237249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Capital Expenditures (</a:t>
            </a:r>
            <a:r>
              <a:rPr lang="en-US" b="1" dirty="0" err="1">
                <a:latin typeface="Helvetica" pitchFamily="2" charset="0"/>
              </a:rPr>
              <a:t>CapEx</a:t>
            </a:r>
            <a:r>
              <a:rPr lang="en-US" b="1" dirty="0">
                <a:latin typeface="Helvetica" pitchFamily="2" charset="0"/>
              </a:rPr>
              <a:t>)</a:t>
            </a:r>
          </a:p>
          <a:p>
            <a:r>
              <a:rPr lang="en-US" dirty="0">
                <a:latin typeface="Helvetica" pitchFamily="2" charset="0"/>
              </a:rPr>
              <a:t>Money spent on equipment, technology, or buildings</a:t>
            </a:r>
          </a:p>
          <a:p>
            <a:r>
              <a:rPr lang="en-US" dirty="0">
                <a:latin typeface="Helvetica" pitchFamily="2" charset="0"/>
              </a:rPr>
              <a:t>Often occurs at </a:t>
            </a:r>
            <a:r>
              <a:rPr lang="en-US" b="1" dirty="0">
                <a:latin typeface="Helvetica" pitchFamily="2" charset="0"/>
              </a:rPr>
              <a:t>Year 0</a:t>
            </a:r>
            <a:r>
              <a:rPr lang="en-US" dirty="0">
                <a:latin typeface="Helvetica" pitchFamily="2" charset="0"/>
              </a:rPr>
              <a:t>, but may continue for growing projects</a:t>
            </a:r>
          </a:p>
          <a:p>
            <a:r>
              <a:rPr lang="en-US" dirty="0">
                <a:latin typeface="Helvetica" pitchFamily="2" charset="0"/>
              </a:rPr>
              <a:t>Also includes </a:t>
            </a:r>
            <a:r>
              <a:rPr lang="en-US" b="1" dirty="0">
                <a:latin typeface="Helvetica" pitchFamily="2" charset="0"/>
              </a:rPr>
              <a:t>after-tax salvage value</a:t>
            </a:r>
            <a:r>
              <a:rPr lang="en-US" dirty="0">
                <a:latin typeface="Helvetica" pitchFamily="2" charset="0"/>
              </a:rPr>
              <a:t> in the final year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171649-DAD8-F372-6187-9185C782FCFC}"/>
              </a:ext>
            </a:extLst>
          </p:cNvPr>
          <p:cNvSpPr txBox="1"/>
          <p:nvPr/>
        </p:nvSpPr>
        <p:spPr>
          <a:xfrm>
            <a:off x="3736587" y="5128411"/>
            <a:ext cx="4577233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Net Operating Working Capital (NOWC)</a:t>
            </a:r>
          </a:p>
          <a:p>
            <a:r>
              <a:rPr lang="en-US" dirty="0">
                <a:latin typeface="Helvetica" pitchFamily="2" charset="0"/>
              </a:rPr>
              <a:t>Typically:</a:t>
            </a:r>
          </a:p>
          <a:p>
            <a:pPr lvl="1"/>
            <a:r>
              <a:rPr lang="en-US" b="1" dirty="0">
                <a:latin typeface="Helvetica" pitchFamily="2" charset="0"/>
              </a:rPr>
              <a:t>Year 0:</a:t>
            </a:r>
            <a:r>
              <a:rPr lang="en-US" dirty="0">
                <a:latin typeface="Helvetica" pitchFamily="2" charset="0"/>
              </a:rPr>
              <a:t> Initial investment in NOWC</a:t>
            </a:r>
          </a:p>
          <a:p>
            <a:pPr lvl="1"/>
            <a:r>
              <a:rPr lang="en-US" b="1" dirty="0">
                <a:latin typeface="Helvetica" pitchFamily="2" charset="0"/>
              </a:rPr>
              <a:t>Final year:</a:t>
            </a:r>
            <a:r>
              <a:rPr lang="en-US" dirty="0">
                <a:latin typeface="Helvetica" pitchFamily="2" charset="0"/>
              </a:rPr>
              <a:t> Full recovery of NOWC</a:t>
            </a:r>
          </a:p>
          <a:p>
            <a:r>
              <a:rPr lang="en-US" dirty="0">
                <a:latin typeface="Helvetica" pitchFamily="2" charset="0"/>
              </a:rPr>
              <a:t>Comes from </a:t>
            </a:r>
            <a:r>
              <a:rPr lang="en-US" b="1" dirty="0">
                <a:latin typeface="Helvetica" pitchFamily="2" charset="0"/>
              </a:rPr>
              <a:t>finance + operations</a:t>
            </a:r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52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D37F-2CF2-B0AF-239C-C2F1CF85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DB68E5-C019-C2D1-988C-A60D4E2204DA}"/>
              </a:ext>
            </a:extLst>
          </p:cNvPr>
          <p:cNvSpPr/>
          <p:nvPr/>
        </p:nvSpPr>
        <p:spPr>
          <a:xfrm>
            <a:off x="0" y="-2"/>
            <a:ext cx="12192000" cy="1280161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BFBDA-A87F-E20F-B238-27296ABBA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3101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Depreciation Methods Overview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399914-386B-8E37-928C-3983213596BA}"/>
              </a:ext>
            </a:extLst>
          </p:cNvPr>
          <p:cNvSpPr txBox="1"/>
          <p:nvPr/>
        </p:nvSpPr>
        <p:spPr>
          <a:xfrm>
            <a:off x="258708" y="1505648"/>
            <a:ext cx="11472374" cy="248529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b="1" dirty="0">
                <a:latin typeface="Helvetica" pitchFamily="2" charset="0"/>
              </a:rPr>
              <a:t>Straight-Line Depreciation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itchFamily="2" charset="0"/>
              </a:rPr>
              <a:t>Depreciation is </a:t>
            </a:r>
            <a:r>
              <a:rPr lang="en-US" altLang="en-US" b="1" dirty="0">
                <a:latin typeface="Helvetica" pitchFamily="2" charset="0"/>
              </a:rPr>
              <a:t>spread evenly</a:t>
            </a:r>
            <a:r>
              <a:rPr lang="en-US" altLang="en-US" dirty="0">
                <a:latin typeface="Helvetica" pitchFamily="2" charset="0"/>
              </a:rPr>
              <a:t> across Years 1…N</a:t>
            </a:r>
            <a:r>
              <a:rPr lang="en-US" dirty="0">
                <a:latin typeface="Helvetica" pitchFamily="2" charset="0"/>
              </a:rPr>
              <a:t>. 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Annual Depreciation = (Cost – Salvage Value) / Life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itchFamily="2" charset="0"/>
              </a:rPr>
              <a:t>The tax shield (Dep × tax) appears </a:t>
            </a:r>
            <a:r>
              <a:rPr lang="en-US" altLang="en-US" b="1" dirty="0">
                <a:latin typeface="Helvetica" pitchFamily="2" charset="0"/>
              </a:rPr>
              <a:t>each year</a:t>
            </a:r>
            <a:r>
              <a:rPr lang="en-US" altLang="en-US" dirty="0">
                <a:latin typeface="Helvetica" pitchFamily="2" charset="0"/>
              </a:rPr>
              <a:t> in: </a:t>
            </a:r>
          </a:p>
          <a:p>
            <a:pPr lvl="1" algn="ctr">
              <a:spcBef>
                <a:spcPts val="600"/>
              </a:spcBef>
              <a:spcAft>
                <a:spcPts val="600"/>
              </a:spcAft>
            </a:pPr>
            <a:r>
              <a:rPr lang="en-US" altLang="en-US" b="1" dirty="0">
                <a:latin typeface="Helvetica" pitchFamily="2" charset="0"/>
              </a:rPr>
              <a:t>FCF = EBIT(1–T) + Dep – </a:t>
            </a:r>
            <a:r>
              <a:rPr lang="en-US" altLang="en-US" b="1" dirty="0" err="1">
                <a:latin typeface="Helvetica" pitchFamily="2" charset="0"/>
              </a:rPr>
              <a:t>CapEx</a:t>
            </a:r>
            <a:r>
              <a:rPr lang="en-US" altLang="en-US" b="1" dirty="0">
                <a:latin typeface="Helvetica" pitchFamily="2" charset="0"/>
              </a:rPr>
              <a:t> – ΔNOWC</a:t>
            </a:r>
            <a:r>
              <a:rPr lang="en-US" dirty="0">
                <a:latin typeface="Helvetica" pitchFamily="2" charset="0"/>
              </a:rPr>
              <a:t>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itchFamily="2" charset="0"/>
              </a:rPr>
              <a:t>This makes annual FCF higher and smoother in later years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725384-E2F6-1A7A-056B-FC0F1D8A85E8}"/>
              </a:ext>
            </a:extLst>
          </p:cNvPr>
          <p:cNvSpPr txBox="1"/>
          <p:nvPr/>
        </p:nvSpPr>
        <p:spPr>
          <a:xfrm>
            <a:off x="258708" y="4338600"/>
            <a:ext cx="11472374" cy="205440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b="1" dirty="0">
                <a:latin typeface="Helvetica" pitchFamily="2" charset="0"/>
              </a:rPr>
              <a:t>Bonus Depreciation (100% Bonus / Immediate Expensing)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Allows firms to deduct a large portion (up to 100%) of the asset cost immediately in Year 0.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Creates a big Year-0 tax shield, which is added back in the initial investment in fixed asset.</a:t>
            </a:r>
          </a:p>
          <a:p>
            <a:pPr lvl="1"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Helvetica" pitchFamily="2" charset="0"/>
              </a:rPr>
              <a:t>Initial investment + </a:t>
            </a:r>
            <a:r>
              <a:rPr lang="en-US" altLang="en-US" b="1" dirty="0">
                <a:latin typeface="Helvetica" pitchFamily="2" charset="0"/>
              </a:rPr>
              <a:t>tax shield </a:t>
            </a:r>
            <a:r>
              <a:rPr lang="en-US" altLang="en-US" b="1" dirty="0">
                <a:latin typeface="Helvetica" pitchFamily="2" charset="0"/>
                <a:sym typeface="Wingdings" pitchFamily="2" charset="2"/>
              </a:rPr>
              <a:t> </a:t>
            </a:r>
            <a:r>
              <a:rPr lang="en-US" b="1" dirty="0">
                <a:latin typeface="Helvetica" pitchFamily="2" charset="0"/>
              </a:rPr>
              <a:t>Initial investment + (</a:t>
            </a:r>
            <a:r>
              <a:rPr lang="en-US" altLang="en-US" b="1" dirty="0">
                <a:latin typeface="Helvetica" pitchFamily="2" charset="0"/>
              </a:rPr>
              <a:t>Dep × tax)</a:t>
            </a:r>
            <a:endParaRPr lang="en-US" b="1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No depreciation remains for Years 1…N, Lower FCF after Year 0.</a:t>
            </a:r>
          </a:p>
        </p:txBody>
      </p:sp>
    </p:spTree>
    <p:extLst>
      <p:ext uri="{BB962C8B-B14F-4D97-AF65-F5344CB8AC3E}">
        <p14:creationId xmlns:p14="http://schemas.microsoft.com/office/powerpoint/2010/main" val="1047101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1CBE-F8C9-1FAE-FFE0-3C3FB4F7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65EB2F-9C62-656C-EA1E-32B60F0581D9}"/>
              </a:ext>
            </a:extLst>
          </p:cNvPr>
          <p:cNvSpPr/>
          <p:nvPr/>
        </p:nvSpPr>
        <p:spPr>
          <a:xfrm>
            <a:off x="0" y="-1"/>
            <a:ext cx="12192000" cy="1155766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FF69C-CB0D-2D6B-B2F5-7379A1E8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3101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Depreciation Methods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8B0DC-9D24-F723-2F80-E27CA397BB35}"/>
              </a:ext>
            </a:extLst>
          </p:cNvPr>
          <p:cNvSpPr txBox="1"/>
          <p:nvPr/>
        </p:nvSpPr>
        <p:spPr>
          <a:xfrm>
            <a:off x="2451182" y="1356064"/>
            <a:ext cx="7492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FCF = EBIT(1−T) + </a:t>
            </a:r>
            <a:r>
              <a:rPr lang="en-US" altLang="en-US" sz="2400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</a:t>
            </a:r>
            <a:r>
              <a:rPr lang="en-US" altLang="en-US" sz="2400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CapEx</a:t>
            </a:r>
            <a:r>
              <a:rPr lang="en-US" altLang="en-US" sz="2400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ΔNOWC</a:t>
            </a:r>
            <a:endParaRPr lang="en-US" altLang="en-US" sz="2400" dirty="0">
              <a:solidFill>
                <a:srgbClr val="0070C0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A9BAD-039B-212E-39D5-EAFC980D35CF}"/>
              </a:ext>
            </a:extLst>
          </p:cNvPr>
          <p:cNvSpPr txBox="1"/>
          <p:nvPr/>
        </p:nvSpPr>
        <p:spPr>
          <a:xfrm>
            <a:off x="1412666" y="1963771"/>
            <a:ext cx="952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FCF = (Sales – Operating costs −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) (1−T) +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CapEx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ΔNOWC</a:t>
            </a:r>
            <a:endParaRPr lang="en-US" altLang="en-US" dirty="0">
              <a:solidFill>
                <a:srgbClr val="0070C0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CD2F9-B4EC-0686-9E6E-5F6E5E00EAC0}"/>
              </a:ext>
            </a:extLst>
          </p:cNvPr>
          <p:cNvSpPr txBox="1"/>
          <p:nvPr/>
        </p:nvSpPr>
        <p:spPr>
          <a:xfrm>
            <a:off x="239751" y="2575072"/>
            <a:ext cx="1171249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latin typeface="Helvetica" pitchFamily="2" charset="0"/>
              </a:rPr>
              <a:t>A company is considering a 6-year project with the following information: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Initial Investments (Year 0): Fixed assets $600,000, salvage value of 0, and tax rate of 25%.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D20EC-4BFE-3BBA-6240-BC071B60DDCE}"/>
              </a:ext>
            </a:extLst>
          </p:cNvPr>
          <p:cNvSpPr txBox="1"/>
          <p:nvPr/>
        </p:nvSpPr>
        <p:spPr>
          <a:xfrm>
            <a:off x="239751" y="3429000"/>
            <a:ext cx="64536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Straight-Line Depreciation: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at each year =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$600,000 / 6 = $100,000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Adj years 1 to 6 based on FCF formula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ADAD2-9557-B61C-72BC-BE572211B16E}"/>
              </a:ext>
            </a:extLst>
          </p:cNvPr>
          <p:cNvSpPr txBox="1"/>
          <p:nvPr/>
        </p:nvSpPr>
        <p:spPr>
          <a:xfrm>
            <a:off x="239751" y="5037333"/>
            <a:ext cx="751436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Bonus Depreciation (100% Bonus / Immediate Expensing) 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 err="1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at year 0 =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$600,000 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Adj only year 0 = -$600,000 + ($600,000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× 0.25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) = -$450,000</a:t>
            </a:r>
          </a:p>
        </p:txBody>
      </p:sp>
    </p:spTree>
    <p:extLst>
      <p:ext uri="{BB962C8B-B14F-4D97-AF65-F5344CB8AC3E}">
        <p14:creationId xmlns:p14="http://schemas.microsoft.com/office/powerpoint/2010/main" val="130308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2BD3-F5A7-D033-22FE-D34DA503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1FB69A-A872-E271-C709-8DB8FC0E0C7C}"/>
              </a:ext>
            </a:extLst>
          </p:cNvPr>
          <p:cNvSpPr/>
          <p:nvPr/>
        </p:nvSpPr>
        <p:spPr>
          <a:xfrm rot="5400000">
            <a:off x="-2724552" y="2745602"/>
            <a:ext cx="6858003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EABDE-6951-CF2B-B933-31CD7E11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97541" y="2933321"/>
            <a:ext cx="6603981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Expansion Projects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9DB66-86E4-E112-E03A-0011E964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-2057" b="31569"/>
          <a:stretch>
            <a:fillRect/>
          </a:stretch>
        </p:blipFill>
        <p:spPr>
          <a:xfrm>
            <a:off x="2172707" y="122661"/>
            <a:ext cx="7846585" cy="646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54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99A02-DBC9-CFF1-BC67-8ADE3424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4AF41F-3C78-241F-C521-0E82E15FDADA}"/>
              </a:ext>
            </a:extLst>
          </p:cNvPr>
          <p:cNvSpPr/>
          <p:nvPr/>
        </p:nvSpPr>
        <p:spPr>
          <a:xfrm>
            <a:off x="0" y="-1"/>
            <a:ext cx="12192000" cy="7209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01A21-9407-F938-2215-7645A0A1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5" y="45808"/>
            <a:ext cx="10892883" cy="7209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Question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09BD1-3E99-A80C-6B8D-719C03F783F3}"/>
              </a:ext>
            </a:extLst>
          </p:cNvPr>
          <p:cNvSpPr txBox="1"/>
          <p:nvPr/>
        </p:nvSpPr>
        <p:spPr>
          <a:xfrm>
            <a:off x="239750" y="702884"/>
            <a:ext cx="11839473" cy="2817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Helvetica" pitchFamily="2" charset="0"/>
              </a:rPr>
              <a:t>You must evaluate the purchase of a proposed spectrometer for the R&amp;D department. The purchase price of the spectrometer, including modifications, is $170,000, and the equipment will be fully depreciated at the time of purchase. The equipment would be sold after 3 years for $60,000. The equipment would require an $8,000 increase in net operating working capital (spare parts inventory). The project would have $150,000 of revenue and 100,000 of operating costs. The firm’s marginal federal-plus-state tax rate is 25%.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C900D-5052-0C3F-AD14-B3A12AD98416}"/>
              </a:ext>
            </a:extLst>
          </p:cNvPr>
          <p:cNvSpPr txBox="1"/>
          <p:nvPr/>
        </p:nvSpPr>
        <p:spPr>
          <a:xfrm>
            <a:off x="239750" y="3577069"/>
            <a:ext cx="11839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1- What is the initial investment outlay for the spectrometer after bonus depreciation is considered, that is, what is the Year 0 project cash flow?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CBC0D8-25E3-2C88-5675-0EAC6F00D020}"/>
              </a:ext>
            </a:extLst>
          </p:cNvPr>
          <p:cNvSpPr txBox="1"/>
          <p:nvPr/>
        </p:nvSpPr>
        <p:spPr>
          <a:xfrm>
            <a:off x="3149680" y="4514350"/>
            <a:ext cx="243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What we purchase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A086C9-075D-A247-B4BF-2FFB3C4A65EF}"/>
              </a:ext>
            </a:extLst>
          </p:cNvPr>
          <p:cNvSpPr txBox="1"/>
          <p:nvPr/>
        </p:nvSpPr>
        <p:spPr>
          <a:xfrm>
            <a:off x="3149680" y="5705026"/>
            <a:ext cx="6151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much net operating working capital needed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22FCA-B232-AA40-4D6D-E7815E0223EA}"/>
              </a:ext>
            </a:extLst>
          </p:cNvPr>
          <p:cNvSpPr txBox="1"/>
          <p:nvPr/>
        </p:nvSpPr>
        <p:spPr>
          <a:xfrm>
            <a:off x="3149680" y="5120596"/>
            <a:ext cx="5888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Tax shield if the method is bonus depreciation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9F8A1-0CA1-BF87-A1CF-C0EAD569E98E}"/>
              </a:ext>
            </a:extLst>
          </p:cNvPr>
          <p:cNvSpPr txBox="1"/>
          <p:nvPr/>
        </p:nvSpPr>
        <p:spPr>
          <a:xfrm>
            <a:off x="143255" y="5020744"/>
            <a:ext cx="267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Initial Investment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664CF-6479-DC02-020B-B6C903D12979}"/>
              </a:ext>
            </a:extLst>
          </p:cNvPr>
          <p:cNvSpPr txBox="1"/>
          <p:nvPr/>
        </p:nvSpPr>
        <p:spPr>
          <a:xfrm>
            <a:off x="9450563" y="4514350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-$170,000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A8A19-5A20-606D-D819-7517D0C0C29B}"/>
              </a:ext>
            </a:extLst>
          </p:cNvPr>
          <p:cNvSpPr txBox="1"/>
          <p:nvPr/>
        </p:nvSpPr>
        <p:spPr>
          <a:xfrm>
            <a:off x="9529109" y="5120596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+$42,500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5A1853-349B-702D-F571-93CA9F16EB2C}"/>
              </a:ext>
            </a:extLst>
          </p:cNvPr>
          <p:cNvSpPr txBox="1"/>
          <p:nvPr/>
        </p:nvSpPr>
        <p:spPr>
          <a:xfrm>
            <a:off x="9735896" y="5688178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-$8,000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CD8457-1C29-DE90-F261-32C97BAE8F50}"/>
              </a:ext>
            </a:extLst>
          </p:cNvPr>
          <p:cNvSpPr txBox="1"/>
          <p:nvPr/>
        </p:nvSpPr>
        <p:spPr>
          <a:xfrm>
            <a:off x="9487431" y="6263068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-$135,500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59A525-C495-6879-7AEB-494A2ACE2513}"/>
              </a:ext>
            </a:extLst>
          </p:cNvPr>
          <p:cNvCxnSpPr>
            <a:cxnSpLocks/>
          </p:cNvCxnSpPr>
          <p:nvPr/>
        </p:nvCxnSpPr>
        <p:spPr>
          <a:xfrm flipV="1">
            <a:off x="3044952" y="6225448"/>
            <a:ext cx="8247888" cy="627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7DD6617A-7887-B962-C521-5A7AE3F81CF9}"/>
              </a:ext>
            </a:extLst>
          </p:cNvPr>
          <p:cNvSpPr/>
          <p:nvPr/>
        </p:nvSpPr>
        <p:spPr>
          <a:xfrm>
            <a:off x="2743200" y="4514350"/>
            <a:ext cx="406480" cy="1536318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8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C8B9A-B463-8C93-0FA2-27CB5BB0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6D31CD-CB23-BFDC-F5B4-2C3A40821F4E}"/>
              </a:ext>
            </a:extLst>
          </p:cNvPr>
          <p:cNvSpPr/>
          <p:nvPr/>
        </p:nvSpPr>
        <p:spPr>
          <a:xfrm>
            <a:off x="0" y="-1"/>
            <a:ext cx="12192000" cy="7209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B937D-DB28-ECA9-0F94-B00D65B3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5" y="45808"/>
            <a:ext cx="10892883" cy="7209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Question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68C1B-02C8-28CB-B98E-3D821051C099}"/>
              </a:ext>
            </a:extLst>
          </p:cNvPr>
          <p:cNvSpPr txBox="1"/>
          <p:nvPr/>
        </p:nvSpPr>
        <p:spPr>
          <a:xfrm>
            <a:off x="239750" y="665176"/>
            <a:ext cx="11839473" cy="21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You must evaluate the purchase of a proposed spectrometer for the R&amp;D department. The purchase price of the spectrometer, including modifications, is $170,000, and the equipment will be fully depreciated at the time of purchase. The equipment would be sold after 3 years for $60,000. The equipment would require an $8,000 increase in net operating working capital (spare parts inventory). The project would have $150,000 of revenue and $100,000 of operating costs. The firm’s marginal federal-plus-state tax rate is 25%.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2264F-BA7C-E85E-DC63-470157112049}"/>
              </a:ext>
            </a:extLst>
          </p:cNvPr>
          <p:cNvSpPr txBox="1"/>
          <p:nvPr/>
        </p:nvSpPr>
        <p:spPr>
          <a:xfrm>
            <a:off x="239750" y="2915805"/>
            <a:ext cx="11839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2- </a:t>
            </a:r>
            <a:r>
              <a:rPr lang="en-US" b="1" dirty="0"/>
              <a:t>What are the project’s annual cash flows in Years 1, 2, and 3?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8E5806-1F8C-06FA-74D2-44A6D7387195}"/>
              </a:ext>
            </a:extLst>
          </p:cNvPr>
          <p:cNvGrpSpPr/>
          <p:nvPr/>
        </p:nvGrpSpPr>
        <p:grpSpPr>
          <a:xfrm>
            <a:off x="666776" y="6192824"/>
            <a:ext cx="10515604" cy="546762"/>
            <a:chOff x="873086" y="5053331"/>
            <a:chExt cx="11151100" cy="1051224"/>
          </a:xfrm>
          <a:noFill/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A397DF-931F-1E11-376A-9C549C3081C1}"/>
                </a:ext>
              </a:extLst>
            </p:cNvPr>
            <p:cNvGrpSpPr/>
            <p:nvPr/>
          </p:nvGrpSpPr>
          <p:grpSpPr>
            <a:xfrm>
              <a:off x="1027135" y="5053331"/>
              <a:ext cx="10997051" cy="475932"/>
              <a:chOff x="1027135" y="5053331"/>
              <a:chExt cx="10997051" cy="475932"/>
            </a:xfrm>
            <a:grpFill/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340C18E5-20C4-30F2-9BEC-2C9C8B012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997051" cy="14676"/>
              </a:xfrm>
              <a:prstGeom prst="straightConnector1">
                <a:avLst/>
              </a:prstGeom>
              <a:grpFill/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3A3E62C-A1C7-3814-B584-8FFCAF612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1AAC75A-0171-49C2-F308-73B7476DF4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2046" y="5072062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8CC5787-91ED-7231-0001-BA806A5271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46243" y="5053331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6D1E7A0-2044-9E6D-F0C7-0DBDAA1804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2679" y="5072064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9BC21E-1200-293B-AACE-134ED3701161}"/>
                </a:ext>
              </a:extLst>
            </p:cNvPr>
            <p:cNvSpPr txBox="1"/>
            <p:nvPr/>
          </p:nvSpPr>
          <p:spPr>
            <a:xfrm>
              <a:off x="873086" y="5617718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543058-4207-921A-0FE1-E08AE79EBB88}"/>
                </a:ext>
              </a:extLst>
            </p:cNvPr>
            <p:cNvSpPr txBox="1"/>
            <p:nvPr/>
          </p:nvSpPr>
          <p:spPr>
            <a:xfrm>
              <a:off x="3987997" y="5617721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3FE92ED-9F1B-EBEE-74E7-89C2B1134134}"/>
                </a:ext>
              </a:extLst>
            </p:cNvPr>
            <p:cNvSpPr txBox="1"/>
            <p:nvPr/>
          </p:nvSpPr>
          <p:spPr>
            <a:xfrm>
              <a:off x="7408630" y="5617721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94404E-8D0E-0C01-52C8-FE55608A4B3C}"/>
                </a:ext>
              </a:extLst>
            </p:cNvPr>
            <p:cNvSpPr txBox="1"/>
            <p:nvPr/>
          </p:nvSpPr>
          <p:spPr>
            <a:xfrm>
              <a:off x="11092194" y="5614507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3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7B9FB2A-6894-37D9-B174-EA8F21C4D89A}"/>
              </a:ext>
            </a:extLst>
          </p:cNvPr>
          <p:cNvSpPr txBox="1"/>
          <p:nvPr/>
        </p:nvSpPr>
        <p:spPr>
          <a:xfrm>
            <a:off x="239750" y="3511949"/>
            <a:ext cx="10841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FCF of each year = (Sales – Operating costs −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) (1−T) +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Dep&amp;Amort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</a:t>
            </a:r>
            <a:r>
              <a:rPr lang="en-US" altLang="en-US" b="1" dirty="0" err="1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CapEx</a:t>
            </a:r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 − ΔNOWC</a:t>
            </a:r>
            <a:endParaRPr lang="en-US" altLang="en-US" dirty="0">
              <a:solidFill>
                <a:srgbClr val="0070C0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9464DA-E5F5-C088-1724-2A5FF21CD4ED}"/>
              </a:ext>
            </a:extLst>
          </p:cNvPr>
          <p:cNvSpPr txBox="1"/>
          <p:nvPr/>
        </p:nvSpPr>
        <p:spPr>
          <a:xfrm>
            <a:off x="239750" y="4035080"/>
            <a:ext cx="823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FCF of each year = (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</a:rPr>
              <a:t>$150,000</a:t>
            </a: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–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</a:rPr>
              <a:t>$100,000 </a:t>
            </a: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− 0) (1−0.25) + 0 − 0 − 0 = $37,500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547A17-8B0C-67A6-62D4-D804347DCD81}"/>
              </a:ext>
            </a:extLst>
          </p:cNvPr>
          <p:cNvSpPr txBox="1"/>
          <p:nvPr/>
        </p:nvSpPr>
        <p:spPr>
          <a:xfrm>
            <a:off x="3240326" y="577430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$37,500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3A6179-9BAD-8A8D-A3BB-EB1C0A293593}"/>
              </a:ext>
            </a:extLst>
          </p:cNvPr>
          <p:cNvSpPr txBox="1"/>
          <p:nvPr/>
        </p:nvSpPr>
        <p:spPr>
          <a:xfrm>
            <a:off x="6466018" y="577430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$37,500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B66D17-9D7F-0DED-DC73-7E8A49BB844A}"/>
              </a:ext>
            </a:extLst>
          </p:cNvPr>
          <p:cNvSpPr txBox="1"/>
          <p:nvPr/>
        </p:nvSpPr>
        <p:spPr>
          <a:xfrm>
            <a:off x="9939658" y="577430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$90,500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068222-67F7-5668-0023-BAA9BA7D4455}"/>
              </a:ext>
            </a:extLst>
          </p:cNvPr>
          <p:cNvSpPr txBox="1"/>
          <p:nvPr/>
        </p:nvSpPr>
        <p:spPr>
          <a:xfrm>
            <a:off x="239750" y="4806528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Adjustment for year 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A3F187-E26D-566D-215A-B41EB366D4CF}"/>
              </a:ext>
            </a:extLst>
          </p:cNvPr>
          <p:cNvSpPr txBox="1"/>
          <p:nvPr/>
        </p:nvSpPr>
        <p:spPr>
          <a:xfrm>
            <a:off x="7512954" y="4574605"/>
            <a:ext cx="4229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$60,000 – ($60,000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 × 0.25)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itchFamily="2" charset="2"/>
              </a:rPr>
              <a:t> $45,000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F5CFCB-0EF0-B513-5A21-79E736F6C103}"/>
              </a:ext>
            </a:extLst>
          </p:cNvPr>
          <p:cNvSpPr txBox="1"/>
          <p:nvPr/>
        </p:nvSpPr>
        <p:spPr>
          <a:xfrm>
            <a:off x="2801717" y="4561668"/>
            <a:ext cx="4649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Salvage value net of TAX, If &gt; book value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31B978-30ED-B3FB-A147-19715C9A366F}"/>
              </a:ext>
            </a:extLst>
          </p:cNvPr>
          <p:cNvSpPr txBox="1"/>
          <p:nvPr/>
        </p:nvSpPr>
        <p:spPr>
          <a:xfrm>
            <a:off x="2801717" y="5153681"/>
            <a:ext cx="2166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Recovery of NOWC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061E2F-1EAC-8B5C-A638-AB2DF542701B}"/>
              </a:ext>
            </a:extLst>
          </p:cNvPr>
          <p:cNvSpPr txBox="1"/>
          <p:nvPr/>
        </p:nvSpPr>
        <p:spPr>
          <a:xfrm>
            <a:off x="5291941" y="515368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$8,000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FEA230-E876-E7AC-9F2E-22121239FFB3}"/>
              </a:ext>
            </a:extLst>
          </p:cNvPr>
          <p:cNvSpPr txBox="1"/>
          <p:nvPr/>
        </p:nvSpPr>
        <p:spPr>
          <a:xfrm>
            <a:off x="9531015" y="5427904"/>
            <a:ext cx="21419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$37,500 + </a:t>
            </a:r>
            <a:r>
              <a:rPr lang="en-US" alt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 pitchFamily="2" charset="0"/>
                <a:sym typeface="Wingdings" pitchFamily="2" charset="2"/>
              </a:rPr>
              <a:t>$45,000 +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$8,000</a:t>
            </a:r>
            <a:r>
              <a:rPr lang="en-US" alt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US" sz="1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FBCF36B2-538F-F5C7-A2D2-7EBDDF5A7117}"/>
              </a:ext>
            </a:extLst>
          </p:cNvPr>
          <p:cNvSpPr/>
          <p:nvPr/>
        </p:nvSpPr>
        <p:spPr>
          <a:xfrm>
            <a:off x="2564524" y="4574605"/>
            <a:ext cx="311657" cy="914400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2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5" grpId="0"/>
      <p:bldP spid="37" grpId="0"/>
      <p:bldP spid="38" grpId="0"/>
      <p:bldP spid="40" grpId="0"/>
      <p:bldP spid="42" grpId="0"/>
      <p:bldP spid="44" grpId="0"/>
      <p:bldP spid="45" grpId="0"/>
      <p:bldP spid="46" grpId="0"/>
      <p:bldP spid="47" grpId="0"/>
      <p:bldP spid="50" grpId="0"/>
      <p:bldP spid="5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C91E0-329A-32A8-5C8C-4A3D461E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433B2E-8A7E-CF12-7DB4-BA3C581AF6A1}"/>
              </a:ext>
            </a:extLst>
          </p:cNvPr>
          <p:cNvSpPr/>
          <p:nvPr/>
        </p:nvSpPr>
        <p:spPr>
          <a:xfrm>
            <a:off x="0" y="-1"/>
            <a:ext cx="12192000" cy="7209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6133D-18F3-C8E7-2B6A-75763C18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5" y="45808"/>
            <a:ext cx="10892883" cy="7209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Question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C3986-C1B6-17B2-123F-0FB346FAA1C2}"/>
              </a:ext>
            </a:extLst>
          </p:cNvPr>
          <p:cNvSpPr txBox="1"/>
          <p:nvPr/>
        </p:nvSpPr>
        <p:spPr>
          <a:xfrm>
            <a:off x="239750" y="665176"/>
            <a:ext cx="11839473" cy="21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You must evaluate the purchase of a proposed spectrometer for the R&amp;D department. The purchase price of the spectrometer, including modifications, is $170,000, and the equipment will be fully depreciated at the time of purchase. The equipment would be sold after 3 years for $60,000. The equipment would require an $8,000 increase in net operating working capital (spare parts inventory). The project would have $150,000 of revenue and $100,000 of operating costs. The firm’s marginal federal-plus-state tax rate is 25%.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B6E54-7A34-71A1-721F-7DA0BA874580}"/>
              </a:ext>
            </a:extLst>
          </p:cNvPr>
          <p:cNvSpPr txBox="1"/>
          <p:nvPr/>
        </p:nvSpPr>
        <p:spPr>
          <a:xfrm>
            <a:off x="239750" y="2915805"/>
            <a:ext cx="11839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3- </a:t>
            </a:r>
            <a:r>
              <a:rPr lang="en-US" b="1" dirty="0">
                <a:latin typeface="Helvetica" pitchFamily="2" charset="0"/>
              </a:rPr>
              <a:t>If the WACC is 10%, should the spectrometer be purchased?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A9BB57-3F51-2C83-2F89-A74DA155124D}"/>
              </a:ext>
            </a:extLst>
          </p:cNvPr>
          <p:cNvGrpSpPr/>
          <p:nvPr/>
        </p:nvGrpSpPr>
        <p:grpSpPr>
          <a:xfrm>
            <a:off x="666776" y="4080254"/>
            <a:ext cx="10515604" cy="546762"/>
            <a:chOff x="873086" y="5053331"/>
            <a:chExt cx="11151100" cy="1051224"/>
          </a:xfrm>
          <a:noFill/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07D53A9-9B4E-5D1D-C677-351BE2061A85}"/>
                </a:ext>
              </a:extLst>
            </p:cNvPr>
            <p:cNvGrpSpPr/>
            <p:nvPr/>
          </p:nvGrpSpPr>
          <p:grpSpPr>
            <a:xfrm>
              <a:off x="1027135" y="5053331"/>
              <a:ext cx="10997051" cy="475932"/>
              <a:chOff x="1027135" y="5053331"/>
              <a:chExt cx="10997051" cy="475932"/>
            </a:xfrm>
            <a:grpFill/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1C2155B-D0E6-2D4F-18D4-A40F40E70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5" y="5285984"/>
                <a:ext cx="10997051" cy="14676"/>
              </a:xfrm>
              <a:prstGeom prst="straightConnector1">
                <a:avLst/>
              </a:prstGeom>
              <a:grpFill/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DB2D1FC-385A-60F0-9607-CB6A82A1E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36" y="5072061"/>
                <a:ext cx="0" cy="457200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AD886EF-5B0C-FD18-465E-D374BB40A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2046" y="5072062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B1CB884-948A-190C-BC97-7CD0D83B41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46243" y="5053331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FFA48A0-0A77-24DB-E100-01534A94D5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2679" y="5072064"/>
                <a:ext cx="0" cy="457199"/>
              </a:xfrm>
              <a:prstGeom prst="line">
                <a:avLst/>
              </a:prstGeom>
              <a:grp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9ECD15-48D1-50D2-47F8-8D36C82286D7}"/>
                </a:ext>
              </a:extLst>
            </p:cNvPr>
            <p:cNvSpPr txBox="1"/>
            <p:nvPr/>
          </p:nvSpPr>
          <p:spPr>
            <a:xfrm>
              <a:off x="873086" y="5617718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E4631F-15E2-8318-D4DA-9181D688E654}"/>
                </a:ext>
              </a:extLst>
            </p:cNvPr>
            <p:cNvSpPr txBox="1"/>
            <p:nvPr/>
          </p:nvSpPr>
          <p:spPr>
            <a:xfrm>
              <a:off x="3987997" y="5617721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897661-257E-9260-3734-24E3B0AD0F52}"/>
                </a:ext>
              </a:extLst>
            </p:cNvPr>
            <p:cNvSpPr txBox="1"/>
            <p:nvPr/>
          </p:nvSpPr>
          <p:spPr>
            <a:xfrm>
              <a:off x="7408630" y="5617721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E1B50FE-395E-F2EE-D6E7-A8ACC395DD51}"/>
                </a:ext>
              </a:extLst>
            </p:cNvPr>
            <p:cNvSpPr txBox="1"/>
            <p:nvPr/>
          </p:nvSpPr>
          <p:spPr>
            <a:xfrm>
              <a:off x="11092194" y="5614507"/>
              <a:ext cx="316518" cy="48683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3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1183A1B-83CE-8044-AC87-536E291EDFC6}"/>
              </a:ext>
            </a:extLst>
          </p:cNvPr>
          <p:cNvSpPr txBox="1"/>
          <p:nvPr/>
        </p:nvSpPr>
        <p:spPr>
          <a:xfrm>
            <a:off x="3240326" y="366173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$37,500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4FE0B6-BA45-A86F-1961-11D70397CDE6}"/>
              </a:ext>
            </a:extLst>
          </p:cNvPr>
          <p:cNvSpPr txBox="1"/>
          <p:nvPr/>
        </p:nvSpPr>
        <p:spPr>
          <a:xfrm>
            <a:off x="6466018" y="366173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$37,500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48EA47-D112-3333-F966-8C79346B27F2}"/>
              </a:ext>
            </a:extLst>
          </p:cNvPr>
          <p:cNvSpPr txBox="1"/>
          <p:nvPr/>
        </p:nvSpPr>
        <p:spPr>
          <a:xfrm>
            <a:off x="9939658" y="366173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  <a:latin typeface="Helvetica" pitchFamily="2" charset="0"/>
                <a:cs typeface="Times New Roman" panose="02020603050405020304" pitchFamily="18" charset="0"/>
              </a:rPr>
              <a:t>$90,500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6B7FA-4119-C1BC-5653-D0282C61922E}"/>
              </a:ext>
            </a:extLst>
          </p:cNvPr>
          <p:cNvSpPr txBox="1"/>
          <p:nvPr/>
        </p:nvSpPr>
        <p:spPr>
          <a:xfrm>
            <a:off x="218378" y="3668020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-$135,500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DDFF2-6FE3-F142-3795-7F66D80C3C7E}"/>
              </a:ext>
            </a:extLst>
          </p:cNvPr>
          <p:cNvSpPr txBox="1"/>
          <p:nvPr/>
        </p:nvSpPr>
        <p:spPr>
          <a:xfrm>
            <a:off x="4138284" y="5433849"/>
            <a:ext cx="4333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NPV = PV(CF1, CF2, CF3) - Initial 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429C1-9D3F-3188-E71A-73BF81891023}"/>
              </a:ext>
            </a:extLst>
          </p:cNvPr>
          <p:cNvSpPr txBox="1"/>
          <p:nvPr/>
        </p:nvSpPr>
        <p:spPr>
          <a:xfrm>
            <a:off x="5296059" y="6008158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NPV = -$2423</a:t>
            </a:r>
          </a:p>
        </p:txBody>
      </p:sp>
    </p:spTree>
    <p:extLst>
      <p:ext uri="{BB962C8B-B14F-4D97-AF65-F5344CB8AC3E}">
        <p14:creationId xmlns:p14="http://schemas.microsoft.com/office/powerpoint/2010/main" val="408423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" grpId="0"/>
      <p:bldP spid="38" grpId="0"/>
      <p:bldP spid="40" grpId="0"/>
      <p:bldP spid="5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FECC8-E197-D0C3-E967-BAB4382F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E75D3B-2DBA-981C-E59E-031CBE6D33F8}"/>
              </a:ext>
            </a:extLst>
          </p:cNvPr>
          <p:cNvSpPr/>
          <p:nvPr/>
        </p:nvSpPr>
        <p:spPr>
          <a:xfrm rot="5400000">
            <a:off x="-2724552" y="2745602"/>
            <a:ext cx="6858003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60A18-70DB-FD9A-7DF1-D3FD64C9A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97541" y="2933321"/>
            <a:ext cx="6603981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Replacement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01DA1-17CB-6AE8-3975-525590EE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203" b="34797"/>
          <a:stretch>
            <a:fillRect/>
          </a:stretch>
        </p:blipFill>
        <p:spPr>
          <a:xfrm>
            <a:off x="2272900" y="0"/>
            <a:ext cx="8354212" cy="670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3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4D49-31A4-2BFC-F1F1-796E39F0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90EFAA-CDB0-9794-3C25-F0044F54B9D9}"/>
              </a:ext>
            </a:extLst>
          </p:cNvPr>
          <p:cNvSpPr/>
          <p:nvPr/>
        </p:nvSpPr>
        <p:spPr>
          <a:xfrm>
            <a:off x="0" y="-1"/>
            <a:ext cx="12192000" cy="7209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92929-12D1-0D26-C0F1-F981AE67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5" y="45808"/>
            <a:ext cx="10892883" cy="7209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Question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37DF8-7022-CA64-7BF9-B9C899BD5FE8}"/>
              </a:ext>
            </a:extLst>
          </p:cNvPr>
          <p:cNvSpPr txBox="1"/>
          <p:nvPr/>
        </p:nvSpPr>
        <p:spPr>
          <a:xfrm>
            <a:off x="239750" y="702884"/>
            <a:ext cx="11839473" cy="212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St. Johns River Shipyards is considering the replacement of an 8-year-old riveting machine with a new one that will increase earnings from $24,000 to $46,000 per year. The new machine will cost $80,000, and it will have an estimated life of 8 years and no salvage value. The new riveting machine is eligible for 100% bonus depreciation at the time of purchase. The applicable corporate tax rate is 25%, and the firm’s WACC is 10%. The old machine has been fully depreciated and has no salvage value. </a:t>
            </a:r>
            <a:r>
              <a:rPr lang="en-US" b="1" dirty="0"/>
              <a:t>Should the old riveting machine be replaced by the new one? </a:t>
            </a:r>
            <a:endParaRPr lang="en-US" sz="2000" b="1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56C03-64F7-0476-3FF6-0414CB30D1D2}"/>
              </a:ext>
            </a:extLst>
          </p:cNvPr>
          <p:cNvSpPr txBox="1"/>
          <p:nvPr/>
        </p:nvSpPr>
        <p:spPr>
          <a:xfrm>
            <a:off x="239750" y="2965638"/>
            <a:ext cx="11839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STEP-1 CALCULATING INITIAL 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3335E-B186-9CC9-F4AA-EC791F547BDA}"/>
              </a:ext>
            </a:extLst>
          </p:cNvPr>
          <p:cNvSpPr txBox="1"/>
          <p:nvPr/>
        </p:nvSpPr>
        <p:spPr>
          <a:xfrm>
            <a:off x="3044952" y="3621928"/>
            <a:ext cx="243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What we purchase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854A6-BA67-1DF5-1FD3-A0BC810759AA}"/>
              </a:ext>
            </a:extLst>
          </p:cNvPr>
          <p:cNvSpPr txBox="1"/>
          <p:nvPr/>
        </p:nvSpPr>
        <p:spPr>
          <a:xfrm>
            <a:off x="3044952" y="4747728"/>
            <a:ext cx="6151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much net operating working capital needed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9EF99-B1D4-4224-518B-46C51C29BF69}"/>
              </a:ext>
            </a:extLst>
          </p:cNvPr>
          <p:cNvSpPr txBox="1"/>
          <p:nvPr/>
        </p:nvSpPr>
        <p:spPr>
          <a:xfrm>
            <a:off x="3044952" y="4164211"/>
            <a:ext cx="5888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Tax shield if the method is bonus depreciation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F0BBC-616B-0D25-9C6D-26C9DAA56BD8}"/>
              </a:ext>
            </a:extLst>
          </p:cNvPr>
          <p:cNvSpPr txBox="1"/>
          <p:nvPr/>
        </p:nvSpPr>
        <p:spPr>
          <a:xfrm>
            <a:off x="143255" y="4108737"/>
            <a:ext cx="267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Initial Investment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F471D-B986-6205-5CE4-4D9DC5042751}"/>
              </a:ext>
            </a:extLst>
          </p:cNvPr>
          <p:cNvSpPr txBox="1"/>
          <p:nvPr/>
        </p:nvSpPr>
        <p:spPr>
          <a:xfrm>
            <a:off x="9428915" y="3620307"/>
            <a:ext cx="119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-$80,000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FED21C-329C-03E4-0B87-754B0B0BDAA3}"/>
              </a:ext>
            </a:extLst>
          </p:cNvPr>
          <p:cNvSpPr txBox="1"/>
          <p:nvPr/>
        </p:nvSpPr>
        <p:spPr>
          <a:xfrm>
            <a:off x="9364795" y="4164211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+$20,000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8CCDF3-1315-76AF-4B6F-BDE2204F36E1}"/>
              </a:ext>
            </a:extLst>
          </p:cNvPr>
          <p:cNvSpPr txBox="1"/>
          <p:nvPr/>
        </p:nvSpPr>
        <p:spPr>
          <a:xfrm>
            <a:off x="10297742" y="470480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8D1405-C3F0-FAF3-F65F-E17120572F24}"/>
              </a:ext>
            </a:extLst>
          </p:cNvPr>
          <p:cNvSpPr txBox="1"/>
          <p:nvPr/>
        </p:nvSpPr>
        <p:spPr>
          <a:xfrm>
            <a:off x="9459372" y="5493694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-$60,000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264231-D6CC-290C-3A0E-9012CBCCE7B3}"/>
              </a:ext>
            </a:extLst>
          </p:cNvPr>
          <p:cNvCxnSpPr>
            <a:cxnSpLocks/>
          </p:cNvCxnSpPr>
          <p:nvPr/>
        </p:nvCxnSpPr>
        <p:spPr>
          <a:xfrm flipV="1">
            <a:off x="2984331" y="5353207"/>
            <a:ext cx="8247888" cy="627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4AEF609B-5FBF-2F90-98E2-4A4EF4067890}"/>
              </a:ext>
            </a:extLst>
          </p:cNvPr>
          <p:cNvSpPr/>
          <p:nvPr/>
        </p:nvSpPr>
        <p:spPr>
          <a:xfrm>
            <a:off x="2781091" y="3568600"/>
            <a:ext cx="406480" cy="1536318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5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7396D-CDB6-EF02-318E-C9864EB9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40376D-CDFE-33D4-0295-467270580633}"/>
              </a:ext>
            </a:extLst>
          </p:cNvPr>
          <p:cNvSpPr/>
          <p:nvPr/>
        </p:nvSpPr>
        <p:spPr>
          <a:xfrm>
            <a:off x="0" y="-1"/>
            <a:ext cx="12192000" cy="7209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B43D4-6B21-A697-32A4-61A4AFDF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5" y="45808"/>
            <a:ext cx="10892883" cy="7209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Question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033C8-AA73-E97B-9D7C-12745F52DF52}"/>
              </a:ext>
            </a:extLst>
          </p:cNvPr>
          <p:cNvSpPr txBox="1"/>
          <p:nvPr/>
        </p:nvSpPr>
        <p:spPr>
          <a:xfrm>
            <a:off x="239750" y="702884"/>
            <a:ext cx="11839473" cy="212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St. Johns River Shipyards is considering the replacement of a 7-year-old riveting machine with a new one that will increase earnings from $24,000 to $46,000 per year. The new machine will cost $80,000, and it will have an estimated life of 7 years and no salvage value. The new riveting machine is eligible for 100% bonus depreciation at the time of purchase. The applicable corporate tax rate is 25%, and the firm’s WACC is 10%. The old machine has been fully depreciated and has no salvage value. </a:t>
            </a:r>
            <a:r>
              <a:rPr lang="en-US" b="1" dirty="0"/>
              <a:t>Should the old riveting machine be replaced by the new one? </a:t>
            </a:r>
            <a:endParaRPr lang="en-US" sz="2000" b="1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8DB62-73BD-8064-FA23-2B3BD85F9EA2}"/>
              </a:ext>
            </a:extLst>
          </p:cNvPr>
          <p:cNvSpPr txBox="1"/>
          <p:nvPr/>
        </p:nvSpPr>
        <p:spPr>
          <a:xfrm>
            <a:off x="239750" y="2923598"/>
            <a:ext cx="11839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STEP-2 CALCULATING CASH FLOWS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D3F73-5088-EBD9-0B67-A341B243A87D}"/>
              </a:ext>
            </a:extLst>
          </p:cNvPr>
          <p:cNvSpPr txBox="1"/>
          <p:nvPr/>
        </p:nvSpPr>
        <p:spPr>
          <a:xfrm>
            <a:off x="451945" y="3388119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Since this is a Replacement Project: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6804C-6ECA-D3A7-6C9A-5BDD8FB25E3D}"/>
              </a:ext>
            </a:extLst>
          </p:cNvPr>
          <p:cNvSpPr txBox="1"/>
          <p:nvPr/>
        </p:nvSpPr>
        <p:spPr>
          <a:xfrm>
            <a:off x="806496" y="3789472"/>
            <a:ext cx="7539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Cash flow of each year = (Cash flow of New - Cash flow of Old )(1-t)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3E877-4D83-E390-87F9-832FF6146EDA}"/>
              </a:ext>
            </a:extLst>
          </p:cNvPr>
          <p:cNvSpPr txBox="1"/>
          <p:nvPr/>
        </p:nvSpPr>
        <p:spPr>
          <a:xfrm>
            <a:off x="4237087" y="4137043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($46,000 - $24,000)(0.75) = $16,500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55D6A8-CF89-E3F7-23D0-BF6BB4C249AB}"/>
              </a:ext>
            </a:extLst>
          </p:cNvPr>
          <p:cNvSpPr txBox="1"/>
          <p:nvPr/>
        </p:nvSpPr>
        <p:spPr>
          <a:xfrm>
            <a:off x="806496" y="4484614"/>
            <a:ext cx="971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Since Salvage is 0 and there is no Recovery of NOWC, we do not make any Adjustment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81D64BE-BDC4-35E6-DEC9-90993A8E49CF}"/>
              </a:ext>
            </a:extLst>
          </p:cNvPr>
          <p:cNvGrpSpPr/>
          <p:nvPr/>
        </p:nvGrpSpPr>
        <p:grpSpPr>
          <a:xfrm>
            <a:off x="512631" y="5136251"/>
            <a:ext cx="11166738" cy="997885"/>
            <a:chOff x="520765" y="5640750"/>
            <a:chExt cx="11166738" cy="99788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B4E94A-7274-757F-3140-6F43A2F74E37}"/>
                </a:ext>
              </a:extLst>
            </p:cNvPr>
            <p:cNvGrpSpPr/>
            <p:nvPr/>
          </p:nvGrpSpPr>
          <p:grpSpPr>
            <a:xfrm>
              <a:off x="520765" y="5640750"/>
              <a:ext cx="11166738" cy="997885"/>
              <a:chOff x="310062" y="5172874"/>
              <a:chExt cx="12573123" cy="136387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EA2539-B17D-A6CB-BC4F-C7F9DAFAB64D}"/>
                  </a:ext>
                </a:extLst>
              </p:cNvPr>
              <p:cNvSpPr txBox="1"/>
              <p:nvPr/>
            </p:nvSpPr>
            <p:spPr>
              <a:xfrm>
                <a:off x="2162949" y="5174468"/>
                <a:ext cx="1090516" cy="5468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  <a:latin typeface="Helvetica" pitchFamily="2" charset="0"/>
                  </a:rPr>
                  <a:t>16,500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9A7E15-7324-5300-B71F-AA1B29A9604D}"/>
                  </a:ext>
                </a:extLst>
              </p:cNvPr>
              <p:cNvSpPr txBox="1"/>
              <p:nvPr/>
            </p:nvSpPr>
            <p:spPr>
              <a:xfrm>
                <a:off x="3806033" y="5174468"/>
                <a:ext cx="1090516" cy="5468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  <a:latin typeface="Helvetica" pitchFamily="2" charset="0"/>
                  </a:rPr>
                  <a:t>16,500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FA935B-EED3-354B-B171-3A68450DEFB1}"/>
                  </a:ext>
                </a:extLst>
              </p:cNvPr>
              <p:cNvSpPr txBox="1"/>
              <p:nvPr/>
            </p:nvSpPr>
            <p:spPr>
              <a:xfrm>
                <a:off x="5496976" y="5174468"/>
                <a:ext cx="1090516" cy="5468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  <a:latin typeface="Helvetica" pitchFamily="2" charset="0"/>
                  </a:rPr>
                  <a:t>16,500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001BA2-391D-F848-97D5-C3B2EAA00502}"/>
                  </a:ext>
                </a:extLst>
              </p:cNvPr>
              <p:cNvSpPr txBox="1"/>
              <p:nvPr/>
            </p:nvSpPr>
            <p:spPr>
              <a:xfrm>
                <a:off x="8763666" y="5172874"/>
                <a:ext cx="1090516" cy="5468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  <a:latin typeface="Helvetica" pitchFamily="2" charset="0"/>
                  </a:rPr>
                  <a:t>16,500</a:t>
                </a: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0A19A02-F947-C229-3D56-75620AE96F7D}"/>
                  </a:ext>
                </a:extLst>
              </p:cNvPr>
              <p:cNvGrpSpPr/>
              <p:nvPr/>
            </p:nvGrpSpPr>
            <p:grpSpPr>
              <a:xfrm>
                <a:off x="838199" y="5683770"/>
                <a:ext cx="12044986" cy="852977"/>
                <a:chOff x="1070517" y="3686854"/>
                <a:chExt cx="12044986" cy="852977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4F9726D-6EDE-598F-3C0F-01B055F882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21624" y="3707314"/>
                  <a:ext cx="0" cy="317945"/>
                </a:xfrm>
                <a:prstGeom prst="line">
                  <a:avLst/>
                </a:prstGeom>
                <a:noFill/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7A7E65F7-8E8C-97FB-3103-DFAF813B1C53}"/>
                    </a:ext>
                  </a:extLst>
                </p:cNvPr>
                <p:cNvGrpSpPr/>
                <p:nvPr/>
              </p:nvGrpSpPr>
              <p:grpSpPr>
                <a:xfrm>
                  <a:off x="1070517" y="3686854"/>
                  <a:ext cx="12044986" cy="852977"/>
                  <a:chOff x="1070517" y="3686854"/>
                  <a:chExt cx="12044986" cy="852977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855EFD47-C4AB-0B95-90E7-6CB9234D079C}"/>
                      </a:ext>
                    </a:extLst>
                  </p:cNvPr>
                  <p:cNvGrpSpPr/>
                  <p:nvPr/>
                </p:nvGrpSpPr>
                <p:grpSpPr>
                  <a:xfrm>
                    <a:off x="1070517" y="3686854"/>
                    <a:ext cx="12044986" cy="852977"/>
                    <a:chOff x="873086" y="5053331"/>
                    <a:chExt cx="12772908" cy="1226564"/>
                  </a:xfrm>
                  <a:noFill/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0DBCCF4C-0A26-D21B-0B15-89602066F0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7135" y="5053331"/>
                      <a:ext cx="12618859" cy="475932"/>
                      <a:chOff x="1027135" y="5053331"/>
                      <a:chExt cx="12618859" cy="475932"/>
                    </a:xfrm>
                    <a:grpFill/>
                  </p:grpSpPr>
                  <p:cxnSp>
                    <p:nvCxnSpPr>
                      <p:cNvPr id="40" name="Straight Arrow Connector 39">
                        <a:extLst>
                          <a:ext uri="{FF2B5EF4-FFF2-40B4-BE49-F238E27FC236}">
                            <a16:creationId xmlns:a16="http://schemas.microsoft.com/office/drawing/2014/main" id="{42E384A3-9FEC-6717-57D0-6415E54692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5" y="5285985"/>
                        <a:ext cx="12618859" cy="43602"/>
                      </a:xfrm>
                      <a:prstGeom prst="straightConnector1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Straight Connector 40">
                        <a:extLst>
                          <a:ext uri="{FF2B5EF4-FFF2-40B4-BE49-F238E27FC236}">
                            <a16:creationId xmlns:a16="http://schemas.microsoft.com/office/drawing/2014/main" id="{48007319-C719-2B98-857A-225E924111C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6" y="5072061"/>
                        <a:ext cx="0" cy="45720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Straight Connector 41">
                        <a:extLst>
                          <a:ext uri="{FF2B5EF4-FFF2-40B4-BE49-F238E27FC236}">
                            <a16:creationId xmlns:a16="http://schemas.microsoft.com/office/drawing/2014/main" id="{7C3FE316-BC43-B3D2-A7BF-0BE276ABAC3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56107" y="5072061"/>
                        <a:ext cx="0" cy="45720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Straight Connector 42">
                        <a:extLst>
                          <a:ext uri="{FF2B5EF4-FFF2-40B4-BE49-F238E27FC236}">
                            <a16:creationId xmlns:a16="http://schemas.microsoft.com/office/drawing/2014/main" id="{D7877AC4-CC11-B94F-7C2A-8535803F35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855728" y="5072061"/>
                        <a:ext cx="0" cy="457199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" name="Straight Connector 43">
                        <a:extLst>
                          <a:ext uri="{FF2B5EF4-FFF2-40B4-BE49-F238E27FC236}">
                            <a16:creationId xmlns:a16="http://schemas.microsoft.com/office/drawing/2014/main" id="{3242293D-3A05-BE0C-F0C3-43AB38BDC4D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380037" y="5053331"/>
                        <a:ext cx="0" cy="45720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" name="Straight Connector 44">
                        <a:extLst>
                          <a:ext uri="{FF2B5EF4-FFF2-40B4-BE49-F238E27FC236}">
                            <a16:creationId xmlns:a16="http://schemas.microsoft.com/office/drawing/2014/main" id="{F89D6A54-5E6E-2AB5-D790-A8D7E2A0545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22620" y="5072063"/>
                        <a:ext cx="0" cy="45720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681786B9-8EB8-2592-38CA-F04CF3FDE4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3086" y="5617718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DAAA4813-CC42-FF13-D253-9B8B58E396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8191" y="5614506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B4B88EBB-86D4-C300-7FDE-4AE806C854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3474" y="5617721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AD46EC42-214B-1517-E993-10E8B0DD76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13439" y="5614508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55AE912-29D7-42C8-54F4-3F71484328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89130" y="5614508"/>
                      <a:ext cx="356382" cy="665387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5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F893E63B-9F54-40DB-D2E2-9B4C0F9955F0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90" y="4077106"/>
                    <a:ext cx="336072" cy="462723"/>
                  </a:xfrm>
                  <a:prstGeom prst="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a:t>6</a:t>
                    </a:r>
                  </a:p>
                </p:txBody>
              </p:sp>
            </p:grp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17B32B9-8193-91A6-D6DA-0782CD7745C5}"/>
                  </a:ext>
                </a:extLst>
              </p:cNvPr>
              <p:cNvSpPr txBox="1"/>
              <p:nvPr/>
            </p:nvSpPr>
            <p:spPr>
              <a:xfrm>
                <a:off x="10344047" y="5172874"/>
                <a:ext cx="1090516" cy="5468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  <a:latin typeface="Helvetica" pitchFamily="2" charset="0"/>
                  </a:rPr>
                  <a:t>16,500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5DE140-2A5D-3BA0-FBE0-4879603C937C}"/>
                  </a:ext>
                </a:extLst>
              </p:cNvPr>
              <p:cNvSpPr txBox="1"/>
              <p:nvPr/>
            </p:nvSpPr>
            <p:spPr>
              <a:xfrm>
                <a:off x="310062" y="5217267"/>
                <a:ext cx="1346810" cy="546855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  <a:latin typeface="Helvetica" pitchFamily="2" charset="0"/>
                  </a:rPr>
                  <a:t>-$60,000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DA30550-06B7-DD96-CC4E-2A7F878796B4}"/>
                </a:ext>
              </a:extLst>
            </p:cNvPr>
            <p:cNvSpPr txBox="1"/>
            <p:nvPr/>
          </p:nvSpPr>
          <p:spPr>
            <a:xfrm>
              <a:off x="6573283" y="5640752"/>
              <a:ext cx="968535" cy="40011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Helvetica" pitchFamily="2" charset="0"/>
                </a:rPr>
                <a:t>16,500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E5C7E9F-AFAB-B4A5-204C-732D1CD300C6}"/>
                </a:ext>
              </a:extLst>
            </p:cNvPr>
            <p:cNvCxnSpPr>
              <a:cxnSpLocks/>
            </p:cNvCxnSpPr>
            <p:nvPr/>
          </p:nvCxnSpPr>
          <p:spPr>
            <a:xfrm>
              <a:off x="7047849" y="6013386"/>
              <a:ext cx="0" cy="232627"/>
            </a:xfrm>
            <a:prstGeom prst="lin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6BDA258-799E-F660-7338-65604B33658C}"/>
                </a:ext>
              </a:extLst>
            </p:cNvPr>
            <p:cNvSpPr txBox="1"/>
            <p:nvPr/>
          </p:nvSpPr>
          <p:spPr>
            <a:xfrm>
              <a:off x="6908319" y="6298917"/>
              <a:ext cx="298480" cy="33855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4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7488546-CAE4-7CD1-1F7E-013263646F6C}"/>
                </a:ext>
              </a:extLst>
            </p:cNvPr>
            <p:cNvCxnSpPr>
              <a:cxnSpLocks/>
            </p:cNvCxnSpPr>
            <p:nvPr/>
          </p:nvCxnSpPr>
          <p:spPr>
            <a:xfrm>
              <a:off x="11184362" y="6029520"/>
              <a:ext cx="0" cy="232626"/>
            </a:xfrm>
            <a:prstGeom prst="lin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8547E99-3FD6-66A4-70BE-5139135DF70B}"/>
                </a:ext>
              </a:extLst>
            </p:cNvPr>
            <p:cNvSpPr txBox="1"/>
            <p:nvPr/>
          </p:nvSpPr>
          <p:spPr>
            <a:xfrm>
              <a:off x="11059370" y="6300080"/>
              <a:ext cx="298480" cy="33855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1D103F6-64D5-5F9D-7D96-63AA0F385809}"/>
                </a:ext>
              </a:extLst>
            </p:cNvPr>
            <p:cNvSpPr txBox="1"/>
            <p:nvPr/>
          </p:nvSpPr>
          <p:spPr>
            <a:xfrm>
              <a:off x="10700094" y="5640750"/>
              <a:ext cx="968535" cy="40011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Helvetica" pitchFamily="2" charset="0"/>
                </a:rPr>
                <a:t>16,500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07BFC28-D486-5A06-130A-644093B24A5A}"/>
              </a:ext>
            </a:extLst>
          </p:cNvPr>
          <p:cNvSpPr txBox="1"/>
          <p:nvPr/>
        </p:nvSpPr>
        <p:spPr>
          <a:xfrm>
            <a:off x="5388865" y="6332493"/>
            <a:ext cx="1208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NPV = ???</a:t>
            </a:r>
          </a:p>
        </p:txBody>
      </p:sp>
    </p:spTree>
    <p:extLst>
      <p:ext uri="{BB962C8B-B14F-4D97-AF65-F5344CB8AC3E}">
        <p14:creationId xmlns:p14="http://schemas.microsoft.com/office/powerpoint/2010/main" val="115504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37D1-9D65-FBE3-35B4-D5AE19CF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669B8C-3BD7-43F4-2F0A-C95583AA000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A8223-F42A-28C5-BDCD-C583F8A8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Effect of Different Depreciation Rates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9774CB-87EF-72C5-236D-65495AA07958}"/>
              </a:ext>
            </a:extLst>
          </p:cNvPr>
          <p:cNvSpPr txBox="1"/>
          <p:nvPr/>
        </p:nvSpPr>
        <p:spPr>
          <a:xfrm>
            <a:off x="178420" y="1476117"/>
            <a:ext cx="1188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Depreciation does not change total cash flows over the project, but it changes timing.</a:t>
            </a:r>
            <a:endParaRPr lang="en-US" sz="22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04B7F-A516-9390-6B0D-B968DD9E9B96}"/>
              </a:ext>
            </a:extLst>
          </p:cNvPr>
          <p:cNvSpPr txBox="1"/>
          <p:nvPr/>
        </p:nvSpPr>
        <p:spPr>
          <a:xfrm>
            <a:off x="313757" y="2047106"/>
            <a:ext cx="1141732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4 Year project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Initial Investments: Fixed assets $600,000 and an Increase in NOWC: $50,000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Operating Assumptions: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itchFamily="2" charset="0"/>
                <a:cs typeface="Times New Roman" panose="02020603050405020304" pitchFamily="18" charset="0"/>
              </a:rPr>
              <a:t>EBIT:</a:t>
            </a:r>
            <a:r>
              <a:rPr lang="en-US" sz="1900" dirty="0">
                <a:latin typeface="Helvetica" pitchFamily="2" charset="0"/>
              </a:rPr>
              <a:t> $200,000 per year, Tax rate: 25%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Salvage value at end of Year 4: $0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4B0FE2-9C48-1772-9334-3D58E7A6C1A0}"/>
              </a:ext>
            </a:extLst>
          </p:cNvPr>
          <p:cNvSpPr txBox="1"/>
          <p:nvPr/>
        </p:nvSpPr>
        <p:spPr>
          <a:xfrm>
            <a:off x="313757" y="4502805"/>
            <a:ext cx="5942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Straight-line depreciation: $600,000 / 4 = $150,000 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071BD4C-D123-64DD-C7DE-76D1F290F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836037"/>
              </p:ext>
            </p:extLst>
          </p:nvPr>
        </p:nvGraphicFramePr>
        <p:xfrm>
          <a:off x="6713034" y="4397455"/>
          <a:ext cx="51652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68">
                  <a:extLst>
                    <a:ext uri="{9D8B030D-6E8A-4147-A177-3AD203B41FA5}">
                      <a16:colId xmlns:a16="http://schemas.microsoft.com/office/drawing/2014/main" val="2829012500"/>
                    </a:ext>
                  </a:extLst>
                </a:gridCol>
                <a:gridCol w="984416">
                  <a:extLst>
                    <a:ext uri="{9D8B030D-6E8A-4147-A177-3AD203B41FA5}">
                      <a16:colId xmlns:a16="http://schemas.microsoft.com/office/drawing/2014/main" val="3426679844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756022016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209083433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87057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14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29710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2CB84BE5-D6C8-A1BB-BBB2-5DDF90535BEB}"/>
              </a:ext>
            </a:extLst>
          </p:cNvPr>
          <p:cNvSpPr txBox="1"/>
          <p:nvPr/>
        </p:nvSpPr>
        <p:spPr>
          <a:xfrm>
            <a:off x="313757" y="5469244"/>
            <a:ext cx="59420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Accelerated depreciation: year1 $300,00, year2 $150,000, year3 $75,000, year4 $75,000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E83A724-E94A-4C76-01F3-D602D25E4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391684"/>
              </p:ext>
            </p:extLst>
          </p:nvPr>
        </p:nvGraphicFramePr>
        <p:xfrm>
          <a:off x="6713033" y="5469244"/>
          <a:ext cx="51652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68">
                  <a:extLst>
                    <a:ext uri="{9D8B030D-6E8A-4147-A177-3AD203B41FA5}">
                      <a16:colId xmlns:a16="http://schemas.microsoft.com/office/drawing/2014/main" val="2829012500"/>
                    </a:ext>
                  </a:extLst>
                </a:gridCol>
                <a:gridCol w="984416">
                  <a:extLst>
                    <a:ext uri="{9D8B030D-6E8A-4147-A177-3AD203B41FA5}">
                      <a16:colId xmlns:a16="http://schemas.microsoft.com/office/drawing/2014/main" val="3426679844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756022016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209083433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87057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14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29710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994CFCCD-2898-AA5F-FF5D-C0F1220B4FFD}"/>
              </a:ext>
            </a:extLst>
          </p:cNvPr>
          <p:cNvSpPr txBox="1"/>
          <p:nvPr/>
        </p:nvSpPr>
        <p:spPr>
          <a:xfrm>
            <a:off x="4096988" y="6376059"/>
            <a:ext cx="4402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Faster depreciation increases NPV</a:t>
            </a:r>
            <a:endParaRPr lang="en-US" sz="2000" dirty="0">
              <a:solidFill>
                <a:srgbClr val="C0000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03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  <p:bldP spid="34" grpId="0"/>
      <p:bldP spid="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10E2-0374-D37C-54ED-4C6C17D4B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78A501-6B17-0638-DE6F-4961473E850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31DB7-F1CB-FFB2-76F8-BADBB133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Effect of Cannibalization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A92DCD-3D14-47C8-BB62-24ED93A36761}"/>
              </a:ext>
            </a:extLst>
          </p:cNvPr>
          <p:cNvSpPr txBox="1"/>
          <p:nvPr/>
        </p:nvSpPr>
        <p:spPr>
          <a:xfrm>
            <a:off x="313757" y="1577461"/>
            <a:ext cx="1141732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4 Year project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Initial Investments: Fixed assets $600,000 and an Increase in NOWC: $50,000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Operating Assumptions: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itchFamily="2" charset="0"/>
                <a:cs typeface="Times New Roman" panose="02020603050405020304" pitchFamily="18" charset="0"/>
              </a:rPr>
              <a:t>EBIT:</a:t>
            </a:r>
            <a:r>
              <a:rPr lang="en-US" sz="1900" dirty="0">
                <a:latin typeface="Helvetica" pitchFamily="2" charset="0"/>
              </a:rPr>
              <a:t> $200,000 per year, </a:t>
            </a:r>
            <a:r>
              <a:rPr lang="en-US" dirty="0">
                <a:latin typeface="Helvetica" pitchFamily="2" charset="0"/>
              </a:rPr>
              <a:t>Straight-line depreciation: $150,000 per year, </a:t>
            </a:r>
            <a:r>
              <a:rPr lang="en-US" sz="1900" dirty="0">
                <a:latin typeface="Helvetica" pitchFamily="2" charset="0"/>
              </a:rPr>
              <a:t>Tax rate: 25%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Helvetica" pitchFamily="2" charset="0"/>
              </a:rPr>
              <a:t>Salvage value at end of Year 4: $0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AB10D23-EFFF-95D0-4123-438ECEE92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39000"/>
              </p:ext>
            </p:extLst>
          </p:nvPr>
        </p:nvGraphicFramePr>
        <p:xfrm>
          <a:off x="6284640" y="3605043"/>
          <a:ext cx="516521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68">
                  <a:extLst>
                    <a:ext uri="{9D8B030D-6E8A-4147-A177-3AD203B41FA5}">
                      <a16:colId xmlns:a16="http://schemas.microsoft.com/office/drawing/2014/main" val="2829012500"/>
                    </a:ext>
                  </a:extLst>
                </a:gridCol>
                <a:gridCol w="984416">
                  <a:extLst>
                    <a:ext uri="{9D8B030D-6E8A-4147-A177-3AD203B41FA5}">
                      <a16:colId xmlns:a16="http://schemas.microsoft.com/office/drawing/2014/main" val="3426679844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756022016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209083433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870573996"/>
                    </a:ext>
                  </a:extLst>
                </a:gridCol>
              </a:tblGrid>
              <a:tr h="3524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14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297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C1DE52-B9DD-1FDA-330A-05E97237C388}"/>
              </a:ext>
            </a:extLst>
          </p:cNvPr>
          <p:cNvSpPr txBox="1"/>
          <p:nvPr/>
        </p:nvSpPr>
        <p:spPr>
          <a:xfrm>
            <a:off x="313757" y="4689356"/>
            <a:ext cx="117518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Suppose, however, this Project would reduce the after-tax cash flows of another division by $50,000 per year.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A6EE7F-7764-F370-A101-91EE8F03F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398250"/>
              </p:ext>
            </p:extLst>
          </p:nvPr>
        </p:nvGraphicFramePr>
        <p:xfrm>
          <a:off x="6284640" y="5341460"/>
          <a:ext cx="516521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68">
                  <a:extLst>
                    <a:ext uri="{9D8B030D-6E8A-4147-A177-3AD203B41FA5}">
                      <a16:colId xmlns:a16="http://schemas.microsoft.com/office/drawing/2014/main" val="2829012500"/>
                    </a:ext>
                  </a:extLst>
                </a:gridCol>
                <a:gridCol w="984416">
                  <a:extLst>
                    <a:ext uri="{9D8B030D-6E8A-4147-A177-3AD203B41FA5}">
                      <a16:colId xmlns:a16="http://schemas.microsoft.com/office/drawing/2014/main" val="3426679844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756022016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209083433"/>
                    </a:ext>
                  </a:extLst>
                </a:gridCol>
                <a:gridCol w="1033042">
                  <a:extLst>
                    <a:ext uri="{9D8B030D-6E8A-4147-A177-3AD203B41FA5}">
                      <a16:colId xmlns:a16="http://schemas.microsoft.com/office/drawing/2014/main" val="1870573996"/>
                    </a:ext>
                  </a:extLst>
                </a:gridCol>
              </a:tblGrid>
              <a:tr h="3524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14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29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62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6BFE-5070-DFCE-BAAD-A684910F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559CDE-7DB7-A9E5-BF4E-9021A64A93B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A225C-68E3-59E5-25B3-4F02C739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Risk Analysis in Capital Budgeting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828CF-CC3C-1AD0-03B4-A61EDEC5F7B9}"/>
              </a:ext>
            </a:extLst>
          </p:cNvPr>
          <p:cNvSpPr txBox="1"/>
          <p:nvPr/>
        </p:nvSpPr>
        <p:spPr>
          <a:xfrm>
            <a:off x="178420" y="1511219"/>
            <a:ext cx="1188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Even if a project has a positive NPV, managers must consider </a:t>
            </a:r>
            <a:r>
              <a:rPr lang="en-US" b="1" dirty="0">
                <a:latin typeface="Helvetica" pitchFamily="2" charset="0"/>
              </a:rPr>
              <a:t>risk</a:t>
            </a:r>
            <a:r>
              <a:rPr lang="en-US" dirty="0">
                <a:latin typeface="Helvetica" pitchFamily="2" charset="0"/>
              </a:rPr>
              <a:t>. Different projects expose the firm to different levels of uncertainty, so risk must be incorporated into the decision.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4986F-0B18-48C5-EDA3-3E725AEB9017}"/>
              </a:ext>
            </a:extLst>
          </p:cNvPr>
          <p:cNvSpPr txBox="1"/>
          <p:nvPr/>
        </p:nvSpPr>
        <p:spPr>
          <a:xfrm>
            <a:off x="6430000" y="2948309"/>
            <a:ext cx="5583580" cy="166199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Helvetica" pitchFamily="2" charset="0"/>
              </a:rPr>
              <a:t>2. Market (Beta) Risk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Risk </a:t>
            </a:r>
            <a:r>
              <a:rPr lang="en-US" b="1" dirty="0">
                <a:latin typeface="Helvetica" pitchFamily="2" charset="0"/>
              </a:rPr>
              <a:t>to shareholders</a:t>
            </a:r>
            <a:r>
              <a:rPr lang="en-US" dirty="0">
                <a:latin typeface="Helvetica" pitchFamily="2" charset="0"/>
              </a:rPr>
              <a:t> who hold diversified portfolios.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Measures how the project affects the </a:t>
            </a:r>
            <a:r>
              <a:rPr lang="en-US" b="1" dirty="0">
                <a:latin typeface="Helvetica" pitchFamily="2" charset="0"/>
              </a:rPr>
              <a:t>firm’s beta</a:t>
            </a:r>
            <a:r>
              <a:rPr lang="en-US" dirty="0">
                <a:latin typeface="Helvetica" pitchFamily="2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Most theoretically important, but hardest to estimate.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86E5F-9066-2717-AD58-2DCFE5950957}"/>
              </a:ext>
            </a:extLst>
          </p:cNvPr>
          <p:cNvSpPr txBox="1"/>
          <p:nvPr/>
        </p:nvSpPr>
        <p:spPr>
          <a:xfrm>
            <a:off x="1985867" y="4830882"/>
            <a:ext cx="8597546" cy="166199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Helvetica" pitchFamily="2" charset="0"/>
              </a:rPr>
              <a:t>3. Corporate (Within-Firm) Risk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Risk </a:t>
            </a:r>
            <a:r>
              <a:rPr lang="en-US" b="1" dirty="0">
                <a:latin typeface="Helvetica" pitchFamily="2" charset="0"/>
              </a:rPr>
              <a:t>to the company itself</a:t>
            </a:r>
            <a:r>
              <a:rPr lang="en-US" dirty="0">
                <a:latin typeface="Helvetica" pitchFamily="2" charset="0"/>
              </a:rPr>
              <a:t>, considering all its other projects.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Some risk can be diversified away </a:t>
            </a:r>
            <a:r>
              <a:rPr lang="en-US" b="1" dirty="0">
                <a:latin typeface="Helvetica" pitchFamily="2" charset="0"/>
              </a:rPr>
              <a:t>inside the firm</a:t>
            </a:r>
            <a:r>
              <a:rPr lang="en-US" dirty="0">
                <a:latin typeface="Helvetica" pitchFamily="2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Measured by how the project affects the </a:t>
            </a:r>
            <a:r>
              <a:rPr lang="en-US" b="1" dirty="0">
                <a:latin typeface="Helvetica" pitchFamily="2" charset="0"/>
              </a:rPr>
              <a:t>uncertainty of the firm’s total earnings</a:t>
            </a:r>
            <a:r>
              <a:rPr lang="en-US" dirty="0">
                <a:latin typeface="Helvetica" pitchFamily="2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3E3C12-2193-F0C0-1755-FC2978B6B0CB}"/>
              </a:ext>
            </a:extLst>
          </p:cNvPr>
          <p:cNvSpPr txBox="1"/>
          <p:nvPr/>
        </p:nvSpPr>
        <p:spPr>
          <a:xfrm>
            <a:off x="178420" y="2948309"/>
            <a:ext cx="5840060" cy="166199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Helvetica" pitchFamily="2" charset="0"/>
              </a:rPr>
              <a:t>1. Stand-Alone Risk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Risk </a:t>
            </a:r>
            <a:r>
              <a:rPr lang="en-US" b="1" dirty="0">
                <a:latin typeface="Helvetica" pitchFamily="2" charset="0"/>
              </a:rPr>
              <a:t>if this project were the only asset</a:t>
            </a:r>
            <a:r>
              <a:rPr lang="en-US" dirty="0">
                <a:latin typeface="Helvetica" pitchFamily="2" charset="0"/>
              </a:rPr>
              <a:t> the firm owns.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Ignores diversification.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Measured by </a:t>
            </a:r>
            <a:r>
              <a:rPr lang="en-US" b="1" dirty="0">
                <a:latin typeface="Helvetica" pitchFamily="2" charset="0"/>
              </a:rPr>
              <a:t>variability of the project’s cash flows</a:t>
            </a:r>
            <a:r>
              <a:rPr lang="en-US" dirty="0">
                <a:latin typeface="Helvetica" pitchFamily="2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6B17A-24C6-24BE-F0CE-0A9A0299ED04}"/>
              </a:ext>
            </a:extLst>
          </p:cNvPr>
          <p:cNvSpPr txBox="1"/>
          <p:nvPr/>
        </p:nvSpPr>
        <p:spPr>
          <a:xfrm>
            <a:off x="4414996" y="2406467"/>
            <a:ext cx="3206968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Three Types of Project Risk</a:t>
            </a:r>
          </a:p>
        </p:txBody>
      </p:sp>
    </p:spTree>
    <p:extLst>
      <p:ext uri="{BB962C8B-B14F-4D97-AF65-F5344CB8AC3E}">
        <p14:creationId xmlns:p14="http://schemas.microsoft.com/office/powerpoint/2010/main" val="5358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3C266-6A33-0715-25C7-B06A8A35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B04A19-D89D-6BE3-74DC-98E0CFEBE36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2C391-E541-9B72-0A63-FAA596BF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Using Risk-Adjusted Discount Rates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04B09F-0298-6679-159A-FA1156E98A1C}"/>
              </a:ext>
            </a:extLst>
          </p:cNvPr>
          <p:cNvSpPr txBox="1"/>
          <p:nvPr/>
        </p:nvSpPr>
        <p:spPr>
          <a:xfrm>
            <a:off x="178420" y="1511219"/>
            <a:ext cx="11887200" cy="5209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Firms often classify projects into risk buckets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Low-risk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Average-risk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High-risk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Adjust the WACC accordingly: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Example: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Average-risk project </a:t>
            </a:r>
            <a:r>
              <a:rPr lang="en-US" sz="2000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sz="2000" dirty="0">
                <a:latin typeface="Helvetica" pitchFamily="2" charset="0"/>
              </a:rPr>
              <a:t> use WACC (e.g., 10%)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High-risk project </a:t>
            </a:r>
            <a:r>
              <a:rPr lang="en-US" sz="2000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sz="2000" dirty="0">
                <a:latin typeface="Helvetica" pitchFamily="2" charset="0"/>
              </a:rPr>
              <a:t> WACC + 5% (e.g., 15%)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Low-risk project </a:t>
            </a:r>
            <a:r>
              <a:rPr lang="en-US" sz="2000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sz="2000" dirty="0">
                <a:latin typeface="Helvetica" pitchFamily="2" charset="0"/>
              </a:rPr>
              <a:t> WACC − 2% (e.g., 8%)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Why this approach?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Simple and widely used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Recognizes risk differences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But mostly subjective, not perfectly precise</a:t>
            </a:r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048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6C247-5FBE-693D-0ADC-E4029BCF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DA694B-D43F-C05D-D3D2-2580E91C0FB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1A38F-9AC0-B792-5572-B7A28E13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Measuring Stand-Alone Risk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45DAF-06F2-C15E-12CA-0332A4EEE870}"/>
              </a:ext>
            </a:extLst>
          </p:cNvPr>
          <p:cNvSpPr txBox="1"/>
          <p:nvPr/>
        </p:nvSpPr>
        <p:spPr>
          <a:xfrm>
            <a:off x="178420" y="1566974"/>
            <a:ext cx="118872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Stand-alone risk = risk of a project </a:t>
            </a:r>
            <a:r>
              <a:rPr lang="en-US" sz="2400" b="1" dirty="0">
                <a:latin typeface="Helvetica" pitchFamily="2" charset="0"/>
              </a:rPr>
              <a:t>if it were the firm’s only asset.</a:t>
            </a:r>
            <a:endParaRPr lang="en-US" sz="2400" dirty="0">
              <a:latin typeface="Helvetica" pitchFamily="2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Driven by uncertainty in </a:t>
            </a:r>
            <a:r>
              <a:rPr lang="en-US" sz="2400" b="1" dirty="0">
                <a:latin typeface="Helvetica" pitchFamily="2" charset="0"/>
              </a:rPr>
              <a:t>future cash flows</a:t>
            </a:r>
            <a:r>
              <a:rPr lang="en-US" sz="2400" dirty="0">
                <a:latin typeface="Helvetica" pitchFamily="2" charset="0"/>
              </a:rPr>
              <a:t> (sales, costs, prices, etc.).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All inputs in a capital-budgeting model are </a:t>
            </a:r>
            <a:r>
              <a:rPr lang="en-US" sz="2400" b="1" dirty="0">
                <a:latin typeface="Helvetica" pitchFamily="2" charset="0"/>
              </a:rPr>
              <a:t>expected values</a:t>
            </a:r>
            <a:r>
              <a:rPr lang="en-US" sz="2400" dirty="0">
                <a:latin typeface="Helvetica" pitchFamily="2" charset="0"/>
              </a:rPr>
              <a:t>, but actual values vary.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Firms use three common tools to evaluate this risk.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The Three Tools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Sensitivity Analysis</a:t>
            </a:r>
            <a:endParaRPr lang="en-US" sz="2400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Scenario Analysis</a:t>
            </a:r>
            <a:endParaRPr lang="en-US" sz="2400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Monte Carlo Simulation</a:t>
            </a:r>
            <a:endParaRPr lang="en-US" sz="2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710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ADCF-E7FB-629C-78F9-45764EDE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DFAE9A-9181-5773-0CC0-55EF73FC8BD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255C8-5A10-8BA4-97BC-C3927ABF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Sensitivity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5F7E39-5C9F-57BD-0EA2-A846F16B3CEF}"/>
              </a:ext>
            </a:extLst>
          </p:cNvPr>
          <p:cNvSpPr txBox="1"/>
          <p:nvPr/>
        </p:nvSpPr>
        <p:spPr>
          <a:xfrm>
            <a:off x="178420" y="1399709"/>
            <a:ext cx="118872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Changes </a:t>
            </a:r>
            <a:r>
              <a:rPr lang="en-US" b="1" dirty="0">
                <a:latin typeface="Helvetica" pitchFamily="2" charset="0"/>
              </a:rPr>
              <a:t>one input at a time</a:t>
            </a:r>
            <a:r>
              <a:rPr lang="en-US" dirty="0">
                <a:latin typeface="Helvetica" pitchFamily="2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	e.g., sales, price, variable cost, fixed cost, WACC.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Measures: </a:t>
            </a:r>
            <a:r>
              <a:rPr lang="en-US" b="1" dirty="0">
                <a:latin typeface="Helvetica" pitchFamily="2" charset="0"/>
              </a:rPr>
              <a:t>“How much does NPV change when this variable changes by X%?”</a:t>
            </a:r>
            <a:endParaRPr lang="en-US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Helps answer manager questions like: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	“What if sales drop 25%?”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	“What if variable costs rise?”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Shows which inputs the project is </a:t>
            </a:r>
            <a:r>
              <a:rPr lang="en-US" b="1" dirty="0">
                <a:latin typeface="Helvetica" pitchFamily="2" charset="0"/>
              </a:rPr>
              <a:t>most sensitive</a:t>
            </a:r>
            <a:r>
              <a:rPr lang="en-US" dirty="0">
                <a:latin typeface="Helvetica" pitchFamily="2" charset="0"/>
              </a:rPr>
              <a:t> to.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	</a:t>
            </a:r>
            <a:r>
              <a:rPr lang="en-US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dirty="0">
                <a:latin typeface="Helvetica" pitchFamily="2" charset="0"/>
              </a:rPr>
              <a:t> Steeper line = more sensitive = riskier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B7E17-A7A3-3DF7-75A5-B6C7D465F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47" y="2669083"/>
            <a:ext cx="5699878" cy="409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30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8A95D-8B57-32F4-62D3-F4F00A3E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8B3092-3CF3-05C3-4B6C-8EF366FADD6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4159C-21B9-C005-5927-EC1BE1A6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Scenario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DC9982-7B18-A03E-9720-861C7CC069C3}"/>
              </a:ext>
            </a:extLst>
          </p:cNvPr>
          <p:cNvSpPr txBox="1"/>
          <p:nvPr/>
        </p:nvSpPr>
        <p:spPr>
          <a:xfrm>
            <a:off x="178420" y="1477766"/>
            <a:ext cx="11887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Instead of changing one variable, scenario analysis changes </a:t>
            </a:r>
            <a:r>
              <a:rPr lang="en-US" b="1" dirty="0">
                <a:latin typeface="Helvetica" pitchFamily="2" charset="0"/>
              </a:rPr>
              <a:t>all major variables together</a:t>
            </a:r>
            <a:r>
              <a:rPr lang="en-US" dirty="0">
                <a:latin typeface="Helvetica" pitchFamily="2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Examples: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✔ Best case (high sales, low cost, high price)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✔ Base case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✔ Worst case (low sales, high cost, low price)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Probability is assigned to each scenario </a:t>
            </a:r>
            <a:r>
              <a:rPr lang="en-US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dirty="0">
                <a:latin typeface="Helvetica" pitchFamily="2" charset="0"/>
              </a:rPr>
              <a:t> compute: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Helvetica" pitchFamily="2" charset="0"/>
              </a:rPr>
              <a:t>Expected NPV</a:t>
            </a:r>
            <a:endParaRPr lang="en-US" dirty="0">
              <a:latin typeface="Helvetica" pitchFamily="2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Helvetica" pitchFamily="2" charset="0"/>
              </a:rPr>
              <a:t>Standard deviation of NPV</a:t>
            </a:r>
            <a:endParaRPr lang="en-US" dirty="0">
              <a:latin typeface="Helvetica" pitchFamily="2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Helvetica" pitchFamily="2" charset="0"/>
              </a:rPr>
              <a:t>Coefficient of Variation (CV)</a:t>
            </a:r>
            <a:r>
              <a:rPr lang="en-US" dirty="0">
                <a:latin typeface="Helvetica" pitchFamily="2" charset="0"/>
              </a:rPr>
              <a:t> = risk per unit of return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Helvetica" pitchFamily="2" charset="0"/>
              </a:rPr>
              <a:t>Often reveals </a:t>
            </a:r>
            <a:r>
              <a:rPr lang="en-US" b="1" dirty="0">
                <a:latin typeface="Helvetica" pitchFamily="2" charset="0"/>
              </a:rPr>
              <a:t>much wider ranges</a:t>
            </a:r>
            <a:r>
              <a:rPr lang="en-US" dirty="0">
                <a:latin typeface="Helvetica" pitchFamily="2" charset="0"/>
              </a:rPr>
              <a:t> than sensitivity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B544A-A6AB-A26A-DA7A-FAD1F3478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985" y="1851102"/>
            <a:ext cx="5746595" cy="49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09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7117-A258-5DE7-1C37-23593310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F7874A-772D-8BD5-9CEC-2721DD1F5CF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1ECD9-45CE-89B6-1BEF-A423BB06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Monte Carlo Simulation (Advanced Idea)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6C11B-CD08-0226-FC23-DF1B832D44AE}"/>
              </a:ext>
            </a:extLst>
          </p:cNvPr>
          <p:cNvSpPr txBox="1"/>
          <p:nvPr/>
        </p:nvSpPr>
        <p:spPr>
          <a:xfrm>
            <a:off x="178420" y="1578125"/>
            <a:ext cx="118872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Extension of scenario analysis using </a:t>
            </a:r>
            <a:r>
              <a:rPr lang="en-US" sz="2400" b="1" dirty="0">
                <a:latin typeface="Helvetica" pitchFamily="2" charset="0"/>
              </a:rPr>
              <a:t>hundreds or thousands of simulations</a:t>
            </a:r>
            <a:r>
              <a:rPr lang="en-US" sz="2400" dirty="0">
                <a:latin typeface="Helvetica" pitchFamily="2" charset="0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Computer randomly draws values for key inputs (sales, price, cost, WACC).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Produces a </a:t>
            </a:r>
            <a:r>
              <a:rPr lang="en-US" sz="2400" b="1" dirty="0">
                <a:latin typeface="Helvetica" pitchFamily="2" charset="0"/>
              </a:rPr>
              <a:t>distribution of NPVs</a:t>
            </a:r>
            <a:r>
              <a:rPr lang="en-US" sz="2400" dirty="0">
                <a:latin typeface="Helvetica" pitchFamily="2" charset="0"/>
              </a:rPr>
              <a:t> instead of a single number.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Results: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Mean (expected NPV)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Standard deviation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Probability NPV &lt; 0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Used in practice by larger companies; introduced in advanced finance courses.</a:t>
            </a:r>
          </a:p>
        </p:txBody>
      </p:sp>
    </p:spTree>
    <p:extLst>
      <p:ext uri="{BB962C8B-B14F-4D97-AF65-F5344CB8AC3E}">
        <p14:creationId xmlns:p14="http://schemas.microsoft.com/office/powerpoint/2010/main" val="1816726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7C7A-51AA-51F2-2196-8A8C0063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BA6448-1D5A-EDCA-249B-F00081A00BB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0CEF21-7A33-3DEB-640D-55B2BD40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The Unequal Lives 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D3B304-AD53-8085-9677-0AABFFF1AD6A}"/>
              </a:ext>
            </a:extLst>
          </p:cNvPr>
          <p:cNvSpPr txBox="1"/>
          <p:nvPr/>
        </p:nvSpPr>
        <p:spPr>
          <a:xfrm>
            <a:off x="215592" y="1528413"/>
            <a:ext cx="1188720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latin typeface="Helvetica" pitchFamily="2" charset="0"/>
              </a:rPr>
              <a:t>When NPV Comparison Can Be Misleading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Sometimes firms choose between </a:t>
            </a:r>
            <a:r>
              <a:rPr lang="en-US" sz="2100" b="1" dirty="0">
                <a:latin typeface="Helvetica" pitchFamily="2" charset="0"/>
              </a:rPr>
              <a:t>mutually exclusive projects</a:t>
            </a:r>
            <a:r>
              <a:rPr lang="en-US" sz="2100" dirty="0">
                <a:latin typeface="Helvetica" pitchFamily="2" charset="0"/>
              </a:rPr>
              <a:t> with </a:t>
            </a:r>
            <a:r>
              <a:rPr lang="en-US" sz="2100" b="1" dirty="0">
                <a:latin typeface="Helvetica" pitchFamily="2" charset="0"/>
              </a:rPr>
              <a:t>different useful lives</a:t>
            </a:r>
            <a:r>
              <a:rPr lang="en-US" sz="2100" dirty="0">
                <a:latin typeface="Helvetica" pitchFamily="2" charset="0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If these projects </a:t>
            </a:r>
            <a:r>
              <a:rPr lang="en-US" sz="2100" b="1" dirty="0">
                <a:latin typeface="Helvetica" pitchFamily="2" charset="0"/>
              </a:rPr>
              <a:t>can be repeated</a:t>
            </a:r>
            <a:r>
              <a:rPr lang="en-US" sz="2100" dirty="0">
                <a:latin typeface="Helvetica" pitchFamily="2" charset="0"/>
              </a:rPr>
              <a:t>, the regular NPV comparison may favor the wrong project.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Example: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Project C: lasts </a:t>
            </a:r>
            <a:r>
              <a:rPr lang="en-US" sz="2100" b="1" dirty="0">
                <a:latin typeface="Helvetica" pitchFamily="2" charset="0"/>
              </a:rPr>
              <a:t>6 years</a:t>
            </a:r>
            <a:endParaRPr lang="en-US" sz="2100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Project F: lasts </a:t>
            </a:r>
            <a:r>
              <a:rPr lang="en-US" sz="2100" b="1" dirty="0">
                <a:latin typeface="Helvetica" pitchFamily="2" charset="0"/>
              </a:rPr>
              <a:t>3 years</a:t>
            </a:r>
            <a:endParaRPr lang="en-US" sz="2100" dirty="0">
              <a:latin typeface="Helvetica" pitchFamily="2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If Project F ends sooner, the firm can </a:t>
            </a:r>
            <a:r>
              <a:rPr lang="en-US" sz="2100" b="1" dirty="0">
                <a:latin typeface="Helvetica" pitchFamily="2" charset="0"/>
              </a:rPr>
              <a:t>repeat</a:t>
            </a:r>
            <a:r>
              <a:rPr lang="en-US" sz="2100" dirty="0">
                <a:latin typeface="Helvetica" pitchFamily="2" charset="0"/>
              </a:rPr>
              <a:t> it and earn profits again, but traditional NPV ignores this!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Helvetica" pitchFamily="2" charset="0"/>
              </a:rPr>
              <a:t>Why it matters</a:t>
            </a:r>
            <a:endParaRPr lang="en-US" sz="2100" dirty="0">
              <a:latin typeface="Helvetica" pitchFamily="2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Traditional NPV only compares the first cycle.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Helvetica" pitchFamily="2" charset="0"/>
              </a:rPr>
              <a:t>A correct comparison must put both projects on the </a:t>
            </a:r>
            <a:r>
              <a:rPr lang="en-US" sz="2100" b="1" dirty="0">
                <a:latin typeface="Helvetica" pitchFamily="2" charset="0"/>
              </a:rPr>
              <a:t>same economic time frame</a:t>
            </a:r>
            <a:r>
              <a:rPr lang="en-US" sz="2100" dirty="0"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4702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C62F7-2908-3828-E263-90FB49B3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6CE442-A2F0-5FAF-8A78-216538F478C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D8217-AB92-614E-7700-301E74725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Method 1: Replacement Chain (Common Life Approach)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AF0A2A-5088-1913-3D78-0140633A8990}"/>
              </a:ext>
            </a:extLst>
          </p:cNvPr>
          <p:cNvSpPr txBox="1"/>
          <p:nvPr/>
        </p:nvSpPr>
        <p:spPr>
          <a:xfrm>
            <a:off x="178420" y="1399709"/>
            <a:ext cx="118872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Extend the Shorter Project to Match the Longer Project’s Life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How it works</a:t>
            </a:r>
            <a:endParaRPr lang="en-US" dirty="0">
              <a:latin typeface="Helvetica" pitchFamily="2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Identify the </a:t>
            </a:r>
            <a:r>
              <a:rPr lang="en-US" b="1" dirty="0">
                <a:latin typeface="Helvetica" pitchFamily="2" charset="0"/>
              </a:rPr>
              <a:t>Least Common Multiple of project lives</a:t>
            </a:r>
            <a:r>
              <a:rPr lang="en-US" dirty="0">
                <a:latin typeface="Helvetica" pitchFamily="2" charset="0"/>
              </a:rPr>
              <a:t>.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Example: C = 6 years; F = 3 years </a:t>
            </a:r>
            <a:r>
              <a:rPr lang="en-US" dirty="0">
                <a:latin typeface="Helvetica" pitchFamily="2" charset="0"/>
                <a:sym typeface="Wingdings" pitchFamily="2" charset="2"/>
              </a:rPr>
              <a:t></a:t>
            </a:r>
            <a:r>
              <a:rPr lang="en-US" dirty="0">
                <a:latin typeface="Helvetica" pitchFamily="2" charset="0"/>
              </a:rPr>
              <a:t> common life = </a:t>
            </a:r>
            <a:r>
              <a:rPr lang="en-US" b="1" dirty="0">
                <a:latin typeface="Helvetica" pitchFamily="2" charset="0"/>
              </a:rPr>
              <a:t>6 years</a:t>
            </a:r>
            <a:endParaRPr lang="en-US" dirty="0">
              <a:latin typeface="Helvetica" pitchFamily="2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Repeat</a:t>
            </a:r>
            <a:r>
              <a:rPr lang="en-US" dirty="0">
                <a:latin typeface="Helvetica" pitchFamily="2" charset="0"/>
              </a:rPr>
              <a:t> the shorter project enough times to match the longer life.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Compute NPV of: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Project C over 6 years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Project F over 6 years (F repeated twice)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Compare NPVs on equal footing.</a:t>
            </a:r>
            <a:endParaRPr lang="en-US" dirty="0">
              <a:latin typeface="Helvetica" pitchFamily="2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Even if F has a lower single-cycle NPV, repeating it may produce a </a:t>
            </a:r>
            <a:r>
              <a:rPr lang="en-US" b="1" dirty="0">
                <a:latin typeface="Helvetica" pitchFamily="2" charset="0"/>
              </a:rPr>
              <a:t>higher total NPV</a:t>
            </a:r>
            <a:r>
              <a:rPr lang="en-US" dirty="0">
                <a:latin typeface="Helvetica" pitchFamily="2" charset="0"/>
              </a:rPr>
              <a:t> than C.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31A2D5-F281-F590-63E2-AF781365F655}"/>
              </a:ext>
            </a:extLst>
          </p:cNvPr>
          <p:cNvSpPr txBox="1">
            <a:spLocks/>
          </p:cNvSpPr>
          <p:nvPr/>
        </p:nvSpPr>
        <p:spPr>
          <a:xfrm>
            <a:off x="2559745" y="5446101"/>
            <a:ext cx="694944" cy="274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FCF1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9AA642-A269-FEDF-FA81-988D04FAA1F3}"/>
              </a:ext>
            </a:extLst>
          </p:cNvPr>
          <p:cNvSpPr txBox="1">
            <a:spLocks/>
          </p:cNvSpPr>
          <p:nvPr/>
        </p:nvSpPr>
        <p:spPr>
          <a:xfrm>
            <a:off x="4447405" y="5444174"/>
            <a:ext cx="694944" cy="274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FCF2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2E596F-F875-10E0-0E4D-D9F5A9F798BF}"/>
              </a:ext>
            </a:extLst>
          </p:cNvPr>
          <p:cNvSpPr txBox="1">
            <a:spLocks/>
          </p:cNvSpPr>
          <p:nvPr/>
        </p:nvSpPr>
        <p:spPr>
          <a:xfrm>
            <a:off x="6287281" y="5438788"/>
            <a:ext cx="694944" cy="274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FCF3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C1E717-5B3F-CE5F-E013-3D0726B7D960}"/>
              </a:ext>
            </a:extLst>
          </p:cNvPr>
          <p:cNvSpPr txBox="1">
            <a:spLocks/>
          </p:cNvSpPr>
          <p:nvPr/>
        </p:nvSpPr>
        <p:spPr>
          <a:xfrm>
            <a:off x="8097046" y="5046870"/>
            <a:ext cx="694944" cy="274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FCF1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9737F0-C858-EABE-7832-C6EE94F37210}"/>
              </a:ext>
            </a:extLst>
          </p:cNvPr>
          <p:cNvSpPr txBox="1">
            <a:spLocks/>
          </p:cNvSpPr>
          <p:nvPr/>
        </p:nvSpPr>
        <p:spPr>
          <a:xfrm>
            <a:off x="9734123" y="5041711"/>
            <a:ext cx="694944" cy="274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FCF2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BB0E24-1759-A133-DD78-93A0D5DE11A4}"/>
              </a:ext>
            </a:extLst>
          </p:cNvPr>
          <p:cNvGrpSpPr/>
          <p:nvPr/>
        </p:nvGrpSpPr>
        <p:grpSpPr>
          <a:xfrm>
            <a:off x="510176" y="5838191"/>
            <a:ext cx="11566595" cy="962612"/>
            <a:chOff x="499025" y="5847753"/>
            <a:chExt cx="11566595" cy="81924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297446B-58D6-4C2C-BF00-76FCFED7EB96}"/>
                </a:ext>
              </a:extLst>
            </p:cNvPr>
            <p:cNvGrpSpPr/>
            <p:nvPr/>
          </p:nvGrpSpPr>
          <p:grpSpPr>
            <a:xfrm>
              <a:off x="499025" y="5847753"/>
              <a:ext cx="11566595" cy="819242"/>
              <a:chOff x="310633" y="5259644"/>
              <a:chExt cx="11566595" cy="115516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A8242A-FA50-643F-4E9B-10BDD66EFF5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2380895" y="5272414"/>
                <a:ext cx="696024" cy="32919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B050"/>
                    </a:solidFill>
                    <a:latin typeface="Helvetica" pitchFamily="2" charset="0"/>
                  </a:rPr>
                  <a:t>FCF1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025AF-C646-16C2-AB79-AEED31C0A594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4247862" y="5272414"/>
                <a:ext cx="696024" cy="32919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B050"/>
                    </a:solidFill>
                    <a:latin typeface="Helvetica" pitchFamily="2" charset="0"/>
                  </a:rPr>
                  <a:t>FCF2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1B2760-4A4A-6846-6F13-FB0342AFD41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087738" y="5272414"/>
                <a:ext cx="696024" cy="32919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B050"/>
                    </a:solidFill>
                    <a:latin typeface="Helvetica" pitchFamily="2" charset="0"/>
                  </a:rPr>
                  <a:t>FCF3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F5ED00-7E46-2615-9DEF-2CBAB212951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901556" y="5272414"/>
                <a:ext cx="696024" cy="32919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B050"/>
                    </a:solidFill>
                    <a:latin typeface="Helvetica" pitchFamily="2" charset="0"/>
                  </a:rPr>
                  <a:t>FCF4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C1F7615-41E4-5143-547C-9A9071662027}"/>
                  </a:ext>
                </a:extLst>
              </p:cNvPr>
              <p:cNvGrpSpPr/>
              <p:nvPr/>
            </p:nvGrpSpPr>
            <p:grpSpPr>
              <a:xfrm>
                <a:off x="838199" y="5683770"/>
                <a:ext cx="11039029" cy="731042"/>
                <a:chOff x="1070517" y="3686854"/>
                <a:chExt cx="11039029" cy="731042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5FBFAD7-92C1-0521-A6D7-96477A0D0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4370" y="3707314"/>
                  <a:ext cx="0" cy="317945"/>
                </a:xfrm>
                <a:prstGeom prst="line">
                  <a:avLst/>
                </a:prstGeom>
                <a:noFill/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F05D18A-6251-F6D6-217E-5D13548C62C4}"/>
                    </a:ext>
                  </a:extLst>
                </p:cNvPr>
                <p:cNvGrpSpPr/>
                <p:nvPr/>
              </p:nvGrpSpPr>
              <p:grpSpPr>
                <a:xfrm>
                  <a:off x="1070517" y="3686854"/>
                  <a:ext cx="11039029" cy="731042"/>
                  <a:chOff x="1070517" y="3686854"/>
                  <a:chExt cx="11039029" cy="731042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6262CB3F-F465-6831-5A2D-22CA1F6EAC3C}"/>
                      </a:ext>
                    </a:extLst>
                  </p:cNvPr>
                  <p:cNvGrpSpPr/>
                  <p:nvPr/>
                </p:nvGrpSpPr>
                <p:grpSpPr>
                  <a:xfrm>
                    <a:off x="1070517" y="3686854"/>
                    <a:ext cx="11039029" cy="731042"/>
                    <a:chOff x="873086" y="5053331"/>
                    <a:chExt cx="11706157" cy="1051224"/>
                  </a:xfrm>
                  <a:no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27FF578F-00CF-09E2-F217-7CEA97D295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7135" y="5053331"/>
                      <a:ext cx="11552108" cy="475932"/>
                      <a:chOff x="1027135" y="5053331"/>
                      <a:chExt cx="11552108" cy="475932"/>
                    </a:xfrm>
                    <a:grpFill/>
                  </p:grpSpPr>
                  <p:cxnSp>
                    <p:nvCxnSpPr>
                      <p:cNvPr id="23" name="Straight Arrow Connector 22">
                        <a:extLst>
                          <a:ext uri="{FF2B5EF4-FFF2-40B4-BE49-F238E27FC236}">
                            <a16:creationId xmlns:a16="http://schemas.microsoft.com/office/drawing/2014/main" id="{C7BD23CA-1913-DCBF-DCAB-DF610A32EEE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5" y="5285985"/>
                        <a:ext cx="11552108" cy="0"/>
                      </a:xfrm>
                      <a:prstGeom prst="straightConnector1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4" name="Straight Connector 23">
                        <a:extLst>
                          <a:ext uri="{FF2B5EF4-FFF2-40B4-BE49-F238E27FC236}">
                            <a16:creationId xmlns:a16="http://schemas.microsoft.com/office/drawing/2014/main" id="{00753566-7777-7662-105C-237F51C16AD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6" y="5072061"/>
                        <a:ext cx="0" cy="45720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5" name="Straight Connector 24">
                        <a:extLst>
                          <a:ext uri="{FF2B5EF4-FFF2-40B4-BE49-F238E27FC236}">
                            <a16:creationId xmlns:a16="http://schemas.microsoft.com/office/drawing/2014/main" id="{9B94FC2D-E3BF-60BE-EB03-BE958149DC3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74933" y="5072062"/>
                        <a:ext cx="0" cy="457199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" name="Straight Connector 25">
                        <a:extLst>
                          <a:ext uri="{FF2B5EF4-FFF2-40B4-BE49-F238E27FC236}">
                            <a16:creationId xmlns:a16="http://schemas.microsoft.com/office/drawing/2014/main" id="{2EEF4616-B71F-F8B6-5B22-B48550D0404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744170" y="5072060"/>
                        <a:ext cx="0" cy="457199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" name="Straight Connector 26">
                        <a:extLst>
                          <a:ext uri="{FF2B5EF4-FFF2-40B4-BE49-F238E27FC236}">
                            <a16:creationId xmlns:a16="http://schemas.microsoft.com/office/drawing/2014/main" id="{D60FE603-C0D6-A9E1-3F28-2686A7DBB26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807924" y="5053331"/>
                        <a:ext cx="0" cy="457199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Straight Connector 27">
                        <a:extLst>
                          <a:ext uri="{FF2B5EF4-FFF2-40B4-BE49-F238E27FC236}">
                            <a16:creationId xmlns:a16="http://schemas.microsoft.com/office/drawing/2014/main" id="{F45D3C04-04B3-0820-2FB9-4E882A3DA42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848508" y="5072064"/>
                        <a:ext cx="0" cy="457199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0070C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3A18DC07-2301-765A-4812-A51EE4D17A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3086" y="5617718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BB42E3B0-6DCE-02B9-5F6E-789EA128F7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0884" y="5617721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D59CF8B6-638B-0323-C49C-B9F46E1B46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94459" y="5617721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93E2C144-F7BC-24F8-B87B-7683CF879B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53874" y="5614507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9EE704E8-40AD-BEB9-0628-46ADB2A238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90122" y="5614507"/>
                      <a:ext cx="316518" cy="486834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0070C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a:t>4</a:t>
                      </a:r>
                    </a:p>
                  </p:txBody>
                </p:sp>
              </p:grp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7886F3A-8E7A-3BAD-C923-ADB3D0DCA858}"/>
                      </a:ext>
                    </a:extLst>
                  </p:cNvPr>
                  <p:cNvSpPr txBox="1"/>
                  <p:nvPr/>
                </p:nvSpPr>
                <p:spPr>
                  <a:xfrm>
                    <a:off x="9973636" y="4077106"/>
                    <a:ext cx="298480" cy="338554"/>
                  </a:xfrm>
                  <a:prstGeom prst="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0070C0"/>
                        </a:solidFill>
                        <a:latin typeface="Helvetica" pitchFamily="2" charset="0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7EDBC4-C888-9485-B85A-C9CA33D0164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540759" y="5270795"/>
                <a:ext cx="696024" cy="32919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B050"/>
                    </a:solidFill>
                    <a:latin typeface="Helvetica" pitchFamily="2" charset="0"/>
                  </a:rPr>
                  <a:t>FCF5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BBA664-B569-A225-F8A6-79446CC87BC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310633" y="5259644"/>
                <a:ext cx="1260281" cy="329194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C00000"/>
                    </a:solidFill>
                    <a:latin typeface="Helvetica" pitchFamily="2" charset="0"/>
                  </a:rPr>
                  <a:t>Initial for C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66CD20E-2D20-D08D-DFCA-48A9BA0DDAE9}"/>
                </a:ext>
              </a:extLst>
            </p:cNvPr>
            <p:cNvCxnSpPr>
              <a:cxnSpLocks/>
            </p:cNvCxnSpPr>
            <p:nvPr/>
          </p:nvCxnSpPr>
          <p:spPr>
            <a:xfrm>
              <a:off x="11665464" y="6155137"/>
              <a:ext cx="0" cy="225485"/>
            </a:xfrm>
            <a:prstGeom prst="lin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235D3C-A1AF-433A-42DD-D24ABCA89666}"/>
                </a:ext>
              </a:extLst>
            </p:cNvPr>
            <p:cNvSpPr txBox="1"/>
            <p:nvPr/>
          </p:nvSpPr>
          <p:spPr>
            <a:xfrm>
              <a:off x="11524730" y="6417392"/>
              <a:ext cx="298480" cy="24010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70C0"/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300D64B-56D4-37D2-282C-76157F2B348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324171" y="5847753"/>
              <a:ext cx="696024" cy="28813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B050"/>
                  </a:solidFill>
                  <a:latin typeface="Helvetica" pitchFamily="2" charset="0"/>
                </a:rPr>
                <a:t>FCF6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6FE6C25-4060-4FB0-3A66-86CD7809489D}"/>
              </a:ext>
            </a:extLst>
          </p:cNvPr>
          <p:cNvSpPr txBox="1">
            <a:spLocks/>
          </p:cNvSpPr>
          <p:nvPr/>
        </p:nvSpPr>
        <p:spPr>
          <a:xfrm>
            <a:off x="11322927" y="5041710"/>
            <a:ext cx="694944" cy="274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Helvetica" pitchFamily="2" charset="0"/>
              </a:rPr>
              <a:t>FCF3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B40CE-8E70-E353-B92D-4D6D6CFFB855}"/>
              </a:ext>
            </a:extLst>
          </p:cNvPr>
          <p:cNvSpPr txBox="1">
            <a:spLocks/>
          </p:cNvSpPr>
          <p:nvPr/>
        </p:nvSpPr>
        <p:spPr>
          <a:xfrm>
            <a:off x="510175" y="5445685"/>
            <a:ext cx="1237839" cy="2743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Helvetica" pitchFamily="2" charset="0"/>
              </a:rPr>
              <a:t>Initial for F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3876C2-1B91-B4B7-6CE9-C2FB88F44BFF}"/>
              </a:ext>
            </a:extLst>
          </p:cNvPr>
          <p:cNvSpPr txBox="1">
            <a:spLocks/>
          </p:cNvSpPr>
          <p:nvPr/>
        </p:nvSpPr>
        <p:spPr>
          <a:xfrm>
            <a:off x="6018479" y="5031767"/>
            <a:ext cx="1237839" cy="2743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Helvetica" pitchFamily="2" charset="0"/>
              </a:rPr>
              <a:t>Initial for F</a:t>
            </a:r>
          </a:p>
        </p:txBody>
      </p:sp>
    </p:spTree>
    <p:extLst>
      <p:ext uri="{BB962C8B-B14F-4D97-AF65-F5344CB8AC3E}">
        <p14:creationId xmlns:p14="http://schemas.microsoft.com/office/powerpoint/2010/main" val="174765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9" grpId="0" animBg="1"/>
      <p:bldP spid="41" grpId="0" animBg="1"/>
      <p:bldP spid="4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F9DD-7EFA-073B-3C62-F62306BE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EEFAF2-71A6-80DF-8960-12310D6ED37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6C33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048A3-3A52-6FDD-A920-B18E7B21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38" y="272874"/>
            <a:ext cx="10892883" cy="982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Method 2: Equivalent Annual Annuity (EAA)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D37AE7-7F25-1571-12C2-B489D44F80B1}"/>
              </a:ext>
            </a:extLst>
          </p:cNvPr>
          <p:cNvSpPr txBox="1"/>
          <p:nvPr/>
        </p:nvSpPr>
        <p:spPr>
          <a:xfrm>
            <a:off x="215592" y="1528413"/>
            <a:ext cx="11887200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Convert NPV into an Annual Value for Fair Comparison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Steps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Calculate each project’s </a:t>
            </a:r>
            <a:r>
              <a:rPr lang="en-US" b="1" dirty="0">
                <a:latin typeface="Helvetica" pitchFamily="2" charset="0"/>
              </a:rPr>
              <a:t>NPV</a:t>
            </a:r>
            <a:r>
              <a:rPr lang="en-US" dirty="0">
                <a:latin typeface="Helvetica" pitchFamily="2" charset="0"/>
              </a:rPr>
              <a:t> over its own life.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Convert the NPV into an equal annual payment (EAA)</a:t>
            </a:r>
            <a:r>
              <a:rPr lang="en-US" dirty="0">
                <a:latin typeface="Helvetica" pitchFamily="2" charset="0"/>
              </a:rPr>
              <a:t> using the WACC.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The </a:t>
            </a:r>
            <a:r>
              <a:rPr lang="en-US" b="1" dirty="0">
                <a:latin typeface="Helvetica" pitchFamily="2" charset="0"/>
              </a:rPr>
              <a:t>EAA represents the constant annual cash flow</a:t>
            </a:r>
            <a:r>
              <a:rPr lang="en-US" dirty="0">
                <a:latin typeface="Helvetica" pitchFamily="2" charset="0"/>
              </a:rPr>
              <a:t> that has the same present value as the project’s NPV.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We know the projects' NPVs and lives, and we know the WACC, so we can find the resulting payment, which is the EAA.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The project with the </a:t>
            </a:r>
            <a:r>
              <a:rPr lang="en-US" b="1" dirty="0">
                <a:latin typeface="Helvetica" pitchFamily="2" charset="0"/>
              </a:rPr>
              <a:t>higher EAA</a:t>
            </a:r>
            <a:r>
              <a:rPr lang="en-US" dirty="0">
                <a:latin typeface="Helvetica" pitchFamily="2" charset="0"/>
              </a:rPr>
              <a:t> provides more value per year, and is the better choice.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Why EAA works</a:t>
            </a:r>
            <a:endParaRPr lang="en-US" dirty="0">
              <a:latin typeface="Helvetica" pitchFamily="2" charset="0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Ideal when: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Projects are repeatable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Projects provide service continuously</a:t>
            </a:r>
          </a:p>
          <a:p>
            <a:pPr marL="1200150" lvl="2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Managers prefer a </a:t>
            </a:r>
            <a:r>
              <a:rPr lang="en-US" b="1" dirty="0">
                <a:latin typeface="Helvetica" pitchFamily="2" charset="0"/>
              </a:rPr>
              <a:t>“per-year profitability”</a:t>
            </a:r>
            <a:r>
              <a:rPr lang="en-US" dirty="0">
                <a:latin typeface="Helvetica" pitchFamily="2" charset="0"/>
              </a:rPr>
              <a:t> measure.</a:t>
            </a:r>
          </a:p>
        </p:txBody>
      </p:sp>
    </p:spTree>
    <p:extLst>
      <p:ext uri="{BB962C8B-B14F-4D97-AF65-F5344CB8AC3E}">
        <p14:creationId xmlns:p14="http://schemas.microsoft.com/office/powerpoint/2010/main" val="1319484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 descr="Smiling Face with No Fill">
            <a:extLst>
              <a:ext uri="{FF2B5EF4-FFF2-40B4-BE49-F238E27FC236}">
                <a16:creationId xmlns:a16="http://schemas.microsoft.com/office/drawing/2014/main" id="{F1F21327-0C20-44B5-DA40-AB46450BF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2639" y="660596"/>
            <a:ext cx="4940104" cy="49401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AE2EB-C046-D53E-4B94-BA7F99E0C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026" y="2234802"/>
            <a:ext cx="5852193" cy="4254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latin typeface="Helvetica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8707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4700</TotalTime>
  <Words>3828</Words>
  <Application>Microsoft Macintosh PowerPoint</Application>
  <PresentationFormat>Widescreen</PresentationFormat>
  <Paragraphs>531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Where We Are in Capital Budgeting</vt:lpstr>
      <vt:lpstr>What Counts as a Relevant Cash Flow?</vt:lpstr>
      <vt:lpstr>Free Cash Flow vs. Accounting Income</vt:lpstr>
      <vt:lpstr>Exp(1)</vt:lpstr>
      <vt:lpstr>Timing of Cash Flows</vt:lpstr>
      <vt:lpstr>Incremental Cash Flows</vt:lpstr>
      <vt:lpstr>Sunk Costs</vt:lpstr>
      <vt:lpstr>Sunk Costs</vt:lpstr>
      <vt:lpstr>Opportunity Costs of Assets the Firm Owns</vt:lpstr>
      <vt:lpstr>Externalities(1)</vt:lpstr>
      <vt:lpstr>Externalities(2)</vt:lpstr>
      <vt:lpstr>Types of Projects</vt:lpstr>
      <vt:lpstr>Expansion Projects</vt:lpstr>
      <vt:lpstr>Expansion Projects</vt:lpstr>
      <vt:lpstr>Depreciation Methods Overview</vt:lpstr>
      <vt:lpstr>Depreciation Methods Overview</vt:lpstr>
      <vt:lpstr>Expansion Projects</vt:lpstr>
      <vt:lpstr>Question 1</vt:lpstr>
      <vt:lpstr>Question 1</vt:lpstr>
      <vt:lpstr>Question 1</vt:lpstr>
      <vt:lpstr>Replacement Project</vt:lpstr>
      <vt:lpstr>Question 2</vt:lpstr>
      <vt:lpstr>Question 2</vt:lpstr>
      <vt:lpstr>Effect of Different Depreciation Rates</vt:lpstr>
      <vt:lpstr>Effect of Cannibalization</vt:lpstr>
      <vt:lpstr>Risk Analysis in Capital Budgeting</vt:lpstr>
      <vt:lpstr>Using Risk-Adjusted Discount Rates</vt:lpstr>
      <vt:lpstr>Measuring Stand-Alone Risk</vt:lpstr>
      <vt:lpstr>Sensitivity Analysis</vt:lpstr>
      <vt:lpstr>Scenario Analysis</vt:lpstr>
      <vt:lpstr>Monte Carlo Simulation (Advanced Idea)</vt:lpstr>
      <vt:lpstr>The Unequal Lives Problem</vt:lpstr>
      <vt:lpstr>Method 1: Replacement Chain (Common Life Approach)</vt:lpstr>
      <vt:lpstr>Method 2: Equivalent Annual Annuity (EAA)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HAGHIGHI ZADEH, REIHANEH</dc:creator>
  <cp:lastModifiedBy>reza bavili</cp:lastModifiedBy>
  <cp:revision>78</cp:revision>
  <dcterms:created xsi:type="dcterms:W3CDTF">2024-10-08T02:28:39Z</dcterms:created>
  <dcterms:modified xsi:type="dcterms:W3CDTF">2025-11-24T22:15:25Z</dcterms:modified>
</cp:coreProperties>
</file>