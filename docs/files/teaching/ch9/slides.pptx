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9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8" r:id="rId2"/>
    <p:sldId id="304" r:id="rId3"/>
    <p:sldId id="283" r:id="rId4"/>
    <p:sldId id="286" r:id="rId5"/>
    <p:sldId id="263" r:id="rId6"/>
    <p:sldId id="284" r:id="rId7"/>
    <p:sldId id="305" r:id="rId8"/>
    <p:sldId id="28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2" r:id="rId25"/>
    <p:sldId id="323" r:id="rId26"/>
    <p:sldId id="321" r:id="rId27"/>
    <p:sldId id="324" r:id="rId28"/>
    <p:sldId id="325" r:id="rId29"/>
    <p:sldId id="32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0700"/>
    <a:srgbClr val="0032FF"/>
    <a:srgbClr val="007E00"/>
    <a:srgbClr val="00AC00"/>
    <a:srgbClr val="1F81E4"/>
    <a:srgbClr val="171D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15"/>
    <p:restoredTop sz="96087"/>
  </p:normalViewPr>
  <p:slideViewPr>
    <p:cSldViewPr snapToGrid="0">
      <p:cViewPr varScale="1">
        <p:scale>
          <a:sx n="115" d="100"/>
          <a:sy n="115" d="100"/>
        </p:scale>
        <p:origin x="4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4B6570-999A-DC42-8E66-F3D58899C2B7}" type="datetimeFigureOut">
              <a:rPr lang="en-US" smtClean="0"/>
              <a:t>4/14/25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249C8-EEFF-0D43-99AE-419F2E819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889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5FB6C-482D-0CA6-0DE7-A1A454DF8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BB1028-71D8-5431-C858-18A13E212E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D1E4A-C709-833E-8BD5-AB357ED3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E4701-E60B-FACF-D008-D6973077D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45F21-F310-25D3-E67C-F367F2C88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499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59575-D8E5-4A66-CADA-E482F1441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C6E56-9AC0-66AD-C7DA-859101091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A363D-B7C6-7735-2FDD-08180DD60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D0FD0-7E51-D047-6E3E-6637F26BD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EC9BB-7E26-F3B6-D943-BC8B533D8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976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69BF2-11A0-FD24-CE3F-086326F82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F59D0-8E25-45D1-541F-EDC02B15B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98559-E522-D16F-4CAC-3D25F8FAE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D839E-DE62-2C49-49CA-9764CD2E6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CB57B-61F5-5150-2D2C-5DD8EB004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172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55D95-82B1-D51C-FC84-DEDAF8F05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C9C2F-C4D3-4114-08A3-C63246E1FC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2FEC3-2E6A-634C-C36E-31960FBB4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948A8-F8A0-43CE-61CB-23D8EEA88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AF85D-0A8C-EF4C-0BBB-781FE0AD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85E45-8598-93A6-A975-39200CEF2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052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28E9C-41D5-756E-2210-73BE51675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B8B5E-F5F4-C12D-6E69-79E7DC6C8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93AF9-BAAB-7C0C-2A9F-EE277C72A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C1E2C7-77F5-0CC3-0DB1-C603AD9D8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5B85B7-C95B-6EB7-30B0-D7970DF9EF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EA31BD-258A-FF61-A40F-2AECE6728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26FAEC-491C-9FBC-DD4F-E38CDBB96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7BF88-4C03-9D43-A69E-20C380CB3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2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34D1B-1BCD-9A2B-3972-2543F411F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1FBEE9-22E7-9DCE-1FD7-6524DA6A7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CA0769-0478-F802-85F4-44852F876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8E0EE1-A079-CFE1-AE9C-918642736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954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2EF334-4B8C-D680-9553-CA10C9D73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F99754-111E-6272-2C89-0F3EDA698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59B71-4C50-D2A2-020D-5DD0FA05E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354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0A0B8-477D-35B0-7412-32F428B91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A6865-2165-7C1C-940B-053992395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33155-0BFB-86F7-059B-EEF97ABF1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4A07E-E050-ABCF-9243-A6FBB2589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3DD39-1D14-5AB7-1A69-8027B38A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5BDE8-698B-2C4D-D21E-BE3EBD399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71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BFCD6-1E57-B4FB-9408-566E35923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37DE9-1135-AA14-17F4-548BBF1F42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50764-D82B-D75E-993F-B9CCD1F07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3F2CD-FEBD-1ECF-8F44-D4F81977B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C2630-7380-E112-5F8B-043D986B8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8E5B24-DC64-AB0B-30EC-52DD0365F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17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5E52A-1FE4-B6B8-F089-5384E314D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48E456-17A9-C6A9-2755-A45D7F453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DBDF4-6082-1290-3E8E-57A5ABAA4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0894A-2F3C-4B8E-8810-AEE573267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AAF87-8AE7-BC2E-A207-358D87DC8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788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81805F-BB64-2EB1-35DB-4E7F78E8E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FF093D-B18C-38A6-A275-E4007CFDD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4F3AC-A7FB-2BA1-986B-83976C2CB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EEA69-29F0-C94B-C22B-5F9A5A22A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F7028-1573-C1DF-F272-C3A0F373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06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8212E9-93E5-CDD1-498F-A39B259D5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83DC2-F13F-F521-C0E4-4F54796FC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F7B16-78AF-C336-F905-BF1D852AF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E59BC-03CD-E536-A6BF-FA28D0ACB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283CA-4F84-65CA-AA42-4F0F2A5F0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75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jp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chemeClr val="accent1">
                <a:alpha val="84000"/>
                <a:lumMod val="76000"/>
              </a:schemeClr>
            </a:gs>
            <a:gs pos="52000">
              <a:schemeClr val="accent1">
                <a:lumMod val="45000"/>
                <a:lumOff val="55000"/>
              </a:schemeClr>
            </a:gs>
            <a:gs pos="72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4CBDF4-8170-E480-75D3-55CE01005CD1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07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AB0839-5E9D-30E7-D14B-C47804BA44F4}"/>
              </a:ext>
            </a:extLst>
          </p:cNvPr>
          <p:cNvSpPr txBox="1"/>
          <p:nvPr/>
        </p:nvSpPr>
        <p:spPr>
          <a:xfrm>
            <a:off x="4903845" y="523501"/>
            <a:ext cx="23843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9</a:t>
            </a:r>
          </a:p>
        </p:txBody>
      </p:sp>
      <p:pic>
        <p:nvPicPr>
          <p:cNvPr id="4" name="Picture 3" descr="A graph and coins with a magnifying glass&#10;&#10;AI-generated content may be incorrect.">
            <a:extLst>
              <a:ext uri="{FF2B5EF4-FFF2-40B4-BE49-F238E27FC236}">
                <a16:creationId xmlns:a16="http://schemas.microsoft.com/office/drawing/2014/main" id="{29C0C405-1940-83D2-3906-60C12C21D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941" y="1754888"/>
            <a:ext cx="5674114" cy="378274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01586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B598C-881F-8A2B-9755-AE5F36459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light bulb on a person's head&#10;&#10;AI-generated content may be incorrect.">
            <a:extLst>
              <a:ext uri="{FF2B5EF4-FFF2-40B4-BE49-F238E27FC236}">
                <a16:creationId xmlns:a16="http://schemas.microsoft.com/office/drawing/2014/main" id="{727B92A4-2939-B1D0-D0C4-21AF62D06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905" y="257838"/>
            <a:ext cx="2240280" cy="2057941"/>
          </a:xfrm>
          <a:prstGeom prst="rect">
            <a:avLst/>
          </a:prstGeom>
        </p:spPr>
      </p:pic>
      <p:pic>
        <p:nvPicPr>
          <p:cNvPr id="12" name="Picture 11" descr="A group of people standing together&#10;&#10;AI-generated content may be incorrect.">
            <a:extLst>
              <a:ext uri="{FF2B5EF4-FFF2-40B4-BE49-F238E27FC236}">
                <a16:creationId xmlns:a16="http://schemas.microsoft.com/office/drawing/2014/main" id="{01BBA2A2-D469-2EBD-1032-F977FA67D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111" y="258379"/>
            <a:ext cx="2264516" cy="2057400"/>
          </a:xfrm>
          <a:prstGeom prst="rect">
            <a:avLst/>
          </a:prstGeom>
        </p:spPr>
      </p:pic>
      <p:pic>
        <p:nvPicPr>
          <p:cNvPr id="14" name="Picture 13" descr="A cartoon rocket ship with a black background&#10;&#10;AI-generated content may be incorrect.">
            <a:extLst>
              <a:ext uri="{FF2B5EF4-FFF2-40B4-BE49-F238E27FC236}">
                <a16:creationId xmlns:a16="http://schemas.microsoft.com/office/drawing/2014/main" id="{E6830D8E-EA0D-58D3-F6D6-ED98FD905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035" y="3129126"/>
            <a:ext cx="1550020" cy="1550020"/>
          </a:xfrm>
          <a:prstGeom prst="rect">
            <a:avLst/>
          </a:prstGeom>
        </p:spPr>
      </p:pic>
      <p:pic>
        <p:nvPicPr>
          <p:cNvPr id="16" name="Picture 15" descr="A factory with smokestacks and pipes&#10;&#10;AI-generated content may be incorrect.">
            <a:extLst>
              <a:ext uri="{FF2B5EF4-FFF2-40B4-BE49-F238E27FC236}">
                <a16:creationId xmlns:a16="http://schemas.microsoft.com/office/drawing/2014/main" id="{19B509B5-300E-B97F-483D-B867EE100D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111" y="2448902"/>
            <a:ext cx="2356332" cy="1960195"/>
          </a:xfrm>
          <a:prstGeom prst="rect">
            <a:avLst/>
          </a:prstGeom>
        </p:spPr>
      </p:pic>
      <p:pic>
        <p:nvPicPr>
          <p:cNvPr id="18" name="Picture 17" descr="A cartoon of two people sitting at a table&#10;&#10;AI-generated content may be incorrect.">
            <a:extLst>
              <a:ext uri="{FF2B5EF4-FFF2-40B4-BE49-F238E27FC236}">
                <a16:creationId xmlns:a16="http://schemas.microsoft.com/office/drawing/2014/main" id="{E0C2576E-98A0-042F-9D2C-0716A32AD45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  <a:grayscl/>
          </a:blip>
          <a:stretch>
            <a:fillRect/>
          </a:stretch>
        </p:blipFill>
        <p:spPr>
          <a:xfrm>
            <a:off x="9719769" y="2448902"/>
            <a:ext cx="2230244" cy="2230244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2BAE273-052F-6AA7-D7CD-DF32C6DEA2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27126" y="4982464"/>
            <a:ext cx="1462302" cy="1462302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075103DF-40B4-F930-9350-75D936DD7338}"/>
              </a:ext>
            </a:extLst>
          </p:cNvPr>
          <p:cNvGrpSpPr/>
          <p:nvPr/>
        </p:nvGrpSpPr>
        <p:grpSpPr>
          <a:xfrm>
            <a:off x="3219279" y="492729"/>
            <a:ext cx="3098033" cy="800307"/>
            <a:chOff x="2754472" y="1433105"/>
            <a:chExt cx="3098033" cy="800307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2EC0BEC-9B71-22AA-9B2A-40DF1474E2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54472" y="2233412"/>
              <a:ext cx="3098033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Picture 29" descr="A black and white image of a money bag&#10;&#10;AI-generated content may be incorrect.">
              <a:extLst>
                <a:ext uri="{FF2B5EF4-FFF2-40B4-BE49-F238E27FC236}">
                  <a16:creationId xmlns:a16="http://schemas.microsoft.com/office/drawing/2014/main" id="{CB0D38D7-F5E4-2371-B2A0-FB41CDD60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99237" y="1433105"/>
              <a:ext cx="496077" cy="686660"/>
            </a:xfrm>
            <a:prstGeom prst="rect">
              <a:avLst/>
            </a:prstGeom>
          </p:spPr>
        </p:pic>
        <p:pic>
          <p:nvPicPr>
            <p:cNvPr id="31" name="Picture 30" descr="A black and white image of a money bag&#10;&#10;AI-generated content may be incorrect.">
              <a:extLst>
                <a:ext uri="{FF2B5EF4-FFF2-40B4-BE49-F238E27FC236}">
                  <a16:creationId xmlns:a16="http://schemas.microsoft.com/office/drawing/2014/main" id="{DF86C6B7-3719-B115-FA99-A98C0DA7D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976930" y="1433105"/>
              <a:ext cx="496077" cy="686660"/>
            </a:xfrm>
            <a:prstGeom prst="rect">
              <a:avLst/>
            </a:prstGeom>
          </p:spPr>
        </p:pic>
        <p:pic>
          <p:nvPicPr>
            <p:cNvPr id="32" name="Picture 31" descr="A black and white image of a money bag&#10;&#10;AI-generated content may be incorrect.">
              <a:extLst>
                <a:ext uri="{FF2B5EF4-FFF2-40B4-BE49-F238E27FC236}">
                  <a16:creationId xmlns:a16="http://schemas.microsoft.com/office/drawing/2014/main" id="{8D9620E1-FCD7-ADC5-A5EA-27B68D6A90A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54623" y="1433105"/>
              <a:ext cx="496077" cy="686660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952DE08-A699-4D03-2E0E-2D04AEA1AC2A}"/>
              </a:ext>
            </a:extLst>
          </p:cNvPr>
          <p:cNvGrpSpPr/>
          <p:nvPr/>
        </p:nvGrpSpPr>
        <p:grpSpPr>
          <a:xfrm>
            <a:off x="3219279" y="1649359"/>
            <a:ext cx="3098033" cy="680080"/>
            <a:chOff x="2799077" y="2442117"/>
            <a:chExt cx="3098033" cy="680080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AE9770A-49E8-5201-95D6-CCA878DFFD42}"/>
                </a:ext>
              </a:extLst>
            </p:cNvPr>
            <p:cNvCxnSpPr>
              <a:cxnSpLocks/>
            </p:cNvCxnSpPr>
            <p:nvPr/>
          </p:nvCxnSpPr>
          <p:spPr>
            <a:xfrm>
              <a:off x="2799077" y="2442117"/>
              <a:ext cx="3098033" cy="0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23222F9-3128-75F9-4DDB-625BA68B16F0}"/>
                </a:ext>
              </a:extLst>
            </p:cNvPr>
            <p:cNvSpPr txBox="1"/>
            <p:nvPr/>
          </p:nvSpPr>
          <p:spPr>
            <a:xfrm>
              <a:off x="3535237" y="2475866"/>
              <a:ext cx="146867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>
                  <a:solidFill>
                    <a:srgbClr val="0070C0"/>
                  </a:solidFill>
                  <a:latin typeface="AkayaKanadaka" panose="02010502080401010103" pitchFamily="2" charset="77"/>
                  <a:cs typeface="AkayaKanadaka" panose="02010502080401010103" pitchFamily="2" charset="77"/>
                </a:rPr>
                <a:t>Shares</a:t>
              </a:r>
            </a:p>
          </p:txBody>
        </p:sp>
      </p:grpSp>
      <p:sp>
        <p:nvSpPr>
          <p:cNvPr id="42" name="Bent Arrow 41">
            <a:extLst>
              <a:ext uri="{FF2B5EF4-FFF2-40B4-BE49-F238E27FC236}">
                <a16:creationId xmlns:a16="http://schemas.microsoft.com/office/drawing/2014/main" id="{D0E770B2-A2F2-BF9B-2CEB-93F5392C60C2}"/>
              </a:ext>
            </a:extLst>
          </p:cNvPr>
          <p:cNvSpPr/>
          <p:nvPr/>
        </p:nvSpPr>
        <p:spPr>
          <a:xfrm rot="5400000">
            <a:off x="9125043" y="767890"/>
            <a:ext cx="1477256" cy="2230244"/>
          </a:xfrm>
          <a:prstGeom prst="bentArrow">
            <a:avLst>
              <a:gd name="adj1" fmla="val 5374"/>
              <a:gd name="adj2" fmla="val 11180"/>
              <a:gd name="adj3" fmla="val 18961"/>
              <a:gd name="adj4" fmla="val 0"/>
            </a:avLst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43" name="Bent Arrow 42">
            <a:extLst>
              <a:ext uri="{FF2B5EF4-FFF2-40B4-BE49-F238E27FC236}">
                <a16:creationId xmlns:a16="http://schemas.microsoft.com/office/drawing/2014/main" id="{68EC8F22-2EFC-2BFA-C37C-00F012EB7E20}"/>
              </a:ext>
            </a:extLst>
          </p:cNvPr>
          <p:cNvSpPr/>
          <p:nvPr/>
        </p:nvSpPr>
        <p:spPr>
          <a:xfrm rot="10800000">
            <a:off x="8748549" y="4542220"/>
            <a:ext cx="2230244" cy="1691898"/>
          </a:xfrm>
          <a:prstGeom prst="bentArrow">
            <a:avLst>
              <a:gd name="adj1" fmla="val 5374"/>
              <a:gd name="adj2" fmla="val 11180"/>
              <a:gd name="adj3" fmla="val 18961"/>
              <a:gd name="adj4" fmla="val 6100"/>
            </a:avLst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Bent Arrow 43">
            <a:extLst>
              <a:ext uri="{FF2B5EF4-FFF2-40B4-BE49-F238E27FC236}">
                <a16:creationId xmlns:a16="http://schemas.microsoft.com/office/drawing/2014/main" id="{963E2468-EE25-10EC-9A38-EC4CE026A452}"/>
              </a:ext>
            </a:extLst>
          </p:cNvPr>
          <p:cNvSpPr/>
          <p:nvPr/>
        </p:nvSpPr>
        <p:spPr>
          <a:xfrm rot="13653066" flipH="1">
            <a:off x="639418" y="1798472"/>
            <a:ext cx="1387566" cy="1734364"/>
          </a:xfrm>
          <a:prstGeom prst="bentArrow">
            <a:avLst>
              <a:gd name="adj1" fmla="val 5374"/>
              <a:gd name="adj2" fmla="val 11180"/>
              <a:gd name="adj3" fmla="val 18961"/>
              <a:gd name="adj4" fmla="val 49132"/>
            </a:avLst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U-Turn Arrow 45">
            <a:extLst>
              <a:ext uri="{FF2B5EF4-FFF2-40B4-BE49-F238E27FC236}">
                <a16:creationId xmlns:a16="http://schemas.microsoft.com/office/drawing/2014/main" id="{7B065E51-C3DF-EF74-8506-82F7558F594B}"/>
              </a:ext>
            </a:extLst>
          </p:cNvPr>
          <p:cNvSpPr/>
          <p:nvPr/>
        </p:nvSpPr>
        <p:spPr>
          <a:xfrm rot="16200000">
            <a:off x="5395795" y="4403045"/>
            <a:ext cx="2230243" cy="1232423"/>
          </a:xfrm>
          <a:prstGeom prst="uturnArrow">
            <a:avLst>
              <a:gd name="adj1" fmla="val 8510"/>
              <a:gd name="adj2" fmla="val 13896"/>
              <a:gd name="adj3" fmla="val 25093"/>
              <a:gd name="adj4" fmla="val 14558"/>
              <a:gd name="adj5" fmla="val 62918"/>
            </a:avLst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5" name="Graphic 54" descr="Back with solid fill">
            <a:extLst>
              <a:ext uri="{FF2B5EF4-FFF2-40B4-BE49-F238E27FC236}">
                <a16:creationId xmlns:a16="http://schemas.microsoft.com/office/drawing/2014/main" id="{E83387F4-3B81-68EF-BC1E-B737C689713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40758" y="2949454"/>
            <a:ext cx="3539353" cy="9144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CC8852B6-3023-D462-A232-699A019F8210}"/>
              </a:ext>
            </a:extLst>
          </p:cNvPr>
          <p:cNvSpPr txBox="1"/>
          <p:nvPr/>
        </p:nvSpPr>
        <p:spPr>
          <a:xfrm rot="2095096">
            <a:off x="10454451" y="705392"/>
            <a:ext cx="10486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  <a:latin typeface="AkayaKanadaka" panose="02010502080401010103" pitchFamily="2" charset="77"/>
                <a:cs typeface="AkayaKanadaka" panose="02010502080401010103" pitchFamily="2" charset="77"/>
              </a:rPr>
              <a:t>Vote</a:t>
            </a:r>
            <a:endParaRPr lang="en-US" sz="2800" b="1" dirty="0">
              <a:solidFill>
                <a:srgbClr val="0070C0"/>
              </a:solidFill>
              <a:latin typeface="AkayaKanadaka" panose="02010502080401010103" pitchFamily="2" charset="77"/>
              <a:cs typeface="AkayaKanadaka" panose="02010502080401010103" pitchFamily="2" charset="7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47CEBEC-7A74-270A-6C00-8EE4ECE1E2E6}"/>
              </a:ext>
            </a:extLst>
          </p:cNvPr>
          <p:cNvSpPr txBox="1"/>
          <p:nvPr/>
        </p:nvSpPr>
        <p:spPr>
          <a:xfrm>
            <a:off x="4058277" y="4873940"/>
            <a:ext cx="17043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  <a:latin typeface="AkayaKanadaka" panose="02010502080401010103" pitchFamily="2" charset="77"/>
                <a:cs typeface="AkayaKanadaka" panose="02010502080401010103" pitchFamily="2" charset="77"/>
              </a:rPr>
              <a:t>Manage</a:t>
            </a:r>
          </a:p>
        </p:txBody>
      </p:sp>
    </p:spTree>
    <p:extLst>
      <p:ext uri="{BB962C8B-B14F-4D97-AF65-F5344CB8AC3E}">
        <p14:creationId xmlns:p14="http://schemas.microsoft.com/office/powerpoint/2010/main" val="240093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6" grpId="0" animBg="1"/>
      <p:bldP spid="58" grpId="0"/>
      <p:bldP spid="5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2C08C-286C-B8A5-5E77-4EDFF9953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F8E1BF2-1530-14EA-0E85-F4C45CE2F63D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7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C246E7-E7C5-80AC-6FC7-856916C9D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Stockholders’ Rights &amp; Protections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39355B-1107-1507-4164-67F3B6C4E622}"/>
              </a:ext>
            </a:extLst>
          </p:cNvPr>
          <p:cNvSpPr txBox="1"/>
          <p:nvPr/>
        </p:nvSpPr>
        <p:spPr>
          <a:xfrm>
            <a:off x="248529" y="1586306"/>
            <a:ext cx="1169494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latin typeface="Helvetica" pitchFamily="2" charset="0"/>
              </a:rPr>
              <a:t>Who Really Controls a Corporation?</a:t>
            </a:r>
            <a:endParaRPr lang="en-US" sz="2400" dirty="0">
              <a:solidFill>
                <a:srgbClr val="FF0000"/>
              </a:solidFill>
              <a:latin typeface="Helvetica" pitchFamily="2" charset="0"/>
            </a:endParaRPr>
          </a:p>
          <a:p>
            <a:pPr marL="1257300" lvl="2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Common stockholders </a:t>
            </a:r>
            <a:r>
              <a:rPr lang="en-US" sz="2200" b="1" dirty="0">
                <a:latin typeface="Helvetica" pitchFamily="2" charset="0"/>
              </a:rPr>
              <a:t>elect directors</a:t>
            </a:r>
            <a:endParaRPr lang="en-US" sz="2200" dirty="0">
              <a:latin typeface="Helvetica" pitchFamily="2" charset="0"/>
            </a:endParaRPr>
          </a:p>
          <a:p>
            <a:pPr marL="1257300" lvl="2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Directors choose managers</a:t>
            </a:r>
          </a:p>
          <a:p>
            <a:pPr marL="1257300" lvl="2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Most shareholders vote using proxy forms instead of attending in person.</a:t>
            </a:r>
          </a:p>
          <a:p>
            <a:pPr marL="800100" lvl="1" indent="-342900"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Proxy Fights &amp; Takeovers:</a:t>
            </a:r>
            <a:endParaRPr lang="en-US" sz="2200" dirty="0">
              <a:latin typeface="Helvetica" pitchFamily="2" charset="0"/>
            </a:endParaRPr>
          </a:p>
          <a:p>
            <a:pPr marL="1257300" lvl="2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Shareholders can push out weak management</a:t>
            </a:r>
          </a:p>
          <a:p>
            <a:pPr marL="1257300" lvl="2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Hostile takeovers = buying enough shares to take control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latin typeface="Helvetica" pitchFamily="2" charset="0"/>
              </a:rPr>
              <a:t>Preemptive Right:</a:t>
            </a:r>
            <a:endParaRPr lang="en-US" sz="2400" dirty="0">
              <a:solidFill>
                <a:srgbClr val="FF0000"/>
              </a:solidFill>
              <a:latin typeface="Helvetica" pitchFamily="2" charset="0"/>
            </a:endParaRP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Let current shareholders buy new shares </a:t>
            </a:r>
            <a:r>
              <a:rPr lang="en-US" sz="2200" b="1" dirty="0">
                <a:latin typeface="Helvetica" pitchFamily="2" charset="0"/>
              </a:rPr>
              <a:t>first</a:t>
            </a:r>
            <a:endParaRPr lang="en-US" sz="2200" dirty="0">
              <a:latin typeface="Helvetica" pitchFamily="2" charset="0"/>
            </a:endParaRP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Prevents </a:t>
            </a:r>
            <a:r>
              <a:rPr lang="en-US" sz="2200" b="1" dirty="0">
                <a:latin typeface="Helvetica" pitchFamily="2" charset="0"/>
              </a:rPr>
              <a:t>dilution</a:t>
            </a:r>
            <a:r>
              <a:rPr lang="en-US" sz="2200" dirty="0">
                <a:latin typeface="Helvetica" pitchFamily="2" charset="0"/>
              </a:rPr>
              <a:t> of value and control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Ex: Issuing shares below market price can hurt existing owners</a:t>
            </a:r>
          </a:p>
        </p:txBody>
      </p:sp>
    </p:spTree>
    <p:extLst>
      <p:ext uri="{BB962C8B-B14F-4D97-AF65-F5344CB8AC3E}">
        <p14:creationId xmlns:p14="http://schemas.microsoft.com/office/powerpoint/2010/main" val="757908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45B3D-8F5C-0F88-59BB-DE0C28AFA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C85D39E-C147-B651-2E42-65E3EF04A706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7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D757B4-4CD2-2ACF-F8C3-4B03FBB8A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Stock Price vs. Intrinsic Value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E62A41-04C4-A08E-EBD5-AA92B149E7F1}"/>
              </a:ext>
            </a:extLst>
          </p:cNvPr>
          <p:cNvSpPr txBox="1"/>
          <p:nvPr/>
        </p:nvSpPr>
        <p:spPr>
          <a:xfrm>
            <a:off x="198605" y="1550869"/>
            <a:ext cx="11794788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What’s the Difference?</a:t>
            </a:r>
            <a:endParaRPr lang="en-US" sz="2200" dirty="0">
              <a:latin typeface="Helvetica" pitchFamily="2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Stock Price</a:t>
            </a:r>
            <a:r>
              <a:rPr lang="en-US" sz="2200" dirty="0">
                <a:latin typeface="Helvetica" pitchFamily="2" charset="0"/>
              </a:rPr>
              <a:t>: The current market price (what it sells for today)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Intrinsic Value</a:t>
            </a:r>
            <a:r>
              <a:rPr lang="en-US" sz="2200" dirty="0">
                <a:latin typeface="Helvetica" pitchFamily="2" charset="0"/>
              </a:rPr>
              <a:t>: The stock’s </a:t>
            </a:r>
            <a:r>
              <a:rPr lang="en-US" sz="2200" b="1" dirty="0">
                <a:latin typeface="Helvetica" pitchFamily="2" charset="0"/>
              </a:rPr>
              <a:t>true, estimated worth</a:t>
            </a:r>
            <a:r>
              <a:rPr lang="en-US" sz="2200" dirty="0">
                <a:latin typeface="Helvetica" pitchFamily="2" charset="0"/>
              </a:rPr>
              <a:t> based on fundamentals (not directly observable)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Market Equilibrium:</a:t>
            </a:r>
            <a:endParaRPr lang="en-US" sz="2200" dirty="0">
              <a:latin typeface="Helvetica" pitchFamily="2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When </a:t>
            </a:r>
            <a:r>
              <a:rPr lang="en-US" sz="2200" b="1" dirty="0">
                <a:latin typeface="Helvetica" pitchFamily="2" charset="0"/>
              </a:rPr>
              <a:t>Stock Price = Intrinsic Value</a:t>
            </a:r>
            <a:r>
              <a:rPr lang="en-US" sz="2200" dirty="0">
                <a:latin typeface="Helvetica" pitchFamily="2" charset="0"/>
              </a:rPr>
              <a:t>, the market is in </a:t>
            </a:r>
            <a:r>
              <a:rPr lang="en-US" sz="2200" b="1" dirty="0">
                <a:latin typeface="Helvetica" pitchFamily="2" charset="0"/>
              </a:rPr>
              <a:t>equilibrium</a:t>
            </a:r>
            <a:endParaRPr lang="en-US" sz="2200" dirty="0">
              <a:latin typeface="Helvetica" pitchFamily="2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But prices can deviate due to </a:t>
            </a:r>
            <a:r>
              <a:rPr lang="en-US" sz="2200" b="1" dirty="0">
                <a:latin typeface="Helvetica" pitchFamily="2" charset="0"/>
              </a:rPr>
              <a:t>irrational investor behavior</a:t>
            </a:r>
            <a:r>
              <a:rPr lang="en-US" sz="2200" dirty="0">
                <a:latin typeface="Helvetica" pitchFamily="2" charset="0"/>
              </a:rPr>
              <a:t> or </a:t>
            </a:r>
            <a:r>
              <a:rPr lang="en-US" sz="2200" b="1" dirty="0">
                <a:latin typeface="Helvetica" pitchFamily="2" charset="0"/>
              </a:rPr>
              <a:t>incomplete information</a:t>
            </a:r>
            <a:endParaRPr lang="en-US" sz="2200" dirty="0">
              <a:latin typeface="Helvetica" pitchFamily="2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Why It Matters:</a:t>
            </a:r>
            <a:endParaRPr lang="en-US" sz="2200" dirty="0">
              <a:latin typeface="Helvetica" pitchFamily="2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Investors</a:t>
            </a:r>
            <a:r>
              <a:rPr lang="en-US" sz="2200" dirty="0">
                <a:latin typeface="Helvetica" pitchFamily="2" charset="0"/>
              </a:rPr>
              <a:t> aim to buy </a:t>
            </a:r>
            <a:r>
              <a:rPr lang="en-US" sz="2200" b="1" dirty="0">
                <a:latin typeface="Helvetica" pitchFamily="2" charset="0"/>
              </a:rPr>
              <a:t>undervalued</a:t>
            </a:r>
            <a:r>
              <a:rPr lang="en-US" sz="2200" dirty="0">
                <a:latin typeface="Helvetica" pitchFamily="2" charset="0"/>
              </a:rPr>
              <a:t> stocks (Price &lt; Intrinsic Value)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Managers</a:t>
            </a:r>
            <a:r>
              <a:rPr lang="en-US" sz="2200" dirty="0">
                <a:latin typeface="Helvetica" pitchFamily="2" charset="0"/>
              </a:rPr>
              <a:t> need to understand how decisions affect value, especially before issuing new shares</a:t>
            </a:r>
          </a:p>
        </p:txBody>
      </p:sp>
    </p:spTree>
    <p:extLst>
      <p:ext uri="{BB962C8B-B14F-4D97-AF65-F5344CB8AC3E}">
        <p14:creationId xmlns:p14="http://schemas.microsoft.com/office/powerpoint/2010/main" val="1685416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F6F0F-6DA7-76FD-EC05-B5048D474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0BB7291-95BA-C571-70CC-82605DFE1495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7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1DE40-E457-30D5-0E6F-73DE68689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61" y="340399"/>
            <a:ext cx="11109960" cy="9826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How Do We Value Stocks?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60A721-726F-6443-3B8E-2EF2D346390C}"/>
              </a:ext>
            </a:extLst>
          </p:cNvPr>
          <p:cNvSpPr txBox="1"/>
          <p:nvPr/>
        </p:nvSpPr>
        <p:spPr>
          <a:xfrm>
            <a:off x="332420" y="1507348"/>
            <a:ext cx="1152715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Stock valuation is trickier than bond valuation because common stock dividends aren't guaranteed—they depend on company earnings.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Two Models to Estimate a Stock’s Value:</a:t>
            </a:r>
            <a:endParaRPr lang="en-US" sz="2400" dirty="0">
              <a:latin typeface="Helvetica" pitchFamily="2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Discounted Dividend Model</a:t>
            </a:r>
            <a:r>
              <a:rPr lang="en-US" sz="2400" dirty="0">
                <a:latin typeface="Helvetica" pitchFamily="2" charset="0"/>
              </a:rPr>
              <a:t> 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Corporate Valuation Model</a:t>
            </a:r>
            <a:endParaRPr lang="en-US" sz="2400" dirty="0">
              <a:latin typeface="Helvetica" pitchFamily="2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Rule of Thumb:</a:t>
            </a:r>
            <a:endParaRPr lang="en-US" sz="2400" dirty="0">
              <a:latin typeface="Helvetica" pitchFamily="2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Buy</a:t>
            </a:r>
            <a:r>
              <a:rPr lang="en-US" sz="2400" dirty="0">
                <a:latin typeface="Helvetica" pitchFamily="2" charset="0"/>
              </a:rPr>
              <a:t> a stock if its </a:t>
            </a:r>
            <a:r>
              <a:rPr lang="en-US" sz="2400" b="1" dirty="0">
                <a:latin typeface="Helvetica" pitchFamily="2" charset="0"/>
              </a:rPr>
              <a:t>price &lt; intrinsic value</a:t>
            </a:r>
            <a:endParaRPr lang="en-US" sz="2400" dirty="0">
              <a:latin typeface="Helvetica" pitchFamily="2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Sell</a:t>
            </a:r>
            <a:r>
              <a:rPr lang="en-US" sz="2400" dirty="0">
                <a:latin typeface="Helvetica" pitchFamily="2" charset="0"/>
              </a:rPr>
              <a:t> if its </a:t>
            </a:r>
            <a:r>
              <a:rPr lang="en-US" sz="2400" b="1" dirty="0">
                <a:latin typeface="Helvetica" pitchFamily="2" charset="0"/>
              </a:rPr>
              <a:t>price &gt; intrinsic value</a:t>
            </a:r>
            <a:endParaRPr lang="en-US" sz="2400" dirty="0">
              <a:latin typeface="Helvetica" pitchFamily="2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Preferred stock</a:t>
            </a:r>
            <a:r>
              <a:rPr lang="en-US" sz="2400" dirty="0">
                <a:latin typeface="Helvetica" pitchFamily="2" charset="0"/>
              </a:rPr>
              <a:t> is easier to value (fixed dividend = bond-like).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But </a:t>
            </a:r>
            <a:r>
              <a:rPr lang="en-US" sz="2400" b="1" dirty="0">
                <a:latin typeface="Helvetica" pitchFamily="2" charset="0"/>
              </a:rPr>
              <a:t>the common stock</a:t>
            </a:r>
            <a:r>
              <a:rPr lang="en-US" sz="2400" dirty="0">
                <a:latin typeface="Helvetica" pitchFamily="2" charset="0"/>
              </a:rPr>
              <a:t> is more uncertain—earnings vary!</a:t>
            </a:r>
          </a:p>
        </p:txBody>
      </p:sp>
    </p:spTree>
    <p:extLst>
      <p:ext uri="{BB962C8B-B14F-4D97-AF65-F5344CB8AC3E}">
        <p14:creationId xmlns:p14="http://schemas.microsoft.com/office/powerpoint/2010/main" val="563111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B3F2C-E0BE-EA47-320A-8473FF587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3336992-9882-1EA3-670F-C4D1AB2BD015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7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811A9E-982A-9BB9-5C16-F2572AB53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A. The Discounted Dividend Model (DDM)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7DB2F1-C929-16E0-2B25-599F4E66541F}"/>
              </a:ext>
            </a:extLst>
          </p:cNvPr>
          <p:cNvSpPr txBox="1"/>
          <p:nvPr/>
        </p:nvSpPr>
        <p:spPr>
          <a:xfrm>
            <a:off x="248530" y="1586306"/>
            <a:ext cx="3910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b="1" dirty="0">
                <a:latin typeface="Helvetica" pitchFamily="2" charset="0"/>
              </a:rPr>
              <a:t>Cash Flows from Stocks:</a:t>
            </a:r>
            <a:endParaRPr lang="en-US" sz="2400" dirty="0">
              <a:latin typeface="Helvetica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EB3549-B54D-B0FE-04F9-F0692C8FF386}"/>
              </a:ext>
            </a:extLst>
          </p:cNvPr>
          <p:cNvSpPr txBox="1"/>
          <p:nvPr/>
        </p:nvSpPr>
        <p:spPr>
          <a:xfrm>
            <a:off x="5997728" y="2274340"/>
            <a:ext cx="5650906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Helvetica" pitchFamily="2" charset="0"/>
              </a:rPr>
              <a:t>2- Capital gain when the stock is sold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4F01BB-F4CA-6FAD-ECFE-C5E696B09F24}"/>
              </a:ext>
            </a:extLst>
          </p:cNvPr>
          <p:cNvSpPr txBox="1"/>
          <p:nvPr/>
        </p:nvSpPr>
        <p:spPr>
          <a:xfrm>
            <a:off x="543364" y="2274340"/>
            <a:ext cx="4597348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1- Dividends received each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6F3CC1-FD73-9E7F-2EA3-D97A8ED4DBAF}"/>
              </a:ext>
            </a:extLst>
          </p:cNvPr>
          <p:cNvSpPr txBox="1"/>
          <p:nvPr/>
        </p:nvSpPr>
        <p:spPr>
          <a:xfrm>
            <a:off x="248530" y="3043387"/>
            <a:ext cx="1181709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Helvetica" pitchFamily="2" charset="0"/>
              </a:rPr>
              <a:t>Key Idea: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300" b="1" dirty="0">
                <a:latin typeface="Helvetica" pitchFamily="2" charset="0"/>
              </a:rPr>
              <a:t>A stock’s value = present value of (all expected future dividends + price when sold)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2C716B-D29C-BEB9-2B4B-C0DCF947B1E4}"/>
              </a:ext>
            </a:extLst>
          </p:cNvPr>
          <p:cNvSpPr txBox="1"/>
          <p:nvPr/>
        </p:nvSpPr>
        <p:spPr>
          <a:xfrm>
            <a:off x="3041637" y="5284509"/>
            <a:ext cx="465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Helvetica" pitchFamily="2" charset="0"/>
              </a:rPr>
              <a:t>D</a:t>
            </a:r>
            <a:r>
              <a:rPr lang="en-US" sz="2000" b="1" baseline="-25000" dirty="0">
                <a:solidFill>
                  <a:srgbClr val="0070C0"/>
                </a:solidFill>
                <a:latin typeface="Helvetica" pitchFamily="2" charset="0"/>
              </a:rPr>
              <a:t>1</a:t>
            </a:r>
            <a:endParaRPr lang="en-US" sz="2000" b="1" dirty="0">
              <a:solidFill>
                <a:srgbClr val="0070C0"/>
              </a:solidFill>
              <a:latin typeface="Helvetica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A5E1A4-F78F-9F81-40E8-1A4B45C044FB}"/>
              </a:ext>
            </a:extLst>
          </p:cNvPr>
          <p:cNvSpPr txBox="1"/>
          <p:nvPr/>
        </p:nvSpPr>
        <p:spPr>
          <a:xfrm>
            <a:off x="5329954" y="5284509"/>
            <a:ext cx="465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Helvetica" pitchFamily="2" charset="0"/>
              </a:rPr>
              <a:t>D</a:t>
            </a:r>
            <a:r>
              <a:rPr lang="en-US" sz="2000" b="1" baseline="-25000" dirty="0">
                <a:solidFill>
                  <a:srgbClr val="0070C0"/>
                </a:solidFill>
                <a:latin typeface="Helvetica" pitchFamily="2" charset="0"/>
              </a:rPr>
              <a:t>2</a:t>
            </a:r>
            <a:endParaRPr lang="en-US" sz="2000" b="1" dirty="0">
              <a:solidFill>
                <a:srgbClr val="0070C0"/>
              </a:solidFill>
              <a:latin typeface="Helvetica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CBFB49-7C75-2398-7C17-6B9999FFD7D2}"/>
              </a:ext>
            </a:extLst>
          </p:cNvPr>
          <p:cNvSpPr txBox="1"/>
          <p:nvPr/>
        </p:nvSpPr>
        <p:spPr>
          <a:xfrm>
            <a:off x="9950475" y="5284509"/>
            <a:ext cx="4940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Helvetica" pitchFamily="2" charset="0"/>
              </a:rPr>
              <a:t>D</a:t>
            </a:r>
            <a:r>
              <a:rPr lang="en-US" sz="2000" b="1" baseline="-25000" dirty="0">
                <a:solidFill>
                  <a:srgbClr val="0070C0"/>
                </a:solidFill>
                <a:latin typeface="Helvetica" pitchFamily="2" charset="0"/>
              </a:rPr>
              <a:t>N</a:t>
            </a:r>
            <a:endParaRPr lang="en-US" sz="2000" b="1" dirty="0">
              <a:solidFill>
                <a:srgbClr val="0070C0"/>
              </a:solidFill>
              <a:latin typeface="Helvetica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30F6EB-C58C-09BE-27E4-68D13AABA58B}"/>
              </a:ext>
            </a:extLst>
          </p:cNvPr>
          <p:cNvSpPr txBox="1"/>
          <p:nvPr/>
        </p:nvSpPr>
        <p:spPr>
          <a:xfrm>
            <a:off x="7618271" y="5287656"/>
            <a:ext cx="465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Helvetica" pitchFamily="2" charset="0"/>
              </a:rPr>
              <a:t>D</a:t>
            </a:r>
            <a:r>
              <a:rPr lang="en-US" sz="2000" b="1" baseline="-25000" dirty="0">
                <a:solidFill>
                  <a:srgbClr val="0070C0"/>
                </a:solidFill>
                <a:latin typeface="Helvetica" pitchFamily="2" charset="0"/>
              </a:rPr>
              <a:t>3</a:t>
            </a:r>
            <a:endParaRPr lang="en-US" sz="2000" b="1" dirty="0">
              <a:solidFill>
                <a:srgbClr val="0070C0"/>
              </a:solidFill>
              <a:latin typeface="Helvetica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69DE8B-DFAF-9E6E-EF0C-3E34A9D75CD0}"/>
              </a:ext>
            </a:extLst>
          </p:cNvPr>
          <p:cNvSpPr txBox="1"/>
          <p:nvPr/>
        </p:nvSpPr>
        <p:spPr>
          <a:xfrm>
            <a:off x="9925181" y="4553744"/>
            <a:ext cx="479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Helvetica" pitchFamily="2" charset="0"/>
              </a:rPr>
              <a:t>P</a:t>
            </a:r>
            <a:r>
              <a:rPr lang="en-US" sz="2000" b="1" baseline="-25000" dirty="0">
                <a:solidFill>
                  <a:schemeClr val="accent5">
                    <a:lumMod val="50000"/>
                  </a:schemeClr>
                </a:solidFill>
                <a:latin typeface="Helvetica" pitchFamily="2" charset="0"/>
              </a:rPr>
              <a:t>N</a:t>
            </a:r>
            <a:endParaRPr lang="en-US" b="1" dirty="0">
              <a:solidFill>
                <a:schemeClr val="accent5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B27FBA-F340-1920-6061-911F31DDEF16}"/>
              </a:ext>
            </a:extLst>
          </p:cNvPr>
          <p:cNvSpPr txBox="1"/>
          <p:nvPr/>
        </p:nvSpPr>
        <p:spPr>
          <a:xfrm>
            <a:off x="9977636" y="4884399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Helvetica" pitchFamily="2" charset="0"/>
              </a:rPr>
              <a:t>+</a:t>
            </a:r>
            <a:endParaRPr lang="en-US" dirty="0">
              <a:solidFill>
                <a:schemeClr val="accent5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0DC298-F646-7869-821E-56F2FDDEB912}"/>
              </a:ext>
            </a:extLst>
          </p:cNvPr>
          <p:cNvSpPr txBox="1"/>
          <p:nvPr/>
        </p:nvSpPr>
        <p:spPr>
          <a:xfrm>
            <a:off x="248530" y="4578944"/>
            <a:ext cx="9292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Helvetica" pitchFamily="2" charset="0"/>
              </a:rPr>
              <a:t>If we assume we want to buy Stock A today and plan to sell it after </a:t>
            </a:r>
            <a:r>
              <a:rPr lang="en-US" sz="2000" b="1" i="1" dirty="0">
                <a:latin typeface="Helvetica" pitchFamily="2" charset="0"/>
              </a:rPr>
              <a:t>N </a:t>
            </a:r>
            <a:r>
              <a:rPr lang="en-US" sz="2000" i="1" dirty="0">
                <a:latin typeface="Helvetica" pitchFamily="2" charset="0"/>
              </a:rPr>
              <a:t>years, then: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D47417E-4945-1E4B-B583-8D3CBABFEB0A}"/>
              </a:ext>
            </a:extLst>
          </p:cNvPr>
          <p:cNvGrpSpPr/>
          <p:nvPr/>
        </p:nvGrpSpPr>
        <p:grpSpPr>
          <a:xfrm>
            <a:off x="838200" y="5374659"/>
            <a:ext cx="10242589" cy="1195826"/>
            <a:chOff x="838200" y="5374659"/>
            <a:chExt cx="10242589" cy="119582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2254155-BF61-A077-4CAF-6FC95072042C}"/>
                </a:ext>
              </a:extLst>
            </p:cNvPr>
            <p:cNvGrpSpPr/>
            <p:nvPr/>
          </p:nvGrpSpPr>
          <p:grpSpPr>
            <a:xfrm>
              <a:off x="838200" y="5772537"/>
              <a:ext cx="10242589" cy="797948"/>
              <a:chOff x="873086" y="5053331"/>
              <a:chExt cx="10242589" cy="1147434"/>
            </a:xfrm>
            <a:noFill/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2990046A-0D24-07FB-E2A7-DC3E16C4060E}"/>
                  </a:ext>
                </a:extLst>
              </p:cNvPr>
              <p:cNvGrpSpPr/>
              <p:nvPr/>
            </p:nvGrpSpPr>
            <p:grpSpPr>
              <a:xfrm>
                <a:off x="1027135" y="5053331"/>
                <a:ext cx="10088540" cy="475932"/>
                <a:chOff x="1027135" y="5053331"/>
                <a:chExt cx="10088540" cy="475932"/>
              </a:xfrm>
              <a:grpFill/>
            </p:grpSpPr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11772987-39BB-3AAD-778B-C712C03268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5" y="5285984"/>
                  <a:ext cx="10088540" cy="14677"/>
                </a:xfrm>
                <a:prstGeom prst="straightConnector1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8081A55D-E41D-546B-4A04-7A71052934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6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5630F749-ABEF-FF67-57DD-C1216A121E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93890" y="5072062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89B6B111-61AA-9230-2608-A5BB0A8DE3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90258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86BADE94-0A23-21CD-B8A5-ECFE406998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70524" y="505333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87181A02-9A67-554D-D2EF-66626270A5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4923" y="5072063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1BB8AC8-D593-6E06-787F-3767AA625B00}"/>
                  </a:ext>
                </a:extLst>
              </p:cNvPr>
              <p:cNvSpPr txBox="1"/>
              <p:nvPr/>
            </p:nvSpPr>
            <p:spPr>
              <a:xfrm>
                <a:off x="873086" y="5713928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0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57E8F5-9926-DEAF-ED60-1A4C2F6B2451}"/>
                  </a:ext>
                </a:extLst>
              </p:cNvPr>
              <p:cNvSpPr txBox="1"/>
              <p:nvPr/>
            </p:nvSpPr>
            <p:spPr>
              <a:xfrm>
                <a:off x="3139841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1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1A270A-FD84-CEC6-FAF0-29FB119CDC9A}"/>
                  </a:ext>
                </a:extLst>
              </p:cNvPr>
              <p:cNvSpPr txBox="1"/>
              <p:nvPr/>
            </p:nvSpPr>
            <p:spPr>
              <a:xfrm>
                <a:off x="5420874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2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5D9A87E-4351-659E-BBA9-90D4589C12C1}"/>
                  </a:ext>
                </a:extLst>
              </p:cNvPr>
              <p:cNvSpPr txBox="1"/>
              <p:nvPr/>
            </p:nvSpPr>
            <p:spPr>
              <a:xfrm>
                <a:off x="7716475" y="5710715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3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033360-9126-D847-7E9F-6726C10B1402}"/>
                  </a:ext>
                </a:extLst>
              </p:cNvPr>
              <p:cNvSpPr txBox="1"/>
              <p:nvPr/>
            </p:nvSpPr>
            <p:spPr>
              <a:xfrm>
                <a:off x="10036209" y="5710715"/>
                <a:ext cx="332142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N</a:t>
                </a: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65579B1-BA3A-62D3-2A98-FB1D7051E3D3}"/>
                </a:ext>
              </a:extLst>
            </p:cNvPr>
            <p:cNvSpPr txBox="1"/>
            <p:nvPr/>
          </p:nvSpPr>
          <p:spPr>
            <a:xfrm>
              <a:off x="8706804" y="5374659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Helvetica" pitchFamily="2" charset="0"/>
                </a:rPr>
                <a:t>….</a:t>
              </a:r>
              <a:endParaRPr lang="en-US" b="1" dirty="0">
                <a:latin typeface="Helvetica" pitchFamily="2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82F9212-E6E7-1991-0EEF-234B7077C516}"/>
                </a:ext>
              </a:extLst>
            </p:cNvPr>
            <p:cNvSpPr txBox="1"/>
            <p:nvPr/>
          </p:nvSpPr>
          <p:spPr>
            <a:xfrm>
              <a:off x="8699637" y="5859649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Helvetica" pitchFamily="2" charset="0"/>
                </a:rPr>
                <a:t>….</a:t>
              </a:r>
              <a:endParaRPr lang="en-US" b="1" dirty="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989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 animBg="1"/>
      <p:bldP spid="7" grpId="0" animBg="1"/>
      <p:bldP spid="8" grpId="0"/>
      <p:bldP spid="29" grpId="0"/>
      <p:bldP spid="30" grpId="0"/>
      <p:bldP spid="31" grpId="0"/>
      <p:bldP spid="32" grpId="0"/>
      <p:bldP spid="34" grpId="0"/>
      <p:bldP spid="35" grpId="0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D8A18-38AA-2D15-B19C-742228A1C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A7DC497-7678-CC46-92FF-B33AF9D9BDD1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7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483D5C-09C3-E124-D857-A3CF3A995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A1. DDM - Important Terms</a:t>
            </a:r>
            <a:endParaRPr lang="en-US" sz="4000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9F82AA-5702-8F96-FFB9-7464279FB23C}"/>
              </a:ext>
            </a:extLst>
          </p:cNvPr>
          <p:cNvSpPr txBox="1"/>
          <p:nvPr/>
        </p:nvSpPr>
        <p:spPr>
          <a:xfrm>
            <a:off x="198605" y="1550869"/>
            <a:ext cx="11794788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D₁, D₂, ... = expected future dividends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P₀ = current stock price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P̂ₜ = expected future price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g = expected growth rate of dividends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latin typeface="Helvetica" pitchFamily="2" charset="0"/>
              </a:rPr>
              <a:t>rₛ = required rate of return (based on risk)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r̂ₛ = expected rate of return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r̄ₛ</a:t>
            </a:r>
            <a:r>
              <a:rPr lang="en-US" sz="2400" dirty="0">
                <a:latin typeface="Helvetica" pitchFamily="2" charset="0"/>
              </a:rPr>
              <a:t> = actual, realized return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Dividend Yield</a:t>
            </a:r>
            <a:r>
              <a:rPr lang="en-US" sz="2400" dirty="0">
                <a:latin typeface="Helvetica" pitchFamily="2" charset="0"/>
              </a:rPr>
              <a:t> = D₁ / P₀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Capital Gains Yield</a:t>
            </a:r>
            <a:r>
              <a:rPr lang="en-US" sz="2400" dirty="0">
                <a:latin typeface="Helvetica" pitchFamily="2" charset="0"/>
              </a:rPr>
              <a:t> = % change in price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Total Return</a:t>
            </a:r>
            <a:r>
              <a:rPr lang="en-US" sz="2400" dirty="0">
                <a:latin typeface="Helvetica" pitchFamily="2" charset="0"/>
              </a:rPr>
              <a:t> = Dividend Yield + Capital Gains Yield</a:t>
            </a:r>
          </a:p>
        </p:txBody>
      </p:sp>
    </p:spTree>
    <p:extLst>
      <p:ext uri="{BB962C8B-B14F-4D97-AF65-F5344CB8AC3E}">
        <p14:creationId xmlns:p14="http://schemas.microsoft.com/office/powerpoint/2010/main" val="2065962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7968B-10ED-F3EB-EE65-972783EC7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71B8B9-FB63-81B1-F22D-F8E7D5A214F1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7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2F726C-DE40-40BC-2E73-3ED485072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19" y="284102"/>
            <a:ext cx="11864897" cy="982663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A2. Expected Dividends as the Basis for Stock Values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3B6E137-06FA-46CD-D933-E7281116F5CC}"/>
              </a:ext>
            </a:extLst>
          </p:cNvPr>
          <p:cNvGrpSpPr/>
          <p:nvPr/>
        </p:nvGrpSpPr>
        <p:grpSpPr>
          <a:xfrm>
            <a:off x="860502" y="1481969"/>
            <a:ext cx="10242589" cy="1345294"/>
            <a:chOff x="860502" y="1682687"/>
            <a:chExt cx="10242589" cy="1345294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A1F7489-8B9E-B894-8E16-4C099ECB4A86}"/>
                </a:ext>
              </a:extLst>
            </p:cNvPr>
            <p:cNvGrpSpPr/>
            <p:nvPr/>
          </p:nvGrpSpPr>
          <p:grpSpPr>
            <a:xfrm>
              <a:off x="860502" y="1682687"/>
              <a:ext cx="10242589" cy="1345294"/>
              <a:chOff x="838200" y="2173330"/>
              <a:chExt cx="10242589" cy="1345294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71615848-9992-5039-D163-AD317FAF6D1D}"/>
                  </a:ext>
                </a:extLst>
              </p:cNvPr>
              <p:cNvGrpSpPr/>
              <p:nvPr/>
            </p:nvGrpSpPr>
            <p:grpSpPr>
              <a:xfrm>
                <a:off x="838200" y="2661357"/>
                <a:ext cx="10242589" cy="857267"/>
                <a:chOff x="873086" y="5053331"/>
                <a:chExt cx="10242589" cy="1232734"/>
              </a:xfrm>
              <a:noFill/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FFBB99D9-7A83-C5E6-1746-8253096A4CCC}"/>
                    </a:ext>
                  </a:extLst>
                </p:cNvPr>
                <p:cNvGrpSpPr/>
                <p:nvPr/>
              </p:nvGrpSpPr>
              <p:grpSpPr>
                <a:xfrm>
                  <a:off x="1027135" y="5053331"/>
                  <a:ext cx="10088540" cy="475932"/>
                  <a:chOff x="1027135" y="5053331"/>
                  <a:chExt cx="10088540" cy="475932"/>
                </a:xfrm>
                <a:grpFill/>
              </p:grpSpPr>
              <p:cxnSp>
                <p:nvCxnSpPr>
                  <p:cNvPr id="31" name="Straight Arrow Connector 30">
                    <a:extLst>
                      <a:ext uri="{FF2B5EF4-FFF2-40B4-BE49-F238E27FC236}">
                        <a16:creationId xmlns:a16="http://schemas.microsoft.com/office/drawing/2014/main" id="{767ACA23-0469-659A-7AA1-1B2607DB68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5" y="5285984"/>
                    <a:ext cx="10088540" cy="14677"/>
                  </a:xfrm>
                  <a:prstGeom prst="straightConnector1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3848D4D4-ED97-5104-E2F7-D3C856FFA5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6" y="507206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Connector 32">
                    <a:extLst>
                      <a:ext uri="{FF2B5EF4-FFF2-40B4-BE49-F238E27FC236}">
                        <a16:creationId xmlns:a16="http://schemas.microsoft.com/office/drawing/2014/main" id="{E209C089-01B8-D1D4-05DB-C754730AC1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93890" y="5072062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B54D6741-DEC2-86FB-2CAE-7EB3B84317A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90258" y="507206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3C1CEB1A-7713-C717-4B5E-6CE3A41C19C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870524" y="505333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56BC5FC6-486A-50BB-B495-641BAA077D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74923" y="5072063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00372C7-82DD-C915-BEB5-CD709C7ECBA3}"/>
                    </a:ext>
                  </a:extLst>
                </p:cNvPr>
                <p:cNvSpPr txBox="1"/>
                <p:nvPr/>
              </p:nvSpPr>
              <p:spPr>
                <a:xfrm>
                  <a:off x="873086" y="5713928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0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B29AC1C-6085-D356-C650-C0745E79CD1E}"/>
                    </a:ext>
                  </a:extLst>
                </p:cNvPr>
                <p:cNvSpPr txBox="1"/>
                <p:nvPr/>
              </p:nvSpPr>
              <p:spPr>
                <a:xfrm>
                  <a:off x="3139841" y="5713931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1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1C0CD0F-3545-626D-E970-BB17CB4E424D}"/>
                    </a:ext>
                  </a:extLst>
                </p:cNvPr>
                <p:cNvSpPr txBox="1"/>
                <p:nvPr/>
              </p:nvSpPr>
              <p:spPr>
                <a:xfrm>
                  <a:off x="5420874" y="5713931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2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F1C44DA-C8DF-B175-189B-85C90A468E59}"/>
                    </a:ext>
                  </a:extLst>
                </p:cNvPr>
                <p:cNvSpPr txBox="1"/>
                <p:nvPr/>
              </p:nvSpPr>
              <p:spPr>
                <a:xfrm>
                  <a:off x="7716475" y="5710715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3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2C5CF33-14E7-3B5B-E961-3F6CCD50F130}"/>
                    </a:ext>
                  </a:extLst>
                </p:cNvPr>
                <p:cNvSpPr txBox="1"/>
                <p:nvPr/>
              </p:nvSpPr>
              <p:spPr>
                <a:xfrm>
                  <a:off x="10036209" y="5710714"/>
                  <a:ext cx="380232" cy="575351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b="1" dirty="0">
                      <a:solidFill>
                        <a:srgbClr val="C00000"/>
                      </a:solidFill>
                      <a:latin typeface="Helvetica" pitchFamily="2" charset="0"/>
                    </a:rPr>
                    <a:t>∞</a:t>
                  </a:r>
                  <a:endParaRPr lang="en-US" sz="1600" b="1" dirty="0">
                    <a:solidFill>
                      <a:srgbClr val="C00000"/>
                    </a:solidFill>
                    <a:latin typeface="Helvetica" pitchFamily="2" charset="0"/>
                  </a:endParaRPr>
                </a:p>
              </p:txBody>
            </p: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F820AE7-05A9-1B8E-A607-64BE4C473F81}"/>
                  </a:ext>
                </a:extLst>
              </p:cNvPr>
              <p:cNvSpPr txBox="1"/>
              <p:nvPr/>
            </p:nvSpPr>
            <p:spPr>
              <a:xfrm>
                <a:off x="3041637" y="2173330"/>
                <a:ext cx="46519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70C0"/>
                    </a:solidFill>
                    <a:latin typeface="Helvetica" pitchFamily="2" charset="0"/>
                  </a:rPr>
                  <a:t>D</a:t>
                </a:r>
                <a:r>
                  <a:rPr lang="en-US" sz="2000" b="1" baseline="-25000" dirty="0">
                    <a:solidFill>
                      <a:srgbClr val="0070C0"/>
                    </a:solidFill>
                    <a:latin typeface="Helvetica" pitchFamily="2" charset="0"/>
                  </a:rPr>
                  <a:t>1</a:t>
                </a:r>
                <a:endParaRPr lang="en-US" sz="2000" b="1" dirty="0">
                  <a:solidFill>
                    <a:srgbClr val="0070C0"/>
                  </a:solidFill>
                  <a:latin typeface="Helvetica" pitchFamily="2" charset="0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CDC2753-5E9E-1C18-C30A-1E2C0A5B951A}"/>
                  </a:ext>
                </a:extLst>
              </p:cNvPr>
              <p:cNvSpPr txBox="1"/>
              <p:nvPr/>
            </p:nvSpPr>
            <p:spPr>
              <a:xfrm>
                <a:off x="5329954" y="2173330"/>
                <a:ext cx="46519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70C0"/>
                    </a:solidFill>
                    <a:latin typeface="Helvetica" pitchFamily="2" charset="0"/>
                  </a:rPr>
                  <a:t>D</a:t>
                </a:r>
                <a:r>
                  <a:rPr lang="en-US" sz="2000" b="1" baseline="-25000" dirty="0">
                    <a:solidFill>
                      <a:srgbClr val="0070C0"/>
                    </a:solidFill>
                    <a:latin typeface="Helvetica" pitchFamily="2" charset="0"/>
                  </a:rPr>
                  <a:t>2</a:t>
                </a:r>
                <a:endParaRPr lang="en-US" sz="2000" b="1" dirty="0">
                  <a:solidFill>
                    <a:srgbClr val="0070C0"/>
                  </a:solidFill>
                  <a:latin typeface="Helvetica" pitchFamily="2" charset="0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1662F4B-E125-31B2-22AC-FB0DC4B85ADD}"/>
                  </a:ext>
                </a:extLst>
              </p:cNvPr>
              <p:cNvSpPr txBox="1"/>
              <p:nvPr/>
            </p:nvSpPr>
            <p:spPr>
              <a:xfrm>
                <a:off x="9950475" y="2173330"/>
                <a:ext cx="54053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C00000"/>
                    </a:solidFill>
                    <a:latin typeface="Helvetica" pitchFamily="2" charset="0"/>
                  </a:rPr>
                  <a:t>D</a:t>
                </a:r>
                <a:r>
                  <a:rPr lang="en-US" sz="2800" b="1" baseline="-25000" dirty="0">
                    <a:solidFill>
                      <a:srgbClr val="C00000"/>
                    </a:solidFill>
                    <a:latin typeface="Helvetica" pitchFamily="2" charset="0"/>
                  </a:rPr>
                  <a:t>∞</a:t>
                </a:r>
                <a:endParaRPr lang="en-US" sz="2000" b="1" baseline="-25000" dirty="0">
                  <a:solidFill>
                    <a:srgbClr val="C00000"/>
                  </a:solidFill>
                  <a:latin typeface="Helvetica" pitchFamily="2" charset="0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39B25B8-A202-7F08-0318-B6798DF8432C}"/>
                  </a:ext>
                </a:extLst>
              </p:cNvPr>
              <p:cNvSpPr txBox="1"/>
              <p:nvPr/>
            </p:nvSpPr>
            <p:spPr>
              <a:xfrm>
                <a:off x="7618271" y="2176477"/>
                <a:ext cx="46519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70C0"/>
                    </a:solidFill>
                    <a:latin typeface="Helvetica" pitchFamily="2" charset="0"/>
                  </a:rPr>
                  <a:t>D</a:t>
                </a:r>
                <a:r>
                  <a:rPr lang="en-US" sz="2000" b="1" baseline="-25000" dirty="0">
                    <a:solidFill>
                      <a:srgbClr val="0070C0"/>
                    </a:solidFill>
                    <a:latin typeface="Helvetica" pitchFamily="2" charset="0"/>
                  </a:rPr>
                  <a:t>3</a:t>
                </a:r>
                <a:endParaRPr lang="en-US" sz="2000" b="1" dirty="0">
                  <a:solidFill>
                    <a:srgbClr val="0070C0"/>
                  </a:solidFill>
                  <a:latin typeface="Helvetica" pitchFamily="2" charset="0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E8520F6-A8C8-1D18-A424-C7E72A45EA16}"/>
                </a:ext>
              </a:extLst>
            </p:cNvPr>
            <p:cNvSpPr txBox="1"/>
            <p:nvPr/>
          </p:nvSpPr>
          <p:spPr>
            <a:xfrm>
              <a:off x="8727081" y="1750120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Helvetica" pitchFamily="2" charset="0"/>
                </a:rPr>
                <a:t>….</a:t>
              </a:r>
              <a:endParaRPr lang="en-US" b="1" dirty="0">
                <a:latin typeface="Helvetica" pitchFamily="2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E0CC990-53F2-5E3D-8785-970BD7E546B0}"/>
                </a:ext>
              </a:extLst>
            </p:cNvPr>
            <p:cNvSpPr txBox="1"/>
            <p:nvPr/>
          </p:nvSpPr>
          <p:spPr>
            <a:xfrm>
              <a:off x="8724297" y="2313182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Helvetica" pitchFamily="2" charset="0"/>
                </a:rPr>
                <a:t>….</a:t>
              </a:r>
              <a:endParaRPr lang="en-US" b="1" dirty="0">
                <a:latin typeface="Helvetica" pitchFamily="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99F4EF9-0E9C-6392-8321-3DEE65154A5F}"/>
                  </a:ext>
                </a:extLst>
              </p:cNvPr>
              <p:cNvSpPr txBox="1"/>
              <p:nvPr/>
            </p:nvSpPr>
            <p:spPr>
              <a:xfrm>
                <a:off x="1763639" y="4128123"/>
                <a:ext cx="7886261" cy="8683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</m:acc>
                        </m:e>
                        <m:sub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den>
                      </m:f>
                      <m:r>
                        <a:rPr lang="en-US" sz="24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sz="24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sz="24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1" dirty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Helvetica" pitchFamily="2" charset="0"/>
                                </a:rPr>
                                <m:t>∞ 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2400" b="1" dirty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Helvetica" pitchFamily="2" charset="0"/>
                                </a:rPr>
                                <m:t>∞ 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b="1" dirty="0">
                  <a:solidFill>
                    <a:schemeClr val="accent5">
                      <a:lumMod val="50000"/>
                    </a:schemeClr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99F4EF9-0E9C-6392-8321-3DEE65154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39" y="4128123"/>
                <a:ext cx="7886261" cy="868379"/>
              </a:xfrm>
              <a:prstGeom prst="rect">
                <a:avLst/>
              </a:prstGeom>
              <a:blipFill>
                <a:blip r:embed="rId2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BA954FB-4553-CD6B-92C5-EEBEE2CF9530}"/>
                  </a:ext>
                </a:extLst>
              </p:cNvPr>
              <p:cNvSpPr txBox="1"/>
              <p:nvPr/>
            </p:nvSpPr>
            <p:spPr>
              <a:xfrm>
                <a:off x="4098387" y="5072228"/>
                <a:ext cx="2507738" cy="10674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</m:acc>
                        </m:e>
                        <m:sub>
                          <m:r>
                            <a:rPr lang="en-US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sz="2400" b="1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Helvetica" pitchFamily="2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sz="2400" b="1" i="1" smtClean="0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400" b="1" i="1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sz="2400" b="1" i="1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𝒔</m:t>
                                      </m:r>
                                    </m:sub>
                                  </m:sSub>
                                  <m: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400" b="1" i="1" smtClean="0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2400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BA954FB-4553-CD6B-92C5-EEBEE2CF9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387" y="5072228"/>
                <a:ext cx="2507738" cy="1067408"/>
              </a:xfrm>
              <a:prstGeom prst="rect">
                <a:avLst/>
              </a:prstGeom>
              <a:blipFill>
                <a:blip r:embed="rId3"/>
                <a:stretch>
                  <a:fillRect l="-14573" t="-108235" b="-17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18729809-1E99-640D-FA12-490A27E68C3D}"/>
              </a:ext>
            </a:extLst>
          </p:cNvPr>
          <p:cNvGrpSpPr/>
          <p:nvPr/>
        </p:nvGrpSpPr>
        <p:grpSpPr>
          <a:xfrm>
            <a:off x="1014550" y="2368123"/>
            <a:ext cx="2341365" cy="749789"/>
            <a:chOff x="1014550" y="2568841"/>
            <a:chExt cx="2341365" cy="749789"/>
          </a:xfrm>
        </p:grpSpPr>
        <p:sp>
          <p:nvSpPr>
            <p:cNvPr id="51" name="Bent Arrow 50">
              <a:extLst>
                <a:ext uri="{FF2B5EF4-FFF2-40B4-BE49-F238E27FC236}">
                  <a16:creationId xmlns:a16="http://schemas.microsoft.com/office/drawing/2014/main" id="{A277DD14-D08A-FB7D-6CAE-258412F1B543}"/>
                </a:ext>
              </a:extLst>
            </p:cNvPr>
            <p:cNvSpPr/>
            <p:nvPr/>
          </p:nvSpPr>
          <p:spPr>
            <a:xfrm rot="10800000">
              <a:off x="1014550" y="2986238"/>
              <a:ext cx="2341365" cy="332392"/>
            </a:xfrm>
            <a:prstGeom prst="bentArrow">
              <a:avLst>
                <a:gd name="adj1" fmla="val 4871"/>
                <a:gd name="adj2" fmla="val 25000"/>
                <a:gd name="adj3" fmla="val 38419"/>
                <a:gd name="adj4" fmla="val 4375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95D7135B-B6F0-D948-09E4-C83F65AC7CFB}"/>
                    </a:ext>
                  </a:extLst>
                </p:cNvPr>
                <p:cNvSpPr txBox="1"/>
                <p:nvPr/>
              </p:nvSpPr>
              <p:spPr>
                <a:xfrm>
                  <a:off x="1827799" y="2568841"/>
                  <a:ext cx="65537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1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3200" b="1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95D7135B-B6F0-D948-09E4-C83F65AC7C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7799" y="2568841"/>
                  <a:ext cx="655371" cy="584775"/>
                </a:xfrm>
                <a:prstGeom prst="rect">
                  <a:avLst/>
                </a:prstGeom>
                <a:blipFill>
                  <a:blip r:embed="rId4"/>
                  <a:stretch>
                    <a:fillRect b="-2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D68916B-E7B9-F52B-0124-7B9CDEA3EC65}"/>
              </a:ext>
            </a:extLst>
          </p:cNvPr>
          <p:cNvGrpSpPr/>
          <p:nvPr/>
        </p:nvGrpSpPr>
        <p:grpSpPr>
          <a:xfrm>
            <a:off x="1014548" y="2698891"/>
            <a:ext cx="4576753" cy="639759"/>
            <a:chOff x="1014548" y="2899609"/>
            <a:chExt cx="4576753" cy="639759"/>
          </a:xfrm>
        </p:grpSpPr>
        <p:sp>
          <p:nvSpPr>
            <p:cNvPr id="52" name="Bent Arrow 51">
              <a:extLst>
                <a:ext uri="{FF2B5EF4-FFF2-40B4-BE49-F238E27FC236}">
                  <a16:creationId xmlns:a16="http://schemas.microsoft.com/office/drawing/2014/main" id="{EC0D5ADB-C45B-2C74-A902-8BBE958C96A4}"/>
                </a:ext>
              </a:extLst>
            </p:cNvPr>
            <p:cNvSpPr/>
            <p:nvPr/>
          </p:nvSpPr>
          <p:spPr>
            <a:xfrm rot="10800000">
              <a:off x="1014548" y="3003813"/>
              <a:ext cx="4576753" cy="535555"/>
            </a:xfrm>
            <a:prstGeom prst="bentArrow">
              <a:avLst>
                <a:gd name="adj1" fmla="val 4871"/>
                <a:gd name="adj2" fmla="val 12507"/>
                <a:gd name="adj3" fmla="val 25000"/>
                <a:gd name="adj4" fmla="val 4375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CEAFAE33-EC2D-A6C8-FD62-5C467F898B8A}"/>
                    </a:ext>
                  </a:extLst>
                </p:cNvPr>
                <p:cNvSpPr txBox="1"/>
                <p:nvPr/>
              </p:nvSpPr>
              <p:spPr>
                <a:xfrm>
                  <a:off x="4145922" y="2899609"/>
                  <a:ext cx="65537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1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3200" b="1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CEAFAE33-EC2D-A6C8-FD62-5C467F898B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5922" y="2899609"/>
                  <a:ext cx="655371" cy="584775"/>
                </a:xfrm>
                <a:prstGeom prst="rect">
                  <a:avLst/>
                </a:prstGeom>
                <a:blipFill>
                  <a:blip r:embed="rId5"/>
                  <a:stretch>
                    <a:fillRect b="-2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18B06A1-599D-C7B6-5008-15FE2A496373}"/>
              </a:ext>
            </a:extLst>
          </p:cNvPr>
          <p:cNvGrpSpPr/>
          <p:nvPr/>
        </p:nvGrpSpPr>
        <p:grpSpPr>
          <a:xfrm>
            <a:off x="1014547" y="2787984"/>
            <a:ext cx="6865130" cy="844215"/>
            <a:chOff x="1014547" y="2988702"/>
            <a:chExt cx="6865130" cy="844215"/>
          </a:xfrm>
        </p:grpSpPr>
        <p:sp>
          <p:nvSpPr>
            <p:cNvPr id="53" name="Bent Arrow 52">
              <a:extLst>
                <a:ext uri="{FF2B5EF4-FFF2-40B4-BE49-F238E27FC236}">
                  <a16:creationId xmlns:a16="http://schemas.microsoft.com/office/drawing/2014/main" id="{8822C35C-21CE-09FE-F972-28096F3CE8C3}"/>
                </a:ext>
              </a:extLst>
            </p:cNvPr>
            <p:cNvSpPr/>
            <p:nvPr/>
          </p:nvSpPr>
          <p:spPr>
            <a:xfrm rot="10800000">
              <a:off x="1014547" y="2988702"/>
              <a:ext cx="6865130" cy="844215"/>
            </a:xfrm>
            <a:prstGeom prst="bentArrow">
              <a:avLst>
                <a:gd name="adj1" fmla="val 3550"/>
                <a:gd name="adj2" fmla="val 8544"/>
                <a:gd name="adj3" fmla="val 17075"/>
                <a:gd name="adj4" fmla="val 4375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6D6AE0CC-0031-6725-C201-F154FA264144}"/>
                    </a:ext>
                  </a:extLst>
                </p:cNvPr>
                <p:cNvSpPr txBox="1"/>
                <p:nvPr/>
              </p:nvSpPr>
              <p:spPr>
                <a:xfrm>
                  <a:off x="6600701" y="3118422"/>
                  <a:ext cx="65537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1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3200" b="1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6D6AE0CC-0031-6725-C201-F154FA2641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0701" y="3118422"/>
                  <a:ext cx="655371" cy="584775"/>
                </a:xfrm>
                <a:prstGeom prst="rect">
                  <a:avLst/>
                </a:prstGeom>
                <a:blipFill>
                  <a:blip r:embed="rId6"/>
                  <a:stretch>
                    <a:fillRect b="-2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C12BE24-AA33-B6D1-4D1C-FD556F37BC0D}"/>
              </a:ext>
            </a:extLst>
          </p:cNvPr>
          <p:cNvGrpSpPr/>
          <p:nvPr/>
        </p:nvGrpSpPr>
        <p:grpSpPr>
          <a:xfrm>
            <a:off x="1014544" y="2844839"/>
            <a:ext cx="9206499" cy="1014628"/>
            <a:chOff x="1014544" y="3045557"/>
            <a:chExt cx="9206499" cy="1014628"/>
          </a:xfrm>
        </p:grpSpPr>
        <p:sp>
          <p:nvSpPr>
            <p:cNvPr id="54" name="Bent Arrow 53">
              <a:extLst>
                <a:ext uri="{FF2B5EF4-FFF2-40B4-BE49-F238E27FC236}">
                  <a16:creationId xmlns:a16="http://schemas.microsoft.com/office/drawing/2014/main" id="{B8A7E1EB-55D4-A19F-AE06-A120E201AC59}"/>
                </a:ext>
              </a:extLst>
            </p:cNvPr>
            <p:cNvSpPr/>
            <p:nvPr/>
          </p:nvSpPr>
          <p:spPr>
            <a:xfrm rot="10800000">
              <a:off x="1014544" y="3045557"/>
              <a:ext cx="9206499" cy="1014628"/>
            </a:xfrm>
            <a:prstGeom prst="bentArrow">
              <a:avLst>
                <a:gd name="adj1" fmla="val 3550"/>
                <a:gd name="adj2" fmla="val 7967"/>
                <a:gd name="adj3" fmla="val 15921"/>
                <a:gd name="adj4" fmla="val 4375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CCA88EDF-B02F-CD2F-F23A-4B104EB7367A}"/>
                    </a:ext>
                  </a:extLst>
                </p:cNvPr>
                <p:cNvSpPr txBox="1"/>
                <p:nvPr/>
              </p:nvSpPr>
              <p:spPr>
                <a:xfrm>
                  <a:off x="8887058" y="3317351"/>
                  <a:ext cx="65537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1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3200" b="1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CCA88EDF-B02F-CD2F-F23A-4B104EB736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7058" y="3317351"/>
                  <a:ext cx="655371" cy="584775"/>
                </a:xfrm>
                <a:prstGeom prst="rect">
                  <a:avLst/>
                </a:prstGeom>
                <a:blipFill>
                  <a:blip r:embed="rId7"/>
                  <a:stretch>
                    <a:fillRect b="-2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FEC53B5D-7057-E5EE-262E-401759AE12F2}"/>
              </a:ext>
            </a:extLst>
          </p:cNvPr>
          <p:cNvSpPr txBox="1"/>
          <p:nvPr/>
        </p:nvSpPr>
        <p:spPr>
          <a:xfrm>
            <a:off x="450062" y="6237664"/>
            <a:ext cx="11291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i="0" dirty="0">
                <a:effectLst/>
                <a:latin typeface="Helvetica" pitchFamily="2" charset="0"/>
              </a:rPr>
              <a:t>This is a generalized stock valuation model in the sense that the time pattern of </a:t>
            </a:r>
            <a:r>
              <a:rPr lang="en-US" sz="2000" b="1" i="0" dirty="0">
                <a:effectLst/>
                <a:latin typeface="Helvetica" pitchFamily="2" charset="0"/>
              </a:rPr>
              <a:t>D</a:t>
            </a:r>
            <a:r>
              <a:rPr lang="en-US" sz="2000" b="1" baseline="-25000" dirty="0">
                <a:latin typeface="Helvetica" pitchFamily="2" charset="0"/>
              </a:rPr>
              <a:t>t</a:t>
            </a:r>
            <a:r>
              <a:rPr lang="en-US" sz="2000" b="1" i="0" dirty="0">
                <a:effectLst/>
                <a:latin typeface="Helvetica" pitchFamily="2" charset="0"/>
              </a:rPr>
              <a:t> </a:t>
            </a:r>
            <a:r>
              <a:rPr lang="en-US" sz="2000" b="0" i="0" dirty="0">
                <a:effectLst/>
                <a:latin typeface="Helvetica" pitchFamily="2" charset="0"/>
              </a:rPr>
              <a:t>can be anything</a:t>
            </a:r>
            <a:endParaRPr lang="en-US" sz="20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220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9" grpId="0"/>
      <p:bldP spid="6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C9FE5-1920-F16C-5166-DB9EAC75D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8444C0-B3F3-533A-B4C1-8800D4E72CB3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7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30175-2073-6461-E9EB-695830823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i="0" dirty="0">
                <a:solidFill>
                  <a:schemeClr val="bg1"/>
                </a:solidFill>
                <a:effectLst/>
                <a:latin typeface="Helvetica" pitchFamily="2" charset="0"/>
              </a:rPr>
              <a:t>A3. Constant Growth Stocks</a:t>
            </a:r>
            <a:endParaRPr lang="en-US" sz="4000" b="1" dirty="0">
              <a:solidFill>
                <a:schemeClr val="bg1"/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2F5FE78-40CE-A485-D639-8DF91B34AB31}"/>
              </a:ext>
            </a:extLst>
          </p:cNvPr>
          <p:cNvGrpSpPr/>
          <p:nvPr/>
        </p:nvGrpSpPr>
        <p:grpSpPr>
          <a:xfrm>
            <a:off x="937526" y="1955224"/>
            <a:ext cx="10242589" cy="1345294"/>
            <a:chOff x="860502" y="1682687"/>
            <a:chExt cx="10242589" cy="1345294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10B09AD5-7342-678E-BC15-8001466FB6C8}"/>
                </a:ext>
              </a:extLst>
            </p:cNvPr>
            <p:cNvGrpSpPr/>
            <p:nvPr/>
          </p:nvGrpSpPr>
          <p:grpSpPr>
            <a:xfrm>
              <a:off x="860502" y="1682687"/>
              <a:ext cx="10242589" cy="1345294"/>
              <a:chOff x="838200" y="2173330"/>
              <a:chExt cx="10242589" cy="1345294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A56797A8-50D1-7174-0547-FB93FD5B81F2}"/>
                  </a:ext>
                </a:extLst>
              </p:cNvPr>
              <p:cNvGrpSpPr/>
              <p:nvPr/>
            </p:nvGrpSpPr>
            <p:grpSpPr>
              <a:xfrm>
                <a:off x="838200" y="2661357"/>
                <a:ext cx="10242589" cy="857267"/>
                <a:chOff x="873086" y="5053331"/>
                <a:chExt cx="10242589" cy="1232734"/>
              </a:xfrm>
              <a:noFill/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2F6346DB-2276-51EE-2799-5D1500C17C8F}"/>
                    </a:ext>
                  </a:extLst>
                </p:cNvPr>
                <p:cNvGrpSpPr/>
                <p:nvPr/>
              </p:nvGrpSpPr>
              <p:grpSpPr>
                <a:xfrm>
                  <a:off x="1027135" y="5053331"/>
                  <a:ext cx="10088540" cy="475932"/>
                  <a:chOff x="1027135" y="5053331"/>
                  <a:chExt cx="10088540" cy="475932"/>
                </a:xfrm>
                <a:grpFill/>
              </p:grpSpPr>
              <p:cxnSp>
                <p:nvCxnSpPr>
                  <p:cNvPr id="31" name="Straight Arrow Connector 30">
                    <a:extLst>
                      <a:ext uri="{FF2B5EF4-FFF2-40B4-BE49-F238E27FC236}">
                        <a16:creationId xmlns:a16="http://schemas.microsoft.com/office/drawing/2014/main" id="{78F0DCDA-00B7-188A-BFD5-E7D7DF76C0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5" y="5285984"/>
                    <a:ext cx="10088540" cy="14677"/>
                  </a:xfrm>
                  <a:prstGeom prst="straightConnector1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08836EB5-51E6-B3C8-795A-DDA906053A1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6" y="507206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Connector 32">
                    <a:extLst>
                      <a:ext uri="{FF2B5EF4-FFF2-40B4-BE49-F238E27FC236}">
                        <a16:creationId xmlns:a16="http://schemas.microsoft.com/office/drawing/2014/main" id="{4CC4A7A7-739B-066D-A9DD-FCD34B2D1A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93890" y="5072062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BA91A85B-895B-533A-5DE0-4EA85741901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90258" y="507206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F2E1DF7F-A460-662C-C04A-EFF7959D045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870524" y="505333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9A302ACE-CC64-73AE-6F41-7D08F39036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74923" y="5072063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FEC49EC-9A67-F8F2-CD15-1F16B82530F5}"/>
                    </a:ext>
                  </a:extLst>
                </p:cNvPr>
                <p:cNvSpPr txBox="1"/>
                <p:nvPr/>
              </p:nvSpPr>
              <p:spPr>
                <a:xfrm>
                  <a:off x="873086" y="5713928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0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C5571A3-EB95-B2B7-2AA6-5FC9669D1505}"/>
                    </a:ext>
                  </a:extLst>
                </p:cNvPr>
                <p:cNvSpPr txBox="1"/>
                <p:nvPr/>
              </p:nvSpPr>
              <p:spPr>
                <a:xfrm>
                  <a:off x="3139841" y="5713931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1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98BF4A5-1FDE-4E3E-A5FD-21A2DE4D27E0}"/>
                    </a:ext>
                  </a:extLst>
                </p:cNvPr>
                <p:cNvSpPr txBox="1"/>
                <p:nvPr/>
              </p:nvSpPr>
              <p:spPr>
                <a:xfrm>
                  <a:off x="5420874" y="5713931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2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90E6B85-25DB-A08D-F9FF-F09E3D368DC1}"/>
                    </a:ext>
                  </a:extLst>
                </p:cNvPr>
                <p:cNvSpPr txBox="1"/>
                <p:nvPr/>
              </p:nvSpPr>
              <p:spPr>
                <a:xfrm>
                  <a:off x="7716475" y="5710715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3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58B0267-3E7D-B7F7-EED3-9CA0CC37633D}"/>
                    </a:ext>
                  </a:extLst>
                </p:cNvPr>
                <p:cNvSpPr txBox="1"/>
                <p:nvPr/>
              </p:nvSpPr>
              <p:spPr>
                <a:xfrm>
                  <a:off x="10036209" y="5710714"/>
                  <a:ext cx="380232" cy="575351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b="1" dirty="0">
                      <a:solidFill>
                        <a:srgbClr val="C00000"/>
                      </a:solidFill>
                      <a:latin typeface="Helvetica" pitchFamily="2" charset="0"/>
                    </a:rPr>
                    <a:t>∞</a:t>
                  </a:r>
                  <a:endParaRPr lang="en-US" sz="1600" b="1" dirty="0">
                    <a:solidFill>
                      <a:srgbClr val="C00000"/>
                    </a:solidFill>
                    <a:latin typeface="Helvetica" pitchFamily="2" charset="0"/>
                  </a:endParaRPr>
                </a:p>
              </p:txBody>
            </p: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E79777E-BDCB-1347-F7C8-00BD8B295D41}"/>
                  </a:ext>
                </a:extLst>
              </p:cNvPr>
              <p:cNvSpPr txBox="1"/>
              <p:nvPr/>
            </p:nvSpPr>
            <p:spPr>
              <a:xfrm>
                <a:off x="3041637" y="2173330"/>
                <a:ext cx="46519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70C0"/>
                    </a:solidFill>
                    <a:latin typeface="Helvetica" pitchFamily="2" charset="0"/>
                  </a:rPr>
                  <a:t>D</a:t>
                </a:r>
                <a:r>
                  <a:rPr lang="en-US" sz="2000" b="1" baseline="-25000" dirty="0">
                    <a:solidFill>
                      <a:srgbClr val="0070C0"/>
                    </a:solidFill>
                    <a:latin typeface="Helvetica" pitchFamily="2" charset="0"/>
                  </a:rPr>
                  <a:t>1</a:t>
                </a:r>
                <a:endParaRPr lang="en-US" sz="2000" b="1" dirty="0">
                  <a:solidFill>
                    <a:srgbClr val="0070C0"/>
                  </a:solidFill>
                  <a:latin typeface="Helvetica" pitchFamily="2" charset="0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EFE608A-3C22-7F3C-54E8-7DA4464D4EEE}"/>
                  </a:ext>
                </a:extLst>
              </p:cNvPr>
              <p:cNvSpPr txBox="1"/>
              <p:nvPr/>
            </p:nvSpPr>
            <p:spPr>
              <a:xfrm>
                <a:off x="5329954" y="2173330"/>
                <a:ext cx="46519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70C0"/>
                    </a:solidFill>
                    <a:latin typeface="Helvetica" pitchFamily="2" charset="0"/>
                  </a:rPr>
                  <a:t>D</a:t>
                </a:r>
                <a:r>
                  <a:rPr lang="en-US" sz="2000" b="1" baseline="-25000" dirty="0">
                    <a:solidFill>
                      <a:srgbClr val="0070C0"/>
                    </a:solidFill>
                    <a:latin typeface="Helvetica" pitchFamily="2" charset="0"/>
                  </a:rPr>
                  <a:t>2</a:t>
                </a:r>
                <a:endParaRPr lang="en-US" sz="2000" b="1" dirty="0">
                  <a:solidFill>
                    <a:srgbClr val="0070C0"/>
                  </a:solidFill>
                  <a:latin typeface="Helvetica" pitchFamily="2" charset="0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F72C702-FE24-DE15-3477-8E5821A5BA9A}"/>
                  </a:ext>
                </a:extLst>
              </p:cNvPr>
              <p:cNvSpPr txBox="1"/>
              <p:nvPr/>
            </p:nvSpPr>
            <p:spPr>
              <a:xfrm>
                <a:off x="9950475" y="2173330"/>
                <a:ext cx="54053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C00000"/>
                    </a:solidFill>
                    <a:latin typeface="Helvetica" pitchFamily="2" charset="0"/>
                  </a:rPr>
                  <a:t>D</a:t>
                </a:r>
                <a:r>
                  <a:rPr lang="en-US" sz="2800" b="1" baseline="-25000" dirty="0">
                    <a:solidFill>
                      <a:srgbClr val="C00000"/>
                    </a:solidFill>
                    <a:latin typeface="Helvetica" pitchFamily="2" charset="0"/>
                  </a:rPr>
                  <a:t>∞</a:t>
                </a:r>
                <a:endParaRPr lang="en-US" sz="2000" b="1" baseline="-25000" dirty="0">
                  <a:solidFill>
                    <a:srgbClr val="C00000"/>
                  </a:solidFill>
                  <a:latin typeface="Helvetica" pitchFamily="2" charset="0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EF31DF1-1F8D-A4A2-8B43-359B6A1B144B}"/>
                  </a:ext>
                </a:extLst>
              </p:cNvPr>
              <p:cNvSpPr txBox="1"/>
              <p:nvPr/>
            </p:nvSpPr>
            <p:spPr>
              <a:xfrm>
                <a:off x="7618271" y="2176477"/>
                <a:ext cx="46519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70C0"/>
                    </a:solidFill>
                    <a:latin typeface="Helvetica" pitchFamily="2" charset="0"/>
                  </a:rPr>
                  <a:t>D</a:t>
                </a:r>
                <a:r>
                  <a:rPr lang="en-US" sz="2000" b="1" baseline="-25000" dirty="0">
                    <a:solidFill>
                      <a:srgbClr val="0070C0"/>
                    </a:solidFill>
                    <a:latin typeface="Helvetica" pitchFamily="2" charset="0"/>
                  </a:rPr>
                  <a:t>3</a:t>
                </a:r>
                <a:endParaRPr lang="en-US" sz="2000" b="1" dirty="0">
                  <a:solidFill>
                    <a:srgbClr val="0070C0"/>
                  </a:solidFill>
                  <a:latin typeface="Helvetica" pitchFamily="2" charset="0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AFF2A2B-5855-6069-74AB-2BDD7B1C5C23}"/>
                </a:ext>
              </a:extLst>
            </p:cNvPr>
            <p:cNvSpPr txBox="1"/>
            <p:nvPr/>
          </p:nvSpPr>
          <p:spPr>
            <a:xfrm>
              <a:off x="8727081" y="1750120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Helvetica" pitchFamily="2" charset="0"/>
                </a:rPr>
                <a:t>….</a:t>
              </a:r>
              <a:endParaRPr lang="en-US" b="1" dirty="0">
                <a:latin typeface="Helvetica" pitchFamily="2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157977F-D609-1529-EE4F-F00494C4AF3D}"/>
                </a:ext>
              </a:extLst>
            </p:cNvPr>
            <p:cNvSpPr txBox="1"/>
            <p:nvPr/>
          </p:nvSpPr>
          <p:spPr>
            <a:xfrm>
              <a:off x="8724297" y="2313182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Helvetica" pitchFamily="2" charset="0"/>
                </a:rPr>
                <a:t>….</a:t>
              </a:r>
              <a:endParaRPr lang="en-US" b="1" dirty="0">
                <a:latin typeface="Helvetica" pitchFamily="2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FCFAAD9-182C-DA5F-0267-5D7ECC46889A}"/>
              </a:ext>
            </a:extLst>
          </p:cNvPr>
          <p:cNvSpPr txBox="1"/>
          <p:nvPr/>
        </p:nvSpPr>
        <p:spPr>
          <a:xfrm>
            <a:off x="2561477" y="5083522"/>
            <a:ext cx="16321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  <a:latin typeface="Helvetica" pitchFamily="2" charset="0"/>
              </a:rPr>
              <a:t>D</a:t>
            </a:r>
            <a:r>
              <a:rPr lang="en-US" sz="2000" b="1" baseline="-25000" dirty="0">
                <a:solidFill>
                  <a:srgbClr val="7030A0"/>
                </a:solidFill>
                <a:latin typeface="Helvetica" pitchFamily="2" charset="0"/>
              </a:rPr>
              <a:t>1 </a:t>
            </a:r>
            <a:r>
              <a:rPr lang="en-US" sz="2000" b="1" dirty="0">
                <a:solidFill>
                  <a:srgbClr val="7030A0"/>
                </a:solidFill>
                <a:latin typeface="Helvetica" pitchFamily="2" charset="0"/>
              </a:rPr>
              <a:t>= D</a:t>
            </a:r>
            <a:r>
              <a:rPr lang="en-US" sz="2000" b="1" baseline="-25000" dirty="0">
                <a:solidFill>
                  <a:srgbClr val="7030A0"/>
                </a:solidFill>
                <a:latin typeface="Helvetica" pitchFamily="2" charset="0"/>
              </a:rPr>
              <a:t>0</a:t>
            </a:r>
            <a:r>
              <a:rPr lang="en-US" sz="2000" b="1" dirty="0">
                <a:solidFill>
                  <a:srgbClr val="7030A0"/>
                </a:solidFill>
                <a:latin typeface="Helvetica" pitchFamily="2" charset="0"/>
              </a:rPr>
              <a:t>(1+g)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823DD6-058E-5555-7446-7C4F94269E10}"/>
              </a:ext>
            </a:extLst>
          </p:cNvPr>
          <p:cNvSpPr txBox="1"/>
          <p:nvPr/>
        </p:nvSpPr>
        <p:spPr>
          <a:xfrm>
            <a:off x="4869832" y="5082644"/>
            <a:ext cx="1749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  <a:latin typeface="Helvetica" pitchFamily="2" charset="0"/>
              </a:rPr>
              <a:t>D</a:t>
            </a:r>
            <a:r>
              <a:rPr lang="en-US" sz="2000" b="1" baseline="-25000" dirty="0">
                <a:solidFill>
                  <a:srgbClr val="7030A0"/>
                </a:solidFill>
                <a:latin typeface="Helvetica" pitchFamily="2" charset="0"/>
              </a:rPr>
              <a:t>2</a:t>
            </a:r>
            <a:r>
              <a:rPr lang="en-US" sz="2000" b="1" dirty="0">
                <a:solidFill>
                  <a:srgbClr val="7030A0"/>
                </a:solidFill>
                <a:latin typeface="Helvetica" pitchFamily="2" charset="0"/>
              </a:rPr>
              <a:t> = D</a:t>
            </a:r>
            <a:r>
              <a:rPr lang="en-US" sz="2000" b="1" baseline="-25000" dirty="0">
                <a:solidFill>
                  <a:srgbClr val="7030A0"/>
                </a:solidFill>
                <a:latin typeface="Helvetica" pitchFamily="2" charset="0"/>
              </a:rPr>
              <a:t>0</a:t>
            </a:r>
            <a:r>
              <a:rPr lang="en-US" sz="2000" b="1" dirty="0">
                <a:solidFill>
                  <a:srgbClr val="7030A0"/>
                </a:solidFill>
                <a:latin typeface="Helvetica" pitchFamily="2" charset="0"/>
              </a:rPr>
              <a:t>(1+g)</a:t>
            </a:r>
            <a:r>
              <a:rPr lang="en-US" sz="2000" b="1" baseline="30000" dirty="0">
                <a:solidFill>
                  <a:srgbClr val="7030A0"/>
                </a:solidFill>
                <a:latin typeface="Helvetica" pitchFamily="2" charset="0"/>
              </a:rPr>
              <a:t>2</a:t>
            </a:r>
            <a:endParaRPr lang="en-US" sz="2000" b="1" dirty="0">
              <a:solidFill>
                <a:srgbClr val="7030A0"/>
              </a:solidFill>
              <a:latin typeface="Helvetic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ED4266-3084-952F-6DEF-B63012211668}"/>
                  </a:ext>
                </a:extLst>
              </p:cNvPr>
              <p:cNvSpPr txBox="1"/>
              <p:nvPr/>
            </p:nvSpPr>
            <p:spPr>
              <a:xfrm>
                <a:off x="9451432" y="5082644"/>
                <a:ext cx="183736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7030A0"/>
                    </a:solidFill>
                    <a:latin typeface="Helvetica" pitchFamily="2" charset="0"/>
                  </a:rPr>
                  <a:t>D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baseline="-250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Helvetica" pitchFamily="2" charset="0"/>
                      </a:rPr>
                      <m:t>∞</m:t>
                    </m:r>
                    <m:r>
                      <a:rPr lang="en-US" sz="2000" b="1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rgbClr val="7030A0"/>
                    </a:solidFill>
                    <a:latin typeface="Helvetica" pitchFamily="2" charset="0"/>
                  </a:rPr>
                  <a:t>= D</a:t>
                </a:r>
                <a:r>
                  <a:rPr lang="en-US" sz="2000" b="1" baseline="-25000" dirty="0">
                    <a:solidFill>
                      <a:srgbClr val="7030A0"/>
                    </a:solidFill>
                    <a:latin typeface="Helvetica" pitchFamily="2" charset="0"/>
                  </a:rPr>
                  <a:t>0</a:t>
                </a:r>
                <a:r>
                  <a:rPr lang="en-US" sz="2000" b="1" dirty="0">
                    <a:solidFill>
                      <a:srgbClr val="7030A0"/>
                    </a:solidFill>
                    <a:latin typeface="Helvetica" pitchFamily="2" charset="0"/>
                  </a:rPr>
                  <a:t>(1+g)</a:t>
                </a:r>
                <a:r>
                  <a:rPr lang="en-US" sz="2800" b="1" baseline="30000" dirty="0">
                    <a:solidFill>
                      <a:srgbClr val="7030A0"/>
                    </a:solidFill>
                    <a:latin typeface="Helvetica" pitchFamily="2" charset="0"/>
                  </a:rPr>
                  <a:t>∞</a:t>
                </a:r>
                <a:endParaRPr lang="en-US" sz="1200" b="1" baseline="30000" dirty="0">
                  <a:solidFill>
                    <a:srgbClr val="7030A0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ED4266-3084-952F-6DEF-B63012211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1432" y="5082644"/>
                <a:ext cx="1837362" cy="400110"/>
              </a:xfrm>
              <a:prstGeom prst="rect">
                <a:avLst/>
              </a:prstGeom>
              <a:blipFill>
                <a:blip r:embed="rId2"/>
                <a:stretch>
                  <a:fillRect l="-3448" t="-25000" r="-2069" b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E2556F2-8568-4904-1061-CAC65F0D7B0C}"/>
              </a:ext>
            </a:extLst>
          </p:cNvPr>
          <p:cNvSpPr txBox="1"/>
          <p:nvPr/>
        </p:nvSpPr>
        <p:spPr>
          <a:xfrm>
            <a:off x="7122656" y="5082644"/>
            <a:ext cx="1749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  <a:latin typeface="Helvetica" pitchFamily="2" charset="0"/>
              </a:rPr>
              <a:t>D</a:t>
            </a:r>
            <a:r>
              <a:rPr lang="en-US" sz="2000" b="1" baseline="-25000" dirty="0">
                <a:solidFill>
                  <a:srgbClr val="7030A0"/>
                </a:solidFill>
                <a:latin typeface="Helvetica" pitchFamily="2" charset="0"/>
              </a:rPr>
              <a:t>3</a:t>
            </a:r>
            <a:r>
              <a:rPr lang="en-US" sz="2000" b="1" dirty="0">
                <a:solidFill>
                  <a:srgbClr val="7030A0"/>
                </a:solidFill>
                <a:latin typeface="Helvetica" pitchFamily="2" charset="0"/>
              </a:rPr>
              <a:t> = D</a:t>
            </a:r>
            <a:r>
              <a:rPr lang="en-US" sz="2000" b="1" baseline="-25000" dirty="0">
                <a:solidFill>
                  <a:srgbClr val="7030A0"/>
                </a:solidFill>
                <a:latin typeface="Helvetica" pitchFamily="2" charset="0"/>
              </a:rPr>
              <a:t>0</a:t>
            </a:r>
            <a:r>
              <a:rPr lang="en-US" sz="2000" b="1" dirty="0">
                <a:solidFill>
                  <a:srgbClr val="7030A0"/>
                </a:solidFill>
                <a:latin typeface="Helvetica" pitchFamily="2" charset="0"/>
              </a:rPr>
              <a:t>(1+g)</a:t>
            </a:r>
            <a:r>
              <a:rPr lang="en-US" sz="2000" b="1" baseline="30000" dirty="0">
                <a:solidFill>
                  <a:srgbClr val="7030A0"/>
                </a:solidFill>
                <a:latin typeface="Helvetica" pitchFamily="2" charset="0"/>
              </a:rPr>
              <a:t>3</a:t>
            </a:r>
            <a:endParaRPr lang="en-US" sz="2000" b="1" dirty="0">
              <a:solidFill>
                <a:srgbClr val="7030A0"/>
              </a:solidFill>
              <a:latin typeface="Helvetica" pitchFamily="2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2441CEF-0719-0131-20B3-F0B3F57A33CF}"/>
              </a:ext>
            </a:extLst>
          </p:cNvPr>
          <p:cNvGrpSpPr/>
          <p:nvPr/>
        </p:nvGrpSpPr>
        <p:grpSpPr>
          <a:xfrm>
            <a:off x="937526" y="5159179"/>
            <a:ext cx="10242589" cy="1277861"/>
            <a:chOff x="937526" y="5159179"/>
            <a:chExt cx="10242589" cy="1277861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73EC1A36-BED4-BBC4-7FEF-DF2197CBF36B}"/>
                </a:ext>
              </a:extLst>
            </p:cNvPr>
            <p:cNvGrpSpPr/>
            <p:nvPr/>
          </p:nvGrpSpPr>
          <p:grpSpPr>
            <a:xfrm>
              <a:off x="937526" y="5159179"/>
              <a:ext cx="10242589" cy="1277861"/>
              <a:chOff x="937526" y="5159179"/>
              <a:chExt cx="10242589" cy="1277861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25DA86D4-58F3-4800-740D-29800B8170DA}"/>
                  </a:ext>
                </a:extLst>
              </p:cNvPr>
              <p:cNvGrpSpPr/>
              <p:nvPr/>
            </p:nvGrpSpPr>
            <p:grpSpPr>
              <a:xfrm>
                <a:off x="937526" y="5579773"/>
                <a:ext cx="10242589" cy="857267"/>
                <a:chOff x="873086" y="5053331"/>
                <a:chExt cx="10242589" cy="1232734"/>
              </a:xfrm>
              <a:noFill/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F79BEA31-D112-8A3B-85DF-8D6DA26E3D43}"/>
                    </a:ext>
                  </a:extLst>
                </p:cNvPr>
                <p:cNvGrpSpPr/>
                <p:nvPr/>
              </p:nvGrpSpPr>
              <p:grpSpPr>
                <a:xfrm>
                  <a:off x="1027135" y="5053331"/>
                  <a:ext cx="10088540" cy="475932"/>
                  <a:chOff x="1027135" y="5053331"/>
                  <a:chExt cx="10088540" cy="475932"/>
                </a:xfrm>
                <a:grpFill/>
              </p:grpSpPr>
              <p:cxnSp>
                <p:nvCxnSpPr>
                  <p:cNvPr id="19" name="Straight Arrow Connector 18">
                    <a:extLst>
                      <a:ext uri="{FF2B5EF4-FFF2-40B4-BE49-F238E27FC236}">
                        <a16:creationId xmlns:a16="http://schemas.microsoft.com/office/drawing/2014/main" id="{56521BC1-1BB8-23D9-DEBE-D1F265EDF7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5" y="5285984"/>
                    <a:ext cx="10088540" cy="14677"/>
                  </a:xfrm>
                  <a:prstGeom prst="straightConnector1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A43C5A85-E38F-E5B2-349A-C612EC7BDC1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6" y="507206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3009012E-44FF-613D-7A13-EDA8B371AF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93890" y="5072062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238D47C5-4DE7-676D-80C9-CB787AF1B0F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90258" y="507206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88370078-BBA1-0D4B-60FE-BC27CF9B2BE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870524" y="505333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68514968-BAA1-3F7F-CE8E-6B9D7129E2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74923" y="5072063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B7945A7-AA76-4AE8-4E47-DF0F51B8F683}"/>
                    </a:ext>
                  </a:extLst>
                </p:cNvPr>
                <p:cNvSpPr txBox="1"/>
                <p:nvPr/>
              </p:nvSpPr>
              <p:spPr>
                <a:xfrm>
                  <a:off x="873086" y="5713928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0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3532593-4823-84B2-98FD-F8AC5B1242BB}"/>
                    </a:ext>
                  </a:extLst>
                </p:cNvPr>
                <p:cNvSpPr txBox="1"/>
                <p:nvPr/>
              </p:nvSpPr>
              <p:spPr>
                <a:xfrm>
                  <a:off x="3139841" y="5713931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1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45C1BDA-40B4-8B49-B1AF-8C2259A9DEE6}"/>
                    </a:ext>
                  </a:extLst>
                </p:cNvPr>
                <p:cNvSpPr txBox="1"/>
                <p:nvPr/>
              </p:nvSpPr>
              <p:spPr>
                <a:xfrm>
                  <a:off x="5420874" y="5713931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2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B670CB1-46A6-E0E6-0261-A3241DC85D47}"/>
                    </a:ext>
                  </a:extLst>
                </p:cNvPr>
                <p:cNvSpPr txBox="1"/>
                <p:nvPr/>
              </p:nvSpPr>
              <p:spPr>
                <a:xfrm>
                  <a:off x="7716475" y="5710715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3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4A807CA-48AB-4E9E-1D07-2C815AFDDF4B}"/>
                    </a:ext>
                  </a:extLst>
                </p:cNvPr>
                <p:cNvSpPr txBox="1"/>
                <p:nvPr/>
              </p:nvSpPr>
              <p:spPr>
                <a:xfrm>
                  <a:off x="10036209" y="5710714"/>
                  <a:ext cx="380232" cy="575351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b="1" dirty="0">
                      <a:solidFill>
                        <a:srgbClr val="C00000"/>
                      </a:solidFill>
                      <a:latin typeface="Helvetica" pitchFamily="2" charset="0"/>
                    </a:rPr>
                    <a:t>∞</a:t>
                  </a:r>
                  <a:endParaRPr lang="en-US" sz="1600" b="1" dirty="0">
                    <a:solidFill>
                      <a:srgbClr val="C00000"/>
                    </a:solidFill>
                    <a:latin typeface="Helvetica" pitchFamily="2" charset="0"/>
                  </a:endParaRPr>
                </a:p>
              </p:txBody>
            </p:sp>
          </p:grp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197B8F-BBFB-E68B-8895-2FA1323AD20C}"/>
                  </a:ext>
                </a:extLst>
              </p:cNvPr>
              <p:cNvSpPr txBox="1"/>
              <p:nvPr/>
            </p:nvSpPr>
            <p:spPr>
              <a:xfrm>
                <a:off x="8804105" y="5159179"/>
                <a:ext cx="57740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latin typeface="Helvetica" pitchFamily="2" charset="0"/>
                  </a:rPr>
                  <a:t>….</a:t>
                </a:r>
                <a:endParaRPr lang="en-US" b="1" dirty="0">
                  <a:latin typeface="Helvetica" pitchFamily="2" charset="0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E2FC5C5-05C7-DFF0-BD10-F317482AD72E}"/>
                </a:ext>
              </a:extLst>
            </p:cNvPr>
            <p:cNvSpPr txBox="1"/>
            <p:nvPr/>
          </p:nvSpPr>
          <p:spPr>
            <a:xfrm>
              <a:off x="8801321" y="5722241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Helvetica" pitchFamily="2" charset="0"/>
                </a:rPr>
                <a:t>….</a:t>
              </a:r>
              <a:endParaRPr lang="en-US" b="1" dirty="0">
                <a:latin typeface="Helvetica" pitchFamily="2" charset="0"/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10349BBE-912B-55B7-1E36-41720A9BD904}"/>
              </a:ext>
            </a:extLst>
          </p:cNvPr>
          <p:cNvSpPr txBox="1"/>
          <p:nvPr/>
        </p:nvSpPr>
        <p:spPr>
          <a:xfrm>
            <a:off x="241571" y="1565417"/>
            <a:ext cx="5243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G</a:t>
            </a:r>
            <a:r>
              <a:rPr lang="en-US" sz="2400" b="1" i="0" dirty="0">
                <a:effectLst/>
                <a:latin typeface="Helvetica" pitchFamily="2" charset="0"/>
              </a:rPr>
              <a:t>eneralized stock valuation model</a:t>
            </a:r>
            <a:endParaRPr lang="en-US" sz="2400" b="1" dirty="0">
              <a:latin typeface="Helvetica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DFECC71-E35D-BCF5-F4E4-0A1796385FC6}"/>
              </a:ext>
            </a:extLst>
          </p:cNvPr>
          <p:cNvSpPr txBox="1"/>
          <p:nvPr/>
        </p:nvSpPr>
        <p:spPr>
          <a:xfrm>
            <a:off x="241571" y="3765862"/>
            <a:ext cx="3773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0" dirty="0">
                <a:effectLst/>
                <a:latin typeface="Helvetica" pitchFamily="2" charset="0"/>
              </a:rPr>
              <a:t>Constant Growth Stocks</a:t>
            </a:r>
            <a:endParaRPr lang="en-US" sz="2400" b="1" dirty="0">
              <a:latin typeface="Helvetica" pitchFamily="2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7DA06FA-83F0-EAC9-A7E8-3A5F4672CBAB}"/>
              </a:ext>
            </a:extLst>
          </p:cNvPr>
          <p:cNvSpPr txBox="1"/>
          <p:nvPr/>
        </p:nvSpPr>
        <p:spPr>
          <a:xfrm>
            <a:off x="960330" y="4277664"/>
            <a:ext cx="102713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  <a:latin typeface="Helvetica" pitchFamily="2" charset="0"/>
              </a:rPr>
              <a:t>Stocks where dividends are expected to grow at a constant rate (g) forever.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F52AEE5-4F16-5F19-CEA5-0BE469E815D3}"/>
              </a:ext>
            </a:extLst>
          </p:cNvPr>
          <p:cNvSpPr txBox="1"/>
          <p:nvPr/>
        </p:nvSpPr>
        <p:spPr>
          <a:xfrm>
            <a:off x="868597" y="5084836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7030A0"/>
                </a:solidFill>
                <a:latin typeface="Helvetica" pitchFamily="2" charset="0"/>
              </a:rPr>
              <a:t>D</a:t>
            </a:r>
            <a:r>
              <a:rPr lang="en-US" sz="1800" b="1" baseline="-25000" dirty="0">
                <a:solidFill>
                  <a:srgbClr val="7030A0"/>
                </a:solidFill>
                <a:latin typeface="Helvetica" pitchFamily="2" charset="0"/>
              </a:rPr>
              <a:t>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757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44" grpId="0"/>
      <p:bldP spid="50" grpId="0"/>
      <p:bldP spid="63" grpId="0"/>
      <p:bldP spid="6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D98A3-F8E9-91A0-6087-E0B2959A7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CA46B7-30DF-AF6F-9F2A-323442A612E4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7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484363-688E-9617-5584-7AC3F2F2F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A4. The Constant Growth (Gordon) Model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6B60F0-A038-BB71-B3D1-9D3393999337}"/>
              </a:ext>
            </a:extLst>
          </p:cNvPr>
          <p:cNvSpPr txBox="1"/>
          <p:nvPr/>
        </p:nvSpPr>
        <p:spPr>
          <a:xfrm>
            <a:off x="241571" y="1565417"/>
            <a:ext cx="116460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Helvetica" pitchFamily="2" charset="0"/>
              </a:rPr>
              <a:t>A model used to value a stock that pays dividends growing at a constant rate forever.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58ED1E6-F9F2-F40A-2EEB-3D946E8B494C}"/>
              </a:ext>
            </a:extLst>
          </p:cNvPr>
          <p:cNvGrpSpPr/>
          <p:nvPr/>
        </p:nvGrpSpPr>
        <p:grpSpPr>
          <a:xfrm>
            <a:off x="927578" y="2188423"/>
            <a:ext cx="10420197" cy="1354396"/>
            <a:chOff x="868597" y="5082644"/>
            <a:chExt cx="10420197" cy="135439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1FB1C60-72EA-6E17-E726-2CA884C8551A}"/>
                </a:ext>
              </a:extLst>
            </p:cNvPr>
            <p:cNvSpPr txBox="1"/>
            <p:nvPr/>
          </p:nvSpPr>
          <p:spPr>
            <a:xfrm>
              <a:off x="2561477" y="5083522"/>
              <a:ext cx="15840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7030A0"/>
                  </a:solidFill>
                  <a:latin typeface="Helvetica" pitchFamily="2" charset="0"/>
                </a:rPr>
                <a:t>D</a:t>
              </a:r>
              <a:r>
                <a:rPr lang="en-US" sz="2000" b="1" baseline="-25000" dirty="0">
                  <a:solidFill>
                    <a:srgbClr val="7030A0"/>
                  </a:solidFill>
                  <a:latin typeface="Helvetica" pitchFamily="2" charset="0"/>
                </a:rPr>
                <a:t>1</a:t>
              </a:r>
              <a:r>
                <a:rPr lang="en-US" sz="2000" b="1" dirty="0">
                  <a:solidFill>
                    <a:srgbClr val="7030A0"/>
                  </a:solidFill>
                  <a:latin typeface="Helvetica" pitchFamily="2" charset="0"/>
                </a:rPr>
                <a:t>= D</a:t>
              </a:r>
              <a:r>
                <a:rPr lang="en-US" sz="2000" b="1" baseline="-25000" dirty="0">
                  <a:solidFill>
                    <a:srgbClr val="7030A0"/>
                  </a:solidFill>
                  <a:latin typeface="Helvetica" pitchFamily="2" charset="0"/>
                </a:rPr>
                <a:t>0</a:t>
              </a:r>
              <a:r>
                <a:rPr lang="en-US" sz="2000" b="1" dirty="0">
                  <a:solidFill>
                    <a:srgbClr val="7030A0"/>
                  </a:solidFill>
                  <a:latin typeface="Helvetica" pitchFamily="2" charset="0"/>
                </a:rPr>
                <a:t>(1+g)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5B47E1E-F447-DB2F-BB20-A3E2BEA16690}"/>
                </a:ext>
              </a:extLst>
            </p:cNvPr>
            <p:cNvSpPr txBox="1"/>
            <p:nvPr/>
          </p:nvSpPr>
          <p:spPr>
            <a:xfrm>
              <a:off x="4869832" y="5082644"/>
              <a:ext cx="17491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7030A0"/>
                  </a:solidFill>
                  <a:latin typeface="Helvetica" pitchFamily="2" charset="0"/>
                </a:rPr>
                <a:t>D</a:t>
              </a:r>
              <a:r>
                <a:rPr lang="en-US" sz="2000" b="1" baseline="-25000" dirty="0">
                  <a:solidFill>
                    <a:srgbClr val="7030A0"/>
                  </a:solidFill>
                  <a:latin typeface="Helvetica" pitchFamily="2" charset="0"/>
                </a:rPr>
                <a:t>2</a:t>
              </a:r>
              <a:r>
                <a:rPr lang="en-US" sz="2000" b="1" dirty="0">
                  <a:solidFill>
                    <a:srgbClr val="7030A0"/>
                  </a:solidFill>
                  <a:latin typeface="Helvetica" pitchFamily="2" charset="0"/>
                </a:rPr>
                <a:t> = D</a:t>
              </a:r>
              <a:r>
                <a:rPr lang="en-US" sz="2000" b="1" baseline="-25000" dirty="0">
                  <a:solidFill>
                    <a:srgbClr val="7030A0"/>
                  </a:solidFill>
                  <a:latin typeface="Helvetica" pitchFamily="2" charset="0"/>
                </a:rPr>
                <a:t>0</a:t>
              </a:r>
              <a:r>
                <a:rPr lang="en-US" sz="2000" b="1" dirty="0">
                  <a:solidFill>
                    <a:srgbClr val="7030A0"/>
                  </a:solidFill>
                  <a:latin typeface="Helvetica" pitchFamily="2" charset="0"/>
                </a:rPr>
                <a:t>(1+g)</a:t>
              </a:r>
              <a:r>
                <a:rPr lang="en-US" sz="2000" b="1" baseline="30000" dirty="0">
                  <a:solidFill>
                    <a:srgbClr val="7030A0"/>
                  </a:solidFill>
                  <a:latin typeface="Helvetica" pitchFamily="2" charset="0"/>
                </a:rPr>
                <a:t>2</a:t>
              </a:r>
              <a:endParaRPr lang="en-US" sz="2000" b="1" dirty="0">
                <a:solidFill>
                  <a:srgbClr val="7030A0"/>
                </a:solidFill>
                <a:latin typeface="Helvetica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40FC232-39A3-3159-F033-5F017AA9896B}"/>
                    </a:ext>
                  </a:extLst>
                </p:cNvPr>
                <p:cNvSpPr txBox="1"/>
                <p:nvPr/>
              </p:nvSpPr>
              <p:spPr>
                <a:xfrm>
                  <a:off x="9451432" y="5082644"/>
                  <a:ext cx="183736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b="1" dirty="0">
                      <a:solidFill>
                        <a:srgbClr val="7030A0"/>
                      </a:solidFill>
                      <a:latin typeface="Helvetica" pitchFamily="2" charset="0"/>
                    </a:rPr>
                    <a:t>D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baseline="-250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elvetica" pitchFamily="2" charset="0"/>
                        </a:rPr>
                        <m:t>∞</m:t>
                      </m:r>
                      <m:r>
                        <a:rPr lang="en-US" sz="2000" b="1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000" b="1" dirty="0">
                      <a:solidFill>
                        <a:srgbClr val="7030A0"/>
                      </a:solidFill>
                      <a:latin typeface="Helvetica" pitchFamily="2" charset="0"/>
                    </a:rPr>
                    <a:t>= D</a:t>
                  </a:r>
                  <a:r>
                    <a:rPr lang="en-US" sz="2000" b="1" baseline="-25000" dirty="0">
                      <a:solidFill>
                        <a:srgbClr val="7030A0"/>
                      </a:solidFill>
                      <a:latin typeface="Helvetica" pitchFamily="2" charset="0"/>
                    </a:rPr>
                    <a:t>0</a:t>
                  </a:r>
                  <a:r>
                    <a:rPr lang="en-US" sz="2000" b="1" dirty="0">
                      <a:solidFill>
                        <a:srgbClr val="7030A0"/>
                      </a:solidFill>
                      <a:latin typeface="Helvetica" pitchFamily="2" charset="0"/>
                    </a:rPr>
                    <a:t>(1+g)</a:t>
                  </a:r>
                  <a:r>
                    <a:rPr lang="en-US" sz="2800" b="1" baseline="30000" dirty="0">
                      <a:solidFill>
                        <a:srgbClr val="7030A0"/>
                      </a:solidFill>
                      <a:latin typeface="Helvetica" pitchFamily="2" charset="0"/>
                    </a:rPr>
                    <a:t>∞</a:t>
                  </a:r>
                  <a:endParaRPr lang="en-US" sz="1200" b="1" baseline="30000" dirty="0">
                    <a:solidFill>
                      <a:srgbClr val="7030A0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40FC232-39A3-3159-F033-5F017AA989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1432" y="5082644"/>
                  <a:ext cx="1837362" cy="400110"/>
                </a:xfrm>
                <a:prstGeom prst="rect">
                  <a:avLst/>
                </a:prstGeom>
                <a:blipFill>
                  <a:blip r:embed="rId2"/>
                  <a:stretch>
                    <a:fillRect l="-2740" t="-24242" r="-2055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AC06A07-E10D-6653-AD2D-3E36D414389F}"/>
                </a:ext>
              </a:extLst>
            </p:cNvPr>
            <p:cNvSpPr txBox="1"/>
            <p:nvPr/>
          </p:nvSpPr>
          <p:spPr>
            <a:xfrm>
              <a:off x="7122656" y="5082644"/>
              <a:ext cx="17491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7030A0"/>
                  </a:solidFill>
                  <a:latin typeface="Helvetica" pitchFamily="2" charset="0"/>
                </a:rPr>
                <a:t>D</a:t>
              </a:r>
              <a:r>
                <a:rPr lang="en-US" sz="2000" b="1" baseline="-25000" dirty="0">
                  <a:solidFill>
                    <a:srgbClr val="7030A0"/>
                  </a:solidFill>
                  <a:latin typeface="Helvetica" pitchFamily="2" charset="0"/>
                </a:rPr>
                <a:t>3</a:t>
              </a:r>
              <a:r>
                <a:rPr lang="en-US" sz="2000" b="1" dirty="0">
                  <a:solidFill>
                    <a:srgbClr val="7030A0"/>
                  </a:solidFill>
                  <a:latin typeface="Helvetica" pitchFamily="2" charset="0"/>
                </a:rPr>
                <a:t> = D</a:t>
              </a:r>
              <a:r>
                <a:rPr lang="en-US" sz="2000" b="1" baseline="-25000" dirty="0">
                  <a:solidFill>
                    <a:srgbClr val="7030A0"/>
                  </a:solidFill>
                  <a:latin typeface="Helvetica" pitchFamily="2" charset="0"/>
                </a:rPr>
                <a:t>0</a:t>
              </a:r>
              <a:r>
                <a:rPr lang="en-US" sz="2000" b="1" dirty="0">
                  <a:solidFill>
                    <a:srgbClr val="7030A0"/>
                  </a:solidFill>
                  <a:latin typeface="Helvetica" pitchFamily="2" charset="0"/>
                </a:rPr>
                <a:t>(1+g)</a:t>
              </a:r>
              <a:r>
                <a:rPr lang="en-US" sz="2000" b="1" baseline="30000" dirty="0">
                  <a:solidFill>
                    <a:srgbClr val="7030A0"/>
                  </a:solidFill>
                  <a:latin typeface="Helvetica" pitchFamily="2" charset="0"/>
                </a:rPr>
                <a:t>3</a:t>
              </a:r>
              <a:endParaRPr lang="en-US" sz="2000" b="1" dirty="0">
                <a:solidFill>
                  <a:srgbClr val="7030A0"/>
                </a:solidFill>
                <a:latin typeface="Helvetica" pitchFamily="2" charset="0"/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C40521B-054D-38A0-6BF9-1D04EACF008B}"/>
                </a:ext>
              </a:extLst>
            </p:cNvPr>
            <p:cNvGrpSpPr/>
            <p:nvPr/>
          </p:nvGrpSpPr>
          <p:grpSpPr>
            <a:xfrm>
              <a:off x="937526" y="5159179"/>
              <a:ext cx="10242589" cy="1277861"/>
              <a:chOff x="937526" y="5159179"/>
              <a:chExt cx="10242589" cy="1277861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E64BA352-EE90-5926-1B70-4400120D86E7}"/>
                  </a:ext>
                </a:extLst>
              </p:cNvPr>
              <p:cNvGrpSpPr/>
              <p:nvPr/>
            </p:nvGrpSpPr>
            <p:grpSpPr>
              <a:xfrm>
                <a:off x="937526" y="5159179"/>
                <a:ext cx="10242589" cy="1277861"/>
                <a:chOff x="937526" y="5159179"/>
                <a:chExt cx="10242589" cy="1277861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F507323B-2702-49B2-33ED-D38050A52DF2}"/>
                    </a:ext>
                  </a:extLst>
                </p:cNvPr>
                <p:cNvGrpSpPr/>
                <p:nvPr/>
              </p:nvGrpSpPr>
              <p:grpSpPr>
                <a:xfrm>
                  <a:off x="937526" y="5579773"/>
                  <a:ext cx="10242589" cy="857267"/>
                  <a:chOff x="873086" y="5053331"/>
                  <a:chExt cx="10242589" cy="1232734"/>
                </a:xfrm>
                <a:noFill/>
              </p:grpSpPr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id="{1470FF3E-9D22-E7FA-4B3F-8747A18E3046}"/>
                      </a:ext>
                    </a:extLst>
                  </p:cNvPr>
                  <p:cNvGrpSpPr/>
                  <p:nvPr/>
                </p:nvGrpSpPr>
                <p:grpSpPr>
                  <a:xfrm>
                    <a:off x="1027135" y="5053331"/>
                    <a:ext cx="10088540" cy="475932"/>
                    <a:chOff x="1027135" y="5053331"/>
                    <a:chExt cx="10088540" cy="475932"/>
                  </a:xfrm>
                  <a:grpFill/>
                </p:grpSpPr>
                <p:cxnSp>
                  <p:nvCxnSpPr>
                    <p:cNvPr id="19" name="Straight Arrow Connector 18">
                      <a:extLst>
                        <a:ext uri="{FF2B5EF4-FFF2-40B4-BE49-F238E27FC236}">
                          <a16:creationId xmlns:a16="http://schemas.microsoft.com/office/drawing/2014/main" id="{7D4A7A54-A255-EF52-FBC8-2208857FF80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7135" y="5285984"/>
                      <a:ext cx="10088540" cy="14677"/>
                    </a:xfrm>
                    <a:prstGeom prst="straightConnector1">
                      <a:avLst/>
                    </a:prstGeom>
                    <a:grpFill/>
                    <a:ln w="38100">
                      <a:solidFill>
                        <a:schemeClr val="accent2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" name="Straight Connector 19">
                      <a:extLst>
                        <a:ext uri="{FF2B5EF4-FFF2-40B4-BE49-F238E27FC236}">
                          <a16:creationId xmlns:a16="http://schemas.microsoft.com/office/drawing/2014/main" id="{A6F25265-8617-DA6F-85DF-E8891A1BDDD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7136" y="5072061"/>
                      <a:ext cx="0" cy="457200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" name="Straight Connector 20">
                      <a:extLst>
                        <a:ext uri="{FF2B5EF4-FFF2-40B4-BE49-F238E27FC236}">
                          <a16:creationId xmlns:a16="http://schemas.microsoft.com/office/drawing/2014/main" id="{8531ECD9-498C-686C-F835-B91CA87F426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293890" y="5072062"/>
                      <a:ext cx="0" cy="457200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" name="Straight Connector 21">
                      <a:extLst>
                        <a:ext uri="{FF2B5EF4-FFF2-40B4-BE49-F238E27FC236}">
                          <a16:creationId xmlns:a16="http://schemas.microsoft.com/office/drawing/2014/main" id="{9691EAE6-EFB1-51E1-1CA4-FDE04D51A3A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190258" y="5072061"/>
                      <a:ext cx="0" cy="457200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" name="Straight Connector 22">
                      <a:extLst>
                        <a:ext uri="{FF2B5EF4-FFF2-40B4-BE49-F238E27FC236}">
                          <a16:creationId xmlns:a16="http://schemas.microsoft.com/office/drawing/2014/main" id="{22DD3443-544F-01C9-4034-4D2E91BA6D2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870524" y="5053331"/>
                      <a:ext cx="0" cy="457200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" name="Straight Connector 40">
                      <a:extLst>
                        <a:ext uri="{FF2B5EF4-FFF2-40B4-BE49-F238E27FC236}">
                          <a16:creationId xmlns:a16="http://schemas.microsoft.com/office/drawing/2014/main" id="{F2170BA5-6E23-9946-C53B-06CAFCA010A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574923" y="5072063"/>
                      <a:ext cx="0" cy="457200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762FE0D7-28B9-EEDA-B3ED-B3E9BD11A880}"/>
                      </a:ext>
                    </a:extLst>
                  </p:cNvPr>
                  <p:cNvSpPr txBox="1"/>
                  <p:nvPr/>
                </p:nvSpPr>
                <p:spPr>
                  <a:xfrm>
                    <a:off x="873086" y="5713928"/>
                    <a:ext cx="298480" cy="486834"/>
                  </a:xfrm>
                  <a:prstGeom prst="rect">
                    <a:avLst/>
                  </a:prstGeom>
                  <a:grpFill/>
                  <a:ln>
                    <a:solidFill>
                      <a:schemeClr val="accent2">
                        <a:lumMod val="75000"/>
                      </a:schemeClr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Helvetica" pitchFamily="2" charset="0"/>
                      </a:rPr>
                      <a:t>0</a:t>
                    </a:r>
                  </a:p>
                </p:txBody>
              </p:sp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60A9D307-149F-65AD-23F5-D3AF28E18389}"/>
                      </a:ext>
                    </a:extLst>
                  </p:cNvPr>
                  <p:cNvSpPr txBox="1"/>
                  <p:nvPr/>
                </p:nvSpPr>
                <p:spPr>
                  <a:xfrm>
                    <a:off x="3139841" y="5713931"/>
                    <a:ext cx="298480" cy="486834"/>
                  </a:xfrm>
                  <a:prstGeom prst="rect">
                    <a:avLst/>
                  </a:prstGeom>
                  <a:grpFill/>
                  <a:ln>
                    <a:solidFill>
                      <a:schemeClr val="accent2">
                        <a:lumMod val="75000"/>
                      </a:schemeClr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Helvetica" pitchFamily="2" charset="0"/>
                      </a:rPr>
                      <a:t>1</a:t>
                    </a:r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74CDAAFE-05D8-FE51-BB16-5BFC5AD1ED41}"/>
                      </a:ext>
                    </a:extLst>
                  </p:cNvPr>
                  <p:cNvSpPr txBox="1"/>
                  <p:nvPr/>
                </p:nvSpPr>
                <p:spPr>
                  <a:xfrm>
                    <a:off x="5420874" y="5713931"/>
                    <a:ext cx="298480" cy="486834"/>
                  </a:xfrm>
                  <a:prstGeom prst="rect">
                    <a:avLst/>
                  </a:prstGeom>
                  <a:grpFill/>
                  <a:ln>
                    <a:solidFill>
                      <a:schemeClr val="accent2">
                        <a:lumMod val="75000"/>
                      </a:schemeClr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Helvetica" pitchFamily="2" charset="0"/>
                      </a:rPr>
                      <a:t>2</a:t>
                    </a:r>
                  </a:p>
                </p:txBody>
              </p: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EE29F4B0-6947-7B63-2B55-E94CA22CC9ED}"/>
                      </a:ext>
                    </a:extLst>
                  </p:cNvPr>
                  <p:cNvSpPr txBox="1"/>
                  <p:nvPr/>
                </p:nvSpPr>
                <p:spPr>
                  <a:xfrm>
                    <a:off x="7716475" y="5710715"/>
                    <a:ext cx="298480" cy="486834"/>
                  </a:xfrm>
                  <a:prstGeom prst="rect">
                    <a:avLst/>
                  </a:prstGeom>
                  <a:grpFill/>
                  <a:ln>
                    <a:solidFill>
                      <a:schemeClr val="accent2">
                        <a:lumMod val="75000"/>
                      </a:schemeClr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Helvetica" pitchFamily="2" charset="0"/>
                      </a:rPr>
                      <a:t>3</a:t>
                    </a:r>
                  </a:p>
                </p:txBody>
              </p:sp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DADAB771-0415-0297-033E-083A7B33F942}"/>
                      </a:ext>
                    </a:extLst>
                  </p:cNvPr>
                  <p:cNvSpPr txBox="1"/>
                  <p:nvPr/>
                </p:nvSpPr>
                <p:spPr>
                  <a:xfrm>
                    <a:off x="10036209" y="5710714"/>
                    <a:ext cx="380232" cy="575351"/>
                  </a:xfrm>
                  <a:prstGeom prst="rect">
                    <a:avLst/>
                  </a:prstGeom>
                  <a:grpFill/>
                  <a:ln>
                    <a:solidFill>
                      <a:schemeClr val="accent2">
                        <a:lumMod val="75000"/>
                      </a:schemeClr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b="1" dirty="0">
                        <a:solidFill>
                          <a:srgbClr val="C00000"/>
                        </a:solidFill>
                        <a:latin typeface="Helvetica" pitchFamily="2" charset="0"/>
                      </a:rPr>
                      <a:t>∞</a:t>
                    </a:r>
                    <a:endParaRPr lang="en-US" sz="1600" b="1" dirty="0">
                      <a:solidFill>
                        <a:srgbClr val="C00000"/>
                      </a:solidFill>
                      <a:latin typeface="Helvetica" pitchFamily="2" charset="0"/>
                    </a:endParaRPr>
                  </a:p>
                </p:txBody>
              </p:sp>
            </p:grp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6A09295-F27B-6F65-6A7B-30646BD2DC29}"/>
                    </a:ext>
                  </a:extLst>
                </p:cNvPr>
                <p:cNvSpPr txBox="1"/>
                <p:nvPr/>
              </p:nvSpPr>
              <p:spPr>
                <a:xfrm>
                  <a:off x="8804105" y="5159179"/>
                  <a:ext cx="57740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latin typeface="Helvetica" pitchFamily="2" charset="0"/>
                    </a:rPr>
                    <a:t>….</a:t>
                  </a:r>
                  <a:endParaRPr lang="en-US" b="1" dirty="0">
                    <a:latin typeface="Helvetica" pitchFamily="2" charset="0"/>
                  </a:endParaRPr>
                </a:p>
              </p:txBody>
            </p: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B9C597-7640-87B8-10A5-05E2F92AA827}"/>
                  </a:ext>
                </a:extLst>
              </p:cNvPr>
              <p:cNvSpPr txBox="1"/>
              <p:nvPr/>
            </p:nvSpPr>
            <p:spPr>
              <a:xfrm>
                <a:off x="8801321" y="5722241"/>
                <a:ext cx="57740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latin typeface="Helvetica" pitchFamily="2" charset="0"/>
                  </a:rPr>
                  <a:t>….</a:t>
                </a:r>
                <a:endParaRPr lang="en-US" b="1" dirty="0">
                  <a:latin typeface="Helvetica" pitchFamily="2" charset="0"/>
                </a:endParaRPr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0D0BE13-4E3F-7041-C202-FD44F07B7099}"/>
                </a:ext>
              </a:extLst>
            </p:cNvPr>
            <p:cNvSpPr txBox="1"/>
            <p:nvPr/>
          </p:nvSpPr>
          <p:spPr>
            <a:xfrm>
              <a:off x="868597" y="5084836"/>
              <a:ext cx="436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solidFill>
                    <a:srgbClr val="7030A0"/>
                  </a:solidFill>
                  <a:latin typeface="Helvetica" pitchFamily="2" charset="0"/>
                </a:rPr>
                <a:t>D</a:t>
              </a:r>
              <a:r>
                <a:rPr lang="en-US" sz="1800" b="1" baseline="-25000" dirty="0">
                  <a:solidFill>
                    <a:srgbClr val="7030A0"/>
                  </a:solidFill>
                  <a:latin typeface="Helvetica" pitchFamily="2" charset="0"/>
                </a:rPr>
                <a:t>0</a:t>
              </a:r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C21FCC8-4F92-BAB1-09D6-CAD7165CA9E3}"/>
                  </a:ext>
                </a:extLst>
              </p:cNvPr>
              <p:cNvSpPr txBox="1"/>
              <p:nvPr/>
            </p:nvSpPr>
            <p:spPr>
              <a:xfrm>
                <a:off x="2664186" y="3676213"/>
                <a:ext cx="6207918" cy="674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</m:acc>
                        </m:e>
                        <m:sub>
                          <m:r>
                            <a:rPr lang="en-US" sz="18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8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den>
                      </m:f>
                      <m:r>
                        <a:rPr lang="en-US" sz="18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sz="18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sz="18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en-US" sz="18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800" b="1" dirty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Helvetica" pitchFamily="2" charset="0"/>
                                </a:rPr>
                                <m:t>∞ 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1800" b="1" dirty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Helvetica" pitchFamily="2" charset="0"/>
                                </a:rPr>
                                <m:t>∞ 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C21FCC8-4F92-BAB1-09D6-CAD7165CA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186" y="3676213"/>
                <a:ext cx="6207918" cy="674480"/>
              </a:xfrm>
              <a:prstGeom prst="rect">
                <a:avLst/>
              </a:prstGeom>
              <a:blipFill>
                <a:blip r:embed="rId3"/>
                <a:stretch>
                  <a:fillRect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6139BB1-5E91-0409-F408-52B37D2BF426}"/>
                  </a:ext>
                </a:extLst>
              </p:cNvPr>
              <p:cNvSpPr txBox="1"/>
              <p:nvPr/>
            </p:nvSpPr>
            <p:spPr>
              <a:xfrm>
                <a:off x="2432661" y="4530207"/>
                <a:ext cx="7263828" cy="7362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</m:acc>
                        </m:e>
                        <m:sub>
                          <m:r>
                            <a:rPr lang="en-US" sz="18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8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den>
                      </m:f>
                      <m:r>
                        <a:rPr lang="en-US" sz="18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sz="18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sz="18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en-US" sz="18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r>
                                <a:rPr lang="en-US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b="1" dirty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Helvetica" pitchFamily="2" charset="0"/>
                                </a:rPr>
                                <m:t>∞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1800" b="1" dirty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Helvetica" pitchFamily="2" charset="0"/>
                                </a:rPr>
                                <m:t>∞ 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6139BB1-5E91-0409-F408-52B37D2BF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661" y="4530207"/>
                <a:ext cx="7263828" cy="736227"/>
              </a:xfrm>
              <a:prstGeom prst="rect">
                <a:avLst/>
              </a:prstGeom>
              <a:blipFill>
                <a:blip r:embed="rId4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FA582B7-6B4E-314D-F60A-2C50F153FB84}"/>
                  </a:ext>
                </a:extLst>
              </p:cNvPr>
              <p:cNvSpPr txBox="1"/>
              <p:nvPr/>
            </p:nvSpPr>
            <p:spPr>
              <a:xfrm>
                <a:off x="2562912" y="5558388"/>
                <a:ext cx="7263828" cy="907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</m:acc>
                        </m:e>
                        <m:sub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  <m:r>
                            <a:rPr lang="en-US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FA582B7-6B4E-314D-F60A-2C50F153F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2912" y="5558388"/>
                <a:ext cx="7263828" cy="907621"/>
              </a:xfrm>
              <a:prstGeom prst="rect">
                <a:avLst/>
              </a:prstGeom>
              <a:blipFill>
                <a:blip r:embed="rId5"/>
                <a:stretch>
                  <a:fillRect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8102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6B72B-C5D6-34C5-64B9-2BB038148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5C12F5C-E9C1-44DD-B4BD-D47BE2FD29C9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7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60BC32-E186-CCDF-5152-67C7A6C7D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A6. Expected Return from (Gordon)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2C581A1-C2B2-78A7-FD8A-EC56CB2A50FD}"/>
                  </a:ext>
                </a:extLst>
              </p:cNvPr>
              <p:cNvSpPr txBox="1"/>
              <p:nvPr/>
            </p:nvSpPr>
            <p:spPr>
              <a:xfrm>
                <a:off x="241571" y="1565417"/>
                <a:ext cx="9712915" cy="907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b="1" dirty="0">
                    <a:solidFill>
                      <a:schemeClr val="accent4">
                        <a:lumMod val="50000"/>
                      </a:schemeClr>
                    </a:solidFill>
                    <a:latin typeface="Helvetica" pitchFamily="2" charset="0"/>
                  </a:rPr>
                  <a:t>Required Return (​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accent4">
                        <a:lumMod val="50000"/>
                      </a:schemeClr>
                    </a:solidFill>
                    <a:latin typeface="Helvetica" pitchFamily="2" charset="0"/>
                  </a:rPr>
                  <a:t>):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400" dirty="0">
                    <a:solidFill>
                      <a:schemeClr val="accent4">
                        <a:lumMod val="50000"/>
                      </a:schemeClr>
                    </a:solidFill>
                    <a:latin typeface="Helvetica" pitchFamily="2" charset="0"/>
                  </a:rPr>
                  <a:t>The </a:t>
                </a:r>
                <a:r>
                  <a:rPr lang="en-US" sz="2400" b="1" dirty="0">
                    <a:solidFill>
                      <a:schemeClr val="accent4">
                        <a:lumMod val="50000"/>
                      </a:schemeClr>
                    </a:solidFill>
                    <a:latin typeface="Helvetica" pitchFamily="2" charset="0"/>
                  </a:rPr>
                  <a:t>minimum return</a:t>
                </a:r>
                <a:r>
                  <a:rPr lang="en-US" sz="2400" dirty="0">
                    <a:solidFill>
                      <a:schemeClr val="accent4">
                        <a:lumMod val="50000"/>
                      </a:schemeClr>
                    </a:solidFill>
                    <a:latin typeface="Helvetica" pitchFamily="2" charset="0"/>
                  </a:rPr>
                  <a:t> an investor demands. based on the stock’s risk.</a:t>
                </a: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2C581A1-C2B2-78A7-FD8A-EC56CB2A5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571" y="1565417"/>
                <a:ext cx="9712915" cy="907941"/>
              </a:xfrm>
              <a:prstGeom prst="rect">
                <a:avLst/>
              </a:prstGeom>
              <a:blipFill>
                <a:blip r:embed="rId2"/>
                <a:stretch>
                  <a:fillRect l="-1046" t="-5556" b="-15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6902F7E-D87F-1F9F-C512-31221C3E91C9}"/>
                  </a:ext>
                </a:extLst>
              </p:cNvPr>
              <p:cNvSpPr txBox="1"/>
              <p:nvPr/>
            </p:nvSpPr>
            <p:spPr>
              <a:xfrm>
                <a:off x="8023300" y="3590998"/>
                <a:ext cx="3862372" cy="7718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</m:acc>
                        </m:e>
                        <m:sub>
                          <m:r>
                            <a:rPr lang="en-US" sz="2000" b="1" i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000" b="1" i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𝐃</m:t>
                              </m:r>
                            </m:e>
                            <m:sub>
                              <m:r>
                                <a:rPr lang="en-US" sz="20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0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𝐠</m:t>
                              </m:r>
                              <m:r>
                                <a:rPr lang="en-US" sz="2000" b="1" i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0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sz="20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e>
                            <m:sub>
                              <m:r>
                                <a:rPr lang="en-US" sz="20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</m:sub>
                          </m:sSub>
                          <m:r>
                            <a:rPr lang="en-US" sz="2000" b="1" i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𝐠</m:t>
                          </m:r>
                        </m:den>
                      </m:f>
                      <m:r>
                        <a:rPr lang="en-US" sz="2000" b="1" i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𝐃</m:t>
                              </m:r>
                            </m:e>
                            <m:sub>
                              <m:r>
                                <a:rPr lang="en-US" sz="20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e>
                            <m:sub>
                              <m:r>
                                <a:rPr lang="en-US" sz="2000" b="1" i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</m:sub>
                          </m:sSub>
                          <m:r>
                            <a:rPr lang="en-US" sz="2000" b="1" i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𝐠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6902F7E-D87F-1F9F-C512-31221C3E9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3300" y="3590998"/>
                <a:ext cx="3862372" cy="771878"/>
              </a:xfrm>
              <a:prstGeom prst="rect">
                <a:avLst/>
              </a:prstGeom>
              <a:blipFill>
                <a:blip r:embed="rId3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D12B36-74B3-52ED-D178-EFD429E1BCFD}"/>
                  </a:ext>
                </a:extLst>
              </p:cNvPr>
              <p:cNvSpPr txBox="1"/>
              <p:nvPr/>
            </p:nvSpPr>
            <p:spPr>
              <a:xfrm>
                <a:off x="8441637" y="4565732"/>
                <a:ext cx="3025698" cy="971548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2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sz="2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28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US" sz="2000" b="1" i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D12B36-74B3-52ED-D178-EFD429E1B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1637" y="4565732"/>
                <a:ext cx="3025698" cy="971548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2546661-EF9C-5B1E-91B8-C3609E6FA643}"/>
                  </a:ext>
                </a:extLst>
              </p:cNvPr>
              <p:cNvSpPr txBox="1"/>
              <p:nvPr/>
            </p:nvSpPr>
            <p:spPr>
              <a:xfrm>
                <a:off x="241571" y="2671982"/>
                <a:ext cx="8566769" cy="907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b="1" dirty="0">
                    <a:solidFill>
                      <a:schemeClr val="accent2">
                        <a:lumMod val="50000"/>
                      </a:schemeClr>
                    </a:solidFill>
                    <a:latin typeface="Helvetica" pitchFamily="2" charset="0"/>
                  </a:rPr>
                  <a:t>Expected Return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</m:e>
                      <m:sub>
                        <m:r>
                          <a:rPr lang="en-US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accent2">
                        <a:lumMod val="50000"/>
                      </a:schemeClr>
                    </a:solidFill>
                    <a:latin typeface="Helvetica" pitchFamily="2" charset="0"/>
                  </a:rPr>
                  <a:t>)</a:t>
                </a:r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  <a:latin typeface="Helvetica" pitchFamily="2" charset="0"/>
                  </a:rPr>
                  <a:t>: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  <a:latin typeface="Helvetica" pitchFamily="2" charset="0"/>
                  </a:rPr>
                  <a:t>The </a:t>
                </a:r>
                <a:r>
                  <a:rPr lang="en-US" sz="2400" b="1" dirty="0">
                    <a:solidFill>
                      <a:schemeClr val="accent2">
                        <a:lumMod val="50000"/>
                      </a:schemeClr>
                    </a:solidFill>
                    <a:latin typeface="Helvetica" pitchFamily="2" charset="0"/>
                  </a:rPr>
                  <a:t>return the investor expects</a:t>
                </a:r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  <a:latin typeface="Helvetica" pitchFamily="2" charset="0"/>
                  </a:rPr>
                  <a:t> to earn based on forecasts.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2546661-EF9C-5B1E-91B8-C3609E6FA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571" y="2671982"/>
                <a:ext cx="8566769" cy="907941"/>
              </a:xfrm>
              <a:prstGeom prst="rect">
                <a:avLst/>
              </a:prstGeom>
              <a:blipFill>
                <a:blip r:embed="rId5"/>
                <a:stretch>
                  <a:fillRect l="-1185" t="-5556" r="-148" b="-15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F747C926-AE35-57AA-FE03-C5C36608D6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3703407"/>
                  </p:ext>
                </p:extLst>
              </p:nvPr>
            </p:nvGraphicFramePr>
            <p:xfrm>
              <a:off x="241571" y="3893048"/>
              <a:ext cx="6471462" cy="2340485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858275">
                      <a:extLst>
                        <a:ext uri="{9D8B030D-6E8A-4147-A177-3AD203B41FA5}">
                          <a16:colId xmlns:a16="http://schemas.microsoft.com/office/drawing/2014/main" val="1068207632"/>
                        </a:ext>
                      </a:extLst>
                    </a:gridCol>
                    <a:gridCol w="4613187">
                      <a:extLst>
                        <a:ext uri="{9D8B030D-6E8A-4147-A177-3AD203B41FA5}">
                          <a16:colId xmlns:a16="http://schemas.microsoft.com/office/drawing/2014/main" val="2877459429"/>
                        </a:ext>
                      </a:extLst>
                    </a:gridCol>
                  </a:tblGrid>
                  <a:tr h="8682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solidFill>
                                <a:schemeClr val="bg1"/>
                              </a:solidFill>
                              <a:latin typeface="Helvetica" pitchFamily="2" charset="0"/>
                            </a:rPr>
                            <a:t>Comparison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solidFill>
                                <a:schemeClr val="bg1"/>
                              </a:solidFill>
                              <a:latin typeface="Helvetica" pitchFamily="2" charset="0"/>
                            </a:rPr>
                            <a:t>Investor Action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97396182"/>
                      </a:ext>
                    </a:extLst>
                  </a:tr>
                  <a:tr h="49074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b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200" b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200" dirty="0">
                              <a:solidFill>
                                <a:schemeClr val="tx1"/>
                              </a:solidFill>
                            </a:rPr>
                            <a:t> &gt;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200" b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2200" b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</m:oMath>
                          </a14:m>
                          <a:endParaRPr lang="en-US" sz="2200" dirty="0">
                            <a:solidFill>
                              <a:schemeClr val="tx1"/>
                            </a:solidFill>
                            <a:latin typeface="Helvetica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solidFill>
                                <a:schemeClr val="tx1"/>
                              </a:solidFill>
                            </a:rPr>
                            <a:t>Buy</a:t>
                          </a:r>
                          <a:r>
                            <a:rPr lang="en-US" sz="2200" dirty="0">
                              <a:solidFill>
                                <a:schemeClr val="tx1"/>
                              </a:solidFill>
                            </a:rPr>
                            <a:t> the stock (it's undervalued)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Helvetica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93884944"/>
                      </a:ext>
                    </a:extLst>
                  </a:tr>
                  <a:tr h="49074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b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200" b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200" dirty="0">
                              <a:solidFill>
                                <a:schemeClr val="tx1"/>
                              </a:solidFill>
                            </a:rPr>
                            <a:t> =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200" b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2200" b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</m:oMath>
                          </a14:m>
                          <a:endParaRPr lang="en-US" sz="2200" dirty="0">
                            <a:solidFill>
                              <a:schemeClr val="tx1"/>
                            </a:solidFill>
                            <a:latin typeface="Helvetica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solidFill>
                                <a:schemeClr val="tx1"/>
                              </a:solidFill>
                            </a:rPr>
                            <a:t>Hold</a:t>
                          </a:r>
                          <a:r>
                            <a:rPr lang="en-US" sz="2200" dirty="0">
                              <a:solidFill>
                                <a:schemeClr val="tx1"/>
                              </a:solidFill>
                            </a:rPr>
                            <a:t> the stock (fairly valued)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Helvetica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2719833"/>
                      </a:ext>
                    </a:extLst>
                  </a:tr>
                  <a:tr h="49074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b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200" b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200" dirty="0">
                              <a:solidFill>
                                <a:schemeClr val="tx1"/>
                              </a:solidFill>
                            </a:rPr>
                            <a:t> &lt;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200" b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2200" b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</m:oMath>
                          </a14:m>
                          <a:endParaRPr lang="en-US" sz="2200" dirty="0">
                            <a:solidFill>
                              <a:schemeClr val="tx1"/>
                            </a:solidFill>
                            <a:latin typeface="Helvetica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solidFill>
                                <a:schemeClr val="tx1"/>
                              </a:solidFill>
                            </a:rPr>
                            <a:t>Sell</a:t>
                          </a:r>
                          <a:r>
                            <a:rPr lang="en-US" sz="2200" dirty="0">
                              <a:solidFill>
                                <a:schemeClr val="tx1"/>
                              </a:solidFill>
                            </a:rPr>
                            <a:t> the stock (overvalued)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Helvetica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89012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F747C926-AE35-57AA-FE03-C5C36608D6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3703407"/>
                  </p:ext>
                </p:extLst>
              </p:nvPr>
            </p:nvGraphicFramePr>
            <p:xfrm>
              <a:off x="241571" y="3893048"/>
              <a:ext cx="6471462" cy="2340485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858275">
                      <a:extLst>
                        <a:ext uri="{9D8B030D-6E8A-4147-A177-3AD203B41FA5}">
                          <a16:colId xmlns:a16="http://schemas.microsoft.com/office/drawing/2014/main" val="1068207632"/>
                        </a:ext>
                      </a:extLst>
                    </a:gridCol>
                    <a:gridCol w="4613187">
                      <a:extLst>
                        <a:ext uri="{9D8B030D-6E8A-4147-A177-3AD203B41FA5}">
                          <a16:colId xmlns:a16="http://schemas.microsoft.com/office/drawing/2014/main" val="2877459429"/>
                        </a:ext>
                      </a:extLst>
                    </a:gridCol>
                  </a:tblGrid>
                  <a:tr h="8682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solidFill>
                                <a:schemeClr val="bg1"/>
                              </a:solidFill>
                              <a:latin typeface="Helvetica" pitchFamily="2" charset="0"/>
                            </a:rPr>
                            <a:t>Comparison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solidFill>
                                <a:schemeClr val="bg1"/>
                              </a:solidFill>
                              <a:latin typeface="Helvetica" pitchFamily="2" charset="0"/>
                            </a:rPr>
                            <a:t>Investor Action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97396182"/>
                      </a:ext>
                    </a:extLst>
                  </a:tr>
                  <a:tr h="4907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685" t="-184211" r="-250685" b="-22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solidFill>
                                <a:schemeClr val="tx1"/>
                              </a:solidFill>
                            </a:rPr>
                            <a:t>Buy</a:t>
                          </a:r>
                          <a:r>
                            <a:rPr lang="en-US" sz="2200" dirty="0">
                              <a:solidFill>
                                <a:schemeClr val="tx1"/>
                              </a:solidFill>
                            </a:rPr>
                            <a:t> the stock (it's undervalued)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Helvetica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93884944"/>
                      </a:ext>
                    </a:extLst>
                  </a:tr>
                  <a:tr h="4907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685" t="-276923" r="-250685" b="-1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solidFill>
                                <a:schemeClr val="tx1"/>
                              </a:solidFill>
                            </a:rPr>
                            <a:t>Hold</a:t>
                          </a:r>
                          <a:r>
                            <a:rPr lang="en-US" sz="2200" dirty="0">
                              <a:solidFill>
                                <a:schemeClr val="tx1"/>
                              </a:solidFill>
                            </a:rPr>
                            <a:t> the stock (fairly valued)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Helvetica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2719833"/>
                      </a:ext>
                    </a:extLst>
                  </a:tr>
                  <a:tr h="4907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685" t="-376923" r="-250685" b="-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solidFill>
                                <a:schemeClr val="tx1"/>
                              </a:solidFill>
                            </a:rPr>
                            <a:t>Sell</a:t>
                          </a:r>
                          <a:r>
                            <a:rPr lang="en-US" sz="2200" dirty="0">
                              <a:solidFill>
                                <a:schemeClr val="tx1"/>
                              </a:solidFill>
                            </a:rPr>
                            <a:t> the stock (overvalued)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Helvetica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89012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FA5BB2F-8CCF-E010-7232-A4878494EB3E}"/>
                  </a:ext>
                </a:extLst>
              </p:cNvPr>
              <p:cNvSpPr txBox="1"/>
              <p:nvPr/>
            </p:nvSpPr>
            <p:spPr>
              <a:xfrm>
                <a:off x="8441637" y="5701669"/>
                <a:ext cx="3025698" cy="971548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n-US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FA5BB2F-8CCF-E010-7232-A4878494E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1637" y="5701669"/>
                <a:ext cx="3025698" cy="971548"/>
              </a:xfrm>
              <a:prstGeom prst="rect">
                <a:avLst/>
              </a:prstGeom>
              <a:blipFill>
                <a:blip r:embed="rId7"/>
                <a:stretch>
                  <a:fillRect b="-6329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ight Arrow 30">
            <a:extLst>
              <a:ext uri="{FF2B5EF4-FFF2-40B4-BE49-F238E27FC236}">
                <a16:creationId xmlns:a16="http://schemas.microsoft.com/office/drawing/2014/main" id="{54BBCDFB-DE78-8F55-0D12-A0832A8DFE77}"/>
              </a:ext>
            </a:extLst>
          </p:cNvPr>
          <p:cNvSpPr/>
          <p:nvPr/>
        </p:nvSpPr>
        <p:spPr>
          <a:xfrm>
            <a:off x="6713033" y="5256766"/>
            <a:ext cx="1471962" cy="484632"/>
          </a:xfrm>
          <a:prstGeom prst="rightArrow">
            <a:avLst>
              <a:gd name="adj1" fmla="val 22389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521EAA-74F5-9F97-96E3-6B07AA699787}"/>
              </a:ext>
            </a:extLst>
          </p:cNvPr>
          <p:cNvSpPr txBox="1"/>
          <p:nvPr/>
        </p:nvSpPr>
        <p:spPr>
          <a:xfrm>
            <a:off x="3477302" y="1650897"/>
            <a:ext cx="25424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B0F0"/>
                </a:solidFill>
                <a:latin typeface="Helvetica" pitchFamily="2" charset="0"/>
                <a:sym typeface="Wingdings" pitchFamily="2" charset="2"/>
              </a:rPr>
              <a:t> </a:t>
            </a:r>
            <a:r>
              <a:rPr lang="en-US" sz="2000" b="1" dirty="0">
                <a:solidFill>
                  <a:srgbClr val="00B0F0"/>
                </a:solidFill>
                <a:latin typeface="Helvetica" pitchFamily="2" charset="0"/>
                <a:sym typeface="Wingdings" pitchFamily="2" charset="2"/>
              </a:rPr>
              <a:t>from CAPM</a:t>
            </a:r>
            <a:endParaRPr lang="en-US" sz="2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90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9" grpId="0"/>
      <p:bldP spid="4" grpId="0" animBg="1"/>
      <p:bldP spid="24" grpId="0"/>
      <p:bldP spid="30" grpId="0" animBg="1"/>
      <p:bldP spid="31" grpId="0" animBg="1"/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A564D-5902-AC24-94D5-B25B882BA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E5A2B71-B18A-0260-3A5F-D6020AF123C8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7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B2486F-34D9-3B2D-8328-B1CCB668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Question-1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883CEDA-11D1-44E1-04A2-1FB20B8108C8}"/>
                  </a:ext>
                </a:extLst>
              </p:cNvPr>
              <p:cNvSpPr txBox="1"/>
              <p:nvPr/>
            </p:nvSpPr>
            <p:spPr>
              <a:xfrm>
                <a:off x="241571" y="1565417"/>
                <a:ext cx="1164410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dirty="0">
                    <a:latin typeface="Helvetica" pitchFamily="2" charset="0"/>
                  </a:rPr>
                  <a:t>Firm A is expected to pay a dividend of $4.00 at the end of the year. The required rate of return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𝐬</m:t>
                        </m:r>
                      </m:sub>
                    </m:sSub>
                    <m:r>
                      <a:rPr lang="en-US" sz="2400" b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>
                    <a:latin typeface="Helvetica" pitchFamily="2" charset="0"/>
                  </a:rPr>
                  <a:t>= 9% </a:t>
                </a:r>
                <a:r>
                  <a:rPr lang="en-US" sz="2400" dirty="0">
                    <a:latin typeface="Helvetica" pitchFamily="2" charset="0"/>
                  </a:rPr>
                  <a:t>. Other things held constant, what would the </a:t>
                </a:r>
                <a:r>
                  <a:rPr lang="en-US" sz="2400" b="1" dirty="0">
                    <a:latin typeface="Helvetica" pitchFamily="2" charset="0"/>
                  </a:rPr>
                  <a:t>stock’s price </a:t>
                </a:r>
                <a:r>
                  <a:rPr lang="en-US" sz="2400" dirty="0">
                    <a:latin typeface="Helvetica" pitchFamily="2" charset="0"/>
                  </a:rPr>
                  <a:t>be if the growth rate was 5%?</a:t>
                </a:r>
                <a:endParaRPr lang="en-US" sz="3200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883CEDA-11D1-44E1-04A2-1FB20B810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571" y="1565417"/>
                <a:ext cx="11644101" cy="1200329"/>
              </a:xfrm>
              <a:prstGeom prst="rect">
                <a:avLst/>
              </a:prstGeom>
              <a:blipFill>
                <a:blip r:embed="rId2"/>
                <a:stretch>
                  <a:fillRect l="-871" t="-4211" b="-1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115C1E7-00B2-4A0D-2837-FBAD7560EB75}"/>
                  </a:ext>
                </a:extLst>
              </p:cNvPr>
              <p:cNvSpPr txBox="1"/>
              <p:nvPr/>
            </p:nvSpPr>
            <p:spPr>
              <a:xfrm>
                <a:off x="3440148" y="2964370"/>
                <a:ext cx="3862372" cy="9078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</m:acc>
                        </m:e>
                        <m:sub>
                          <m:r>
                            <a:rPr lang="en-US" sz="2400" b="1" i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𝐃</m:t>
                              </m:r>
                            </m:e>
                            <m:sub>
                              <m:r>
                                <a:rPr lang="en-US" sz="24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𝐠</m:t>
                              </m:r>
                              <m:r>
                                <a:rPr lang="en-US" sz="2400" b="1" i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e>
                            <m:sub>
                              <m:r>
                                <a:rPr lang="en-US" sz="24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</m:sub>
                          </m:sSub>
                          <m:r>
                            <a:rPr lang="en-US" sz="2400" b="1" i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𝐠</m:t>
                          </m:r>
                        </m:den>
                      </m:f>
                      <m:r>
                        <a:rPr lang="en-US" sz="2400" b="1" i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𝐃</m:t>
                              </m:r>
                            </m:e>
                            <m:sub>
                              <m:r>
                                <a:rPr lang="en-US" sz="24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e>
                            <m:sub>
                              <m:r>
                                <a:rPr lang="en-US" sz="2400" b="1" i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</m:sub>
                          </m:sSub>
                          <m:r>
                            <a:rPr lang="en-US" sz="2400" b="1" i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𝐠</m:t>
                          </m:r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115C1E7-00B2-4A0D-2837-FBAD7560E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148" y="2964370"/>
                <a:ext cx="3862372" cy="907813"/>
              </a:xfrm>
              <a:prstGeom prst="rect">
                <a:avLst/>
              </a:prstGeom>
              <a:blipFill>
                <a:blip r:embed="rId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77EB25-44EA-218F-D63C-65E5C129A1C4}"/>
                  </a:ext>
                </a:extLst>
              </p:cNvPr>
              <p:cNvSpPr txBox="1"/>
              <p:nvPr/>
            </p:nvSpPr>
            <p:spPr>
              <a:xfrm>
                <a:off x="2315900" y="4213808"/>
                <a:ext cx="6110868" cy="7992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</m:acc>
                        </m:e>
                        <m:sub>
                          <m:r>
                            <a:rPr lang="en-US" sz="2400" b="1" i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%</m:t>
                          </m:r>
                          <m:r>
                            <a:rPr lang="en-US" sz="2400" b="1" i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%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77EB25-44EA-218F-D63C-65E5C129A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900" y="4213808"/>
                <a:ext cx="6110868" cy="799258"/>
              </a:xfrm>
              <a:prstGeom prst="rect">
                <a:avLst/>
              </a:prstGeom>
              <a:blipFill>
                <a:blip r:embed="rId4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55FC37-87E7-FC3A-C667-5B4549D86A7C}"/>
                  </a:ext>
                </a:extLst>
              </p:cNvPr>
              <p:cNvSpPr txBox="1"/>
              <p:nvPr/>
            </p:nvSpPr>
            <p:spPr>
              <a:xfrm>
                <a:off x="2315900" y="5292583"/>
                <a:ext cx="6110868" cy="7992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</m:acc>
                        </m:e>
                        <m:sub>
                          <m:r>
                            <a:rPr lang="en-US" sz="2400" b="1" i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%</m:t>
                          </m:r>
                        </m:den>
                      </m:f>
                      <m:r>
                        <a:rPr lang="en-US" sz="24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US" sz="24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55FC37-87E7-FC3A-C667-5B4549D86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900" y="5292583"/>
                <a:ext cx="6110868" cy="799258"/>
              </a:xfrm>
              <a:prstGeom prst="rect">
                <a:avLst/>
              </a:prstGeom>
              <a:blipFill>
                <a:blip r:embed="rId5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1582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9" grpId="0"/>
      <p:bldP spid="5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6CC90-1878-DEC7-56D3-479FE9D7F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FEE44F0-21AD-3D19-BABD-E772CC0027BA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7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C7FAA1-4BC7-6A25-9792-1178D5505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Question-2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64EF21F-1956-31AE-A089-1D2B3F6E35E3}"/>
                  </a:ext>
                </a:extLst>
              </p:cNvPr>
              <p:cNvSpPr txBox="1"/>
              <p:nvPr/>
            </p:nvSpPr>
            <p:spPr>
              <a:xfrm>
                <a:off x="241571" y="1565417"/>
                <a:ext cx="1164410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dirty="0">
                    <a:solidFill>
                      <a:schemeClr val="tx1"/>
                    </a:solidFill>
                    <a:latin typeface="Helvetica" pitchFamily="2" charset="0"/>
                  </a:rPr>
                  <a:t>If </a:t>
                </a:r>
                <a:r>
                  <a:rPr lang="en-US" sz="2400" b="1" dirty="0">
                    <a:solidFill>
                      <a:schemeClr val="tx1"/>
                    </a:solidFill>
                    <a:latin typeface="Helvetica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b>
                        <m:r>
                          <a:rPr lang="en-US" sz="2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Helvetica" pitchFamily="2" charset="0"/>
                  </a:rPr>
                  <a:t> =$5, </a:t>
                </a:r>
                <a:r>
                  <a:rPr lang="en-US" sz="2400" b="1" dirty="0">
                    <a:solidFill>
                      <a:schemeClr val="tx1"/>
                    </a:solidFill>
                    <a:latin typeface="Helvetica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Helvetica" pitchFamily="2" charset="0"/>
                  </a:rPr>
                  <a:t> = 8%, and </a:t>
                </a:r>
                <a:r>
                  <a:rPr lang="en-US" sz="2400" b="1" dirty="0">
                    <a:solidFill>
                      <a:schemeClr val="tx1"/>
                    </a:solidFill>
                    <a:latin typeface="Helvetica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Helvetica" pitchFamily="2" charset="0"/>
                  </a:rPr>
                  <a:t>=50, what are the </a:t>
                </a:r>
                <a:r>
                  <a:rPr lang="en-US" sz="2400" b="1" dirty="0">
                    <a:solidFill>
                      <a:schemeClr val="tx1"/>
                    </a:solidFill>
                    <a:latin typeface="Helvetica" pitchFamily="2" charset="0"/>
                  </a:rPr>
                  <a:t>stock’s expected dividend yield</a:t>
                </a:r>
                <a:r>
                  <a:rPr lang="en-US" sz="2400" dirty="0">
                    <a:solidFill>
                      <a:schemeClr val="tx1"/>
                    </a:solidFill>
                    <a:latin typeface="Helvetica" pitchFamily="2" charset="0"/>
                  </a:rPr>
                  <a:t>, </a:t>
                </a:r>
                <a:r>
                  <a:rPr lang="en-US" sz="2400" b="1" dirty="0">
                    <a:solidFill>
                      <a:schemeClr val="tx1"/>
                    </a:solidFill>
                    <a:latin typeface="Helvetica" pitchFamily="2" charset="0"/>
                  </a:rPr>
                  <a:t>capital gains yield</a:t>
                </a:r>
                <a:r>
                  <a:rPr lang="en-US" sz="2400" dirty="0">
                    <a:solidFill>
                      <a:schemeClr val="tx1"/>
                    </a:solidFill>
                    <a:latin typeface="Helvetica" pitchFamily="2" charset="0"/>
                  </a:rPr>
                  <a:t>, and </a:t>
                </a:r>
                <a:r>
                  <a:rPr lang="en-US" sz="2400" b="1" dirty="0">
                    <a:solidFill>
                      <a:schemeClr val="tx1"/>
                    </a:solidFill>
                    <a:latin typeface="Helvetica" pitchFamily="2" charset="0"/>
                  </a:rPr>
                  <a:t>total expected return</a:t>
                </a:r>
                <a:r>
                  <a:rPr lang="en-US" sz="2400" dirty="0">
                    <a:solidFill>
                      <a:schemeClr val="tx1"/>
                    </a:solidFill>
                    <a:latin typeface="Helvetica" pitchFamily="2" charset="0"/>
                  </a:rPr>
                  <a:t> for the coming year?</a:t>
                </a:r>
                <a:endParaRPr lang="en-US" sz="40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64EF21F-1956-31AE-A089-1D2B3F6E3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571" y="1565417"/>
                <a:ext cx="11644101" cy="830997"/>
              </a:xfrm>
              <a:prstGeom prst="rect">
                <a:avLst/>
              </a:prstGeom>
              <a:blipFill>
                <a:blip r:embed="rId2"/>
                <a:stretch>
                  <a:fillRect l="-871" t="-606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1E79001-FC0D-13DC-2B5C-60FFD1BD1BAA}"/>
                  </a:ext>
                </a:extLst>
              </p:cNvPr>
              <p:cNvSpPr txBox="1"/>
              <p:nvPr/>
            </p:nvSpPr>
            <p:spPr>
              <a:xfrm>
                <a:off x="4148418" y="2595038"/>
                <a:ext cx="3025698" cy="9715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n-US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1E79001-FC0D-13DC-2B5C-60FFD1BD1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418" y="2595038"/>
                <a:ext cx="3025698" cy="971548"/>
              </a:xfrm>
              <a:prstGeom prst="rect">
                <a:avLst/>
              </a:prstGeom>
              <a:blipFill>
                <a:blip r:embed="rId3"/>
                <a:stretch>
                  <a:fillRect b="-9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B872A9-476C-3D31-7515-EEF2C489B4BB}"/>
                  </a:ext>
                </a:extLst>
              </p:cNvPr>
              <p:cNvSpPr txBox="1"/>
              <p:nvPr/>
            </p:nvSpPr>
            <p:spPr>
              <a:xfrm>
                <a:off x="471934" y="3942360"/>
                <a:ext cx="3211072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tx1"/>
                    </a:solidFill>
                    <a:latin typeface="Helvetica" pitchFamily="2" charset="0"/>
                  </a:rPr>
                  <a:t>Expected Return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Helvetica" pitchFamily="2" charset="0"/>
                  </a:rPr>
                  <a:t>)</a:t>
                </a:r>
                <a:endParaRPr lang="en-US" sz="24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B872A9-476C-3D31-7515-EEF2C489B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934" y="3942360"/>
                <a:ext cx="3211072" cy="461665"/>
              </a:xfrm>
              <a:prstGeom prst="rect">
                <a:avLst/>
              </a:prstGeom>
              <a:blipFill>
                <a:blip r:embed="rId4"/>
                <a:stretch>
                  <a:fillRect l="-2745" t="-10526" r="-1961" b="-2631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90B46FA-0E8F-C329-52A3-37359F81F802}"/>
              </a:ext>
            </a:extLst>
          </p:cNvPr>
          <p:cNvSpPr txBox="1"/>
          <p:nvPr/>
        </p:nvSpPr>
        <p:spPr>
          <a:xfrm>
            <a:off x="4615847" y="3942361"/>
            <a:ext cx="226857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Dividend yield</a:t>
            </a:r>
            <a:endParaRPr lang="en-US" sz="2400" dirty="0">
              <a:latin typeface="Helvetica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6EA79-173E-88B6-1447-1360DE23B325}"/>
              </a:ext>
            </a:extLst>
          </p:cNvPr>
          <p:cNvSpPr txBox="1"/>
          <p:nvPr/>
        </p:nvSpPr>
        <p:spPr>
          <a:xfrm>
            <a:off x="7817258" y="3942360"/>
            <a:ext cx="302569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capital gains yield</a:t>
            </a:r>
            <a:endParaRPr lang="en-US" sz="2400" dirty="0">
              <a:latin typeface="Helvetica" pitchFamily="2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BB1F06B-927B-37CE-BFAB-0DEFDB26FC68}"/>
              </a:ext>
            </a:extLst>
          </p:cNvPr>
          <p:cNvCxnSpPr>
            <a:cxnSpLocks/>
          </p:cNvCxnSpPr>
          <p:nvPr/>
        </p:nvCxnSpPr>
        <p:spPr>
          <a:xfrm flipH="1">
            <a:off x="3044283" y="3233854"/>
            <a:ext cx="1571564" cy="66936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13B00D-A20E-2581-7F21-8676A2830A0F}"/>
              </a:ext>
            </a:extLst>
          </p:cNvPr>
          <p:cNvCxnSpPr>
            <a:cxnSpLocks/>
          </p:cNvCxnSpPr>
          <p:nvPr/>
        </p:nvCxnSpPr>
        <p:spPr>
          <a:xfrm>
            <a:off x="6690732" y="3233854"/>
            <a:ext cx="1587519" cy="66936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4CECA73-1496-CEAE-8042-EA7A1F718F1D}"/>
              </a:ext>
            </a:extLst>
          </p:cNvPr>
          <p:cNvCxnSpPr>
            <a:cxnSpLocks/>
          </p:cNvCxnSpPr>
          <p:nvPr/>
        </p:nvCxnSpPr>
        <p:spPr>
          <a:xfrm>
            <a:off x="5661267" y="3605725"/>
            <a:ext cx="0" cy="34142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30F1225-8F78-20E6-9EA7-AE8FA8784567}"/>
                  </a:ext>
                </a:extLst>
              </p:cNvPr>
              <p:cNvSpPr txBox="1"/>
              <p:nvPr/>
            </p:nvSpPr>
            <p:spPr>
              <a:xfrm>
                <a:off x="4705814" y="4740662"/>
                <a:ext cx="2492157" cy="7656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  <m:sub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en-US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𝟓𝟎</m:t>
                        </m:r>
                      </m:den>
                    </m:f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30F1225-8F78-20E6-9EA7-AE8FA8784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814" y="4740662"/>
                <a:ext cx="2492157" cy="765659"/>
              </a:xfrm>
              <a:prstGeom prst="rect">
                <a:avLst/>
              </a:prstGeom>
              <a:blipFill>
                <a:blip r:embed="rId5"/>
                <a:stretch>
                  <a:fillRect r="-1015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4211EF0-50FE-1096-86C7-317FB1530622}"/>
                  </a:ext>
                </a:extLst>
              </p:cNvPr>
              <p:cNvSpPr txBox="1"/>
              <p:nvPr/>
            </p:nvSpPr>
            <p:spPr>
              <a:xfrm>
                <a:off x="8814581" y="4828478"/>
                <a:ext cx="150310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4211EF0-50FE-1096-86C7-317FB1530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4581" y="4828478"/>
                <a:ext cx="1503104" cy="523220"/>
              </a:xfrm>
              <a:prstGeom prst="rect">
                <a:avLst/>
              </a:prstGeom>
              <a:blipFill>
                <a:blip r:embed="rId6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B908251-4011-1FCB-261A-BB6801269F33}"/>
                  </a:ext>
                </a:extLst>
              </p:cNvPr>
              <p:cNvSpPr txBox="1"/>
              <p:nvPr/>
            </p:nvSpPr>
            <p:spPr>
              <a:xfrm>
                <a:off x="1026105" y="4828478"/>
                <a:ext cx="181293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n-US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B908251-4011-1FCB-261A-BB6801269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105" y="4828478"/>
                <a:ext cx="1812932" cy="523220"/>
              </a:xfrm>
              <a:prstGeom prst="rect">
                <a:avLst/>
              </a:prstGeom>
              <a:blipFill>
                <a:blip r:embed="rId7"/>
                <a:stretch>
                  <a:fillRect t="-714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1962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3" grpId="0" animBg="1"/>
      <p:bldP spid="4" grpId="0" animBg="1"/>
      <p:bldP spid="7" grpId="0" animBg="1"/>
      <p:bldP spid="10" grpId="0" animBg="1"/>
      <p:bldP spid="24" grpId="0"/>
      <p:bldP spid="25" grpId="0"/>
      <p:bldP spid="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BDE8E-8F6C-C157-675A-302D3B5FC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91A5E57-95E1-9FD5-C25F-0052B6D9CA4A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7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311B3A-588F-553B-AE6D-FE24A5B38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A7. Dividends vs. Growth: The Trade-off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819C22-7F8D-F912-0D71-4ADD8F579436}"/>
              </a:ext>
            </a:extLst>
          </p:cNvPr>
          <p:cNvSpPr txBox="1"/>
          <p:nvPr/>
        </p:nvSpPr>
        <p:spPr>
          <a:xfrm>
            <a:off x="241571" y="1565417"/>
            <a:ext cx="1140706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Helvetica" pitchFamily="2" charset="0"/>
                <a:cs typeface="Times New Roman" panose="02020603050405020304" pitchFamily="18" charset="0"/>
              </a:rPr>
              <a:t>Dividends and growth are linked through </a:t>
            </a:r>
            <a:r>
              <a:rPr lang="en-US" sz="2400" b="1" dirty="0">
                <a:latin typeface="Helvetica" pitchFamily="2" charset="0"/>
                <a:cs typeface="Times New Roman" panose="02020603050405020304" pitchFamily="18" charset="0"/>
              </a:rPr>
              <a:t>earnings</a:t>
            </a:r>
            <a:r>
              <a:rPr lang="en-US" sz="2400" dirty="0">
                <a:latin typeface="Helvetica" pitchFamily="2" charset="0"/>
                <a:cs typeface="Times New Roman" panose="02020603050405020304" pitchFamily="18" charset="0"/>
              </a:rPr>
              <a:t> and how they are used.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  <a:cs typeface="Times New Roman" panose="02020603050405020304" pitchFamily="18" charset="0"/>
              </a:rPr>
              <a:t>The Logic Behind It:</a:t>
            </a:r>
            <a:endParaRPr lang="en-US" sz="2400" dirty="0">
              <a:latin typeface="Helvetica" pitchFamily="2" charset="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  <a:cs typeface="Times New Roman" panose="02020603050405020304" pitchFamily="18" charset="0"/>
              </a:rPr>
              <a:t>Dividends come from earnings</a:t>
            </a:r>
            <a:endParaRPr lang="en-US" sz="2400" dirty="0">
              <a:latin typeface="Helvetica" pitchFamily="2" charset="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  <a:cs typeface="Times New Roman" panose="02020603050405020304" pitchFamily="18" charset="0"/>
              </a:rPr>
              <a:t>Earnings grow</a:t>
            </a:r>
            <a:r>
              <a:rPr lang="en-US" sz="2400" dirty="0">
                <a:latin typeface="Helvetica" pitchFamily="2" charset="0"/>
                <a:cs typeface="Times New Roman" panose="02020603050405020304" pitchFamily="18" charset="0"/>
              </a:rPr>
              <a:t> when the firm </a:t>
            </a:r>
            <a:r>
              <a:rPr lang="en-US" sz="2400" b="1" dirty="0">
                <a:latin typeface="Helvetica" pitchFamily="2" charset="0"/>
                <a:cs typeface="Times New Roman" panose="02020603050405020304" pitchFamily="18" charset="0"/>
              </a:rPr>
              <a:t>retains and reinvests</a:t>
            </a:r>
            <a:r>
              <a:rPr lang="en-US" sz="2400" dirty="0">
                <a:latin typeface="Helvetica" pitchFamily="2" charset="0"/>
                <a:cs typeface="Times New Roman" panose="02020603050405020304" pitchFamily="18" charset="0"/>
              </a:rPr>
              <a:t> part of those earnings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  <a:cs typeface="Times New Roman" panose="02020603050405020304" pitchFamily="18" charset="0"/>
              </a:rPr>
              <a:t>Growth in dividends = Retention Ratio × ROE</a:t>
            </a:r>
            <a:endParaRPr lang="en-US" sz="2400" dirty="0">
              <a:latin typeface="Helvetica" pitchFamily="2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959029B-43F3-7CAD-AA95-1449C85E080F}"/>
                  </a:ext>
                </a:extLst>
              </p:cNvPr>
              <p:cNvSpPr txBox="1"/>
              <p:nvPr/>
            </p:nvSpPr>
            <p:spPr>
              <a:xfrm>
                <a:off x="3567281" y="4318586"/>
                <a:ext cx="5057436" cy="575799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𝐠</m:t>
                      </m:r>
                      <m:r>
                        <a:rPr lang="en-US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Payout</m:t>
                      </m:r>
                      <m:r>
                        <m:rPr>
                          <m:nor/>
                        </m:rPr>
                        <a:rPr lang="en-US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Ratio</m:t>
                      </m:r>
                      <m:r>
                        <m:rPr>
                          <m:nor/>
                        </m:rPr>
                        <a:rPr lang="en-US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𝐑𝐎𝐄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959029B-43F3-7CAD-AA95-1449C85E0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7281" y="4318586"/>
                <a:ext cx="5057436" cy="575799"/>
              </a:xfrm>
              <a:prstGeom prst="rect">
                <a:avLst/>
              </a:prstGeom>
              <a:blipFill>
                <a:blip r:embed="rId2"/>
                <a:stretch>
                  <a:fillRect b="-17021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11A2765-40EB-2FF9-6987-547AA6927FAA}"/>
              </a:ext>
            </a:extLst>
          </p:cNvPr>
          <p:cNvSpPr txBox="1"/>
          <p:nvPr/>
        </p:nvSpPr>
        <p:spPr>
          <a:xfrm>
            <a:off x="241571" y="5717475"/>
            <a:ext cx="10909525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latin typeface="Helvetica" pitchFamily="2" charset="0"/>
              </a:rPr>
              <a:t>Pay out </a:t>
            </a:r>
            <a:r>
              <a:rPr lang="en-US" sz="2400" b="1" dirty="0">
                <a:latin typeface="Helvetica" pitchFamily="2" charset="0"/>
              </a:rPr>
              <a:t>100%</a:t>
            </a:r>
            <a:r>
              <a:rPr lang="en-US" sz="2400" dirty="0">
                <a:latin typeface="Helvetica" pitchFamily="2" charset="0"/>
              </a:rPr>
              <a:t> of earnings → High dividend today, </a:t>
            </a:r>
            <a:r>
              <a:rPr lang="en-US" sz="2400" b="1" dirty="0">
                <a:latin typeface="Helvetica" pitchFamily="2" charset="0"/>
              </a:rPr>
              <a:t>no growth</a:t>
            </a:r>
            <a:endParaRPr lang="en-US" sz="2400" dirty="0">
              <a:latin typeface="Helvetica" pitchFamily="2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Helvetica" pitchFamily="2" charset="0"/>
              </a:rPr>
              <a:t>Retain </a:t>
            </a:r>
            <a:r>
              <a:rPr lang="en-US" sz="2400" b="1" dirty="0">
                <a:latin typeface="Helvetica" pitchFamily="2" charset="0"/>
              </a:rPr>
              <a:t>some earnings</a:t>
            </a:r>
            <a:r>
              <a:rPr lang="en-US" sz="2400" dirty="0">
                <a:latin typeface="Helvetica" pitchFamily="2" charset="0"/>
              </a:rPr>
              <a:t> → Lower dividend now, but </a:t>
            </a:r>
            <a:r>
              <a:rPr lang="en-US" sz="2400" b="1" dirty="0">
                <a:latin typeface="Helvetica" pitchFamily="2" charset="0"/>
              </a:rPr>
              <a:t>dividends grow over time</a:t>
            </a:r>
            <a:endParaRPr lang="en-US" sz="2400" dirty="0">
              <a:latin typeface="Helvetic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EB35159-DF6A-3805-6769-8C88A857A17C}"/>
                  </a:ext>
                </a:extLst>
              </p:cNvPr>
              <p:cNvSpPr txBox="1"/>
              <p:nvPr/>
            </p:nvSpPr>
            <p:spPr>
              <a:xfrm>
                <a:off x="4446507" y="4943052"/>
                <a:ext cx="3298984" cy="609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Payout</m:t>
                      </m:r>
                      <m:r>
                        <m:rPr>
                          <m:nor/>
                        </m:rPr>
                        <a:rPr lang="en-US" sz="1800" b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b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Ratio</m:t>
                      </m:r>
                      <m:r>
                        <m:rPr>
                          <m:nor/>
                        </m:rPr>
                        <a:rPr lang="en-US" sz="1800" b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1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𝐃𝐢𝐯</m:t>
                          </m:r>
                        </m:num>
                        <m:den>
                          <m:r>
                            <a:rPr lang="en-US" sz="1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𝐍𝐞𝐭</m:t>
                          </m:r>
                          <m:r>
                            <a:rPr lang="en-US" sz="1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𝐈𝐧𝐜𝐨𝐦𝐞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EB35159-DF6A-3805-6769-8C88A857A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507" y="4943052"/>
                <a:ext cx="3298984" cy="609077"/>
              </a:xfrm>
              <a:prstGeom prst="rect">
                <a:avLst/>
              </a:prstGeom>
              <a:blipFill>
                <a:blip r:embed="rId3"/>
                <a:stretch>
                  <a:fillRect b="-16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798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30" grpId="0" animBg="1"/>
      <p:bldP spid="5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7DF54-D54B-77C4-0AB3-30EFE67C2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8FE7D4B-266C-D152-768F-3425557EB005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7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684519-8836-F537-FDBD-A8FBB1013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Question-3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F679F5-8D57-721D-7BE2-ACDC09045F03}"/>
              </a:ext>
            </a:extLst>
          </p:cNvPr>
          <p:cNvSpPr txBox="1"/>
          <p:nvPr/>
        </p:nvSpPr>
        <p:spPr>
          <a:xfrm>
            <a:off x="120784" y="1456982"/>
            <a:ext cx="119504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" pitchFamily="2" charset="0"/>
              </a:rPr>
              <a:t>Firm X has a return on equity (ROE) of 12% and currently pays out 40% of its earnings as dividends. The company is expected to pay a dividend of $1.80 per share next year. If the required rate of return on the stock is 10%, calculate the expected growth rate of dividends. Then, using the constant growth (Gordon) model, estimate the intrinsic value of the stock.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A79EA12-5681-6E1F-8581-9224F94DDE23}"/>
                  </a:ext>
                </a:extLst>
              </p:cNvPr>
              <p:cNvSpPr txBox="1"/>
              <p:nvPr/>
            </p:nvSpPr>
            <p:spPr>
              <a:xfrm>
                <a:off x="6999412" y="3736439"/>
                <a:ext cx="3862372" cy="9078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</m:acc>
                        </m:e>
                        <m:sub>
                          <m:r>
                            <a:rPr lang="en-US" sz="2400" b="1" i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𝐃</m:t>
                              </m:r>
                            </m:e>
                            <m:sub>
                              <m:r>
                                <a:rPr lang="en-US" sz="24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𝐠</m:t>
                              </m:r>
                              <m:r>
                                <a:rPr lang="en-US" sz="2400" b="1" i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e>
                            <m:sub>
                              <m:r>
                                <a:rPr lang="en-US" sz="24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</m:sub>
                          </m:sSub>
                          <m:r>
                            <a:rPr lang="en-US" sz="2400" b="1" i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𝐠</m:t>
                          </m:r>
                        </m:den>
                      </m:f>
                      <m:r>
                        <a:rPr lang="en-US" sz="2400" b="1" i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𝐃</m:t>
                              </m:r>
                            </m:e>
                            <m:sub>
                              <m:r>
                                <a:rPr lang="en-US" sz="24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e>
                            <m:sub>
                              <m:r>
                                <a:rPr lang="en-US" sz="2400" b="1" i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</m:sub>
                          </m:sSub>
                          <m:r>
                            <a:rPr lang="en-US" sz="2400" b="1" i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𝐠</m:t>
                          </m:r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A79EA12-5681-6E1F-8581-9224F94DD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9412" y="3736439"/>
                <a:ext cx="3862372" cy="907813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FCC1DC-4F05-688A-C26F-38CDBDA4C0AA}"/>
                  </a:ext>
                </a:extLst>
              </p:cNvPr>
              <p:cNvSpPr txBox="1"/>
              <p:nvPr/>
            </p:nvSpPr>
            <p:spPr>
              <a:xfrm>
                <a:off x="7590592" y="4647125"/>
                <a:ext cx="2680012" cy="7992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</m:acc>
                        </m:e>
                        <m:sub>
                          <m:r>
                            <a:rPr lang="en-US" sz="2400" b="1" i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%</m:t>
                          </m:r>
                          <m:r>
                            <a:rPr lang="en-US" sz="2400" b="1" i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%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FCC1DC-4F05-688A-C26F-38CDBDA4C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0592" y="4647125"/>
                <a:ext cx="2680012" cy="799258"/>
              </a:xfrm>
              <a:prstGeom prst="rect">
                <a:avLst/>
              </a:prstGeom>
              <a:blipFill>
                <a:blip r:embed="rId3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CEBF7B-EBD5-41E8-C29A-8EF65FD3D5B6}"/>
                  </a:ext>
                </a:extLst>
              </p:cNvPr>
              <p:cNvSpPr txBox="1"/>
              <p:nvPr/>
            </p:nvSpPr>
            <p:spPr>
              <a:xfrm>
                <a:off x="7281994" y="5613008"/>
                <a:ext cx="3297207" cy="7992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</m:acc>
                        </m:e>
                        <m:sub>
                          <m:r>
                            <a:rPr lang="en-US" sz="2400" b="1" i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%</m:t>
                          </m:r>
                        </m:den>
                      </m:f>
                      <m:r>
                        <a:rPr lang="en-US" sz="24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US" sz="24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𝟔𝟒</m:t>
                      </m:r>
                      <m:r>
                        <a:rPr lang="en-US" sz="24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𝟐𝟗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CEBF7B-EBD5-41E8-C29A-8EF65FD3D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1994" y="5613008"/>
                <a:ext cx="3297207" cy="799258"/>
              </a:xfrm>
              <a:prstGeom prst="rect">
                <a:avLst/>
              </a:prstGeom>
              <a:blipFill>
                <a:blip r:embed="rId4"/>
                <a:stretch>
                  <a:fillRect b="-7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D627F0-A3BA-8259-648D-397E6836314F}"/>
                  </a:ext>
                </a:extLst>
              </p:cNvPr>
              <p:cNvSpPr txBox="1"/>
              <p:nvPr/>
            </p:nvSpPr>
            <p:spPr>
              <a:xfrm>
                <a:off x="1038562" y="4311351"/>
                <a:ext cx="4135604" cy="506742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𝐠</m:t>
                      </m:r>
                      <m:r>
                        <a:rPr lang="en-US" sz="24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sz="24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Payout</m:t>
                      </m:r>
                      <m:r>
                        <m:rPr>
                          <m:nor/>
                        </m:rPr>
                        <a:rPr lang="en-US" sz="2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Ratio</m:t>
                      </m:r>
                      <m:r>
                        <m:rPr>
                          <m:nor/>
                        </m:rPr>
                        <a:rPr lang="en-US" sz="2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4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𝐑𝐎𝐄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D627F0-A3BA-8259-648D-397E68363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562" y="4311351"/>
                <a:ext cx="4135604" cy="506742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42C35F-783E-54D9-2195-C0860707304E}"/>
                  </a:ext>
                </a:extLst>
              </p:cNvPr>
              <p:cNvSpPr txBox="1"/>
              <p:nvPr/>
            </p:nvSpPr>
            <p:spPr>
              <a:xfrm>
                <a:off x="1038562" y="4984718"/>
                <a:ext cx="4135604" cy="461665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𝐠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40%</m:t>
                      </m:r>
                      <m:r>
                        <m:rPr>
                          <m:nor/>
                        </m:rPr>
                        <a:rPr lang="en-US" sz="2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42C35F-783E-54D9-2195-C08607073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562" y="4984718"/>
                <a:ext cx="4135604" cy="461665"/>
              </a:xfrm>
              <a:prstGeom prst="rect">
                <a:avLst/>
              </a:prstGeom>
              <a:blipFill>
                <a:blip r:embed="rId6"/>
                <a:stretch>
                  <a:fillRect b="-13158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C2532B-02CB-CA63-616A-2BA6749B7B11}"/>
                  </a:ext>
                </a:extLst>
              </p:cNvPr>
              <p:cNvSpPr txBox="1"/>
              <p:nvPr/>
            </p:nvSpPr>
            <p:spPr>
              <a:xfrm>
                <a:off x="1038562" y="5613008"/>
                <a:ext cx="4135604" cy="461665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𝐠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C2532B-02CB-CA63-616A-2BA6749B7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562" y="5613008"/>
                <a:ext cx="4135604" cy="461665"/>
              </a:xfrm>
              <a:prstGeom prst="rect">
                <a:avLst/>
              </a:prstGeom>
              <a:blipFill>
                <a:blip r:embed="rId7"/>
                <a:stretch>
                  <a:fillRect b="-5128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0688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9" grpId="0"/>
      <p:bldP spid="5" grpId="0"/>
      <p:bldP spid="8" grpId="0"/>
      <p:bldP spid="4" grpId="0" animBg="1"/>
      <p:bldP spid="7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C8D79-7EA5-387E-20D1-C03D5AC25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F72D74F-30B5-59F7-C8D3-E7A37E15AD91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7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D72E7B-B9C4-0FD9-5966-67CE11B23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A8. Valuing Nonconstant Growth Stocks</a:t>
            </a:r>
          </a:p>
        </p:txBody>
      </p:sp>
      <p:pic>
        <p:nvPicPr>
          <p:cNvPr id="10" name="Picture 9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6F2B0F8F-D180-25DD-E7CC-412215B81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47" y="1674126"/>
            <a:ext cx="5535733" cy="41133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3048B72-5D52-F400-58EB-6BDB1E6E6E40}"/>
              </a:ext>
            </a:extLst>
          </p:cNvPr>
          <p:cNvSpPr txBox="1"/>
          <p:nvPr/>
        </p:nvSpPr>
        <p:spPr>
          <a:xfrm>
            <a:off x="6311590" y="1859339"/>
            <a:ext cx="578748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Helvetica" pitchFamily="2" charset="0"/>
              </a:rPr>
              <a:t>Why Not Constant Growth?</a:t>
            </a:r>
            <a:endParaRPr lang="en-US" sz="2000" dirty="0">
              <a:latin typeface="Helvetica" pitchFamily="2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Helvetica" pitchFamily="2" charset="0"/>
              </a:rPr>
              <a:t>Many companies go through </a:t>
            </a:r>
            <a:r>
              <a:rPr lang="en-US" sz="2000" b="1" dirty="0">
                <a:latin typeface="Helvetica" pitchFamily="2" charset="0"/>
              </a:rPr>
              <a:t>life cycles</a:t>
            </a:r>
            <a:r>
              <a:rPr lang="en-US" sz="2000" dirty="0">
                <a:latin typeface="Helvetica" pitchFamily="2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Helvetica" pitchFamily="2" charset="0"/>
              </a:rPr>
              <a:t>Early high growth → Stable growth → Slower growth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Helvetica" pitchFamily="2" charset="0"/>
              </a:rPr>
              <a:t>A </a:t>
            </a:r>
            <a:r>
              <a:rPr lang="en-US" sz="2000" b="1" dirty="0">
                <a:latin typeface="Helvetica" pitchFamily="2" charset="0"/>
              </a:rPr>
              <a:t>constant growth model doesn’t fit</a:t>
            </a:r>
            <a:r>
              <a:rPr lang="en-US" sz="2000" dirty="0">
                <a:latin typeface="Helvetica" pitchFamily="2" charset="0"/>
              </a:rPr>
              <a:t> all stages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Helvetica" pitchFamily="2" charset="0"/>
              </a:rPr>
              <a:t>Instead, we use a </a:t>
            </a:r>
            <a:r>
              <a:rPr lang="en-US" sz="2000" b="1" dirty="0">
                <a:latin typeface="Helvetica" pitchFamily="2" charset="0"/>
              </a:rPr>
              <a:t>two-stage valuation</a:t>
            </a:r>
            <a:r>
              <a:rPr lang="en-US" sz="2000" dirty="0">
                <a:latin typeface="Helvetica" pitchFamily="2" charset="0"/>
              </a:rPr>
              <a:t>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Helvetica" pitchFamily="2" charset="0"/>
              </a:rPr>
              <a:t>Nonconstant (supernormal) growth period</a:t>
            </a:r>
            <a:endParaRPr lang="en-US" sz="2000" dirty="0">
              <a:latin typeface="Helvetica" pitchFamily="2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Helvetica" pitchFamily="2" charset="0"/>
              </a:rPr>
              <a:t>Constant growth thereafter</a:t>
            </a:r>
            <a:endParaRPr lang="en-US" sz="20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082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D3BB2-83E2-9BFA-8897-3B7521BB5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65C0E12-5491-FB91-17D4-E2EAF6B8866B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7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FF405-C094-51B9-800D-626AA962B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A8. Valuing Nonconstant Growth Stocks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E41E898-8122-95E5-394B-9AE3153FF2B6}"/>
              </a:ext>
            </a:extLst>
          </p:cNvPr>
          <p:cNvGrpSpPr/>
          <p:nvPr/>
        </p:nvGrpSpPr>
        <p:grpSpPr>
          <a:xfrm>
            <a:off x="543365" y="4463835"/>
            <a:ext cx="11105270" cy="1119761"/>
            <a:chOff x="543364" y="1808992"/>
            <a:chExt cx="11105270" cy="111976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E58D792-A352-32A1-67A0-E943BA1F72F6}"/>
                </a:ext>
              </a:extLst>
            </p:cNvPr>
            <p:cNvGrpSpPr/>
            <p:nvPr/>
          </p:nvGrpSpPr>
          <p:grpSpPr>
            <a:xfrm>
              <a:off x="543364" y="1808992"/>
              <a:ext cx="11105270" cy="1119761"/>
              <a:chOff x="937526" y="5317274"/>
              <a:chExt cx="11105270" cy="1119761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2844511-78C3-14F1-F339-88EA5AB59941}"/>
                  </a:ext>
                </a:extLst>
              </p:cNvPr>
              <p:cNvGrpSpPr/>
              <p:nvPr/>
            </p:nvGrpSpPr>
            <p:grpSpPr>
              <a:xfrm>
                <a:off x="937526" y="5317274"/>
                <a:ext cx="11105270" cy="1119761"/>
                <a:chOff x="937526" y="5317274"/>
                <a:chExt cx="11105270" cy="1119761"/>
              </a:xfrm>
            </p:grpSpPr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EBAE58E3-BFDF-FFA6-D7C6-CBA0FC2C9EFD}"/>
                    </a:ext>
                  </a:extLst>
                </p:cNvPr>
                <p:cNvGrpSpPr/>
                <p:nvPr/>
              </p:nvGrpSpPr>
              <p:grpSpPr>
                <a:xfrm>
                  <a:off x="937526" y="5592794"/>
                  <a:ext cx="11105270" cy="844241"/>
                  <a:chOff x="873086" y="5072061"/>
                  <a:chExt cx="11105270" cy="1214004"/>
                </a:xfrm>
                <a:noFill/>
              </p:grpSpPr>
              <p:grpSp>
                <p:nvGrpSpPr>
                  <p:cNvPr id="9" name="Group 8">
                    <a:extLst>
                      <a:ext uri="{FF2B5EF4-FFF2-40B4-BE49-F238E27FC236}">
                        <a16:creationId xmlns:a16="http://schemas.microsoft.com/office/drawing/2014/main" id="{18B9D668-69A3-E948-BBF9-EC97BB707BB7}"/>
                      </a:ext>
                    </a:extLst>
                  </p:cNvPr>
                  <p:cNvGrpSpPr/>
                  <p:nvPr/>
                </p:nvGrpSpPr>
                <p:grpSpPr>
                  <a:xfrm>
                    <a:off x="1027135" y="5072061"/>
                    <a:ext cx="10951221" cy="457200"/>
                    <a:chOff x="1027135" y="5072061"/>
                    <a:chExt cx="10951221" cy="457200"/>
                  </a:xfrm>
                  <a:grpFill/>
                </p:grpSpPr>
                <p:cxnSp>
                  <p:nvCxnSpPr>
                    <p:cNvPr id="17" name="Straight Arrow Connector 16">
                      <a:extLst>
                        <a:ext uri="{FF2B5EF4-FFF2-40B4-BE49-F238E27FC236}">
                          <a16:creationId xmlns:a16="http://schemas.microsoft.com/office/drawing/2014/main" id="{1C5B00B1-3F4A-8F07-8A5C-BF3E0D71927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7135" y="5285984"/>
                      <a:ext cx="10951221" cy="107496"/>
                    </a:xfrm>
                    <a:prstGeom prst="straightConnector1">
                      <a:avLst/>
                    </a:prstGeom>
                    <a:grpFill/>
                    <a:ln w="3810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" name="Straight Connector 17">
                      <a:extLst>
                        <a:ext uri="{FF2B5EF4-FFF2-40B4-BE49-F238E27FC236}">
                          <a16:creationId xmlns:a16="http://schemas.microsoft.com/office/drawing/2014/main" id="{0D915E80-F317-C868-3664-9CB54AD87EE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7136" y="5072061"/>
                      <a:ext cx="0" cy="457200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" name="Straight Connector 19">
                      <a:extLst>
                        <a:ext uri="{FF2B5EF4-FFF2-40B4-BE49-F238E27FC236}">
                          <a16:creationId xmlns:a16="http://schemas.microsoft.com/office/drawing/2014/main" id="{38167935-C270-C6F4-0C9B-542D782B467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494946" y="5072061"/>
                      <a:ext cx="0" cy="457200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" name="Straight Connector 21">
                      <a:extLst>
                        <a:ext uri="{FF2B5EF4-FFF2-40B4-BE49-F238E27FC236}">
                          <a16:creationId xmlns:a16="http://schemas.microsoft.com/office/drawing/2014/main" id="{82AAF139-C473-CB86-10B3-65F8FA7782E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494018" y="5072061"/>
                      <a:ext cx="0" cy="457200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0B6D065A-D620-EE96-5B2F-4360CF64857C}"/>
                      </a:ext>
                    </a:extLst>
                  </p:cNvPr>
                  <p:cNvSpPr txBox="1"/>
                  <p:nvPr/>
                </p:nvSpPr>
                <p:spPr>
                  <a:xfrm>
                    <a:off x="873086" y="5713928"/>
                    <a:ext cx="298480" cy="486834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latin typeface="Helvetica" pitchFamily="2" charset="0"/>
                      </a:rPr>
                      <a:t>0</a:t>
                    </a:r>
                  </a:p>
                </p:txBody>
              </p: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068986C9-44B7-DF25-1B33-0F5B56F954CE}"/>
                      </a:ext>
                    </a:extLst>
                  </p:cNvPr>
                  <p:cNvSpPr txBox="1"/>
                  <p:nvPr/>
                </p:nvSpPr>
                <p:spPr>
                  <a:xfrm>
                    <a:off x="2339969" y="5713929"/>
                    <a:ext cx="298480" cy="48683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latin typeface="Helvetica" pitchFamily="2" charset="0"/>
                      </a:rPr>
                      <a:t>1</a:t>
                    </a:r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F3AFB32C-1FFB-8724-D025-D510F5499B76}"/>
                      </a:ext>
                    </a:extLst>
                  </p:cNvPr>
                  <p:cNvSpPr txBox="1"/>
                  <p:nvPr/>
                </p:nvSpPr>
                <p:spPr>
                  <a:xfrm>
                    <a:off x="11340897" y="5710714"/>
                    <a:ext cx="380232" cy="575351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b="1" dirty="0">
                        <a:latin typeface="Helvetica" pitchFamily="2" charset="0"/>
                      </a:rPr>
                      <a:t>∞</a:t>
                    </a:r>
                    <a:endParaRPr lang="en-US" sz="1600" b="1" dirty="0">
                      <a:latin typeface="Helvetica" pitchFamily="2" charset="0"/>
                    </a:endParaRPr>
                  </a:p>
                </p:txBody>
              </p:sp>
            </p:grp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4C5CB5F-EF76-63CB-4CA3-BBBD286AD8DC}"/>
                    </a:ext>
                  </a:extLst>
                </p:cNvPr>
                <p:cNvSpPr txBox="1"/>
                <p:nvPr/>
              </p:nvSpPr>
              <p:spPr>
                <a:xfrm>
                  <a:off x="10220541" y="5317274"/>
                  <a:ext cx="57740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latin typeface="Helvetica" pitchFamily="2" charset="0"/>
                    </a:rPr>
                    <a:t>….</a:t>
                  </a:r>
                  <a:endParaRPr lang="en-US" b="1" dirty="0">
                    <a:latin typeface="Helvetica" pitchFamily="2" charset="0"/>
                  </a:endParaRPr>
                </a:p>
              </p:txBody>
            </p:sp>
          </p:grp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DE4EBE9-1776-8C99-C19C-C7576E52D207}"/>
                  </a:ext>
                </a:extLst>
              </p:cNvPr>
              <p:cNvSpPr txBox="1"/>
              <p:nvPr/>
            </p:nvSpPr>
            <p:spPr>
              <a:xfrm>
                <a:off x="10215863" y="5744457"/>
                <a:ext cx="577402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latin typeface="Helvetica" pitchFamily="2" charset="0"/>
                  </a:rPr>
                  <a:t>….</a:t>
                </a:r>
                <a:endParaRPr lang="en-US" b="1" dirty="0">
                  <a:latin typeface="Helvetica" pitchFamily="2" charset="0"/>
                </a:endParaRPr>
              </a:p>
            </p:txBody>
          </p:sp>
        </p:grp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F29ED21-31F3-FE6B-2AF1-6D7175684CEB}"/>
                </a:ext>
              </a:extLst>
            </p:cNvPr>
            <p:cNvCxnSpPr>
              <a:cxnSpLocks/>
            </p:cNvCxnSpPr>
            <p:nvPr/>
          </p:nvCxnSpPr>
          <p:spPr>
            <a:xfrm>
              <a:off x="3580195" y="2082278"/>
              <a:ext cx="0" cy="317945"/>
            </a:xfrm>
            <a:prstGeom prst="lin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74D58C2-8315-E24C-6796-116EB72BECD9}"/>
                </a:ext>
              </a:extLst>
            </p:cNvPr>
            <p:cNvCxnSpPr>
              <a:cxnSpLocks/>
            </p:cNvCxnSpPr>
            <p:nvPr/>
          </p:nvCxnSpPr>
          <p:spPr>
            <a:xfrm>
              <a:off x="4992844" y="2072071"/>
              <a:ext cx="0" cy="317945"/>
            </a:xfrm>
            <a:prstGeom prst="lin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248A4EC-40C6-0110-8E5B-ACF276F58E93}"/>
                </a:ext>
              </a:extLst>
            </p:cNvPr>
            <p:cNvSpPr txBox="1"/>
            <p:nvPr/>
          </p:nvSpPr>
          <p:spPr>
            <a:xfrm>
              <a:off x="3426146" y="2528646"/>
              <a:ext cx="298480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Helvetica" pitchFamily="2" charset="0"/>
                </a:rPr>
                <a:t>2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7915EEE-BE3E-BEB7-DDA2-BBF9A4BD8699}"/>
                </a:ext>
              </a:extLst>
            </p:cNvPr>
            <p:cNvSpPr txBox="1"/>
            <p:nvPr/>
          </p:nvSpPr>
          <p:spPr>
            <a:xfrm>
              <a:off x="4838795" y="2529228"/>
              <a:ext cx="298480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Helvetica" pitchFamily="2" charset="0"/>
                </a:rPr>
                <a:t>3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20FC315-0980-C601-AAB8-96202BE29BCA}"/>
                </a:ext>
              </a:extLst>
            </p:cNvPr>
            <p:cNvCxnSpPr>
              <a:cxnSpLocks/>
            </p:cNvCxnSpPr>
            <p:nvPr/>
          </p:nvCxnSpPr>
          <p:spPr>
            <a:xfrm>
              <a:off x="6405597" y="2081695"/>
              <a:ext cx="0" cy="317945"/>
            </a:xfrm>
            <a:prstGeom prst="lin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EB76467-9719-CA5F-C86A-27EE60DA7D01}"/>
                </a:ext>
              </a:extLst>
            </p:cNvPr>
            <p:cNvSpPr txBox="1"/>
            <p:nvPr/>
          </p:nvSpPr>
          <p:spPr>
            <a:xfrm>
              <a:off x="6251548" y="2528062"/>
              <a:ext cx="298480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Helvetica" pitchFamily="2" charset="0"/>
                </a:rPr>
                <a:t>4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A4C1D9A-5DFF-E624-89A7-62AD1E5A10A4}"/>
                </a:ext>
              </a:extLst>
            </p:cNvPr>
            <p:cNvCxnSpPr>
              <a:cxnSpLocks/>
            </p:cNvCxnSpPr>
            <p:nvPr/>
          </p:nvCxnSpPr>
          <p:spPr>
            <a:xfrm>
              <a:off x="7801756" y="2103996"/>
              <a:ext cx="0" cy="317945"/>
            </a:xfrm>
            <a:prstGeom prst="lin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69550EB-68D3-FFE5-90F2-B0EB5995C560}"/>
                </a:ext>
              </a:extLst>
            </p:cNvPr>
            <p:cNvCxnSpPr>
              <a:cxnSpLocks/>
            </p:cNvCxnSpPr>
            <p:nvPr/>
          </p:nvCxnSpPr>
          <p:spPr>
            <a:xfrm>
              <a:off x="9214405" y="2093789"/>
              <a:ext cx="0" cy="317945"/>
            </a:xfrm>
            <a:prstGeom prst="lin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126E6B3-2BC0-B65C-A527-F560476BE9C5}"/>
                </a:ext>
              </a:extLst>
            </p:cNvPr>
            <p:cNvSpPr txBox="1"/>
            <p:nvPr/>
          </p:nvSpPr>
          <p:spPr>
            <a:xfrm>
              <a:off x="7647707" y="2550364"/>
              <a:ext cx="298480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Helvetica" pitchFamily="2" charset="0"/>
                </a:rPr>
                <a:t>5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BB3D6A0-C409-EAFB-B0D8-B205919EFC5B}"/>
                </a:ext>
              </a:extLst>
            </p:cNvPr>
            <p:cNvSpPr txBox="1"/>
            <p:nvPr/>
          </p:nvSpPr>
          <p:spPr>
            <a:xfrm>
              <a:off x="9060356" y="2550946"/>
              <a:ext cx="298480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Helvetica" pitchFamily="2" charset="0"/>
                </a:rPr>
                <a:t>6</a:t>
              </a: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FE5AA5A0-F4A4-A5E2-3C89-7852BDBAB518}"/>
              </a:ext>
            </a:extLst>
          </p:cNvPr>
          <p:cNvSpPr txBox="1"/>
          <p:nvPr/>
        </p:nvSpPr>
        <p:spPr>
          <a:xfrm>
            <a:off x="543364" y="4357582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</a:t>
            </a:r>
            <a:r>
              <a:rPr lang="en-US" b="1" baseline="-25000" dirty="0">
                <a:latin typeface="Helvetica" pitchFamily="2" charset="0"/>
              </a:rPr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34904C7-E62A-BBC8-6E96-A8FCF6C84E7C}"/>
              </a:ext>
            </a:extLst>
          </p:cNvPr>
          <p:cNvSpPr txBox="1"/>
          <p:nvPr/>
        </p:nvSpPr>
        <p:spPr>
          <a:xfrm>
            <a:off x="2005015" y="4358543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</a:t>
            </a:r>
            <a:r>
              <a:rPr lang="en-US" b="1" baseline="-25000" dirty="0">
                <a:latin typeface="Helvetica" pitchFamily="2" charset="0"/>
              </a:rPr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76DCDCA-CC60-5DB9-6DFB-E01AD4485FF7}"/>
              </a:ext>
            </a:extLst>
          </p:cNvPr>
          <p:cNvSpPr txBox="1"/>
          <p:nvPr/>
        </p:nvSpPr>
        <p:spPr>
          <a:xfrm>
            <a:off x="3395068" y="4357582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</a:t>
            </a:r>
            <a:r>
              <a:rPr lang="en-US" b="1" baseline="-25000" dirty="0">
                <a:latin typeface="Helvetica" pitchFamily="2" charset="0"/>
              </a:rPr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979B791-1405-26DA-07BA-19EB25B21F2D}"/>
              </a:ext>
            </a:extLst>
          </p:cNvPr>
          <p:cNvSpPr txBox="1"/>
          <p:nvPr/>
        </p:nvSpPr>
        <p:spPr>
          <a:xfrm>
            <a:off x="4808159" y="4353584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</a:t>
            </a:r>
            <a:r>
              <a:rPr lang="en-US" b="1" baseline="-25000" dirty="0">
                <a:latin typeface="Helvetica" pitchFamily="2" charset="0"/>
              </a:rPr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99D2158-873C-1DA1-C75A-F18EAC2F7EEB}"/>
              </a:ext>
            </a:extLst>
          </p:cNvPr>
          <p:cNvSpPr txBox="1"/>
          <p:nvPr/>
        </p:nvSpPr>
        <p:spPr>
          <a:xfrm>
            <a:off x="6186614" y="4361032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</a:t>
            </a:r>
            <a:r>
              <a:rPr lang="en-US" b="1" baseline="-25000" dirty="0">
                <a:latin typeface="Helvetica" pitchFamily="2" charset="0"/>
              </a:rPr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2C7CD5C-52B1-5B28-39E6-FB582DF8CD88}"/>
              </a:ext>
            </a:extLst>
          </p:cNvPr>
          <p:cNvSpPr txBox="1"/>
          <p:nvPr/>
        </p:nvSpPr>
        <p:spPr>
          <a:xfrm>
            <a:off x="7579115" y="4358543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</a:t>
            </a:r>
            <a:r>
              <a:rPr lang="en-US" b="1" baseline="-25000" dirty="0">
                <a:latin typeface="Helvetica" pitchFamily="2" charset="0"/>
              </a:rPr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4FC5BFE-137B-0302-032B-9F2952120755}"/>
              </a:ext>
            </a:extLst>
          </p:cNvPr>
          <p:cNvSpPr txBox="1"/>
          <p:nvPr/>
        </p:nvSpPr>
        <p:spPr>
          <a:xfrm>
            <a:off x="8997039" y="4353584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</a:t>
            </a:r>
            <a:r>
              <a:rPr lang="en-US" b="1" baseline="-25000" dirty="0">
                <a:latin typeface="Helvetica" pitchFamily="2" charset="0"/>
              </a:rPr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CC8C15-B70C-53C8-1CE9-64E90024E351}"/>
              </a:ext>
            </a:extLst>
          </p:cNvPr>
          <p:cNvSpPr txBox="1"/>
          <p:nvPr/>
        </p:nvSpPr>
        <p:spPr>
          <a:xfrm>
            <a:off x="10964841" y="435758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</a:t>
            </a:r>
            <a:r>
              <a:rPr lang="en-US" sz="1800" b="1" baseline="-25000" dirty="0">
                <a:latin typeface="Helvetica" pitchFamily="2" charset="0"/>
              </a:rPr>
              <a:t>∞</a:t>
            </a:r>
            <a:endParaRPr lang="en-US" sz="1400" b="1" baseline="-25000" dirty="0">
              <a:latin typeface="Helvetica" pitchFamily="2" charset="0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F054F11-7905-B91C-6EDE-6F5AF1AB0177}"/>
              </a:ext>
            </a:extLst>
          </p:cNvPr>
          <p:cNvGrpSpPr/>
          <p:nvPr/>
        </p:nvGrpSpPr>
        <p:grpSpPr>
          <a:xfrm>
            <a:off x="543364" y="3953475"/>
            <a:ext cx="1637378" cy="431687"/>
            <a:chOff x="650631" y="4144755"/>
            <a:chExt cx="1513666" cy="431687"/>
          </a:xfrm>
        </p:grpSpPr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F838B25B-8716-6555-499B-C699026F7F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0631" y="4155201"/>
              <a:ext cx="151366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A909AED9-4368-B86D-10CF-152A3DE17E06}"/>
                </a:ext>
              </a:extLst>
            </p:cNvPr>
            <p:cNvCxnSpPr>
              <a:cxnSpLocks/>
            </p:cNvCxnSpPr>
            <p:nvPr/>
          </p:nvCxnSpPr>
          <p:spPr>
            <a:xfrm>
              <a:off x="2146300" y="4144755"/>
              <a:ext cx="0" cy="431687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18E597DF-526A-09FF-D7A5-B0CEF146B3C4}"/>
              </a:ext>
            </a:extLst>
          </p:cNvPr>
          <p:cNvGrpSpPr/>
          <p:nvPr/>
        </p:nvGrpSpPr>
        <p:grpSpPr>
          <a:xfrm>
            <a:off x="543364" y="3477254"/>
            <a:ext cx="3032023" cy="912262"/>
            <a:chOff x="650631" y="4146815"/>
            <a:chExt cx="1513666" cy="431687"/>
          </a:xfrm>
        </p:grpSpPr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2A2B5E97-129A-DC03-0F41-EF5C4493FF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0631" y="4155201"/>
              <a:ext cx="151366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13EBE249-CD17-6D5D-C4AF-80D8152952F9}"/>
                </a:ext>
              </a:extLst>
            </p:cNvPr>
            <p:cNvCxnSpPr>
              <a:cxnSpLocks/>
            </p:cNvCxnSpPr>
            <p:nvPr/>
          </p:nvCxnSpPr>
          <p:spPr>
            <a:xfrm>
              <a:off x="2154736" y="4146815"/>
              <a:ext cx="0" cy="431687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E2294992-4E21-0F24-89F1-6F19F05D6A47}"/>
                  </a:ext>
                </a:extLst>
              </p:cNvPr>
              <p:cNvSpPr txBox="1"/>
              <p:nvPr/>
            </p:nvSpPr>
            <p:spPr>
              <a:xfrm>
                <a:off x="1966671" y="2251110"/>
                <a:ext cx="8258655" cy="8683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</m:acc>
                        </m:e>
                        <m:sub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den>
                      </m:f>
                      <m:r>
                        <a:rPr lang="en-US" sz="24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sz="24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sz="24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1" dirty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Helvetica" pitchFamily="2" charset="0"/>
                                </a:rPr>
                                <m:t>∞ 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2400" b="1" dirty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Helvetica" pitchFamily="2" charset="0"/>
                                </a:rPr>
                                <m:t>∞ 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E2294992-4E21-0F24-89F1-6F19F05D6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6671" y="2251110"/>
                <a:ext cx="8258655" cy="868379"/>
              </a:xfrm>
              <a:prstGeom prst="rect">
                <a:avLst/>
              </a:prstGeom>
              <a:blipFill>
                <a:blip r:embed="rId2"/>
                <a:stretch>
                  <a:fillRect b="-11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592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59616-FD75-B5BC-E112-893C437A9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59C030-7D42-D9C3-B348-3EC2E1E67220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7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514BE-FE7F-2517-0D20-C5F3D0811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A8. Nonconstant Growth Stocks(2 stage)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499D319-092B-8273-CB94-3CE72EC3C47A}"/>
              </a:ext>
            </a:extLst>
          </p:cNvPr>
          <p:cNvGrpSpPr/>
          <p:nvPr/>
        </p:nvGrpSpPr>
        <p:grpSpPr>
          <a:xfrm>
            <a:off x="543365" y="4463835"/>
            <a:ext cx="11105270" cy="1119761"/>
            <a:chOff x="543364" y="1808992"/>
            <a:chExt cx="11105270" cy="111976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F6B2521-0C30-BA27-9704-EC09EAC5A53F}"/>
                </a:ext>
              </a:extLst>
            </p:cNvPr>
            <p:cNvGrpSpPr/>
            <p:nvPr/>
          </p:nvGrpSpPr>
          <p:grpSpPr>
            <a:xfrm>
              <a:off x="543364" y="1808992"/>
              <a:ext cx="11105270" cy="1119761"/>
              <a:chOff x="937526" y="5317274"/>
              <a:chExt cx="11105270" cy="1119761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B0E5E78F-8555-F356-B27B-AC8A313A7B62}"/>
                  </a:ext>
                </a:extLst>
              </p:cNvPr>
              <p:cNvGrpSpPr/>
              <p:nvPr/>
            </p:nvGrpSpPr>
            <p:grpSpPr>
              <a:xfrm>
                <a:off x="937526" y="5317274"/>
                <a:ext cx="11105270" cy="1119761"/>
                <a:chOff x="937526" y="5317274"/>
                <a:chExt cx="11105270" cy="1119761"/>
              </a:xfrm>
            </p:grpSpPr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FABC28E1-C50A-5FBA-5790-080EDB1E657D}"/>
                    </a:ext>
                  </a:extLst>
                </p:cNvPr>
                <p:cNvGrpSpPr/>
                <p:nvPr/>
              </p:nvGrpSpPr>
              <p:grpSpPr>
                <a:xfrm>
                  <a:off x="937526" y="5592794"/>
                  <a:ext cx="11105270" cy="844241"/>
                  <a:chOff x="873086" y="5072061"/>
                  <a:chExt cx="11105270" cy="1214004"/>
                </a:xfrm>
                <a:noFill/>
              </p:grpSpPr>
              <p:grpSp>
                <p:nvGrpSpPr>
                  <p:cNvPr id="9" name="Group 8">
                    <a:extLst>
                      <a:ext uri="{FF2B5EF4-FFF2-40B4-BE49-F238E27FC236}">
                        <a16:creationId xmlns:a16="http://schemas.microsoft.com/office/drawing/2014/main" id="{60BC04B0-0EF0-7371-3360-C86C058C3838}"/>
                      </a:ext>
                    </a:extLst>
                  </p:cNvPr>
                  <p:cNvGrpSpPr/>
                  <p:nvPr/>
                </p:nvGrpSpPr>
                <p:grpSpPr>
                  <a:xfrm>
                    <a:off x="1027135" y="5072061"/>
                    <a:ext cx="10951221" cy="457200"/>
                    <a:chOff x="1027135" y="5072061"/>
                    <a:chExt cx="10951221" cy="457200"/>
                  </a:xfrm>
                  <a:grpFill/>
                </p:grpSpPr>
                <p:cxnSp>
                  <p:nvCxnSpPr>
                    <p:cNvPr id="17" name="Straight Arrow Connector 16">
                      <a:extLst>
                        <a:ext uri="{FF2B5EF4-FFF2-40B4-BE49-F238E27FC236}">
                          <a16:creationId xmlns:a16="http://schemas.microsoft.com/office/drawing/2014/main" id="{8C2AF192-7FE2-D6F2-7051-4320DA2139A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7135" y="5285984"/>
                      <a:ext cx="10951221" cy="107496"/>
                    </a:xfrm>
                    <a:prstGeom prst="straightConnector1">
                      <a:avLst/>
                    </a:prstGeom>
                    <a:grpFill/>
                    <a:ln w="3810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" name="Straight Connector 17">
                      <a:extLst>
                        <a:ext uri="{FF2B5EF4-FFF2-40B4-BE49-F238E27FC236}">
                          <a16:creationId xmlns:a16="http://schemas.microsoft.com/office/drawing/2014/main" id="{4518DC6B-03B7-2C32-E5CC-3CBDF32BBA9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7136" y="5072061"/>
                      <a:ext cx="0" cy="457200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" name="Straight Connector 19">
                      <a:extLst>
                        <a:ext uri="{FF2B5EF4-FFF2-40B4-BE49-F238E27FC236}">
                          <a16:creationId xmlns:a16="http://schemas.microsoft.com/office/drawing/2014/main" id="{EA89D5B5-803A-5CAE-3B20-8D0B25CA7BD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494946" y="5072061"/>
                      <a:ext cx="0" cy="457200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" name="Straight Connector 21">
                      <a:extLst>
                        <a:ext uri="{FF2B5EF4-FFF2-40B4-BE49-F238E27FC236}">
                          <a16:creationId xmlns:a16="http://schemas.microsoft.com/office/drawing/2014/main" id="{6ECAFC29-91A6-D8FE-BC26-D4F4942D16E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494018" y="5072061"/>
                      <a:ext cx="0" cy="457200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59DF73D6-7DD9-284C-AF53-42C2CD6DD57D}"/>
                      </a:ext>
                    </a:extLst>
                  </p:cNvPr>
                  <p:cNvSpPr txBox="1"/>
                  <p:nvPr/>
                </p:nvSpPr>
                <p:spPr>
                  <a:xfrm>
                    <a:off x="873086" y="5713928"/>
                    <a:ext cx="298480" cy="486834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latin typeface="Helvetica" pitchFamily="2" charset="0"/>
                      </a:rPr>
                      <a:t>0</a:t>
                    </a:r>
                  </a:p>
                </p:txBody>
              </p: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C517F301-BAFC-C1C7-F3A9-2BD8AEDBF6C1}"/>
                      </a:ext>
                    </a:extLst>
                  </p:cNvPr>
                  <p:cNvSpPr txBox="1"/>
                  <p:nvPr/>
                </p:nvSpPr>
                <p:spPr>
                  <a:xfrm>
                    <a:off x="2339969" y="5713929"/>
                    <a:ext cx="298480" cy="48683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latin typeface="Helvetica" pitchFamily="2" charset="0"/>
                      </a:rPr>
                      <a:t>1</a:t>
                    </a:r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DFB5948D-0CF3-109E-1C4D-E3C41D46DB23}"/>
                      </a:ext>
                    </a:extLst>
                  </p:cNvPr>
                  <p:cNvSpPr txBox="1"/>
                  <p:nvPr/>
                </p:nvSpPr>
                <p:spPr>
                  <a:xfrm>
                    <a:off x="11340897" y="5710714"/>
                    <a:ext cx="380232" cy="575351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b="1" dirty="0">
                        <a:latin typeface="Helvetica" pitchFamily="2" charset="0"/>
                      </a:rPr>
                      <a:t>∞</a:t>
                    </a:r>
                    <a:endParaRPr lang="en-US" sz="1600" b="1" dirty="0">
                      <a:latin typeface="Helvetica" pitchFamily="2" charset="0"/>
                    </a:endParaRPr>
                  </a:p>
                </p:txBody>
              </p:sp>
            </p:grp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5E724EF-7FC5-6FF4-FCF0-8156465D7EFD}"/>
                    </a:ext>
                  </a:extLst>
                </p:cNvPr>
                <p:cNvSpPr txBox="1"/>
                <p:nvPr/>
              </p:nvSpPr>
              <p:spPr>
                <a:xfrm>
                  <a:off x="10220541" y="5317274"/>
                  <a:ext cx="57740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latin typeface="Helvetica" pitchFamily="2" charset="0"/>
                    </a:rPr>
                    <a:t>….</a:t>
                  </a:r>
                  <a:endParaRPr lang="en-US" b="1" dirty="0">
                    <a:latin typeface="Helvetica" pitchFamily="2" charset="0"/>
                  </a:endParaRPr>
                </a:p>
              </p:txBody>
            </p:sp>
          </p:grp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5C691D-96C5-7588-5AF7-DF6DD4A127F6}"/>
                  </a:ext>
                </a:extLst>
              </p:cNvPr>
              <p:cNvSpPr txBox="1"/>
              <p:nvPr/>
            </p:nvSpPr>
            <p:spPr>
              <a:xfrm>
                <a:off x="10215863" y="5744457"/>
                <a:ext cx="577402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latin typeface="Helvetica" pitchFamily="2" charset="0"/>
                  </a:rPr>
                  <a:t>….</a:t>
                </a:r>
                <a:endParaRPr lang="en-US" b="1" dirty="0">
                  <a:latin typeface="Helvetica" pitchFamily="2" charset="0"/>
                </a:endParaRPr>
              </a:p>
            </p:txBody>
          </p:sp>
        </p:grp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10A5FBB-BB18-7C54-5907-3E73E0DDD3A0}"/>
                </a:ext>
              </a:extLst>
            </p:cNvPr>
            <p:cNvCxnSpPr>
              <a:cxnSpLocks/>
            </p:cNvCxnSpPr>
            <p:nvPr/>
          </p:nvCxnSpPr>
          <p:spPr>
            <a:xfrm>
              <a:off x="3580195" y="2082278"/>
              <a:ext cx="0" cy="317945"/>
            </a:xfrm>
            <a:prstGeom prst="lin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74E5F7F-0AD2-5E96-89DD-93A5AE7EB67E}"/>
                </a:ext>
              </a:extLst>
            </p:cNvPr>
            <p:cNvCxnSpPr>
              <a:cxnSpLocks/>
            </p:cNvCxnSpPr>
            <p:nvPr/>
          </p:nvCxnSpPr>
          <p:spPr>
            <a:xfrm>
              <a:off x="4992844" y="2072071"/>
              <a:ext cx="0" cy="317945"/>
            </a:xfrm>
            <a:prstGeom prst="lin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E0C6F16-AEE5-65C3-6520-4F8D907B5730}"/>
                </a:ext>
              </a:extLst>
            </p:cNvPr>
            <p:cNvSpPr txBox="1"/>
            <p:nvPr/>
          </p:nvSpPr>
          <p:spPr>
            <a:xfrm>
              <a:off x="3426146" y="2528646"/>
              <a:ext cx="298480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Helvetica" pitchFamily="2" charset="0"/>
                </a:rPr>
                <a:t>2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5082643-9D60-542E-90F7-C5A1A84C6F6B}"/>
                </a:ext>
              </a:extLst>
            </p:cNvPr>
            <p:cNvSpPr txBox="1"/>
            <p:nvPr/>
          </p:nvSpPr>
          <p:spPr>
            <a:xfrm>
              <a:off x="4838795" y="2529228"/>
              <a:ext cx="298480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Helvetica" pitchFamily="2" charset="0"/>
                </a:rPr>
                <a:t>3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4121928-DE02-D353-8BCB-27789BF187A6}"/>
                </a:ext>
              </a:extLst>
            </p:cNvPr>
            <p:cNvCxnSpPr>
              <a:cxnSpLocks/>
            </p:cNvCxnSpPr>
            <p:nvPr/>
          </p:nvCxnSpPr>
          <p:spPr>
            <a:xfrm>
              <a:off x="6405597" y="2081695"/>
              <a:ext cx="0" cy="317945"/>
            </a:xfrm>
            <a:prstGeom prst="lin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93552F0-AEC5-A87C-5417-C16DF52CC3A9}"/>
                </a:ext>
              </a:extLst>
            </p:cNvPr>
            <p:cNvSpPr txBox="1"/>
            <p:nvPr/>
          </p:nvSpPr>
          <p:spPr>
            <a:xfrm>
              <a:off x="6251548" y="2528062"/>
              <a:ext cx="298480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Helvetica" pitchFamily="2" charset="0"/>
                </a:rPr>
                <a:t>4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D993149-CAB5-B61B-5049-8B52EFA1F210}"/>
                </a:ext>
              </a:extLst>
            </p:cNvPr>
            <p:cNvCxnSpPr>
              <a:cxnSpLocks/>
            </p:cNvCxnSpPr>
            <p:nvPr/>
          </p:nvCxnSpPr>
          <p:spPr>
            <a:xfrm>
              <a:off x="7801756" y="2103996"/>
              <a:ext cx="0" cy="317945"/>
            </a:xfrm>
            <a:prstGeom prst="lin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5FD22BA-DE59-B2C7-6751-3557B8AECFE9}"/>
                </a:ext>
              </a:extLst>
            </p:cNvPr>
            <p:cNvCxnSpPr>
              <a:cxnSpLocks/>
            </p:cNvCxnSpPr>
            <p:nvPr/>
          </p:nvCxnSpPr>
          <p:spPr>
            <a:xfrm>
              <a:off x="9214405" y="2093789"/>
              <a:ext cx="0" cy="317945"/>
            </a:xfrm>
            <a:prstGeom prst="lin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3EED583-1086-3D2C-85C4-DC1C5082B61B}"/>
                </a:ext>
              </a:extLst>
            </p:cNvPr>
            <p:cNvSpPr txBox="1"/>
            <p:nvPr/>
          </p:nvSpPr>
          <p:spPr>
            <a:xfrm>
              <a:off x="7647707" y="2550364"/>
              <a:ext cx="298480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Helvetica" pitchFamily="2" charset="0"/>
                </a:rPr>
                <a:t>5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CC8BACE-BA9E-EB7B-135B-6CFC15CEB1CC}"/>
                </a:ext>
              </a:extLst>
            </p:cNvPr>
            <p:cNvSpPr txBox="1"/>
            <p:nvPr/>
          </p:nvSpPr>
          <p:spPr>
            <a:xfrm>
              <a:off x="9060356" y="2550946"/>
              <a:ext cx="298480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Helvetica" pitchFamily="2" charset="0"/>
                </a:rPr>
                <a:t>6</a:t>
              </a:r>
            </a:p>
          </p:txBody>
        </p:sp>
      </p:grpSp>
      <p:sp>
        <p:nvSpPr>
          <p:cNvPr id="46" name="Left Brace 45">
            <a:extLst>
              <a:ext uri="{FF2B5EF4-FFF2-40B4-BE49-F238E27FC236}">
                <a16:creationId xmlns:a16="http://schemas.microsoft.com/office/drawing/2014/main" id="{CD8E0147-E721-DB24-7C2B-C185DC035713}"/>
              </a:ext>
            </a:extLst>
          </p:cNvPr>
          <p:cNvSpPr/>
          <p:nvPr/>
        </p:nvSpPr>
        <p:spPr>
          <a:xfrm rot="5400000" flipH="1">
            <a:off x="2530498" y="3747229"/>
            <a:ext cx="321163" cy="4295431"/>
          </a:xfrm>
          <a:prstGeom prst="leftBrace">
            <a:avLst>
              <a:gd name="adj1" fmla="val 67957"/>
              <a:gd name="adj2" fmla="val 50223"/>
            </a:avLst>
          </a:prstGeom>
          <a:ln w="285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Left Brace 46">
            <a:extLst>
              <a:ext uri="{FF2B5EF4-FFF2-40B4-BE49-F238E27FC236}">
                <a16:creationId xmlns:a16="http://schemas.microsoft.com/office/drawing/2014/main" id="{A54C3A78-2DC9-CED2-CB23-E37991495881}"/>
              </a:ext>
            </a:extLst>
          </p:cNvPr>
          <p:cNvSpPr/>
          <p:nvPr/>
        </p:nvSpPr>
        <p:spPr>
          <a:xfrm rot="5400000" flipH="1">
            <a:off x="8035455" y="2836184"/>
            <a:ext cx="317945" cy="6114304"/>
          </a:xfrm>
          <a:prstGeom prst="leftBrace">
            <a:avLst>
              <a:gd name="adj1" fmla="val 67957"/>
              <a:gd name="adj2" fmla="val 49858"/>
            </a:avLst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DEC6B2-C20B-1151-62D9-CEB2D6DD7CFE}"/>
              </a:ext>
            </a:extLst>
          </p:cNvPr>
          <p:cNvSpPr txBox="1"/>
          <p:nvPr/>
        </p:nvSpPr>
        <p:spPr>
          <a:xfrm>
            <a:off x="2472910" y="6052309"/>
            <a:ext cx="436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Helvetica" pitchFamily="2" charset="0"/>
              </a:rPr>
              <a:t>g</a:t>
            </a:r>
            <a:r>
              <a:rPr lang="en-US" sz="2000" b="1" baseline="-25000" dirty="0">
                <a:solidFill>
                  <a:schemeClr val="accent4">
                    <a:lumMod val="50000"/>
                  </a:schemeClr>
                </a:solidFill>
                <a:latin typeface="Helvetica" pitchFamily="2" charset="0"/>
              </a:rPr>
              <a:t>1</a:t>
            </a:r>
            <a:endParaRPr lang="en-US" sz="2000" b="1" dirty="0">
              <a:solidFill>
                <a:schemeClr val="accent4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98CF0A0-3493-C656-B342-D2E3056E54FE}"/>
              </a:ext>
            </a:extLst>
          </p:cNvPr>
          <p:cNvSpPr txBox="1"/>
          <p:nvPr/>
        </p:nvSpPr>
        <p:spPr>
          <a:xfrm>
            <a:off x="7976258" y="6052309"/>
            <a:ext cx="436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Helvetica" pitchFamily="2" charset="0"/>
              </a:rPr>
              <a:t>g</a:t>
            </a:r>
            <a:r>
              <a:rPr lang="en-US" sz="2000" b="1" baseline="-25000" dirty="0">
                <a:solidFill>
                  <a:srgbClr val="C00000"/>
                </a:solidFill>
                <a:latin typeface="Helvetica" pitchFamily="2" charset="0"/>
              </a:rPr>
              <a:t>2</a:t>
            </a:r>
            <a:endParaRPr lang="en-US" sz="2000" b="1" dirty="0">
              <a:solidFill>
                <a:srgbClr val="C00000"/>
              </a:solidFill>
              <a:latin typeface="Helvetic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E35CB38-E6C0-CAA4-6CBE-B3CD379AB48A}"/>
                  </a:ext>
                </a:extLst>
              </p:cNvPr>
              <p:cNvSpPr txBox="1"/>
              <p:nvPr/>
            </p:nvSpPr>
            <p:spPr>
              <a:xfrm>
                <a:off x="6322989" y="3107022"/>
                <a:ext cx="3862372" cy="848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</m:acc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400" b="1" i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𝐃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e>
                            <m:sub>
                              <m:r>
                                <a:rPr lang="en-US" sz="2400" b="1" i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</m:sub>
                          </m:sSub>
                          <m:r>
                            <a:rPr lang="en-US" sz="2400" b="1" i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𝐠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E35CB38-E6C0-CAA4-6CBE-B3CD379AB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989" y="3107022"/>
                <a:ext cx="3862372" cy="848694"/>
              </a:xfrm>
              <a:prstGeom prst="rect">
                <a:avLst/>
              </a:prstGeom>
              <a:blipFill>
                <a:blip r:embed="rId2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Multiply 51">
            <a:extLst>
              <a:ext uri="{FF2B5EF4-FFF2-40B4-BE49-F238E27FC236}">
                <a16:creationId xmlns:a16="http://schemas.microsoft.com/office/drawing/2014/main" id="{2786EB45-3581-A0FC-385F-40A5DD781EF4}"/>
              </a:ext>
            </a:extLst>
          </p:cNvPr>
          <p:cNvSpPr/>
          <p:nvPr/>
        </p:nvSpPr>
        <p:spPr>
          <a:xfrm>
            <a:off x="4768877" y="4631612"/>
            <a:ext cx="460688" cy="508548"/>
          </a:xfrm>
          <a:prstGeom prst="mathMultiply">
            <a:avLst>
              <a:gd name="adj1" fmla="val 2038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9D7F073-211B-36C4-9998-2BE7F10F065E}"/>
                  </a:ext>
                </a:extLst>
              </p:cNvPr>
              <p:cNvSpPr txBox="1"/>
              <p:nvPr/>
            </p:nvSpPr>
            <p:spPr>
              <a:xfrm>
                <a:off x="4782860" y="3658938"/>
                <a:ext cx="486936" cy="471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</m:acc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9D7F073-211B-36C4-9998-2BE7F10F0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2860" y="3658938"/>
                <a:ext cx="486936" cy="471539"/>
              </a:xfrm>
              <a:prstGeom prst="rect">
                <a:avLst/>
              </a:prstGeom>
              <a:blipFill>
                <a:blip r:embed="rId3"/>
                <a:stretch>
                  <a:fillRect l="-2564" t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F2AED5D5-90EF-EB3A-47ED-587C0D702092}"/>
              </a:ext>
            </a:extLst>
          </p:cNvPr>
          <p:cNvSpPr txBox="1"/>
          <p:nvPr/>
        </p:nvSpPr>
        <p:spPr>
          <a:xfrm>
            <a:off x="543364" y="4357582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</a:t>
            </a:r>
            <a:r>
              <a:rPr lang="en-US" b="1" baseline="-25000" dirty="0">
                <a:latin typeface="Helvetica" pitchFamily="2" charset="0"/>
              </a:rPr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38F5D36-FFD9-40B6-176D-9EB208F30F4F}"/>
              </a:ext>
            </a:extLst>
          </p:cNvPr>
          <p:cNvSpPr txBox="1"/>
          <p:nvPr/>
        </p:nvSpPr>
        <p:spPr>
          <a:xfrm>
            <a:off x="2005015" y="4358543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</a:t>
            </a:r>
            <a:r>
              <a:rPr lang="en-US" b="1" baseline="-25000" dirty="0">
                <a:latin typeface="Helvetica" pitchFamily="2" charset="0"/>
              </a:rPr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2DD3353-BBC7-279E-7F41-544F1482EC78}"/>
              </a:ext>
            </a:extLst>
          </p:cNvPr>
          <p:cNvSpPr txBox="1"/>
          <p:nvPr/>
        </p:nvSpPr>
        <p:spPr>
          <a:xfrm>
            <a:off x="3395068" y="4357582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</a:t>
            </a:r>
            <a:r>
              <a:rPr lang="en-US" b="1" baseline="-25000" dirty="0">
                <a:latin typeface="Helvetica" pitchFamily="2" charset="0"/>
              </a:rPr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3B8D77-DE8E-23E3-2323-4C26D1434154}"/>
              </a:ext>
            </a:extLst>
          </p:cNvPr>
          <p:cNvSpPr txBox="1"/>
          <p:nvPr/>
        </p:nvSpPr>
        <p:spPr>
          <a:xfrm>
            <a:off x="4808159" y="4353584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</a:t>
            </a:r>
            <a:r>
              <a:rPr lang="en-US" b="1" baseline="-25000" dirty="0">
                <a:latin typeface="Helvetica" pitchFamily="2" charset="0"/>
              </a:rPr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AFD8306-56D8-AE59-F517-C46AFA12C2D8}"/>
              </a:ext>
            </a:extLst>
          </p:cNvPr>
          <p:cNvSpPr txBox="1"/>
          <p:nvPr/>
        </p:nvSpPr>
        <p:spPr>
          <a:xfrm>
            <a:off x="6186614" y="4361032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</a:t>
            </a:r>
            <a:r>
              <a:rPr lang="en-US" b="1" baseline="-25000" dirty="0">
                <a:latin typeface="Helvetica" pitchFamily="2" charset="0"/>
              </a:rPr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DF702AE-DA07-9CC2-93C7-38B30B962B77}"/>
              </a:ext>
            </a:extLst>
          </p:cNvPr>
          <p:cNvSpPr txBox="1"/>
          <p:nvPr/>
        </p:nvSpPr>
        <p:spPr>
          <a:xfrm>
            <a:off x="7579115" y="4358543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</a:t>
            </a:r>
            <a:r>
              <a:rPr lang="en-US" b="1" baseline="-25000" dirty="0">
                <a:latin typeface="Helvetica" pitchFamily="2" charset="0"/>
              </a:rPr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9414A2-2EB0-A6A6-7B2F-7E60B484C917}"/>
              </a:ext>
            </a:extLst>
          </p:cNvPr>
          <p:cNvSpPr txBox="1"/>
          <p:nvPr/>
        </p:nvSpPr>
        <p:spPr>
          <a:xfrm>
            <a:off x="8997039" y="4353584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</a:t>
            </a:r>
            <a:r>
              <a:rPr lang="en-US" b="1" baseline="-25000" dirty="0">
                <a:latin typeface="Helvetica" pitchFamily="2" charset="0"/>
              </a:rPr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725E772-9A5C-5E8A-FDE6-64B31E84AECA}"/>
              </a:ext>
            </a:extLst>
          </p:cNvPr>
          <p:cNvSpPr txBox="1"/>
          <p:nvPr/>
        </p:nvSpPr>
        <p:spPr>
          <a:xfrm>
            <a:off x="10964841" y="435758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</a:t>
            </a:r>
            <a:r>
              <a:rPr lang="en-US" sz="1800" b="1" baseline="-25000" dirty="0">
                <a:latin typeface="Helvetica" pitchFamily="2" charset="0"/>
              </a:rPr>
              <a:t>∞</a:t>
            </a:r>
            <a:endParaRPr lang="en-US" sz="1400" b="1" baseline="-25000" dirty="0">
              <a:latin typeface="Helvetica" pitchFamily="2" charset="0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C348688F-1C02-96C2-A1BD-64FACD92BCB4}"/>
              </a:ext>
            </a:extLst>
          </p:cNvPr>
          <p:cNvGrpSpPr/>
          <p:nvPr/>
        </p:nvGrpSpPr>
        <p:grpSpPr>
          <a:xfrm>
            <a:off x="543364" y="3953475"/>
            <a:ext cx="1637378" cy="431687"/>
            <a:chOff x="650631" y="4144755"/>
            <a:chExt cx="1513666" cy="431687"/>
          </a:xfrm>
        </p:grpSpPr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1B6B1E7E-3D36-774B-EA52-E32E03CCD7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0631" y="4155201"/>
              <a:ext cx="151366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DF7BE30-46A4-600A-D5D2-BED08F610776}"/>
                </a:ext>
              </a:extLst>
            </p:cNvPr>
            <p:cNvCxnSpPr>
              <a:cxnSpLocks/>
            </p:cNvCxnSpPr>
            <p:nvPr/>
          </p:nvCxnSpPr>
          <p:spPr>
            <a:xfrm>
              <a:off x="2146300" y="4144755"/>
              <a:ext cx="0" cy="431687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6B761F0-80B1-714A-4E9A-B0C733F6BE5F}"/>
              </a:ext>
            </a:extLst>
          </p:cNvPr>
          <p:cNvGrpSpPr/>
          <p:nvPr/>
        </p:nvGrpSpPr>
        <p:grpSpPr>
          <a:xfrm>
            <a:off x="543364" y="3477254"/>
            <a:ext cx="3032023" cy="912262"/>
            <a:chOff x="650631" y="4146815"/>
            <a:chExt cx="1513666" cy="431687"/>
          </a:xfrm>
        </p:grpSpPr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1172EEB1-033E-41ED-7ACB-ADBDD534A2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0631" y="4155201"/>
              <a:ext cx="151366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8E278B24-420A-F8D4-A662-6DBD7E728A17}"/>
                </a:ext>
              </a:extLst>
            </p:cNvPr>
            <p:cNvCxnSpPr>
              <a:cxnSpLocks/>
            </p:cNvCxnSpPr>
            <p:nvPr/>
          </p:nvCxnSpPr>
          <p:spPr>
            <a:xfrm>
              <a:off x="2154736" y="4146815"/>
              <a:ext cx="0" cy="431687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C3EDC7F3-C8E8-7E28-65D4-4CBE2B78286E}"/>
              </a:ext>
            </a:extLst>
          </p:cNvPr>
          <p:cNvGrpSpPr/>
          <p:nvPr/>
        </p:nvGrpSpPr>
        <p:grpSpPr>
          <a:xfrm>
            <a:off x="543364" y="2921161"/>
            <a:ext cx="4444673" cy="751080"/>
            <a:chOff x="650631" y="4144755"/>
            <a:chExt cx="1513666" cy="431687"/>
          </a:xfrm>
        </p:grpSpPr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0B6A0B6C-1D5C-7283-E289-93AACF668C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0631" y="4155201"/>
              <a:ext cx="151366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52DA9FBB-0B0C-27A9-6ADD-677D10935D66}"/>
                </a:ext>
              </a:extLst>
            </p:cNvPr>
            <p:cNvCxnSpPr>
              <a:cxnSpLocks/>
            </p:cNvCxnSpPr>
            <p:nvPr/>
          </p:nvCxnSpPr>
          <p:spPr>
            <a:xfrm>
              <a:off x="2158159" y="4144755"/>
              <a:ext cx="0" cy="431687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F86E0DF4-EB2D-21B4-7D0D-70A3A3F448F6}"/>
              </a:ext>
            </a:extLst>
          </p:cNvPr>
          <p:cNvSpPr txBox="1"/>
          <p:nvPr/>
        </p:nvSpPr>
        <p:spPr>
          <a:xfrm>
            <a:off x="4815440" y="4052941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Helvetica" pitchFamily="2" charset="0"/>
              </a:rPr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E7DA4FC7-80E8-9190-5B5C-1B07F2525481}"/>
                  </a:ext>
                </a:extLst>
              </p:cNvPr>
              <p:cNvSpPr txBox="1"/>
              <p:nvPr/>
            </p:nvSpPr>
            <p:spPr>
              <a:xfrm>
                <a:off x="199375" y="1863116"/>
                <a:ext cx="5419745" cy="720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</m:acc>
                        </m:e>
                        <m:sub>
                          <m:r>
                            <a:rPr lang="en-US" sz="18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8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den>
                      </m:f>
                      <m:r>
                        <a:rPr lang="en-US" sz="18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sz="18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sz="18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800" b="1" i="0" dirty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Helvetica" pitchFamily="2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sz="1800" b="1" dirty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Helvetica" pitchFamily="2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US" sz="18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1800" b="1" i="0" dirty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Helvetica" pitchFamily="2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sz="1800" b="1" dirty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Helvetica" pitchFamily="2" charset="0"/>
                                </a:rPr>
                                <m:t> 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E7DA4FC7-80E8-9190-5B5C-1B07F2525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75" y="1863116"/>
                <a:ext cx="5419745" cy="720647"/>
              </a:xfrm>
              <a:prstGeom prst="rect">
                <a:avLst/>
              </a:prstGeom>
              <a:blipFill>
                <a:blip r:embed="rId4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Multiply 91">
            <a:extLst>
              <a:ext uri="{FF2B5EF4-FFF2-40B4-BE49-F238E27FC236}">
                <a16:creationId xmlns:a16="http://schemas.microsoft.com/office/drawing/2014/main" id="{4B8D0057-FC74-9344-B78D-E248264E8068}"/>
              </a:ext>
            </a:extLst>
          </p:cNvPr>
          <p:cNvSpPr/>
          <p:nvPr/>
        </p:nvSpPr>
        <p:spPr>
          <a:xfrm>
            <a:off x="4370899" y="2439373"/>
            <a:ext cx="7705930" cy="4510588"/>
          </a:xfrm>
          <a:prstGeom prst="mathMultiply">
            <a:avLst>
              <a:gd name="adj1" fmla="val 12257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3120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/>
      <p:bldP spid="49" grpId="0"/>
      <p:bldP spid="51" grpId="0"/>
      <p:bldP spid="52" grpId="0" animBg="1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91" grpId="0"/>
      <p:bldP spid="9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58FE5-4564-67A2-F587-21B0B8519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A00F65-6FCE-5300-C192-D63E8D99198B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7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CCB911-B14C-20FE-D47A-F649FE942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Question-4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AF195AA-EB54-61C6-F02D-EC83253835AB}"/>
              </a:ext>
            </a:extLst>
          </p:cNvPr>
          <p:cNvGrpSpPr/>
          <p:nvPr/>
        </p:nvGrpSpPr>
        <p:grpSpPr>
          <a:xfrm>
            <a:off x="543365" y="4792079"/>
            <a:ext cx="11105270" cy="1119761"/>
            <a:chOff x="543364" y="1808992"/>
            <a:chExt cx="11105270" cy="111976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D1F640F-AA02-F0CA-01C5-1A5DBB2150B6}"/>
                </a:ext>
              </a:extLst>
            </p:cNvPr>
            <p:cNvGrpSpPr/>
            <p:nvPr/>
          </p:nvGrpSpPr>
          <p:grpSpPr>
            <a:xfrm>
              <a:off x="543364" y="1808992"/>
              <a:ext cx="11105270" cy="1119761"/>
              <a:chOff x="937526" y="5317274"/>
              <a:chExt cx="11105270" cy="1119761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5B9F3DF2-2424-C14B-6F6D-91E537F615D3}"/>
                  </a:ext>
                </a:extLst>
              </p:cNvPr>
              <p:cNvGrpSpPr/>
              <p:nvPr/>
            </p:nvGrpSpPr>
            <p:grpSpPr>
              <a:xfrm>
                <a:off x="937526" y="5317274"/>
                <a:ext cx="11105270" cy="1119761"/>
                <a:chOff x="937526" y="5317274"/>
                <a:chExt cx="11105270" cy="1119761"/>
              </a:xfrm>
            </p:grpSpPr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02B31AFC-9866-F0C5-4B02-FBC47F280081}"/>
                    </a:ext>
                  </a:extLst>
                </p:cNvPr>
                <p:cNvGrpSpPr/>
                <p:nvPr/>
              </p:nvGrpSpPr>
              <p:grpSpPr>
                <a:xfrm>
                  <a:off x="937526" y="5592794"/>
                  <a:ext cx="11105270" cy="844241"/>
                  <a:chOff x="873086" y="5072061"/>
                  <a:chExt cx="11105270" cy="1214004"/>
                </a:xfrm>
                <a:noFill/>
              </p:grpSpPr>
              <p:grpSp>
                <p:nvGrpSpPr>
                  <p:cNvPr id="9" name="Group 8">
                    <a:extLst>
                      <a:ext uri="{FF2B5EF4-FFF2-40B4-BE49-F238E27FC236}">
                        <a16:creationId xmlns:a16="http://schemas.microsoft.com/office/drawing/2014/main" id="{597D09E6-7CCB-FACD-FB2C-9D76DF9DEC62}"/>
                      </a:ext>
                    </a:extLst>
                  </p:cNvPr>
                  <p:cNvGrpSpPr/>
                  <p:nvPr/>
                </p:nvGrpSpPr>
                <p:grpSpPr>
                  <a:xfrm>
                    <a:off x="1027135" y="5072061"/>
                    <a:ext cx="10951221" cy="457200"/>
                    <a:chOff x="1027135" y="5072061"/>
                    <a:chExt cx="10951221" cy="457200"/>
                  </a:xfrm>
                  <a:grpFill/>
                </p:grpSpPr>
                <p:cxnSp>
                  <p:nvCxnSpPr>
                    <p:cNvPr id="17" name="Straight Arrow Connector 16">
                      <a:extLst>
                        <a:ext uri="{FF2B5EF4-FFF2-40B4-BE49-F238E27FC236}">
                          <a16:creationId xmlns:a16="http://schemas.microsoft.com/office/drawing/2014/main" id="{4C438D2B-4E08-95E0-1542-161781601CC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7135" y="5285984"/>
                      <a:ext cx="10951221" cy="107496"/>
                    </a:xfrm>
                    <a:prstGeom prst="straightConnector1">
                      <a:avLst/>
                    </a:prstGeom>
                    <a:grpFill/>
                    <a:ln w="3810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" name="Straight Connector 17">
                      <a:extLst>
                        <a:ext uri="{FF2B5EF4-FFF2-40B4-BE49-F238E27FC236}">
                          <a16:creationId xmlns:a16="http://schemas.microsoft.com/office/drawing/2014/main" id="{15624F3E-7CA0-747A-AC6E-C4BE3BEE7E1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7136" y="5072061"/>
                      <a:ext cx="0" cy="457200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" name="Straight Connector 19">
                      <a:extLst>
                        <a:ext uri="{FF2B5EF4-FFF2-40B4-BE49-F238E27FC236}">
                          <a16:creationId xmlns:a16="http://schemas.microsoft.com/office/drawing/2014/main" id="{5319591A-C2E2-086A-AF5C-F31D7CC8D4E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494946" y="5072061"/>
                      <a:ext cx="0" cy="457200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" name="Straight Connector 21">
                      <a:extLst>
                        <a:ext uri="{FF2B5EF4-FFF2-40B4-BE49-F238E27FC236}">
                          <a16:creationId xmlns:a16="http://schemas.microsoft.com/office/drawing/2014/main" id="{129B2AD2-3A9C-6841-6022-6AE34DFF385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669863" y="5072061"/>
                      <a:ext cx="0" cy="457200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5558CF4A-FD43-0035-68F9-9600A8BAA5CF}"/>
                      </a:ext>
                    </a:extLst>
                  </p:cNvPr>
                  <p:cNvSpPr txBox="1"/>
                  <p:nvPr/>
                </p:nvSpPr>
                <p:spPr>
                  <a:xfrm>
                    <a:off x="873086" y="5713928"/>
                    <a:ext cx="298480" cy="486834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latin typeface="Helvetica" pitchFamily="2" charset="0"/>
                      </a:rPr>
                      <a:t>0</a:t>
                    </a:r>
                  </a:p>
                </p:txBody>
              </p: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8DBEAD41-EAF3-CAF0-2F4C-ABC4CBB66CD2}"/>
                      </a:ext>
                    </a:extLst>
                  </p:cNvPr>
                  <p:cNvSpPr txBox="1"/>
                  <p:nvPr/>
                </p:nvSpPr>
                <p:spPr>
                  <a:xfrm>
                    <a:off x="2515814" y="5713929"/>
                    <a:ext cx="298480" cy="48683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latin typeface="Helvetica" pitchFamily="2" charset="0"/>
                      </a:rPr>
                      <a:t>1</a:t>
                    </a:r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B9147E4D-EC1C-A113-E9DC-6FEAB28D7011}"/>
                      </a:ext>
                    </a:extLst>
                  </p:cNvPr>
                  <p:cNvSpPr txBox="1"/>
                  <p:nvPr/>
                </p:nvSpPr>
                <p:spPr>
                  <a:xfrm>
                    <a:off x="11340897" y="5710714"/>
                    <a:ext cx="380232" cy="575351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b="1" dirty="0">
                        <a:latin typeface="Helvetica" pitchFamily="2" charset="0"/>
                      </a:rPr>
                      <a:t>∞</a:t>
                    </a:r>
                    <a:endParaRPr lang="en-US" sz="1600" b="1" dirty="0">
                      <a:latin typeface="Helvetica" pitchFamily="2" charset="0"/>
                    </a:endParaRPr>
                  </a:p>
                </p:txBody>
              </p:sp>
            </p:grp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3F75758-C49F-E806-6186-51367948A55F}"/>
                    </a:ext>
                  </a:extLst>
                </p:cNvPr>
                <p:cNvSpPr txBox="1"/>
                <p:nvPr/>
              </p:nvSpPr>
              <p:spPr>
                <a:xfrm>
                  <a:off x="10220541" y="5317274"/>
                  <a:ext cx="57740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latin typeface="Helvetica" pitchFamily="2" charset="0"/>
                    </a:rPr>
                    <a:t>….</a:t>
                  </a:r>
                  <a:endParaRPr lang="en-US" b="1" dirty="0">
                    <a:latin typeface="Helvetica" pitchFamily="2" charset="0"/>
                  </a:endParaRPr>
                </a:p>
              </p:txBody>
            </p:sp>
          </p:grp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69134A-2D10-F558-82E7-9470288744A7}"/>
                  </a:ext>
                </a:extLst>
              </p:cNvPr>
              <p:cNvSpPr txBox="1"/>
              <p:nvPr/>
            </p:nvSpPr>
            <p:spPr>
              <a:xfrm>
                <a:off x="10215863" y="5744457"/>
                <a:ext cx="577402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latin typeface="Helvetica" pitchFamily="2" charset="0"/>
                  </a:rPr>
                  <a:t>….</a:t>
                </a:r>
                <a:endParaRPr lang="en-US" b="1" dirty="0">
                  <a:latin typeface="Helvetica" pitchFamily="2" charset="0"/>
                </a:endParaRPr>
              </a:p>
            </p:txBody>
          </p:sp>
        </p:grp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8ACFCF7-970F-BE92-ABFF-F58866DECDFB}"/>
                </a:ext>
              </a:extLst>
            </p:cNvPr>
            <p:cNvCxnSpPr>
              <a:cxnSpLocks/>
            </p:cNvCxnSpPr>
            <p:nvPr/>
          </p:nvCxnSpPr>
          <p:spPr>
            <a:xfrm>
              <a:off x="3756040" y="2082278"/>
              <a:ext cx="0" cy="317945"/>
            </a:xfrm>
            <a:prstGeom prst="lin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7095984-6AD2-8107-0BDA-25A80A820A05}"/>
                </a:ext>
              </a:extLst>
            </p:cNvPr>
            <p:cNvCxnSpPr>
              <a:cxnSpLocks/>
            </p:cNvCxnSpPr>
            <p:nvPr/>
          </p:nvCxnSpPr>
          <p:spPr>
            <a:xfrm>
              <a:off x="5168689" y="2072071"/>
              <a:ext cx="0" cy="317945"/>
            </a:xfrm>
            <a:prstGeom prst="lin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5F86C49-5203-721B-DB38-549557157131}"/>
                </a:ext>
              </a:extLst>
            </p:cNvPr>
            <p:cNvSpPr txBox="1"/>
            <p:nvPr/>
          </p:nvSpPr>
          <p:spPr>
            <a:xfrm>
              <a:off x="3601991" y="2528646"/>
              <a:ext cx="298480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Helvetica" pitchFamily="2" charset="0"/>
                </a:rPr>
                <a:t>2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DE15FDA-9D4C-B08D-F467-6A04C0DACA5B}"/>
                </a:ext>
              </a:extLst>
            </p:cNvPr>
            <p:cNvSpPr txBox="1"/>
            <p:nvPr/>
          </p:nvSpPr>
          <p:spPr>
            <a:xfrm>
              <a:off x="5014640" y="2529228"/>
              <a:ext cx="298480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Helvetica" pitchFamily="2" charset="0"/>
                </a:rPr>
                <a:t>3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E3F57F6-3011-6F16-BBD7-11DD548DC095}"/>
                </a:ext>
              </a:extLst>
            </p:cNvPr>
            <p:cNvCxnSpPr>
              <a:cxnSpLocks/>
            </p:cNvCxnSpPr>
            <p:nvPr/>
          </p:nvCxnSpPr>
          <p:spPr>
            <a:xfrm>
              <a:off x="6733841" y="2081695"/>
              <a:ext cx="0" cy="317945"/>
            </a:xfrm>
            <a:prstGeom prst="lin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F91D1AB-AC17-DDA1-472A-67D3FAFF1A32}"/>
                </a:ext>
              </a:extLst>
            </p:cNvPr>
            <p:cNvSpPr txBox="1"/>
            <p:nvPr/>
          </p:nvSpPr>
          <p:spPr>
            <a:xfrm>
              <a:off x="6579792" y="2528062"/>
              <a:ext cx="298480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Helvetica" pitchFamily="2" charset="0"/>
                </a:rPr>
                <a:t>4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4FBAA73-5759-7B29-E9B1-3805F434FB57}"/>
                </a:ext>
              </a:extLst>
            </p:cNvPr>
            <p:cNvCxnSpPr>
              <a:cxnSpLocks/>
            </p:cNvCxnSpPr>
            <p:nvPr/>
          </p:nvCxnSpPr>
          <p:spPr>
            <a:xfrm>
              <a:off x="8130000" y="2103996"/>
              <a:ext cx="0" cy="317945"/>
            </a:xfrm>
            <a:prstGeom prst="lin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FF6EFC1-8A07-66D3-84FB-1CED433B02F5}"/>
                </a:ext>
              </a:extLst>
            </p:cNvPr>
            <p:cNvCxnSpPr>
              <a:cxnSpLocks/>
            </p:cNvCxnSpPr>
            <p:nvPr/>
          </p:nvCxnSpPr>
          <p:spPr>
            <a:xfrm>
              <a:off x="9542649" y="2093789"/>
              <a:ext cx="0" cy="317945"/>
            </a:xfrm>
            <a:prstGeom prst="lin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1D6184B-3833-2C90-FBF4-1A1442C8F80E}"/>
                </a:ext>
              </a:extLst>
            </p:cNvPr>
            <p:cNvSpPr txBox="1"/>
            <p:nvPr/>
          </p:nvSpPr>
          <p:spPr>
            <a:xfrm>
              <a:off x="7975951" y="2550364"/>
              <a:ext cx="298480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Helvetica" pitchFamily="2" charset="0"/>
                </a:rPr>
                <a:t>5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96C2A61-8836-2520-A94C-C2D4F78498A0}"/>
                </a:ext>
              </a:extLst>
            </p:cNvPr>
            <p:cNvSpPr txBox="1"/>
            <p:nvPr/>
          </p:nvSpPr>
          <p:spPr>
            <a:xfrm>
              <a:off x="9388600" y="2550946"/>
              <a:ext cx="298480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Helvetica" pitchFamily="2" charset="0"/>
                </a:rPr>
                <a:t>6</a:t>
              </a:r>
            </a:p>
          </p:txBody>
        </p:sp>
      </p:grpSp>
      <p:sp>
        <p:nvSpPr>
          <p:cNvPr id="46" name="Left Brace 45">
            <a:extLst>
              <a:ext uri="{FF2B5EF4-FFF2-40B4-BE49-F238E27FC236}">
                <a16:creationId xmlns:a16="http://schemas.microsoft.com/office/drawing/2014/main" id="{48FAE970-4AD1-A509-4BB4-721A430733D6}"/>
              </a:ext>
            </a:extLst>
          </p:cNvPr>
          <p:cNvSpPr/>
          <p:nvPr/>
        </p:nvSpPr>
        <p:spPr>
          <a:xfrm rot="5400000" flipH="1">
            <a:off x="2618420" y="3811704"/>
            <a:ext cx="321163" cy="4471277"/>
          </a:xfrm>
          <a:prstGeom prst="leftBrace">
            <a:avLst>
              <a:gd name="adj1" fmla="val 67957"/>
              <a:gd name="adj2" fmla="val 50223"/>
            </a:avLst>
          </a:prstGeom>
          <a:ln w="285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Left Brace 46">
            <a:extLst>
              <a:ext uri="{FF2B5EF4-FFF2-40B4-BE49-F238E27FC236}">
                <a16:creationId xmlns:a16="http://schemas.microsoft.com/office/drawing/2014/main" id="{A449E386-3C8A-746C-ED11-720621595B0C}"/>
              </a:ext>
            </a:extLst>
          </p:cNvPr>
          <p:cNvSpPr/>
          <p:nvPr/>
        </p:nvSpPr>
        <p:spPr>
          <a:xfrm rot="5400000" flipH="1">
            <a:off x="8192191" y="3005489"/>
            <a:ext cx="317945" cy="6080489"/>
          </a:xfrm>
          <a:prstGeom prst="leftBrace">
            <a:avLst>
              <a:gd name="adj1" fmla="val 67957"/>
              <a:gd name="adj2" fmla="val 49858"/>
            </a:avLst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E32065F-6D25-D3B2-D61F-314F58343562}"/>
              </a:ext>
            </a:extLst>
          </p:cNvPr>
          <p:cNvSpPr txBox="1"/>
          <p:nvPr/>
        </p:nvSpPr>
        <p:spPr>
          <a:xfrm>
            <a:off x="2472910" y="6204708"/>
            <a:ext cx="10983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Helvetica" pitchFamily="2" charset="0"/>
              </a:rPr>
              <a:t>g</a:t>
            </a:r>
            <a:r>
              <a:rPr lang="en-US" sz="2000" b="1" baseline="-25000" dirty="0">
                <a:solidFill>
                  <a:schemeClr val="accent4">
                    <a:lumMod val="50000"/>
                  </a:schemeClr>
                </a:solidFill>
                <a:latin typeface="Helvetica" pitchFamily="2" charset="0"/>
              </a:rPr>
              <a:t>1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Helvetica" pitchFamily="2" charset="0"/>
              </a:rPr>
              <a:t>=10%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E99FAA-C8CF-5341-3563-7231D685CD03}"/>
              </a:ext>
            </a:extLst>
          </p:cNvPr>
          <p:cNvSpPr txBox="1"/>
          <p:nvPr/>
        </p:nvSpPr>
        <p:spPr>
          <a:xfrm>
            <a:off x="7954831" y="6204707"/>
            <a:ext cx="1167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Helvetica" pitchFamily="2" charset="0"/>
              </a:rPr>
              <a:t>g</a:t>
            </a:r>
            <a:r>
              <a:rPr lang="en-US" sz="2000" b="1" baseline="-25000" dirty="0">
                <a:solidFill>
                  <a:srgbClr val="C00000"/>
                </a:solidFill>
                <a:latin typeface="Helvetica" pitchFamily="2" charset="0"/>
              </a:rPr>
              <a:t>2</a:t>
            </a:r>
            <a:r>
              <a:rPr lang="en-US" sz="2000" b="1" dirty="0">
                <a:solidFill>
                  <a:srgbClr val="C00000"/>
                </a:solidFill>
                <a:latin typeface="Helvetica" pitchFamily="2" charset="0"/>
              </a:rPr>
              <a:t> = 4 %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B744FD0-D1D6-A07B-1BEC-FA9F19BC79C1}"/>
                  </a:ext>
                </a:extLst>
              </p:cNvPr>
              <p:cNvSpPr txBox="1"/>
              <p:nvPr/>
            </p:nvSpPr>
            <p:spPr>
              <a:xfrm>
                <a:off x="6597799" y="3873416"/>
                <a:ext cx="4987020" cy="6731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b="1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 i="0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</m:acc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2400" b="1" i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𝐃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  <m:sub>
                            <m:r>
                              <a:rPr lang="en-US" sz="2400" b="1" i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𝐬</m:t>
                            </m:r>
                          </m:sub>
                        </m:sSub>
                        <m:r>
                          <a:rPr lang="en-US" sz="2400" b="1" i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𝐠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sz="2400" b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400" b="1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𝟑𝟖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en-US" sz="2400" b="1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  <m:r>
                          <a:rPr lang="en-US" sz="2400" b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sz="2400" b="1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</m:den>
                    </m:f>
                  </m:oMath>
                </a14:m>
                <a:r>
                  <a:rPr lang="en-US" sz="2400" b="1" dirty="0">
                    <a:solidFill>
                      <a:schemeClr val="accent5">
                        <a:lumMod val="50000"/>
                      </a:schemeClr>
                    </a:solidFill>
                    <a:latin typeface="Helvetica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4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𝟑𝟖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sz="24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</m:den>
                    </m:f>
                    <m:r>
                      <a:rPr lang="en-US" sz="2400" b="1" i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𝟐𝟕</m:t>
                    </m:r>
                    <m:r>
                      <a:rPr lang="en-US" sz="2400" b="1" i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𝟔𝟖</m:t>
                    </m:r>
                  </m:oMath>
                </a14:m>
                <a:endParaRPr lang="en-US" sz="2400" b="1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B744FD0-D1D6-A07B-1BEC-FA9F19BC7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799" y="3873416"/>
                <a:ext cx="4987020" cy="673198"/>
              </a:xfrm>
              <a:prstGeom prst="rect">
                <a:avLst/>
              </a:prstGeom>
              <a:blipFill>
                <a:blip r:embed="rId2"/>
                <a:stretch>
                  <a:fillRect l="-254"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Multiply 51">
            <a:extLst>
              <a:ext uri="{FF2B5EF4-FFF2-40B4-BE49-F238E27FC236}">
                <a16:creationId xmlns:a16="http://schemas.microsoft.com/office/drawing/2014/main" id="{ED6AB898-3368-C9A1-C476-9D3EB2C8BF96}"/>
              </a:ext>
            </a:extLst>
          </p:cNvPr>
          <p:cNvSpPr/>
          <p:nvPr/>
        </p:nvSpPr>
        <p:spPr>
          <a:xfrm>
            <a:off x="4941596" y="4960221"/>
            <a:ext cx="460688" cy="508548"/>
          </a:xfrm>
          <a:prstGeom prst="mathMultiply">
            <a:avLst>
              <a:gd name="adj1" fmla="val 2038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968A79F-0F5D-5831-2B39-6B2FB4A5549D}"/>
                  </a:ext>
                </a:extLst>
              </p:cNvPr>
              <p:cNvSpPr txBox="1"/>
              <p:nvPr/>
            </p:nvSpPr>
            <p:spPr>
              <a:xfrm>
                <a:off x="4691217" y="4011943"/>
                <a:ext cx="961445" cy="471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𝟐𝟕</m:t>
                      </m:r>
                      <m:r>
                        <a:rPr lang="en-US" sz="24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𝟔𝟖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968A79F-0F5D-5831-2B39-6B2FB4A55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1217" y="4011943"/>
                <a:ext cx="961445" cy="471539"/>
              </a:xfrm>
              <a:prstGeom prst="rect">
                <a:avLst/>
              </a:prstGeom>
              <a:blipFill>
                <a:blip r:embed="rId3"/>
                <a:stretch>
                  <a:fillRect l="-1316" r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7E2D2089-9708-B40D-B1D8-09F490DB1CF1}"/>
              </a:ext>
            </a:extLst>
          </p:cNvPr>
          <p:cNvSpPr txBox="1"/>
          <p:nvPr/>
        </p:nvSpPr>
        <p:spPr>
          <a:xfrm>
            <a:off x="317866" y="4710056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</a:t>
            </a:r>
            <a:r>
              <a:rPr lang="en-US" b="1" baseline="-25000" dirty="0">
                <a:latin typeface="Helvetica" pitchFamily="2" charset="0"/>
              </a:rPr>
              <a:t>0 </a:t>
            </a:r>
            <a:r>
              <a:rPr lang="en-US" b="1" dirty="0">
                <a:latin typeface="Helvetica" pitchFamily="2" charset="0"/>
              </a:rPr>
              <a:t>= 1</a:t>
            </a:r>
            <a:endParaRPr lang="en-US" b="1" baseline="-25000" dirty="0">
              <a:latin typeface="Helvetica" pitchFamily="2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9E11552-B150-0AB8-962F-36F8BC7430F5}"/>
              </a:ext>
            </a:extLst>
          </p:cNvPr>
          <p:cNvSpPr txBox="1"/>
          <p:nvPr/>
        </p:nvSpPr>
        <p:spPr>
          <a:xfrm>
            <a:off x="1887508" y="4710056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Helvetica" pitchFamily="2" charset="0"/>
              </a:rPr>
              <a:t>D</a:t>
            </a:r>
            <a:r>
              <a:rPr lang="en-US" b="1" baseline="-25000" dirty="0">
                <a:solidFill>
                  <a:schemeClr val="accent5">
                    <a:lumMod val="60000"/>
                    <a:lumOff val="40000"/>
                  </a:schemeClr>
                </a:solidFill>
                <a:latin typeface="Helvetica" pitchFamily="2" charset="0"/>
              </a:rPr>
              <a:t>1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Helvetica" pitchFamily="2" charset="0"/>
              </a:rPr>
              <a:t>= 1.1</a:t>
            </a:r>
            <a:endParaRPr lang="en-US" b="1" baseline="-25000" dirty="0">
              <a:solidFill>
                <a:schemeClr val="accent5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A6AE33B-47C3-6D6D-343E-9DB72BC52BC6}"/>
              </a:ext>
            </a:extLst>
          </p:cNvPr>
          <p:cNvSpPr txBox="1"/>
          <p:nvPr/>
        </p:nvSpPr>
        <p:spPr>
          <a:xfrm>
            <a:off x="3182621" y="4709791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Helvetica" pitchFamily="2" charset="0"/>
              </a:rPr>
              <a:t>D</a:t>
            </a:r>
            <a:r>
              <a:rPr lang="en-US" b="1" baseline="-25000" dirty="0">
                <a:solidFill>
                  <a:schemeClr val="accent5">
                    <a:lumMod val="60000"/>
                    <a:lumOff val="40000"/>
                  </a:schemeClr>
                </a:solidFill>
                <a:latin typeface="Helvetica" pitchFamily="2" charset="0"/>
              </a:rPr>
              <a:t>2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Helvetica" pitchFamily="2" charset="0"/>
              </a:rPr>
              <a:t>= 1.21</a:t>
            </a:r>
            <a:endParaRPr lang="en-US" b="1" baseline="-25000" dirty="0">
              <a:solidFill>
                <a:schemeClr val="accent5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A10B092-9ED7-CCD4-42DD-0DC947E75776}"/>
              </a:ext>
            </a:extLst>
          </p:cNvPr>
          <p:cNvSpPr txBox="1"/>
          <p:nvPr/>
        </p:nvSpPr>
        <p:spPr>
          <a:xfrm>
            <a:off x="4608324" y="4706328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Helvetica" pitchFamily="2" charset="0"/>
              </a:rPr>
              <a:t>D</a:t>
            </a:r>
            <a:r>
              <a:rPr lang="en-US" b="1" baseline="-25000" dirty="0">
                <a:solidFill>
                  <a:schemeClr val="accent5">
                    <a:lumMod val="60000"/>
                    <a:lumOff val="40000"/>
                  </a:schemeClr>
                </a:solidFill>
                <a:latin typeface="Helvetica" pitchFamily="2" charset="0"/>
              </a:rPr>
              <a:t>3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Helvetica" pitchFamily="2" charset="0"/>
              </a:rPr>
              <a:t>= 1.33</a:t>
            </a:r>
            <a:endParaRPr lang="en-US" b="1" baseline="-25000" dirty="0">
              <a:solidFill>
                <a:schemeClr val="accent5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E413B73-6E0E-8DAC-EDD6-19C693E57E9E}"/>
              </a:ext>
            </a:extLst>
          </p:cNvPr>
          <p:cNvSpPr txBox="1"/>
          <p:nvPr/>
        </p:nvSpPr>
        <p:spPr>
          <a:xfrm>
            <a:off x="6182034" y="4695449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Helvetica" pitchFamily="2" charset="0"/>
              </a:rPr>
              <a:t>D</a:t>
            </a:r>
            <a:r>
              <a:rPr lang="en-US" b="1" baseline="-25000" dirty="0">
                <a:solidFill>
                  <a:schemeClr val="accent3">
                    <a:lumMod val="60000"/>
                    <a:lumOff val="40000"/>
                  </a:schemeClr>
                </a:solidFill>
                <a:latin typeface="Helvetica" pitchFamily="2" charset="0"/>
              </a:rPr>
              <a:t>4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Helvetica" pitchFamily="2" charset="0"/>
              </a:rPr>
              <a:t>= 1.38</a:t>
            </a:r>
            <a:endParaRPr lang="en-US" b="1" baseline="-25000" dirty="0">
              <a:solidFill>
                <a:schemeClr val="accent3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AAD9C8B-4E00-F49D-DDE3-EF76CE57B288}"/>
              </a:ext>
            </a:extLst>
          </p:cNvPr>
          <p:cNvSpPr txBox="1"/>
          <p:nvPr/>
        </p:nvSpPr>
        <p:spPr>
          <a:xfrm>
            <a:off x="7895636" y="4686787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Helvetica" pitchFamily="2" charset="0"/>
              </a:rPr>
              <a:t>D</a:t>
            </a:r>
            <a:r>
              <a:rPr lang="en-US" b="1" baseline="-25000" dirty="0">
                <a:solidFill>
                  <a:schemeClr val="accent3">
                    <a:lumMod val="60000"/>
                    <a:lumOff val="40000"/>
                  </a:schemeClr>
                </a:solidFill>
                <a:latin typeface="Helvetica" pitchFamily="2" charset="0"/>
              </a:rPr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8DB3113-A499-8C13-155D-8251D4624A3A}"/>
              </a:ext>
            </a:extLst>
          </p:cNvPr>
          <p:cNvSpPr txBox="1"/>
          <p:nvPr/>
        </p:nvSpPr>
        <p:spPr>
          <a:xfrm>
            <a:off x="9313560" y="4681828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Helvetica" pitchFamily="2" charset="0"/>
              </a:rPr>
              <a:t>D</a:t>
            </a:r>
            <a:r>
              <a:rPr lang="en-US" b="1" baseline="-25000" dirty="0">
                <a:solidFill>
                  <a:schemeClr val="accent3">
                    <a:lumMod val="60000"/>
                    <a:lumOff val="40000"/>
                  </a:schemeClr>
                </a:solidFill>
                <a:latin typeface="Helvetica" pitchFamily="2" charset="0"/>
              </a:rPr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B452C1D-7E89-8723-9E18-279A0CFEAAEE}"/>
              </a:ext>
            </a:extLst>
          </p:cNvPr>
          <p:cNvSpPr txBox="1"/>
          <p:nvPr/>
        </p:nvSpPr>
        <p:spPr>
          <a:xfrm>
            <a:off x="10964841" y="468582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Helvetica" pitchFamily="2" charset="0"/>
              </a:rPr>
              <a:t>D</a:t>
            </a:r>
            <a:r>
              <a:rPr lang="en-US" sz="1800" b="1" baseline="-25000" dirty="0">
                <a:solidFill>
                  <a:schemeClr val="accent3">
                    <a:lumMod val="60000"/>
                    <a:lumOff val="40000"/>
                  </a:schemeClr>
                </a:solidFill>
                <a:latin typeface="Helvetica" pitchFamily="2" charset="0"/>
              </a:rPr>
              <a:t>∞</a:t>
            </a:r>
            <a:endParaRPr lang="en-US" sz="1400" b="1" baseline="-25000" dirty="0">
              <a:solidFill>
                <a:schemeClr val="accent3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854C7D0-3C70-7080-5D1F-5100F40921BF}"/>
              </a:ext>
            </a:extLst>
          </p:cNvPr>
          <p:cNvGrpSpPr/>
          <p:nvPr/>
        </p:nvGrpSpPr>
        <p:grpSpPr>
          <a:xfrm>
            <a:off x="543363" y="4281719"/>
            <a:ext cx="1840333" cy="431687"/>
            <a:chOff x="650631" y="4144755"/>
            <a:chExt cx="1513666" cy="431687"/>
          </a:xfrm>
        </p:grpSpPr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EFF59CFB-CB84-2AA2-49D2-08E8DC068F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0631" y="4155201"/>
              <a:ext cx="1513666" cy="0"/>
            </a:xfrm>
            <a:prstGeom prst="straightConnector1">
              <a:avLst/>
            </a:prstGeom>
            <a:ln w="38100">
              <a:solidFill>
                <a:schemeClr val="accent2">
                  <a:lumMod val="20000"/>
                  <a:lumOff val="8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65BF0F28-BF97-7B4B-B2EB-564AB2C5C86A}"/>
                </a:ext>
              </a:extLst>
            </p:cNvPr>
            <p:cNvCxnSpPr>
              <a:cxnSpLocks/>
            </p:cNvCxnSpPr>
            <p:nvPr/>
          </p:nvCxnSpPr>
          <p:spPr>
            <a:xfrm>
              <a:off x="2146300" y="4144755"/>
              <a:ext cx="0" cy="431687"/>
            </a:xfrm>
            <a:prstGeom prst="line">
              <a:avLst/>
            </a:prstGeom>
            <a:ln w="381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3CDCB7A-08BE-2E9E-2867-49898F1D633D}"/>
              </a:ext>
            </a:extLst>
          </p:cNvPr>
          <p:cNvGrpSpPr/>
          <p:nvPr/>
        </p:nvGrpSpPr>
        <p:grpSpPr>
          <a:xfrm>
            <a:off x="543364" y="3805498"/>
            <a:ext cx="3254109" cy="912262"/>
            <a:chOff x="650631" y="4146815"/>
            <a:chExt cx="1513666" cy="431687"/>
          </a:xfrm>
        </p:grpSpPr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9E7A283B-0749-013C-0A47-51297675D5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0631" y="4155201"/>
              <a:ext cx="1513666" cy="0"/>
            </a:xfrm>
            <a:prstGeom prst="straightConnector1">
              <a:avLst/>
            </a:prstGeom>
            <a:ln w="38100">
              <a:solidFill>
                <a:schemeClr val="accent2">
                  <a:lumMod val="20000"/>
                  <a:lumOff val="8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7333CF7-AC28-91B7-179B-9CD097034B18}"/>
                </a:ext>
              </a:extLst>
            </p:cNvPr>
            <p:cNvCxnSpPr>
              <a:cxnSpLocks/>
            </p:cNvCxnSpPr>
            <p:nvPr/>
          </p:nvCxnSpPr>
          <p:spPr>
            <a:xfrm>
              <a:off x="2154736" y="4146815"/>
              <a:ext cx="0" cy="431687"/>
            </a:xfrm>
            <a:prstGeom prst="line">
              <a:avLst/>
            </a:prstGeom>
            <a:ln w="381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3A9DFC5C-CB86-1BA6-B12D-5549238400CE}"/>
              </a:ext>
            </a:extLst>
          </p:cNvPr>
          <p:cNvGrpSpPr/>
          <p:nvPr/>
        </p:nvGrpSpPr>
        <p:grpSpPr>
          <a:xfrm>
            <a:off x="543364" y="3249405"/>
            <a:ext cx="4625326" cy="751080"/>
            <a:chOff x="650631" y="4144755"/>
            <a:chExt cx="1513666" cy="431687"/>
          </a:xfrm>
        </p:grpSpPr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C156AFF8-AD4F-296D-C8E9-1F3224B923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0631" y="4155201"/>
              <a:ext cx="1513666" cy="0"/>
            </a:xfrm>
            <a:prstGeom prst="straightConnector1">
              <a:avLst/>
            </a:prstGeom>
            <a:ln w="38100">
              <a:solidFill>
                <a:schemeClr val="accent2">
                  <a:lumMod val="20000"/>
                  <a:lumOff val="8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57A85434-BC8E-48DB-EA57-E004759E3818}"/>
                </a:ext>
              </a:extLst>
            </p:cNvPr>
            <p:cNvCxnSpPr>
              <a:cxnSpLocks/>
            </p:cNvCxnSpPr>
            <p:nvPr/>
          </p:nvCxnSpPr>
          <p:spPr>
            <a:xfrm>
              <a:off x="2158159" y="4144755"/>
              <a:ext cx="0" cy="431687"/>
            </a:xfrm>
            <a:prstGeom prst="line">
              <a:avLst/>
            </a:prstGeom>
            <a:ln w="381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B88CFE86-D8FD-F490-29D0-0A545DF87551}"/>
              </a:ext>
            </a:extLst>
          </p:cNvPr>
          <p:cNvSpPr txBox="1"/>
          <p:nvPr/>
        </p:nvSpPr>
        <p:spPr>
          <a:xfrm>
            <a:off x="4979562" y="4381185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Helvetica" pitchFamily="2" charset="0"/>
              </a:rPr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B4185A0E-D75B-8A76-B905-454745737A5E}"/>
                  </a:ext>
                </a:extLst>
              </p:cNvPr>
              <p:cNvSpPr txBox="1"/>
              <p:nvPr/>
            </p:nvSpPr>
            <p:spPr>
              <a:xfrm>
                <a:off x="203355" y="2307849"/>
                <a:ext cx="5419745" cy="720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</m:acc>
                        </m:e>
                        <m:sub>
                          <m:r>
                            <a:rPr lang="en-US" sz="1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8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18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1800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800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US" sz="1800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800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den>
                      </m:f>
                      <m:r>
                        <a:rPr lang="en-US" sz="18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18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18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800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US" sz="18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8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sz="1800" b="1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18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1800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800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US" sz="1800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8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sz="18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800" b="1" i="0" dirty="0" smtClean="0">
                                  <a:solidFill>
                                    <a:srgbClr val="00B0F0"/>
                                  </a:solidFill>
                                  <a:latin typeface="Helvetica" pitchFamily="2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sz="1800" b="1" dirty="0">
                                  <a:solidFill>
                                    <a:srgbClr val="00B0F0"/>
                                  </a:solidFill>
                                  <a:latin typeface="Helvetica" pitchFamily="2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1800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800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US" sz="1800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1800" b="1" i="0" dirty="0" smtClean="0">
                                  <a:solidFill>
                                    <a:srgbClr val="00B0F0"/>
                                  </a:solidFill>
                                  <a:latin typeface="Helvetica" pitchFamily="2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sz="1800" b="1" dirty="0">
                                  <a:solidFill>
                                    <a:srgbClr val="00B0F0"/>
                                  </a:solidFill>
                                  <a:latin typeface="Helvetica" pitchFamily="2" charset="0"/>
                                </a:rPr>
                                <m:t> 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B4185A0E-D75B-8A76-B905-454745737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55" y="2307849"/>
                <a:ext cx="5419745" cy="720647"/>
              </a:xfrm>
              <a:prstGeom prst="rect">
                <a:avLst/>
              </a:prstGeom>
              <a:blipFill>
                <a:blip r:embed="rId4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D8EAFD-793E-0619-599B-51E0BC7F59EF}"/>
                  </a:ext>
                </a:extLst>
              </p:cNvPr>
              <p:cNvSpPr txBox="1"/>
              <p:nvPr/>
            </p:nvSpPr>
            <p:spPr>
              <a:xfrm>
                <a:off x="222145" y="1488994"/>
                <a:ext cx="1177048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Helvetica" pitchFamily="2" charset="0"/>
                  </a:rPr>
                  <a:t>Assume: D</a:t>
                </a:r>
                <a:r>
                  <a:rPr lang="en-US" sz="2000" b="1" baseline="-25000" dirty="0">
                    <a:solidFill>
                      <a:schemeClr val="tx1"/>
                    </a:solidFill>
                    <a:latin typeface="Helvetica" pitchFamily="2" charset="0"/>
                  </a:rPr>
                  <a:t>0 </a:t>
                </a:r>
                <a:r>
                  <a:rPr lang="en-US" sz="2000" b="1" dirty="0">
                    <a:solidFill>
                      <a:schemeClr val="tx1"/>
                    </a:solidFill>
                    <a:latin typeface="Helvetica" pitchFamily="2" charset="0"/>
                  </a:rPr>
                  <a:t>= $1</a:t>
                </a:r>
                <a:r>
                  <a:rPr lang="en-US" sz="2000" dirty="0">
                    <a:solidFill>
                      <a:schemeClr val="tx1"/>
                    </a:solidFill>
                    <a:latin typeface="Helvetica" pitchFamily="2" charset="0"/>
                  </a:rPr>
                  <a:t>, Dividends grow at </a:t>
                </a:r>
                <a:r>
                  <a:rPr lang="en-US" sz="2000" b="1" dirty="0">
                    <a:solidFill>
                      <a:schemeClr val="tx1"/>
                    </a:solidFill>
                    <a:latin typeface="Helvetica" pitchFamily="2" charset="0"/>
                  </a:rPr>
                  <a:t>10% for 3 years</a:t>
                </a:r>
                <a:r>
                  <a:rPr lang="en-US" sz="2000" dirty="0">
                    <a:solidFill>
                      <a:schemeClr val="tx1"/>
                    </a:solidFill>
                    <a:latin typeface="Helvetica" pitchFamily="2" charset="0"/>
                  </a:rPr>
                  <a:t>, then </a:t>
                </a:r>
                <a:r>
                  <a:rPr lang="en-US" sz="2000" b="1" dirty="0">
                    <a:solidFill>
                      <a:schemeClr val="tx1"/>
                    </a:solidFill>
                    <a:latin typeface="Helvetica" pitchFamily="2" charset="0"/>
                  </a:rPr>
                  <a:t>4% constant</a:t>
                </a:r>
                <a:r>
                  <a:rPr lang="en-US" sz="2000" dirty="0">
                    <a:solidFill>
                      <a:schemeClr val="tx1"/>
                    </a:solidFill>
                    <a:latin typeface="Helvetica" pitchFamily="2" charset="0"/>
                  </a:rPr>
                  <a:t> thereafter, and Required return: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  <m:sub>
                        <m:r>
                          <a:rPr lang="en-US" sz="20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𝐬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Helvetica" pitchFamily="2" charset="0"/>
                  </a:rPr>
                  <a:t> 9%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D8EAFD-793E-0619-599B-51E0BC7F5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45" y="1488994"/>
                <a:ext cx="11770480" cy="707886"/>
              </a:xfrm>
              <a:prstGeom prst="rect">
                <a:avLst/>
              </a:prstGeom>
              <a:blipFill>
                <a:blip r:embed="rId5"/>
                <a:stretch>
                  <a:fillRect l="-539" t="-5357" b="-16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9ED620-9194-2D40-2E59-F59E39E99078}"/>
                  </a:ext>
                </a:extLst>
              </p:cNvPr>
              <p:cNvSpPr txBox="1"/>
              <p:nvPr/>
            </p:nvSpPr>
            <p:spPr>
              <a:xfrm>
                <a:off x="5623100" y="2331606"/>
                <a:ext cx="5973745" cy="7080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</m:acc>
                        </m:e>
                        <m:sub>
                          <m:r>
                            <a:rPr lang="en-US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𝟎𝟗</m:t>
                              </m:r>
                              <m: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den>
                      </m:f>
                      <m:r>
                        <a:rPr lang="en-US" b="1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𝟐𝟏</m:t>
                          </m:r>
                        </m:num>
                        <m:den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𝟎𝟗</m:t>
                              </m:r>
                              <m: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b="1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𝟑𝟑</m:t>
                          </m:r>
                        </m:num>
                        <m:den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𝟎𝟗</m:t>
                              </m:r>
                              <m: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b="1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𝟐𝟕</m:t>
                          </m:r>
                          <m:r>
                            <a:rPr lang="en-US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𝟔𝟖</m:t>
                          </m:r>
                        </m:num>
                        <m:den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𝟎𝟗</m:t>
                              </m:r>
                              <m:r>
                                <a:rPr lang="en-US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3 </m:t>
                              </m:r>
                            </m:sup>
                          </m:sSup>
                        </m:den>
                      </m:f>
                      <m:r>
                        <a:rPr lang="en-US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𝟐𝟒</m:t>
                      </m:r>
                      <m:r>
                        <a:rPr lang="en-US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𝟒𝟑</m:t>
                      </m:r>
                    </m:oMath>
                  </m:oMathPara>
                </a14:m>
                <a:endParaRPr lang="en-US" b="1" i="1" dirty="0">
                  <a:solidFill>
                    <a:schemeClr val="accent5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9ED620-9194-2D40-2E59-F59E39E99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3100" y="2331606"/>
                <a:ext cx="5973745" cy="708014"/>
              </a:xfrm>
              <a:prstGeom prst="rect">
                <a:avLst/>
              </a:prstGeom>
              <a:blipFill>
                <a:blip r:embed="rId6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Multiply 12">
            <a:extLst>
              <a:ext uri="{FF2B5EF4-FFF2-40B4-BE49-F238E27FC236}">
                <a16:creationId xmlns:a16="http://schemas.microsoft.com/office/drawing/2014/main" id="{A71354AF-9EE3-55DC-6C08-AAAE7BAD7A2D}"/>
              </a:ext>
            </a:extLst>
          </p:cNvPr>
          <p:cNvSpPr/>
          <p:nvPr/>
        </p:nvSpPr>
        <p:spPr>
          <a:xfrm>
            <a:off x="4370899" y="2439373"/>
            <a:ext cx="7705930" cy="4510588"/>
          </a:xfrm>
          <a:prstGeom prst="mathMultiply">
            <a:avLst>
              <a:gd name="adj1" fmla="val 12257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4412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/>
      <p:bldP spid="49" grpId="0"/>
      <p:bldP spid="51" grpId="0"/>
      <p:bldP spid="52" grpId="0" animBg="1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91" grpId="0"/>
      <p:bldP spid="11" grpId="0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D3BE2-AED5-8850-5B8A-D1AD5F50B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22BF8E-A534-0641-FC3B-D43ED0507B6D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7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74CE83-D54A-5838-A522-A0F803EA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B. Enterprise-Based Approach to Valuation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840EDA-954D-66C1-570B-EB3CAFE52A2E}"/>
              </a:ext>
            </a:extLst>
          </p:cNvPr>
          <p:cNvSpPr txBox="1"/>
          <p:nvPr/>
        </p:nvSpPr>
        <p:spPr>
          <a:xfrm>
            <a:off x="120784" y="1456982"/>
            <a:ext cx="1195042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1460" indent="-25146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Instead of focusing on dividends, this model estimates a firm’s </a:t>
            </a:r>
            <a:r>
              <a:rPr lang="en-US" sz="2400" b="1" dirty="0">
                <a:latin typeface="Helvetica" pitchFamily="2" charset="0"/>
              </a:rPr>
              <a:t>value based on future Free Cash Flows (FCFs)</a:t>
            </a:r>
            <a:r>
              <a:rPr lang="en-US" sz="2400" dirty="0">
                <a:latin typeface="Helvetica" pitchFamily="2" charset="0"/>
              </a:rPr>
              <a:t>.</a:t>
            </a:r>
          </a:p>
          <a:p>
            <a:pPr marL="251460" indent="-251460" algn="just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Why Use It?</a:t>
            </a:r>
          </a:p>
          <a:p>
            <a:pPr marL="708660" lvl="1" indent="-25146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Dividends may be hard to forecast—especially for growing or non-dividend-paying firms</a:t>
            </a:r>
          </a:p>
          <a:p>
            <a:pPr marL="708660" lvl="1" indent="-25146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Free Cash Flow is more directly tied to the firm’s operating performance</a:t>
            </a:r>
          </a:p>
          <a:p>
            <a:pPr marL="251460" indent="-251460" algn="just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Free Cash Flow Formula: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100" b="1" dirty="0">
                <a:solidFill>
                  <a:srgbClr val="C00000"/>
                </a:solidFill>
                <a:latin typeface="Helvetica" pitchFamily="2" charset="0"/>
                <a:cs typeface="Times New Roman" panose="02020603050405020304" pitchFamily="18" charset="0"/>
              </a:rPr>
              <a:t>FCF = EBIT(1−T) + Dep &amp; Amort − (Capital Expenditures + </a:t>
            </a:r>
            <a:r>
              <a:rPr lang="el-GR" sz="2100" b="1" dirty="0">
                <a:solidFill>
                  <a:srgbClr val="C00000"/>
                </a:solidFill>
                <a:latin typeface="Helvetica" pitchFamily="2" charset="0"/>
                <a:cs typeface="Times New Roman" panose="02020603050405020304" pitchFamily="18" charset="0"/>
              </a:rPr>
              <a:t>Δ</a:t>
            </a:r>
            <a:r>
              <a:rPr lang="en-US" sz="2100" b="1" dirty="0">
                <a:solidFill>
                  <a:srgbClr val="C00000"/>
                </a:solidFill>
                <a:latin typeface="Helvetica" pitchFamily="2" charset="0"/>
                <a:cs typeface="Times New Roman" panose="02020603050405020304" pitchFamily="18" charset="0"/>
              </a:rPr>
              <a:t> Net Operating Working Capital) </a:t>
            </a:r>
            <a:endParaRPr lang="en-US" sz="2100" b="1" dirty="0">
              <a:latin typeface="Helvetica" pitchFamily="2" charset="0"/>
            </a:endParaRPr>
          </a:p>
          <a:p>
            <a:pPr marL="251460" indent="-251460" algn="just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Interpretation:</a:t>
            </a:r>
          </a:p>
          <a:p>
            <a:pPr marL="708660" lvl="1" indent="-25146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FCF &gt; 0</a:t>
            </a:r>
            <a:r>
              <a:rPr lang="en-US" sz="2200" dirty="0">
                <a:latin typeface="Helvetica" pitchFamily="2" charset="0"/>
              </a:rPr>
              <a:t> → Firm generates cash beyond what it needs for growth</a:t>
            </a:r>
          </a:p>
          <a:p>
            <a:pPr marL="708660" lvl="1" indent="-25146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Used to value the firm’s operations</a:t>
            </a:r>
            <a:r>
              <a:rPr lang="en-US" sz="2200" dirty="0">
                <a:latin typeface="Helvetica" pitchFamily="2" charset="0"/>
              </a:rPr>
              <a:t>, then subtract debt to estimate equity value</a:t>
            </a:r>
          </a:p>
        </p:txBody>
      </p:sp>
    </p:spTree>
    <p:extLst>
      <p:ext uri="{BB962C8B-B14F-4D97-AF65-F5344CB8AC3E}">
        <p14:creationId xmlns:p14="http://schemas.microsoft.com/office/powerpoint/2010/main" val="243349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412F0-394E-584D-E1D5-635625271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2BA74F7-3335-6349-0DAC-10EFB4DFFD92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7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364F32-B3F3-970A-D50C-615E2FAA3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B1. </a:t>
            </a:r>
            <a:r>
              <a:rPr lang="en-US" sz="4000" b="1" i="0" dirty="0">
                <a:solidFill>
                  <a:schemeClr val="bg1"/>
                </a:solidFill>
                <a:effectLst/>
                <a:latin typeface="Helvetica" pitchFamily="2" charset="0"/>
              </a:rPr>
              <a:t>The Corporate Valuation Model</a:t>
            </a:r>
            <a:endParaRPr lang="en-US" sz="4000"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E1CFC9-F256-985E-291D-22623E2A59FD}"/>
              </a:ext>
            </a:extLst>
          </p:cNvPr>
          <p:cNvSpPr txBox="1"/>
          <p:nvPr/>
        </p:nvSpPr>
        <p:spPr>
          <a:xfrm>
            <a:off x="187454" y="3380682"/>
            <a:ext cx="11817090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Helvetica" pitchFamily="2" charset="0"/>
              </a:rPr>
              <a:t>Key Idea: </a:t>
            </a:r>
          </a:p>
          <a:p>
            <a:r>
              <a:rPr lang="en-US" sz="2400" b="1" dirty="0"/>
              <a:t>Market value of company’s operations = PV of expected future Free Cash Flow  =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E17251-DD35-BB86-40C6-1EA73CB52DB2}"/>
              </a:ext>
            </a:extLst>
          </p:cNvPr>
          <p:cNvSpPr txBox="1"/>
          <p:nvPr/>
        </p:nvSpPr>
        <p:spPr>
          <a:xfrm>
            <a:off x="2760284" y="1757411"/>
            <a:ext cx="7793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Helvetica" pitchFamily="2" charset="0"/>
              </a:rPr>
              <a:t>FCF</a:t>
            </a:r>
            <a:r>
              <a:rPr lang="en-US" sz="2000" b="1" baseline="-25000" dirty="0">
                <a:solidFill>
                  <a:srgbClr val="0070C0"/>
                </a:solidFill>
                <a:latin typeface="Helvetica" pitchFamily="2" charset="0"/>
              </a:rPr>
              <a:t>1</a:t>
            </a:r>
            <a:endParaRPr lang="en-US" sz="2000" b="1" dirty="0">
              <a:solidFill>
                <a:srgbClr val="0070C0"/>
              </a:solidFill>
              <a:latin typeface="Helvetica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0D1A18-8967-A4EB-89AF-1703269EA38C}"/>
              </a:ext>
            </a:extLst>
          </p:cNvPr>
          <p:cNvSpPr txBox="1"/>
          <p:nvPr/>
        </p:nvSpPr>
        <p:spPr>
          <a:xfrm>
            <a:off x="5048601" y="1757411"/>
            <a:ext cx="7793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Helvetica" pitchFamily="2" charset="0"/>
              </a:rPr>
              <a:t>FCF</a:t>
            </a:r>
            <a:r>
              <a:rPr lang="en-US" sz="2000" b="1" baseline="-25000" dirty="0">
                <a:solidFill>
                  <a:srgbClr val="0070C0"/>
                </a:solidFill>
                <a:latin typeface="Helvetica" pitchFamily="2" charset="0"/>
              </a:rPr>
              <a:t>2</a:t>
            </a:r>
            <a:endParaRPr lang="en-US" sz="2000" b="1" dirty="0">
              <a:solidFill>
                <a:srgbClr val="0070C0"/>
              </a:solidFill>
              <a:latin typeface="Helvetic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B5E834-8EC0-6D7B-E0DD-DE3571344747}"/>
                  </a:ext>
                </a:extLst>
              </p:cNvPr>
              <p:cNvSpPr txBox="1"/>
              <p:nvPr/>
            </p:nvSpPr>
            <p:spPr>
              <a:xfrm>
                <a:off x="9669122" y="1757411"/>
                <a:ext cx="80663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70C0"/>
                    </a:solidFill>
                    <a:latin typeface="Helvetica" pitchFamily="2" charset="0"/>
                  </a:rPr>
                  <a:t>FCF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baseline="-25000" dirty="0">
                        <a:solidFill>
                          <a:srgbClr val="0070C0"/>
                        </a:solidFill>
                        <a:latin typeface="Helvetica" pitchFamily="2" charset="0"/>
                      </a:rPr>
                      <m:t>∞</m:t>
                    </m:r>
                  </m:oMath>
                </a14:m>
                <a:endParaRPr lang="en-US" sz="2000" b="1" baseline="-25000" dirty="0">
                  <a:solidFill>
                    <a:srgbClr val="0070C0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B5E834-8EC0-6D7B-E0DD-DE3571344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122" y="1757411"/>
                <a:ext cx="806631" cy="400110"/>
              </a:xfrm>
              <a:prstGeom prst="rect">
                <a:avLst/>
              </a:prstGeom>
              <a:blipFill>
                <a:blip r:embed="rId2"/>
                <a:stretch>
                  <a:fillRect l="-7813" t="-6250" b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B014FC4-8AA3-354F-16A7-D4A46FD67B64}"/>
              </a:ext>
            </a:extLst>
          </p:cNvPr>
          <p:cNvSpPr txBox="1"/>
          <p:nvPr/>
        </p:nvSpPr>
        <p:spPr>
          <a:xfrm>
            <a:off x="7336918" y="1760558"/>
            <a:ext cx="7793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Helvetica" pitchFamily="2" charset="0"/>
              </a:rPr>
              <a:t>FCF</a:t>
            </a:r>
            <a:r>
              <a:rPr lang="en-US" sz="2000" b="1" baseline="-25000" dirty="0">
                <a:solidFill>
                  <a:srgbClr val="0070C0"/>
                </a:solidFill>
                <a:latin typeface="Helvetica" pitchFamily="2" charset="0"/>
              </a:rPr>
              <a:t>3</a:t>
            </a:r>
            <a:endParaRPr lang="en-US" sz="2000" b="1" dirty="0">
              <a:solidFill>
                <a:srgbClr val="0070C0"/>
              </a:solidFill>
              <a:latin typeface="Helvetica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03C559C-3A71-3D4B-5B89-05B010ED1F69}"/>
              </a:ext>
            </a:extLst>
          </p:cNvPr>
          <p:cNvGrpSpPr/>
          <p:nvPr/>
        </p:nvGrpSpPr>
        <p:grpSpPr>
          <a:xfrm>
            <a:off x="709246" y="1847561"/>
            <a:ext cx="10242589" cy="1195826"/>
            <a:chOff x="838200" y="5374659"/>
            <a:chExt cx="10242589" cy="119582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C924DA-95E6-1311-DD75-E9C32067AEAE}"/>
                </a:ext>
              </a:extLst>
            </p:cNvPr>
            <p:cNvGrpSpPr/>
            <p:nvPr/>
          </p:nvGrpSpPr>
          <p:grpSpPr>
            <a:xfrm>
              <a:off x="838200" y="5772537"/>
              <a:ext cx="10242589" cy="797948"/>
              <a:chOff x="873086" y="5053331"/>
              <a:chExt cx="10242589" cy="1147434"/>
            </a:xfrm>
            <a:noFill/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010263BB-E66D-55A8-FCCB-84FD59FC93D0}"/>
                  </a:ext>
                </a:extLst>
              </p:cNvPr>
              <p:cNvGrpSpPr/>
              <p:nvPr/>
            </p:nvGrpSpPr>
            <p:grpSpPr>
              <a:xfrm>
                <a:off x="1027135" y="5053331"/>
                <a:ext cx="10088540" cy="475932"/>
                <a:chOff x="1027135" y="5053331"/>
                <a:chExt cx="10088540" cy="475932"/>
              </a:xfrm>
              <a:grpFill/>
            </p:grpSpPr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91131C13-5D32-525E-57A8-B7322D9C43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5" y="5285984"/>
                  <a:ext cx="10088540" cy="14677"/>
                </a:xfrm>
                <a:prstGeom prst="straightConnector1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C471103C-7F66-71E6-2EB1-49C600F46F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6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406FBF69-AE3F-F2F2-EC1D-4A935805F7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93890" y="5072062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ABE1FC82-E834-D829-D629-96FF81B979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90258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D6C9B8AA-CED3-2B1F-90B8-CBFAD64101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70524" y="505333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D4F077D8-2B89-BA69-5F31-7F16E83600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4923" y="5072063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7C7104E-8453-89A4-608A-22D9427A160E}"/>
                  </a:ext>
                </a:extLst>
              </p:cNvPr>
              <p:cNvSpPr txBox="1"/>
              <p:nvPr/>
            </p:nvSpPr>
            <p:spPr>
              <a:xfrm>
                <a:off x="873086" y="5713928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0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088497-FEC8-B25F-1285-9DBBA5423CF5}"/>
                  </a:ext>
                </a:extLst>
              </p:cNvPr>
              <p:cNvSpPr txBox="1"/>
              <p:nvPr/>
            </p:nvSpPr>
            <p:spPr>
              <a:xfrm>
                <a:off x="3139841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1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23CD6F5-CBEC-F692-2410-0FE726C19EDA}"/>
                  </a:ext>
                </a:extLst>
              </p:cNvPr>
              <p:cNvSpPr txBox="1"/>
              <p:nvPr/>
            </p:nvSpPr>
            <p:spPr>
              <a:xfrm>
                <a:off x="5420874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2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7D6F547-4E2E-2BEE-6EDF-704F3AB9D134}"/>
                  </a:ext>
                </a:extLst>
              </p:cNvPr>
              <p:cNvSpPr txBox="1"/>
              <p:nvPr/>
            </p:nvSpPr>
            <p:spPr>
              <a:xfrm>
                <a:off x="7716475" y="5710715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3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75B0F6BC-95B5-E945-C7F0-85698B61DF36}"/>
                      </a:ext>
                    </a:extLst>
                  </p:cNvPr>
                  <p:cNvSpPr txBox="1"/>
                  <p:nvPr/>
                </p:nvSpPr>
                <p:spPr>
                  <a:xfrm>
                    <a:off x="10036209" y="5710715"/>
                    <a:ext cx="388247" cy="486834"/>
                  </a:xfrm>
                  <a:prstGeom prst="rect">
                    <a:avLst/>
                  </a:prstGeom>
                  <a:grpFill/>
                  <a:ln>
                    <a:solidFill>
                      <a:schemeClr val="accent2">
                        <a:lumMod val="75000"/>
                      </a:schemeClr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600" b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Helvetica" pitchFamily="2" charset="0"/>
                            </a:rPr>
                            <m:t>∞</m:t>
                          </m:r>
                        </m:oMath>
                      </m:oMathPara>
                    </a14:m>
                    <a:endPara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75B0F6BC-95B5-E945-C7F0-85698B61DF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36209" y="5710715"/>
                    <a:ext cx="388247" cy="48683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accent2">
                        <a:lumMod val="7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23D3080-D145-2D0A-E768-78FA2D64C46F}"/>
                </a:ext>
              </a:extLst>
            </p:cNvPr>
            <p:cNvSpPr txBox="1"/>
            <p:nvPr/>
          </p:nvSpPr>
          <p:spPr>
            <a:xfrm>
              <a:off x="8706804" y="5374659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Helvetica" pitchFamily="2" charset="0"/>
                </a:rPr>
                <a:t>….</a:t>
              </a:r>
              <a:endParaRPr lang="en-US" b="1" dirty="0">
                <a:latin typeface="Helvetica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788B130-207D-48E0-5105-365B9D1D9E9D}"/>
                </a:ext>
              </a:extLst>
            </p:cNvPr>
            <p:cNvSpPr txBox="1"/>
            <p:nvPr/>
          </p:nvSpPr>
          <p:spPr>
            <a:xfrm>
              <a:off x="8699637" y="5859649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Helvetica" pitchFamily="2" charset="0"/>
                </a:rPr>
                <a:t>….</a:t>
              </a:r>
              <a:endParaRPr lang="en-US" b="1" dirty="0">
                <a:latin typeface="Helvetica" pitchFamily="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18D7C34-0FF0-28C2-8FAD-835B66261292}"/>
                  </a:ext>
                </a:extLst>
              </p:cNvPr>
              <p:cNvSpPr txBox="1"/>
              <p:nvPr/>
            </p:nvSpPr>
            <p:spPr>
              <a:xfrm>
                <a:off x="1172728" y="4474434"/>
                <a:ext cx="9846542" cy="8708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𝑭𝑪𝑭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𝑾𝑨𝑪𝑪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den>
                      </m:f>
                      <m:r>
                        <a:rPr lang="en-US" sz="24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𝑭𝑪𝑭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𝑾𝑨𝑪𝑪</m:t>
                              </m:r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sz="24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𝑭𝑪𝑭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𝑾𝑨𝑪𝑪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sz="24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𝑭𝑪𝑭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1" dirty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Helvetica" pitchFamily="2" charset="0"/>
                                </a:rPr>
                                <m:t>∞ 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𝑾𝑨𝑪𝑪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2400" b="1" dirty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Helvetica" pitchFamily="2" charset="0"/>
                                </a:rPr>
                                <m:t>∞ 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b="1" dirty="0">
                  <a:solidFill>
                    <a:schemeClr val="accent5">
                      <a:lumMod val="50000"/>
                    </a:schemeClr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18D7C34-0FF0-28C2-8FAD-835B66261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728" y="4474434"/>
                <a:ext cx="9846542" cy="870816"/>
              </a:xfrm>
              <a:prstGeom prst="rect">
                <a:avLst/>
              </a:prstGeom>
              <a:blipFill>
                <a:blip r:embed="rId4"/>
                <a:stretch>
                  <a:fillRect b="-11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3608E7C-D7DD-8F4C-F4AF-7E3C4CB26B5D}"/>
                  </a:ext>
                </a:extLst>
              </p:cNvPr>
              <p:cNvSpPr txBox="1"/>
              <p:nvPr/>
            </p:nvSpPr>
            <p:spPr>
              <a:xfrm>
                <a:off x="4541535" y="5506490"/>
                <a:ext cx="3108928" cy="10674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</m:acc>
                        </m:e>
                        <m:sub>
                          <m:r>
                            <a:rPr lang="en-US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sz="2400" b="1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Helvetica" pitchFamily="2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𝑭𝑪𝑭</m:t>
                                  </m:r>
                                </m:e>
                                <m:sub>
                                  <m:r>
                                    <a:rPr lang="en-US" sz="2400" b="1" i="1" smtClean="0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b="1" i="1" smtClean="0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𝑾𝑨𝑪𝑪</m:t>
                                  </m:r>
                                  <m:r>
                                    <a:rPr lang="en-US" sz="2400" b="1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400" b="1" i="1" smtClean="0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2400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3608E7C-D7DD-8F4C-F4AF-7E3C4CB26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1535" y="5506490"/>
                <a:ext cx="3108928" cy="1067408"/>
              </a:xfrm>
              <a:prstGeom prst="rect">
                <a:avLst/>
              </a:prstGeom>
              <a:blipFill>
                <a:blip r:embed="rId5"/>
                <a:stretch>
                  <a:fillRect l="-11789" t="-108235" b="-17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1651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31" grpId="0"/>
      <p:bldP spid="3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F197F-23BD-B187-548C-52B4FBB27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4D93CAB-0178-6584-A881-D91D5EF351B3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7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C47E43-B7A4-5B0E-A0D1-FD5350C77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B2. The Constant Growth on FCF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DA0EBA1-081C-3BC3-7DFB-ED795A1277CD}"/>
              </a:ext>
            </a:extLst>
          </p:cNvPr>
          <p:cNvSpPr txBox="1"/>
          <p:nvPr/>
        </p:nvSpPr>
        <p:spPr>
          <a:xfrm>
            <a:off x="241571" y="1565417"/>
            <a:ext cx="116460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Helvetica" pitchFamily="2" charset="0"/>
              </a:rPr>
              <a:t>A model used to value a stock that pays dividends growing at a constant rate forever.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90E1DF-BB5C-F333-5F09-9B1820ECFAB6}"/>
              </a:ext>
            </a:extLst>
          </p:cNvPr>
          <p:cNvGrpSpPr/>
          <p:nvPr/>
        </p:nvGrpSpPr>
        <p:grpSpPr>
          <a:xfrm>
            <a:off x="543364" y="2159060"/>
            <a:ext cx="11463961" cy="1354396"/>
            <a:chOff x="727533" y="5082644"/>
            <a:chExt cx="10897217" cy="135439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176DF0A-1E95-D327-216D-93DF118A3529}"/>
                </a:ext>
              </a:extLst>
            </p:cNvPr>
            <p:cNvSpPr txBox="1"/>
            <p:nvPr/>
          </p:nvSpPr>
          <p:spPr>
            <a:xfrm>
              <a:off x="1768120" y="5106328"/>
              <a:ext cx="22124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7030A0"/>
                  </a:solidFill>
                  <a:latin typeface="Helvetica" pitchFamily="2" charset="0"/>
                </a:rPr>
                <a:t>FCF</a:t>
              </a:r>
              <a:r>
                <a:rPr lang="en-US" sz="2000" b="1" baseline="-25000" dirty="0">
                  <a:solidFill>
                    <a:srgbClr val="7030A0"/>
                  </a:solidFill>
                  <a:latin typeface="Helvetica" pitchFamily="2" charset="0"/>
                </a:rPr>
                <a:t>1</a:t>
              </a:r>
              <a:r>
                <a:rPr lang="en-US" sz="2000" b="1" dirty="0">
                  <a:solidFill>
                    <a:srgbClr val="7030A0"/>
                  </a:solidFill>
                  <a:latin typeface="Helvetica" pitchFamily="2" charset="0"/>
                </a:rPr>
                <a:t>= FCF</a:t>
              </a:r>
              <a:r>
                <a:rPr lang="en-US" sz="2000" b="1" baseline="-25000" dirty="0">
                  <a:solidFill>
                    <a:srgbClr val="7030A0"/>
                  </a:solidFill>
                  <a:latin typeface="Helvetica" pitchFamily="2" charset="0"/>
                </a:rPr>
                <a:t>0</a:t>
              </a:r>
              <a:r>
                <a:rPr lang="en-US" sz="2000" b="1" dirty="0">
                  <a:solidFill>
                    <a:srgbClr val="7030A0"/>
                  </a:solidFill>
                  <a:latin typeface="Helvetica" pitchFamily="2" charset="0"/>
                </a:rPr>
                <a:t>(1+g)</a:t>
              </a:r>
              <a:r>
                <a:rPr lang="en-US" sz="2000" b="1" baseline="30000" dirty="0">
                  <a:solidFill>
                    <a:srgbClr val="7030A0"/>
                  </a:solidFill>
                  <a:latin typeface="Helvetica" pitchFamily="2" charset="0"/>
                </a:rPr>
                <a:t>1</a:t>
              </a:r>
              <a:endParaRPr lang="en-US" sz="2000" b="1" dirty="0">
                <a:solidFill>
                  <a:srgbClr val="7030A0"/>
                </a:solidFill>
                <a:latin typeface="Helvetica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9AAFC40-D790-90CC-774C-C19F74D704A7}"/>
                </a:ext>
              </a:extLst>
            </p:cNvPr>
            <p:cNvSpPr txBox="1"/>
            <p:nvPr/>
          </p:nvSpPr>
          <p:spPr>
            <a:xfrm>
              <a:off x="4162249" y="5106218"/>
              <a:ext cx="23551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7030A0"/>
                  </a:solidFill>
                  <a:latin typeface="Helvetica" pitchFamily="2" charset="0"/>
                </a:rPr>
                <a:t>FCF</a:t>
              </a:r>
              <a:r>
                <a:rPr lang="en-US" sz="2000" b="1" baseline="-25000" dirty="0">
                  <a:solidFill>
                    <a:srgbClr val="7030A0"/>
                  </a:solidFill>
                  <a:latin typeface="Helvetica" pitchFamily="2" charset="0"/>
                </a:rPr>
                <a:t>2</a:t>
              </a:r>
              <a:r>
                <a:rPr lang="en-US" sz="2000" b="1" dirty="0">
                  <a:solidFill>
                    <a:srgbClr val="7030A0"/>
                  </a:solidFill>
                  <a:latin typeface="Helvetica" pitchFamily="2" charset="0"/>
                </a:rPr>
                <a:t>= FCF</a:t>
              </a:r>
              <a:r>
                <a:rPr lang="en-US" sz="2000" b="1" baseline="-25000" dirty="0">
                  <a:solidFill>
                    <a:srgbClr val="7030A0"/>
                  </a:solidFill>
                  <a:latin typeface="Helvetica" pitchFamily="2" charset="0"/>
                </a:rPr>
                <a:t>0</a:t>
              </a:r>
              <a:r>
                <a:rPr lang="en-US" sz="2000" b="1" dirty="0">
                  <a:solidFill>
                    <a:srgbClr val="7030A0"/>
                  </a:solidFill>
                  <a:latin typeface="Helvetica" pitchFamily="2" charset="0"/>
                </a:rPr>
                <a:t>(1+g)</a:t>
              </a:r>
              <a:r>
                <a:rPr lang="en-US" sz="2000" b="1" baseline="30000" dirty="0">
                  <a:solidFill>
                    <a:srgbClr val="7030A0"/>
                  </a:solidFill>
                  <a:latin typeface="Helvetica" pitchFamily="2" charset="0"/>
                </a:rPr>
                <a:t>2</a:t>
              </a:r>
              <a:endParaRPr lang="en-US" sz="2000" b="1" dirty="0">
                <a:solidFill>
                  <a:srgbClr val="7030A0"/>
                </a:solidFill>
                <a:latin typeface="Helvetica" pitchFamily="2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51C7F6A-073C-6239-86B6-F6474295CA60}"/>
                </a:ext>
              </a:extLst>
            </p:cNvPr>
            <p:cNvSpPr txBox="1"/>
            <p:nvPr/>
          </p:nvSpPr>
          <p:spPr>
            <a:xfrm>
              <a:off x="9317710" y="5082644"/>
              <a:ext cx="23070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7030A0"/>
                  </a:solidFill>
                  <a:latin typeface="Helvetica" pitchFamily="2" charset="0"/>
                </a:rPr>
                <a:t>FCF</a:t>
              </a:r>
              <a:r>
                <a:rPr lang="en-US" sz="2000" b="1" baseline="-25000" dirty="0">
                  <a:solidFill>
                    <a:srgbClr val="7030A0"/>
                  </a:solidFill>
                  <a:latin typeface="Helvetica" pitchFamily="2" charset="0"/>
                </a:rPr>
                <a:t>∞</a:t>
              </a:r>
              <a:r>
                <a:rPr lang="en-US" sz="2000" b="1" dirty="0">
                  <a:solidFill>
                    <a:srgbClr val="7030A0"/>
                  </a:solidFill>
                  <a:latin typeface="Helvetica" pitchFamily="2" charset="0"/>
                </a:rPr>
                <a:t>= FCF</a:t>
              </a:r>
              <a:r>
                <a:rPr lang="en-US" sz="2000" b="1" baseline="-25000" dirty="0">
                  <a:solidFill>
                    <a:srgbClr val="7030A0"/>
                  </a:solidFill>
                  <a:latin typeface="Helvetica" pitchFamily="2" charset="0"/>
                </a:rPr>
                <a:t>0</a:t>
              </a:r>
              <a:r>
                <a:rPr lang="en-US" sz="2000" b="1" dirty="0">
                  <a:solidFill>
                    <a:srgbClr val="7030A0"/>
                  </a:solidFill>
                  <a:latin typeface="Helvetica" pitchFamily="2" charset="0"/>
                </a:rPr>
                <a:t>(1+g)</a:t>
              </a:r>
              <a:r>
                <a:rPr lang="en-US" sz="2800" b="1" baseline="30000" dirty="0">
                  <a:solidFill>
                    <a:srgbClr val="7030A0"/>
                  </a:solidFill>
                  <a:latin typeface="Helvetica" pitchFamily="2" charset="0"/>
                </a:rPr>
                <a:t>∞</a:t>
              </a:r>
              <a:endParaRPr lang="en-US" sz="1200" b="1" baseline="30000" dirty="0">
                <a:solidFill>
                  <a:srgbClr val="7030A0"/>
                </a:solidFill>
                <a:latin typeface="Helvetica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3CE0D90-3567-C794-151C-014183A9E505}"/>
                </a:ext>
              </a:extLst>
            </p:cNvPr>
            <p:cNvSpPr txBox="1"/>
            <p:nvPr/>
          </p:nvSpPr>
          <p:spPr>
            <a:xfrm>
              <a:off x="6702911" y="5094558"/>
              <a:ext cx="23070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7030A0"/>
                  </a:solidFill>
                  <a:latin typeface="Helvetica" pitchFamily="2" charset="0"/>
                </a:rPr>
                <a:t>FCF</a:t>
              </a:r>
              <a:r>
                <a:rPr lang="en-US" sz="2000" b="1" baseline="-25000" dirty="0">
                  <a:solidFill>
                    <a:srgbClr val="7030A0"/>
                  </a:solidFill>
                  <a:latin typeface="Helvetica" pitchFamily="2" charset="0"/>
                </a:rPr>
                <a:t>3</a:t>
              </a:r>
              <a:r>
                <a:rPr lang="en-US" sz="2000" b="1" dirty="0">
                  <a:solidFill>
                    <a:srgbClr val="7030A0"/>
                  </a:solidFill>
                  <a:latin typeface="Helvetica" pitchFamily="2" charset="0"/>
                </a:rPr>
                <a:t>= FCF</a:t>
              </a:r>
              <a:r>
                <a:rPr lang="en-US" sz="2000" b="1" baseline="-25000" dirty="0">
                  <a:solidFill>
                    <a:srgbClr val="7030A0"/>
                  </a:solidFill>
                  <a:latin typeface="Helvetica" pitchFamily="2" charset="0"/>
                </a:rPr>
                <a:t>0</a:t>
              </a:r>
              <a:r>
                <a:rPr lang="en-US" sz="2000" b="1" dirty="0">
                  <a:solidFill>
                    <a:srgbClr val="7030A0"/>
                  </a:solidFill>
                  <a:latin typeface="Helvetica" pitchFamily="2" charset="0"/>
                </a:rPr>
                <a:t>(1+g)</a:t>
              </a:r>
              <a:r>
                <a:rPr lang="en-US" sz="2000" b="1" baseline="30000" dirty="0">
                  <a:solidFill>
                    <a:srgbClr val="7030A0"/>
                  </a:solidFill>
                  <a:latin typeface="Helvetica" pitchFamily="2" charset="0"/>
                </a:rPr>
                <a:t>3</a:t>
              </a:r>
              <a:endParaRPr lang="en-US" sz="2000" b="1" dirty="0">
                <a:solidFill>
                  <a:srgbClr val="7030A0"/>
                </a:solidFill>
                <a:latin typeface="Helvetica" pitchFamily="2" charset="0"/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7E103694-3FA8-CAD5-9F80-1C2FF5047EC5}"/>
                </a:ext>
              </a:extLst>
            </p:cNvPr>
            <p:cNvGrpSpPr/>
            <p:nvPr/>
          </p:nvGrpSpPr>
          <p:grpSpPr>
            <a:xfrm>
              <a:off x="937526" y="5159179"/>
              <a:ext cx="10242589" cy="1277861"/>
              <a:chOff x="937526" y="5159179"/>
              <a:chExt cx="10242589" cy="1277861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76F05112-4750-0DCE-3983-3ADA744F940C}"/>
                  </a:ext>
                </a:extLst>
              </p:cNvPr>
              <p:cNvGrpSpPr/>
              <p:nvPr/>
            </p:nvGrpSpPr>
            <p:grpSpPr>
              <a:xfrm>
                <a:off x="937526" y="5159179"/>
                <a:ext cx="10242589" cy="1277861"/>
                <a:chOff x="937526" y="5159179"/>
                <a:chExt cx="10242589" cy="1277861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919F2DE7-B64B-5349-6A54-F6956B24B4AE}"/>
                    </a:ext>
                  </a:extLst>
                </p:cNvPr>
                <p:cNvGrpSpPr/>
                <p:nvPr/>
              </p:nvGrpSpPr>
              <p:grpSpPr>
                <a:xfrm>
                  <a:off x="937526" y="5579773"/>
                  <a:ext cx="10242589" cy="857267"/>
                  <a:chOff x="873086" y="5053331"/>
                  <a:chExt cx="10242589" cy="1232734"/>
                </a:xfrm>
                <a:noFill/>
              </p:grpSpPr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id="{7479F7BA-F9D8-819F-79D1-E94E49B87706}"/>
                      </a:ext>
                    </a:extLst>
                  </p:cNvPr>
                  <p:cNvGrpSpPr/>
                  <p:nvPr/>
                </p:nvGrpSpPr>
                <p:grpSpPr>
                  <a:xfrm>
                    <a:off x="1027135" y="5053331"/>
                    <a:ext cx="10088540" cy="475932"/>
                    <a:chOff x="1027135" y="5053331"/>
                    <a:chExt cx="10088540" cy="475932"/>
                  </a:xfrm>
                  <a:grpFill/>
                </p:grpSpPr>
                <p:cxnSp>
                  <p:nvCxnSpPr>
                    <p:cNvPr id="19" name="Straight Arrow Connector 18">
                      <a:extLst>
                        <a:ext uri="{FF2B5EF4-FFF2-40B4-BE49-F238E27FC236}">
                          <a16:creationId xmlns:a16="http://schemas.microsoft.com/office/drawing/2014/main" id="{8F18C86D-80DF-ED07-B175-497BC88C4DC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7135" y="5285984"/>
                      <a:ext cx="10088540" cy="14677"/>
                    </a:xfrm>
                    <a:prstGeom prst="straightConnector1">
                      <a:avLst/>
                    </a:prstGeom>
                    <a:grpFill/>
                    <a:ln w="38100">
                      <a:solidFill>
                        <a:schemeClr val="accent2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" name="Straight Connector 19">
                      <a:extLst>
                        <a:ext uri="{FF2B5EF4-FFF2-40B4-BE49-F238E27FC236}">
                          <a16:creationId xmlns:a16="http://schemas.microsoft.com/office/drawing/2014/main" id="{B1CE5F87-9C06-EA6C-E052-E1A82C07134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7136" y="5072061"/>
                      <a:ext cx="0" cy="457200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" name="Straight Connector 20">
                      <a:extLst>
                        <a:ext uri="{FF2B5EF4-FFF2-40B4-BE49-F238E27FC236}">
                          <a16:creationId xmlns:a16="http://schemas.microsoft.com/office/drawing/2014/main" id="{6629404C-5792-61D0-2254-21D6EBD415F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814723" y="5072062"/>
                      <a:ext cx="0" cy="457199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" name="Straight Connector 21">
                      <a:extLst>
                        <a:ext uri="{FF2B5EF4-FFF2-40B4-BE49-F238E27FC236}">
                          <a16:creationId xmlns:a16="http://schemas.microsoft.com/office/drawing/2014/main" id="{F147667E-970E-22CC-646B-BA196CF5A16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056541" y="5072061"/>
                      <a:ext cx="0" cy="457199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" name="Straight Connector 22">
                      <a:extLst>
                        <a:ext uri="{FF2B5EF4-FFF2-40B4-BE49-F238E27FC236}">
                          <a16:creationId xmlns:a16="http://schemas.microsoft.com/office/drawing/2014/main" id="{F3C64B4A-7752-4C0B-EF20-0692DEFD793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647654" y="5053331"/>
                      <a:ext cx="0" cy="457199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" name="Straight Connector 40">
                      <a:extLst>
                        <a:ext uri="{FF2B5EF4-FFF2-40B4-BE49-F238E27FC236}">
                          <a16:creationId xmlns:a16="http://schemas.microsoft.com/office/drawing/2014/main" id="{6B9B25D0-EE42-7799-1BF7-DCFA4973D5A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106899" y="5072064"/>
                      <a:ext cx="0" cy="457199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8C9BBF88-734F-16F2-0DE3-D11051AFC0F9}"/>
                      </a:ext>
                    </a:extLst>
                  </p:cNvPr>
                  <p:cNvSpPr txBox="1"/>
                  <p:nvPr/>
                </p:nvSpPr>
                <p:spPr>
                  <a:xfrm>
                    <a:off x="873086" y="5713928"/>
                    <a:ext cx="298480" cy="486834"/>
                  </a:xfrm>
                  <a:prstGeom prst="rect">
                    <a:avLst/>
                  </a:prstGeom>
                  <a:grpFill/>
                  <a:ln>
                    <a:solidFill>
                      <a:schemeClr val="accent2">
                        <a:lumMod val="75000"/>
                      </a:schemeClr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Helvetica" pitchFamily="2" charset="0"/>
                      </a:rPr>
                      <a:t>0</a:t>
                    </a:r>
                  </a:p>
                </p:txBody>
              </p:sp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35B67D73-528F-F16E-B385-8E80D1964FB7}"/>
                      </a:ext>
                    </a:extLst>
                  </p:cNvPr>
                  <p:cNvSpPr txBox="1"/>
                  <p:nvPr/>
                </p:nvSpPr>
                <p:spPr>
                  <a:xfrm>
                    <a:off x="2660674" y="5713931"/>
                    <a:ext cx="298480" cy="486834"/>
                  </a:xfrm>
                  <a:prstGeom prst="rect">
                    <a:avLst/>
                  </a:prstGeom>
                  <a:grpFill/>
                  <a:ln>
                    <a:solidFill>
                      <a:schemeClr val="accent2">
                        <a:lumMod val="75000"/>
                      </a:schemeClr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Helvetica" pitchFamily="2" charset="0"/>
                      </a:rPr>
                      <a:t>1</a:t>
                    </a:r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631E4C09-C6E6-EA01-2EFB-65C1DE7A3C81}"/>
                      </a:ext>
                    </a:extLst>
                  </p:cNvPr>
                  <p:cNvSpPr txBox="1"/>
                  <p:nvPr/>
                </p:nvSpPr>
                <p:spPr>
                  <a:xfrm>
                    <a:off x="4952849" y="5713931"/>
                    <a:ext cx="298480" cy="486834"/>
                  </a:xfrm>
                  <a:prstGeom prst="rect">
                    <a:avLst/>
                  </a:prstGeom>
                  <a:grpFill/>
                  <a:ln>
                    <a:solidFill>
                      <a:schemeClr val="accent2">
                        <a:lumMod val="75000"/>
                      </a:schemeClr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Helvetica" pitchFamily="2" charset="0"/>
                      </a:rPr>
                      <a:t>2</a:t>
                    </a:r>
                  </a:p>
                </p:txBody>
              </p: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506F5F24-52F6-364C-EB77-538DA7DBE0FF}"/>
                      </a:ext>
                    </a:extLst>
                  </p:cNvPr>
                  <p:cNvSpPr txBox="1"/>
                  <p:nvPr/>
                </p:nvSpPr>
                <p:spPr>
                  <a:xfrm>
                    <a:off x="7493606" y="5710716"/>
                    <a:ext cx="298480" cy="486834"/>
                  </a:xfrm>
                  <a:prstGeom prst="rect">
                    <a:avLst/>
                  </a:prstGeom>
                  <a:grpFill/>
                  <a:ln>
                    <a:solidFill>
                      <a:schemeClr val="accent2">
                        <a:lumMod val="75000"/>
                      </a:schemeClr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Helvetica" pitchFamily="2" charset="0"/>
                      </a:rPr>
                      <a:t>3</a:t>
                    </a:r>
                  </a:p>
                </p:txBody>
              </p:sp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E5E18CD9-6DC1-C49C-3B6C-CF4EAA7C1074}"/>
                      </a:ext>
                    </a:extLst>
                  </p:cNvPr>
                  <p:cNvSpPr txBox="1"/>
                  <p:nvPr/>
                </p:nvSpPr>
                <p:spPr>
                  <a:xfrm>
                    <a:off x="9902490" y="5710714"/>
                    <a:ext cx="380232" cy="575351"/>
                  </a:xfrm>
                  <a:prstGeom prst="rect">
                    <a:avLst/>
                  </a:prstGeom>
                  <a:grpFill/>
                  <a:ln>
                    <a:solidFill>
                      <a:schemeClr val="accent2">
                        <a:lumMod val="75000"/>
                      </a:schemeClr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b="1" dirty="0">
                        <a:solidFill>
                          <a:srgbClr val="C00000"/>
                        </a:solidFill>
                        <a:latin typeface="Helvetica" pitchFamily="2" charset="0"/>
                      </a:rPr>
                      <a:t>∞</a:t>
                    </a:r>
                    <a:endParaRPr lang="en-US" sz="1600" b="1" dirty="0">
                      <a:solidFill>
                        <a:srgbClr val="C00000"/>
                      </a:solidFill>
                      <a:latin typeface="Helvetica" pitchFamily="2" charset="0"/>
                    </a:endParaRPr>
                  </a:p>
                </p:txBody>
              </p:sp>
            </p:grp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096BE50-65F8-D813-C3D3-3BF492937635}"/>
                    </a:ext>
                  </a:extLst>
                </p:cNvPr>
                <p:cNvSpPr txBox="1"/>
                <p:nvPr/>
              </p:nvSpPr>
              <p:spPr>
                <a:xfrm>
                  <a:off x="8804105" y="5159179"/>
                  <a:ext cx="57740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latin typeface="Helvetica" pitchFamily="2" charset="0"/>
                    </a:rPr>
                    <a:t>….</a:t>
                  </a:r>
                  <a:endParaRPr lang="en-US" b="1" dirty="0">
                    <a:latin typeface="Helvetica" pitchFamily="2" charset="0"/>
                  </a:endParaRPr>
                </a:p>
              </p:txBody>
            </p: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C2524F-1A08-3746-C495-86B12326BFE3}"/>
                  </a:ext>
                </a:extLst>
              </p:cNvPr>
              <p:cNvSpPr txBox="1"/>
              <p:nvPr/>
            </p:nvSpPr>
            <p:spPr>
              <a:xfrm>
                <a:off x="8801321" y="5722241"/>
                <a:ext cx="57740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latin typeface="Helvetica" pitchFamily="2" charset="0"/>
                  </a:rPr>
                  <a:t>….</a:t>
                </a:r>
                <a:endParaRPr lang="en-US" b="1" dirty="0">
                  <a:latin typeface="Helvetica" pitchFamily="2" charset="0"/>
                </a:endParaRPr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6D6C6E2-AAE7-F120-C38E-6A0D2ED60F80}"/>
                </a:ext>
              </a:extLst>
            </p:cNvPr>
            <p:cNvSpPr txBox="1"/>
            <p:nvPr/>
          </p:nvSpPr>
          <p:spPr>
            <a:xfrm>
              <a:off x="727533" y="5084836"/>
              <a:ext cx="718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solidFill>
                    <a:srgbClr val="7030A0"/>
                  </a:solidFill>
                  <a:latin typeface="Helvetica" pitchFamily="2" charset="0"/>
                </a:rPr>
                <a:t>FCF</a:t>
              </a:r>
              <a:r>
                <a:rPr lang="en-US" sz="1800" b="1" baseline="-25000" dirty="0">
                  <a:solidFill>
                    <a:srgbClr val="7030A0"/>
                  </a:solidFill>
                  <a:latin typeface="Helvetica" pitchFamily="2" charset="0"/>
                </a:rPr>
                <a:t>0</a:t>
              </a:r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3F3C961-DBC3-7952-1024-DF40EA1CD3B2}"/>
                  </a:ext>
                </a:extLst>
              </p:cNvPr>
              <p:cNvSpPr txBox="1"/>
              <p:nvPr/>
            </p:nvSpPr>
            <p:spPr>
              <a:xfrm>
                <a:off x="812299" y="3968733"/>
                <a:ext cx="10567399" cy="741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𝑯𝒐𝒓𝒊𝒛𝒐𝒏</m:t>
                          </m:r>
                          <m:r>
                            <a:rPr lang="en-US" sz="20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𝒗𝒂𝒍𝒖𝒆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0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𝑭𝑪𝑭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0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𝑾𝑨𝑪𝑪</m:t>
                              </m:r>
                              <m:r>
                                <a:rPr lang="en-US" sz="20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0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den>
                      </m:f>
                      <m:r>
                        <a:rPr lang="en-US" sz="20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𝑭𝑪𝑭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0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0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𝑾𝑨𝑪𝑪</m:t>
                              </m:r>
                              <m:r>
                                <a:rPr lang="en-US" sz="20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0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sz="20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𝑭𝑪𝑭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0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𝑾𝑨𝑪𝑪</m:t>
                              </m:r>
                              <m:r>
                                <a:rPr lang="en-US" sz="20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0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sz="20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en-US" sz="20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𝑭𝑪𝑭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000" b="1" dirty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Helvetica" pitchFamily="2" charset="0"/>
                                </a:rPr>
                                <m:t>∞ 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0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𝑾𝑨𝑪𝑪</m:t>
                              </m:r>
                              <m:r>
                                <a:rPr lang="en-US" sz="20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2000" b="1" dirty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Helvetica" pitchFamily="2" charset="0"/>
                                </a:rPr>
                                <m:t>∞ 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3F3C961-DBC3-7952-1024-DF40EA1CD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299" y="3968733"/>
                <a:ext cx="10567399" cy="741100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C453456-D9CE-1712-742C-AEE90A65E02E}"/>
                  </a:ext>
                </a:extLst>
              </p:cNvPr>
              <p:cNvSpPr txBox="1"/>
              <p:nvPr/>
            </p:nvSpPr>
            <p:spPr>
              <a:xfrm>
                <a:off x="2464084" y="4942758"/>
                <a:ext cx="7263828" cy="907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𝑯𝒐𝒓𝒊𝒛𝒐𝒏</m:t>
                          </m:r>
                          <m:r>
                            <a:rPr lang="en-US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𝒗𝒂𝒍𝒖𝒆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𝑭𝑪𝑭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num>
                        <m:den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𝑾𝑨𝑪𝑪</m:t>
                          </m:r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𝑭𝑪𝑭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r>
                            <a:rPr lang="en-US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𝑾𝑨𝑪𝑪</m:t>
                          </m:r>
                          <m:r>
                            <a:rPr lang="en-US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C453456-D9CE-1712-742C-AEE90A65E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084" y="4942758"/>
                <a:ext cx="7263828" cy="907621"/>
              </a:xfrm>
              <a:prstGeom prst="rect">
                <a:avLst/>
              </a:prstGeom>
              <a:blipFill>
                <a:blip r:embed="rId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BD7F907-214A-8BA0-E26B-8401449F56ED}"/>
                  </a:ext>
                </a:extLst>
              </p:cNvPr>
              <p:cNvSpPr txBox="1"/>
              <p:nvPr/>
            </p:nvSpPr>
            <p:spPr>
              <a:xfrm>
                <a:off x="2227114" y="6112233"/>
                <a:ext cx="78223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𝑯𝒐𝒓𝒊𝒛𝒐𝒏</m:t>
                          </m:r>
                          <m:r>
                            <a:rPr lang="en-US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𝒗𝒂𝒍𝒖𝒆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𝑴𝑽</m:t>
                      </m:r>
                      <m:r>
                        <a:rPr lang="en-US" sz="24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𝒐𝒇</m:t>
                      </m:r>
                      <m:r>
                        <a:rPr lang="en-US" sz="24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𝒕𝒉𝒆</m:t>
                      </m:r>
                      <m:r>
                        <a:rPr lang="en-US" sz="24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𝒄𝒐𝒎𝒑𝒂𝒏𝒚</m:t>
                      </m:r>
                      <m:r>
                        <a:rPr lang="en-US" sz="24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  <m:r>
                        <a:rPr lang="en-US" sz="24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24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𝒐𝒑𝒆𝒓𝒂𝒕𝒊𝒐𝒏𝒔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BD7F907-214A-8BA0-E26B-8401449F5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7114" y="6112233"/>
                <a:ext cx="7822334" cy="461665"/>
              </a:xfrm>
              <a:prstGeom prst="rect">
                <a:avLst/>
              </a:prstGeom>
              <a:blipFill>
                <a:blip r:embed="rId4"/>
                <a:stretch>
                  <a:fillRect t="-10811" r="-1135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4568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50F8B-8D91-75CF-642B-A3F1FE32C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8ED33BA-5617-901C-8DAE-589186CA4566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7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617564-6B27-BE2D-DD93-BD9E74266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B3. Market Value of Company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B57F11-5DA8-6EEA-E42E-9DF88B1A90DF}"/>
              </a:ext>
            </a:extLst>
          </p:cNvPr>
          <p:cNvSpPr txBox="1"/>
          <p:nvPr/>
        </p:nvSpPr>
        <p:spPr>
          <a:xfrm>
            <a:off x="152400" y="1450510"/>
            <a:ext cx="1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b="1" dirty="0">
                <a:latin typeface="Helvetica" pitchFamily="2" charset="0"/>
              </a:rPr>
              <a:t>Step-by-Step Valuation Process: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4B2858-7F9C-FADB-6DC4-773C11D5DA68}"/>
                  </a:ext>
                </a:extLst>
              </p:cNvPr>
              <p:cNvSpPr txBox="1"/>
              <p:nvPr/>
            </p:nvSpPr>
            <p:spPr>
              <a:xfrm>
                <a:off x="1408273" y="6175713"/>
                <a:ext cx="9430712" cy="5195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 smtClean="0">
                        <a:latin typeface="Helvetica" pitchFamily="2" charset="0"/>
                      </a:rPr>
                      <m:t>Intrinsic</m:t>
                    </m:r>
                    <m:r>
                      <m:rPr>
                        <m:nor/>
                      </m:rPr>
                      <a:rPr lang="en-US" sz="2000" b="1" dirty="0" smtClean="0">
                        <a:latin typeface="Helvetica" pitchFamily="2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1" dirty="0" smtClean="0">
                        <a:latin typeface="Helvetica" pitchFamily="2" charset="0"/>
                      </a:rPr>
                      <m:t>Value</m:t>
                    </m:r>
                    <m:r>
                      <m:rPr>
                        <m:nor/>
                      </m:rPr>
                      <a:rPr lang="en-US" sz="2000" b="1" dirty="0" smtClean="0">
                        <a:latin typeface="Helvetica" pitchFamily="2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1" dirty="0" smtClean="0">
                        <a:latin typeface="Helvetica" pitchFamily="2" charset="0"/>
                      </a:rPr>
                      <m:t>per</m:t>
                    </m:r>
                    <m:r>
                      <m:rPr>
                        <m:nor/>
                      </m:rPr>
                      <a:rPr lang="en-US" sz="2000" b="1" dirty="0" smtClean="0">
                        <a:latin typeface="Helvetica" pitchFamily="2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1" dirty="0" smtClean="0">
                        <a:latin typeface="Helvetica" pitchFamily="2" charset="0"/>
                      </a:rPr>
                      <m:t>Share</m:t>
                    </m:r>
                    <m:r>
                      <m:rPr>
                        <m:nor/>
                      </m:rPr>
                      <a:rPr lang="en-US" sz="2000" b="1" i="0" dirty="0" smtClean="0">
                        <a:latin typeface="Helvetica" pitchFamily="2" charset="0"/>
                      </a:rPr>
                      <m:t> =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b="1" dirty="0">
                            <a:latin typeface="Helvetica" pitchFamily="2" charset="0"/>
                          </a:rPr>
                          <m:t>Market</m:t>
                        </m:r>
                        <m:r>
                          <m:rPr>
                            <m:nor/>
                          </m:rPr>
                          <a:rPr lang="en-US" sz="2000" b="1" dirty="0">
                            <a:latin typeface="Helvetica" pitchFamily="2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000" b="1" dirty="0">
                            <a:latin typeface="Helvetica" pitchFamily="2" charset="0"/>
                          </a:rPr>
                          <m:t>Value</m:t>
                        </m:r>
                        <m:r>
                          <m:rPr>
                            <m:nor/>
                          </m:rPr>
                          <a:rPr lang="en-US" sz="2000" b="1" dirty="0">
                            <a:latin typeface="Helvetica" pitchFamily="2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000" b="1" dirty="0">
                            <a:latin typeface="Helvetica" pitchFamily="2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sz="2000" b="1" dirty="0">
                            <a:latin typeface="Helvetica" pitchFamily="2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000" b="1" dirty="0">
                            <a:latin typeface="Helvetica" pitchFamily="2" charset="0"/>
                          </a:rPr>
                          <m:t>Company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m:rPr>
                            <m:nor/>
                          </m:rPr>
                          <a:rPr lang="en-US" sz="2000" b="1" i="0" dirty="0" smtClean="0">
                            <a:latin typeface="Helvetica" pitchFamily="2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000" b="1" dirty="0">
                            <a:latin typeface="Helvetica" pitchFamily="2" charset="0"/>
                          </a:rPr>
                          <m:t>debt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z="2000" b="1" i="0" dirty="0" smtClean="0">
                            <a:latin typeface="Helvetica" pitchFamily="2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000" b="1" dirty="0">
                            <a:latin typeface="Helvetica" pitchFamily="2" charset="0"/>
                          </a:rPr>
                          <m:t>preferred</m:t>
                        </m:r>
                        <m:r>
                          <m:rPr>
                            <m:nor/>
                          </m:rPr>
                          <a:rPr lang="en-US" sz="2000" b="1" dirty="0">
                            <a:latin typeface="Helvetica" pitchFamily="2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000" b="1" dirty="0">
                            <a:latin typeface="Helvetica" pitchFamily="2" charset="0"/>
                          </a:rPr>
                          <m:t>stock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 b="1" i="0" dirty="0" smtClean="0">
                            <a:latin typeface="Helvetica" pitchFamily="2" charset="0"/>
                          </a:rPr>
                          <m:t>#</m:t>
                        </m:r>
                        <m:r>
                          <m:rPr>
                            <m:nor/>
                          </m:rPr>
                          <a:rPr lang="en-US" sz="2000" b="1" dirty="0">
                            <a:latin typeface="Helvetica" pitchFamily="2" charset="0"/>
                          </a:rPr>
                          <m:t>shares</m:t>
                        </m:r>
                      </m:den>
                    </m:f>
                  </m:oMath>
                </a14:m>
                <a:r>
                  <a:rPr lang="en-US" sz="2000" b="1" dirty="0">
                    <a:latin typeface="Helvetica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4B2858-7F9C-FADB-6DC4-773C11D5D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273" y="6175713"/>
                <a:ext cx="9430712" cy="519566"/>
              </a:xfrm>
              <a:prstGeom prst="rect">
                <a:avLst/>
              </a:prstGeom>
              <a:blipFill>
                <a:blip r:embed="rId2"/>
                <a:stretch>
                  <a:fillRect l="-941" t="-7143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54EF7F5-5BB6-74C0-68FF-AAB8EA87F7A5}"/>
              </a:ext>
            </a:extLst>
          </p:cNvPr>
          <p:cNvSpPr txBox="1"/>
          <p:nvPr/>
        </p:nvSpPr>
        <p:spPr>
          <a:xfrm>
            <a:off x="1408273" y="5495680"/>
            <a:ext cx="7053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>
                <a:solidFill>
                  <a:prstClr val="black"/>
                </a:solidFill>
                <a:latin typeface="Helvetica" pitchFamily="2" charset="0"/>
              </a:rPr>
              <a:t> </a:t>
            </a:r>
            <a:endParaRPr lang="en-US" sz="2000" b="1" dirty="0">
              <a:latin typeface="Helvetic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284D4F-84D3-7F3E-4D05-7D80430E6E74}"/>
                  </a:ext>
                </a:extLst>
              </p:cNvPr>
              <p:cNvSpPr txBox="1"/>
              <p:nvPr/>
            </p:nvSpPr>
            <p:spPr>
              <a:xfrm>
                <a:off x="381000" y="5605721"/>
                <a:ext cx="115824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 smtClean="0">
                        <a:latin typeface="Helvetica" pitchFamily="2" charset="0"/>
                      </a:rPr>
                      <m:t>Market</m:t>
                    </m:r>
                    <m:r>
                      <m:rPr>
                        <m:nor/>
                      </m:rPr>
                      <a:rPr lang="en-US" sz="2000" b="1" dirty="0" smtClean="0">
                        <a:latin typeface="Helvetica" pitchFamily="2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1" dirty="0" smtClean="0">
                        <a:latin typeface="Helvetica" pitchFamily="2" charset="0"/>
                      </a:rPr>
                      <m:t>Value</m:t>
                    </m:r>
                    <m:r>
                      <m:rPr>
                        <m:nor/>
                      </m:rPr>
                      <a:rPr lang="en-US" sz="2000" b="1" dirty="0" smtClean="0">
                        <a:latin typeface="Helvetica" pitchFamily="2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1" dirty="0" smtClean="0">
                        <a:latin typeface="Helvetica" pitchFamily="2" charset="0"/>
                      </a:rPr>
                      <m:t>of</m:t>
                    </m:r>
                    <m:r>
                      <m:rPr>
                        <m:nor/>
                      </m:rPr>
                      <a:rPr lang="en-US" sz="2000" b="1" dirty="0" smtClean="0">
                        <a:latin typeface="Helvetica" pitchFamily="2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1" dirty="0" smtClean="0">
                        <a:latin typeface="Helvetica" pitchFamily="2" charset="0"/>
                      </a:rPr>
                      <m:t>Company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=</a:t>
                </a:r>
                <a:r>
                  <a:rPr lang="en-US" sz="2000" b="1" dirty="0"/>
                  <a:t> MV of company’s operations + MV of company’s non-operating assets </a:t>
                </a:r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284D4F-84D3-7F3E-4D05-7D80430E6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605721"/>
                <a:ext cx="11582400" cy="400110"/>
              </a:xfrm>
              <a:prstGeom prst="rect">
                <a:avLst/>
              </a:prstGeom>
              <a:blipFill>
                <a:blip r:embed="rId3"/>
                <a:stretch>
                  <a:fillRect l="-110" t="-6250" r="-329" b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7830ACE-C5AE-892D-B266-5A27E5FADEA9}"/>
              </a:ext>
            </a:extLst>
          </p:cNvPr>
          <p:cNvSpPr txBox="1"/>
          <p:nvPr/>
        </p:nvSpPr>
        <p:spPr>
          <a:xfrm>
            <a:off x="228600" y="1982681"/>
            <a:ext cx="117347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1460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Forecast Free Cash Flows (FCF) for the next 5–10 years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solidFill>
                  <a:srgbClr val="C00000"/>
                </a:solidFill>
                <a:latin typeface="Helvetica" pitchFamily="2" charset="0"/>
                <a:cs typeface="Times New Roman" panose="02020603050405020304" pitchFamily="18" charset="0"/>
              </a:rPr>
              <a:t>FCF = EBIT(1−T) + Dep &amp; Amort − (Capital Expenditures + </a:t>
            </a:r>
            <a:r>
              <a:rPr lang="el-GR" sz="2200">
                <a:solidFill>
                  <a:srgbClr val="C00000"/>
                </a:solidFill>
                <a:latin typeface="Helvetica" pitchFamily="2" charset="0"/>
                <a:cs typeface="Times New Roman" panose="02020603050405020304" pitchFamily="18" charset="0"/>
              </a:rPr>
              <a:t>Δ</a:t>
            </a:r>
            <a:r>
              <a:rPr lang="en-US" sz="2200">
                <a:solidFill>
                  <a:srgbClr val="C00000"/>
                </a:solidFill>
                <a:latin typeface="Helvetica" pitchFamily="2" charset="0"/>
                <a:cs typeface="Times New Roman" panose="02020603050405020304" pitchFamily="18" charset="0"/>
              </a:rPr>
              <a:t>Net </a:t>
            </a:r>
            <a:r>
              <a:rPr lang="en-US" sz="2200" dirty="0">
                <a:solidFill>
                  <a:srgbClr val="C00000"/>
                </a:solidFill>
                <a:latin typeface="Helvetica" pitchFamily="2" charset="0"/>
                <a:cs typeface="Times New Roman" panose="02020603050405020304" pitchFamily="18" charset="0"/>
              </a:rPr>
              <a:t>Operating Working Capital) </a:t>
            </a:r>
            <a:endParaRPr lang="en-US" sz="2200" dirty="0">
              <a:latin typeface="Helvetic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B1D4FE-4174-5398-948A-951E97E46BFA}"/>
              </a:ext>
            </a:extLst>
          </p:cNvPr>
          <p:cNvSpPr txBox="1"/>
          <p:nvPr/>
        </p:nvSpPr>
        <p:spPr>
          <a:xfrm>
            <a:off x="228599" y="3015046"/>
            <a:ext cx="117347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1460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Discount each FCF back to today using the WACC (Weighted Average Cost of Capital)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851CBF-C685-A75B-7B58-E7387409A919}"/>
                  </a:ext>
                </a:extLst>
              </p:cNvPr>
              <p:cNvSpPr txBox="1"/>
              <p:nvPr/>
            </p:nvSpPr>
            <p:spPr>
              <a:xfrm>
                <a:off x="228599" y="3612827"/>
                <a:ext cx="11734800" cy="1294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51460" indent="-25146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Helvetica" pitchFamily="2" charset="0"/>
                  </a:rPr>
                  <a:t>Estimate Horizon Value or MV of the company’s operations at the end of the forecast using: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200" b="1" dirty="0">
                              <a:latin typeface="Cambria Math" panose="02040503050406030204" pitchFamily="18" charset="0"/>
                            </a:rPr>
                            <m:t>Horizon</m:t>
                          </m:r>
                          <m:r>
                            <m:rPr>
                              <m:nor/>
                            </m:rPr>
                            <a:rPr lang="en-US" sz="2200" b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200" b="1" dirty="0">
                              <a:latin typeface="Cambria Math" panose="02040503050406030204" pitchFamily="18" charset="0"/>
                            </a:rPr>
                            <m:t>value</m:t>
                          </m:r>
                        </m:e>
                        <m:sub>
                          <m:r>
                            <a:rPr lang="en-US" sz="2200" b="1" i="1" dirty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200" b="1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200" b="1" dirty="0">
                          <a:latin typeface="Helvetica" pitchFamily="2" charset="0"/>
                        </a:rPr>
                        <m:t>=</m:t>
                      </m:r>
                      <m:f>
                        <m:fPr>
                          <m:ctrlPr>
                            <a:rPr lang="en-US" sz="2200" b="1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2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FCF</m:t>
                          </m:r>
                          <m:r>
                            <m:rPr>
                              <m:nor/>
                            </m:rPr>
                            <a:rPr lang="en-US" sz="2200" b="1" baseline="-25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en-US" sz="22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(1+</m:t>
                          </m:r>
                          <m:r>
                            <m:rPr>
                              <m:nor/>
                            </m:rPr>
                            <a:rPr lang="en-US" sz="22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lang="en-US" sz="22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200" b="1" dirty="0">
                              <a:latin typeface="Cambria Math" panose="02040503050406030204" pitchFamily="18" charset="0"/>
                            </a:rPr>
                            <m:t>WACC</m:t>
                          </m:r>
                          <m:r>
                            <m:rPr>
                              <m:nor/>
                            </m:rPr>
                            <a:rPr lang="en-US" sz="2200" b="1" dirty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m:rPr>
                              <m:nor/>
                            </m:rPr>
                            <a:rPr lang="en-US" sz="2200" b="1" dirty="0">
                              <a:latin typeface="Cambria Math" panose="02040503050406030204" pitchFamily="18" charset="0"/>
                            </a:rPr>
                            <m:t>g</m:t>
                          </m:r>
                        </m:den>
                      </m:f>
                      <m:r>
                        <m:rPr>
                          <m:nor/>
                        </m:rPr>
                        <a:rPr lang="en-US" sz="2200" b="1" dirty="0"/>
                        <m:t> =  </m:t>
                      </m:r>
                      <m:f>
                        <m:fPr>
                          <m:ctrlPr>
                            <a:rPr lang="en-US" sz="2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200" b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FCF</m:t>
                          </m:r>
                          <m:r>
                            <m:rPr>
                              <m:nor/>
                            </m:rPr>
                            <a:rPr lang="en-US" sz="2200" b="1" baseline="-25000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US" sz="2200" b="1" dirty="0">
                              <a:solidFill>
                                <a:prstClr val="black"/>
                              </a:solidFill>
                              <a:latin typeface="Helvetica" pitchFamily="2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200" b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WACC</m:t>
                          </m:r>
                          <m:r>
                            <m:rPr>
                              <m:nor/>
                            </m:rPr>
                            <a:rPr lang="en-US" sz="2200" b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m:rPr>
                              <m:nor/>
                            </m:rPr>
                            <a:rPr lang="en-US" sz="2200" b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den>
                      </m:f>
                    </m:oMath>
                  </m:oMathPara>
                </a14:m>
                <a:endParaRPr lang="en-US" sz="2200" dirty="0"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851CBF-C685-A75B-7B58-E7387409A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99" y="3612827"/>
                <a:ext cx="11734800" cy="1294650"/>
              </a:xfrm>
              <a:prstGeom prst="rect">
                <a:avLst/>
              </a:prstGeom>
              <a:blipFill>
                <a:blip r:embed="rId4"/>
                <a:stretch>
                  <a:fillRect l="-541" t="-2913" r="-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1BBDC48-5BDA-9F93-542F-D2087FAEAA1B}"/>
              </a:ext>
            </a:extLst>
          </p:cNvPr>
          <p:cNvSpPr txBox="1"/>
          <p:nvPr/>
        </p:nvSpPr>
        <p:spPr>
          <a:xfrm>
            <a:off x="228599" y="5007171"/>
            <a:ext cx="117347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Add Nonoperating Assets (if any), like excess cash or minority investments</a:t>
            </a:r>
          </a:p>
        </p:txBody>
      </p:sp>
    </p:spTree>
    <p:extLst>
      <p:ext uri="{BB962C8B-B14F-4D97-AF65-F5344CB8AC3E}">
        <p14:creationId xmlns:p14="http://schemas.microsoft.com/office/powerpoint/2010/main" val="3323325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4" grpId="0"/>
      <p:bldP spid="8" grpId="0"/>
      <p:bldP spid="10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CB2A4-9081-04F6-2A7A-BED978C83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C5A3D53-4388-EE68-66E5-15ED7573F9B9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7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6C87BD-A683-13E5-59AE-C07B20D3D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Question-5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6258E2-5ACB-0E08-3681-E6427FECDC16}"/>
              </a:ext>
            </a:extLst>
          </p:cNvPr>
          <p:cNvSpPr txBox="1"/>
          <p:nvPr/>
        </p:nvSpPr>
        <p:spPr>
          <a:xfrm>
            <a:off x="1408273" y="5495680"/>
            <a:ext cx="7053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>
                <a:solidFill>
                  <a:prstClr val="black"/>
                </a:solidFill>
                <a:latin typeface="Helvetica" pitchFamily="2" charset="0"/>
              </a:rPr>
              <a:t> </a:t>
            </a:r>
            <a:endParaRPr lang="en-US" sz="2000" b="1" dirty="0">
              <a:latin typeface="Helvetic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3DB4B9-3B47-FC2C-4F5A-363D02D9923B}"/>
              </a:ext>
            </a:extLst>
          </p:cNvPr>
          <p:cNvSpPr txBox="1"/>
          <p:nvPr/>
        </p:nvSpPr>
        <p:spPr>
          <a:xfrm>
            <a:off x="256477" y="1550869"/>
            <a:ext cx="1175338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0" i="0" dirty="0">
                <a:effectLst/>
                <a:latin typeface="Helvetica" pitchFamily="2" charset="0"/>
              </a:rPr>
              <a:t>Suppose Boyson Corporation's projected free cash flow for next year is FCF</a:t>
            </a:r>
            <a:r>
              <a:rPr lang="en-US" sz="2300" b="0" i="0" baseline="-25000" dirty="0">
                <a:effectLst/>
                <a:latin typeface="Helvetica" pitchFamily="2" charset="0"/>
              </a:rPr>
              <a:t>1</a:t>
            </a:r>
            <a:r>
              <a:rPr lang="en-US" sz="2300" b="0" i="0" dirty="0">
                <a:effectLst/>
                <a:latin typeface="Helvetica" pitchFamily="2" charset="0"/>
              </a:rPr>
              <a:t> = $200,000, and FCF is expected to grow at a constant rate of 8%. Assume the firm has zero non-operating assets. If the company's weighted average cost of capital is 11.5%, then what is the firm's total corporate value?</a:t>
            </a:r>
            <a:endParaRPr lang="en-US" sz="2300" dirty="0">
              <a:latin typeface="Helvetic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8CCCEB6-05C4-CD5D-EFDF-A60CD1180B18}"/>
                  </a:ext>
                </a:extLst>
              </p:cNvPr>
              <p:cNvSpPr txBox="1"/>
              <p:nvPr/>
            </p:nvSpPr>
            <p:spPr>
              <a:xfrm>
                <a:off x="2216347" y="3759043"/>
                <a:ext cx="7759304" cy="7717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𝑴𝑽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𝒐𝒇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𝒕𝒉𝒆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𝒄𝒐𝒎𝒑𝒂𝒏𝒚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𝒐𝒑𝒆𝒓𝒂𝒕𝒊𝒐𝒏𝒔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𝑭𝑪𝑭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0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r>
                                <a:rPr lang="en-US" sz="2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0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num>
                        <m:den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𝑾𝑨𝑪𝑪</m:t>
                          </m:r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den>
                      </m:f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𝑭𝑪𝑭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𝑾𝑨𝑪𝑪</m:t>
                          </m:r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den>
                      </m:f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8CCCEB6-05C4-CD5D-EFDF-A60CD1180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347" y="3759043"/>
                <a:ext cx="7759304" cy="771750"/>
              </a:xfrm>
              <a:prstGeom prst="rect">
                <a:avLst/>
              </a:prstGeom>
              <a:blipFill>
                <a:blip r:embed="rId2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8BF100-6EC1-EF51-22F5-AAB7B5A34823}"/>
                  </a:ext>
                </a:extLst>
              </p:cNvPr>
              <p:cNvSpPr txBox="1"/>
              <p:nvPr/>
            </p:nvSpPr>
            <p:spPr>
              <a:xfrm>
                <a:off x="2055790" y="4714869"/>
                <a:ext cx="8080417" cy="7010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𝑴𝑽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𝒐𝒇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𝒕𝒉𝒆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𝒄𝒐𝒎𝒑𝒂𝒏𝒚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𝒐𝒑𝒆𝒓𝒂𝒕𝒊𝒐𝒏𝒔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$</m:t>
                          </m:r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𝟐𝟎𝟎</m:t>
                          </m:r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𝟎𝟎𝟎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%−</m:t>
                          </m:r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%</m:t>
                          </m:r>
                        </m:den>
                      </m:f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𝟕𝟏𝟒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𝟐𝟖𝟓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8BF100-6EC1-EF51-22F5-AAB7B5A34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790" y="4714869"/>
                <a:ext cx="8080417" cy="701089"/>
              </a:xfrm>
              <a:prstGeom prst="rect">
                <a:avLst/>
              </a:prstGeom>
              <a:blipFill>
                <a:blip r:embed="rId3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D12A73-8952-DBD2-97FB-333F4EC409AD}"/>
                  </a:ext>
                </a:extLst>
              </p:cNvPr>
              <p:cNvSpPr txBox="1"/>
              <p:nvPr/>
            </p:nvSpPr>
            <p:spPr>
              <a:xfrm>
                <a:off x="107793" y="3098957"/>
                <a:ext cx="1197641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200" b="1" dirty="0" smtClean="0">
                        <a:solidFill>
                          <a:srgbClr val="C00000"/>
                        </a:solidFill>
                        <a:latin typeface="Helvetica" pitchFamily="2" charset="0"/>
                      </a:rPr>
                      <m:t>MV</m:t>
                    </m:r>
                    <m:r>
                      <m:rPr>
                        <m:nor/>
                      </m:rPr>
                      <a:rPr lang="en-US" sz="2200" b="1" dirty="0" smtClean="0">
                        <a:solidFill>
                          <a:srgbClr val="C00000"/>
                        </a:solidFill>
                        <a:latin typeface="Helvetica" pitchFamily="2" charset="0"/>
                      </a:rPr>
                      <m:t> </m:t>
                    </m:r>
                    <m:r>
                      <m:rPr>
                        <m:nor/>
                      </m:rPr>
                      <a:rPr lang="en-US" sz="2200" b="1" dirty="0" smtClean="0">
                        <a:solidFill>
                          <a:srgbClr val="C00000"/>
                        </a:solidFill>
                        <a:latin typeface="Helvetica" pitchFamily="2" charset="0"/>
                      </a:rPr>
                      <m:t>of</m:t>
                    </m:r>
                    <m:r>
                      <m:rPr>
                        <m:nor/>
                      </m:rPr>
                      <a:rPr lang="en-US" sz="2200" b="1" dirty="0" smtClean="0">
                        <a:solidFill>
                          <a:srgbClr val="C00000"/>
                        </a:solidFill>
                        <a:latin typeface="Helvetica" pitchFamily="2" charset="0"/>
                      </a:rPr>
                      <m:t> </m:t>
                    </m:r>
                    <m:r>
                      <m:rPr>
                        <m:nor/>
                      </m:rPr>
                      <a:rPr lang="en-US" sz="2200" b="1" dirty="0" smtClean="0">
                        <a:solidFill>
                          <a:srgbClr val="C00000"/>
                        </a:solidFill>
                        <a:latin typeface="Helvetica" pitchFamily="2" charset="0"/>
                      </a:rPr>
                      <m:t>Company</m:t>
                    </m:r>
                    <m:r>
                      <a:rPr lang="en-US" sz="22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solidFill>
                      <a:srgbClr val="C00000"/>
                    </a:solidFill>
                    <a:latin typeface="Helvetica" pitchFamily="2" charset="0"/>
                  </a:rPr>
                  <a:t>=</a:t>
                </a:r>
                <a:r>
                  <a:rPr lang="en-US" sz="2200" b="1" dirty="0">
                    <a:solidFill>
                      <a:srgbClr val="C00000"/>
                    </a:solidFill>
                    <a:latin typeface="Helvetica" pitchFamily="2" charset="0"/>
                  </a:rPr>
                  <a:t> MV of company’s operations + MV of company’s non-operating assets</a:t>
                </a:r>
                <a:endParaRPr lang="en-US" sz="2200" dirty="0">
                  <a:solidFill>
                    <a:srgbClr val="C00000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D12A73-8952-DBD2-97FB-333F4EC40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93" y="3098957"/>
                <a:ext cx="11976410" cy="430887"/>
              </a:xfrm>
              <a:prstGeom prst="rect">
                <a:avLst/>
              </a:prstGeom>
              <a:blipFill>
                <a:blip r:embed="rId4"/>
                <a:stretch>
                  <a:fillRect l="-106" t="-8571" r="-212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5D0B532-A5E8-7A15-404B-212AFF549F9D}"/>
                  </a:ext>
                </a:extLst>
              </p:cNvPr>
              <p:cNvSpPr txBox="1"/>
              <p:nvPr/>
            </p:nvSpPr>
            <p:spPr>
              <a:xfrm>
                <a:off x="144965" y="5824439"/>
                <a:ext cx="119764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200" b="1" dirty="0" smtClean="0">
                          <a:solidFill>
                            <a:srgbClr val="C00000"/>
                          </a:solidFill>
                          <a:latin typeface="Helvetica" pitchFamily="2" charset="0"/>
                        </a:rPr>
                        <m:t>MV</m:t>
                      </m:r>
                      <m:r>
                        <m:rPr>
                          <m:nor/>
                        </m:rPr>
                        <a:rPr lang="en-US" sz="2200" b="1" dirty="0" smtClean="0">
                          <a:solidFill>
                            <a:srgbClr val="C00000"/>
                          </a:solidFill>
                          <a:latin typeface="Helvetica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200" b="1" dirty="0" smtClean="0">
                          <a:solidFill>
                            <a:srgbClr val="C00000"/>
                          </a:solidFill>
                          <a:latin typeface="Helvetica" pitchFamily="2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US" sz="2200" b="1" dirty="0" smtClean="0">
                          <a:solidFill>
                            <a:srgbClr val="C00000"/>
                          </a:solidFill>
                          <a:latin typeface="Helvetica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200" b="1" dirty="0" smtClean="0">
                          <a:solidFill>
                            <a:srgbClr val="C00000"/>
                          </a:solidFill>
                          <a:latin typeface="Helvetica" pitchFamily="2" charset="0"/>
                        </a:rPr>
                        <m:t>Company</m:t>
                      </m:r>
                      <m:r>
                        <a:rPr lang="en-US" sz="22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US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𝟕𝟏𝟒</m:t>
                      </m:r>
                      <m:r>
                        <a:rPr lang="en-US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𝟐𝟖𝟓</m:t>
                      </m:r>
                      <m:r>
                        <a:rPr lang="en-US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US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𝟕𝟏𝟒</m:t>
                      </m:r>
                      <m:r>
                        <a:rPr lang="en-US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𝟐𝟖𝟓</m:t>
                      </m:r>
                      <m:r>
                        <a:rPr lang="en-US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US" sz="2200" dirty="0">
                  <a:solidFill>
                    <a:srgbClr val="C00000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5D0B532-A5E8-7A15-404B-212AFF549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65" y="5824439"/>
                <a:ext cx="11976410" cy="461665"/>
              </a:xfrm>
              <a:prstGeom prst="rect">
                <a:avLst/>
              </a:prstGeom>
              <a:blipFill>
                <a:blip r:embed="rId5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57010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3FEF-08DC-BBD8-5515-373AD1F07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EC8F4E6-BA87-6095-1156-22AB7AF4E4DD}"/>
              </a:ext>
            </a:extLst>
          </p:cNvPr>
          <p:cNvSpPr txBox="1"/>
          <p:nvPr/>
        </p:nvSpPr>
        <p:spPr>
          <a:xfrm>
            <a:off x="1408273" y="5495680"/>
            <a:ext cx="7053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>
                <a:solidFill>
                  <a:prstClr val="black"/>
                </a:solidFill>
                <a:latin typeface="Helvetica" pitchFamily="2" charset="0"/>
              </a:rPr>
              <a:t> </a:t>
            </a:r>
            <a:endParaRPr lang="en-US" sz="2000" b="1" dirty="0">
              <a:latin typeface="Helvetic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926B46-5924-DE79-1E65-D4FAD59A0356}"/>
              </a:ext>
            </a:extLst>
          </p:cNvPr>
          <p:cNvSpPr txBox="1"/>
          <p:nvPr/>
        </p:nvSpPr>
        <p:spPr>
          <a:xfrm>
            <a:off x="219305" y="152271"/>
            <a:ext cx="1183516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300" b="0" i="0" dirty="0">
                <a:effectLst/>
                <a:latin typeface="Helvetica" pitchFamily="2" charset="0"/>
              </a:rPr>
              <a:t>XYZ Corporation is undergoing a restructuring, and its free cash flows are expected to vary considerably during the next few years. However, the FCF is expected to be $10 million in Year 5, and the FCF growth rate is expected to be a constant 5% beyond that point. The weighted average cost of capital is 12.0%. What is the horizon value at t = 5?</a:t>
            </a:r>
            <a:endParaRPr lang="en-US" sz="2300" dirty="0">
              <a:latin typeface="Helvetic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950BF5-1431-FBB2-B5BC-6A3AC8C9A13F}"/>
                  </a:ext>
                </a:extLst>
              </p:cNvPr>
              <p:cNvSpPr txBox="1"/>
              <p:nvPr/>
            </p:nvSpPr>
            <p:spPr>
              <a:xfrm>
                <a:off x="3289345" y="4939859"/>
                <a:ext cx="5687647" cy="7717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𝑯𝒐𝒓𝒊𝒛𝒐𝒏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𝒗𝒂𝒍𝒖𝒆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𝑭𝑪𝑭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num>
                        <m:den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𝑾𝑨𝑪𝑪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den>
                      </m:f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𝑭𝑪𝑭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b>
                          </m:sSub>
                        </m:num>
                        <m:den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𝑾𝑨𝑪𝑪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den>
                      </m:f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950BF5-1431-FBB2-B5BC-6A3AC8C9A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9345" y="4939859"/>
                <a:ext cx="5687647" cy="771750"/>
              </a:xfrm>
              <a:prstGeom prst="rect">
                <a:avLst/>
              </a:prstGeom>
              <a:blipFill>
                <a:blip r:embed="rId2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964A34C3-752B-3980-7BE6-B25F91E4954D}"/>
              </a:ext>
            </a:extLst>
          </p:cNvPr>
          <p:cNvGrpSpPr/>
          <p:nvPr/>
        </p:nvGrpSpPr>
        <p:grpSpPr>
          <a:xfrm>
            <a:off x="543364" y="2693493"/>
            <a:ext cx="11105270" cy="1119761"/>
            <a:chOff x="543364" y="1808992"/>
            <a:chExt cx="11105270" cy="111976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3028669-1045-66F1-436E-0BC728199F74}"/>
                </a:ext>
              </a:extLst>
            </p:cNvPr>
            <p:cNvGrpSpPr/>
            <p:nvPr/>
          </p:nvGrpSpPr>
          <p:grpSpPr>
            <a:xfrm>
              <a:off x="543364" y="1808992"/>
              <a:ext cx="11105270" cy="1119761"/>
              <a:chOff x="937526" y="5317274"/>
              <a:chExt cx="11105270" cy="1119761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675AB314-86E1-4EE4-8C0E-15C9E4385F36}"/>
                  </a:ext>
                </a:extLst>
              </p:cNvPr>
              <p:cNvGrpSpPr/>
              <p:nvPr/>
            </p:nvGrpSpPr>
            <p:grpSpPr>
              <a:xfrm>
                <a:off x="937526" y="5317274"/>
                <a:ext cx="11105270" cy="1119761"/>
                <a:chOff x="937526" y="5317274"/>
                <a:chExt cx="11105270" cy="1119761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F0B0B77C-4777-79F4-CA20-B7898463EF91}"/>
                    </a:ext>
                  </a:extLst>
                </p:cNvPr>
                <p:cNvGrpSpPr/>
                <p:nvPr/>
              </p:nvGrpSpPr>
              <p:grpSpPr>
                <a:xfrm>
                  <a:off x="937526" y="5592794"/>
                  <a:ext cx="11105270" cy="844241"/>
                  <a:chOff x="873086" y="5072061"/>
                  <a:chExt cx="11105270" cy="1214004"/>
                </a:xfrm>
                <a:noFill/>
              </p:grpSpPr>
              <p:grpSp>
                <p:nvGrpSpPr>
                  <p:cNvPr id="26" name="Group 25">
                    <a:extLst>
                      <a:ext uri="{FF2B5EF4-FFF2-40B4-BE49-F238E27FC236}">
                        <a16:creationId xmlns:a16="http://schemas.microsoft.com/office/drawing/2014/main" id="{F599EB71-7558-8BB8-00EC-0FCDDBF120BB}"/>
                      </a:ext>
                    </a:extLst>
                  </p:cNvPr>
                  <p:cNvGrpSpPr/>
                  <p:nvPr/>
                </p:nvGrpSpPr>
                <p:grpSpPr>
                  <a:xfrm>
                    <a:off x="1027135" y="5072061"/>
                    <a:ext cx="10951221" cy="457200"/>
                    <a:chOff x="1027135" y="5072061"/>
                    <a:chExt cx="10951221" cy="457200"/>
                  </a:xfrm>
                  <a:grpFill/>
                </p:grpSpPr>
                <p:cxnSp>
                  <p:nvCxnSpPr>
                    <p:cNvPr id="30" name="Straight Arrow Connector 29">
                      <a:extLst>
                        <a:ext uri="{FF2B5EF4-FFF2-40B4-BE49-F238E27FC236}">
                          <a16:creationId xmlns:a16="http://schemas.microsoft.com/office/drawing/2014/main" id="{F3F1E345-3303-B323-2473-8BD00AD56C2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7135" y="5285984"/>
                      <a:ext cx="10951221" cy="107496"/>
                    </a:xfrm>
                    <a:prstGeom prst="straightConnector1">
                      <a:avLst/>
                    </a:prstGeom>
                    <a:grpFill/>
                    <a:ln w="3810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" name="Straight Connector 30">
                      <a:extLst>
                        <a:ext uri="{FF2B5EF4-FFF2-40B4-BE49-F238E27FC236}">
                          <a16:creationId xmlns:a16="http://schemas.microsoft.com/office/drawing/2014/main" id="{6D2017CF-F34C-3FB0-CC03-B516520D0F6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7136" y="5072061"/>
                      <a:ext cx="0" cy="457200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" name="Straight Connector 31">
                      <a:extLst>
                        <a:ext uri="{FF2B5EF4-FFF2-40B4-BE49-F238E27FC236}">
                          <a16:creationId xmlns:a16="http://schemas.microsoft.com/office/drawing/2014/main" id="{07E99702-42E3-7884-99A9-6D1766EDDA1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494946" y="5072061"/>
                      <a:ext cx="0" cy="457200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CA4FF2B5-6E91-DEA0-2428-B6EB5FE966F6}"/>
                      </a:ext>
                    </a:extLst>
                  </p:cNvPr>
                  <p:cNvSpPr txBox="1"/>
                  <p:nvPr/>
                </p:nvSpPr>
                <p:spPr>
                  <a:xfrm>
                    <a:off x="873086" y="5713928"/>
                    <a:ext cx="298480" cy="486834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latin typeface="Helvetica" pitchFamily="2" charset="0"/>
                      </a:rPr>
                      <a:t>0</a:t>
                    </a:r>
                  </a:p>
                </p:txBody>
              </p:sp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60F965AC-B4F5-F8FF-028A-129430A47C33}"/>
                      </a:ext>
                    </a:extLst>
                  </p:cNvPr>
                  <p:cNvSpPr txBox="1"/>
                  <p:nvPr/>
                </p:nvSpPr>
                <p:spPr>
                  <a:xfrm>
                    <a:off x="11340897" y="5710714"/>
                    <a:ext cx="380232" cy="575351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b="1" dirty="0">
                        <a:latin typeface="Helvetica" pitchFamily="2" charset="0"/>
                      </a:rPr>
                      <a:t>∞</a:t>
                    </a:r>
                    <a:endParaRPr lang="en-US" sz="1600" b="1" dirty="0">
                      <a:latin typeface="Helvetica" pitchFamily="2" charset="0"/>
                    </a:endParaRPr>
                  </a:p>
                </p:txBody>
              </p:sp>
            </p:grp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95334D4-2988-D07E-CDE2-49AFC4714FDE}"/>
                    </a:ext>
                  </a:extLst>
                </p:cNvPr>
                <p:cNvSpPr txBox="1"/>
                <p:nvPr/>
              </p:nvSpPr>
              <p:spPr>
                <a:xfrm>
                  <a:off x="10220541" y="5317274"/>
                  <a:ext cx="57740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latin typeface="Helvetica" pitchFamily="2" charset="0"/>
                    </a:rPr>
                    <a:t>….</a:t>
                  </a:r>
                  <a:endParaRPr lang="en-US" b="1" dirty="0">
                    <a:latin typeface="Helvetica" pitchFamily="2" charset="0"/>
                  </a:endParaRPr>
                </a:p>
              </p:txBody>
            </p: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51C93CC-2513-B2AB-446D-22C1A812DCA3}"/>
                  </a:ext>
                </a:extLst>
              </p:cNvPr>
              <p:cNvSpPr txBox="1"/>
              <p:nvPr/>
            </p:nvSpPr>
            <p:spPr>
              <a:xfrm>
                <a:off x="10215863" y="5744457"/>
                <a:ext cx="577402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latin typeface="Helvetica" pitchFamily="2" charset="0"/>
                  </a:rPr>
                  <a:t>….</a:t>
                </a:r>
                <a:endParaRPr lang="en-US" b="1" dirty="0">
                  <a:latin typeface="Helvetica" pitchFamily="2" charset="0"/>
                </a:endParaRPr>
              </a:p>
            </p:txBody>
          </p: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C62FD8-333F-249F-19D3-A3E36762F65A}"/>
                </a:ext>
              </a:extLst>
            </p:cNvPr>
            <p:cNvCxnSpPr>
              <a:cxnSpLocks/>
            </p:cNvCxnSpPr>
            <p:nvPr/>
          </p:nvCxnSpPr>
          <p:spPr>
            <a:xfrm>
              <a:off x="5703077" y="2081695"/>
              <a:ext cx="0" cy="317945"/>
            </a:xfrm>
            <a:prstGeom prst="lin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D1E3629-6E21-C87A-5069-CC8DC605D413}"/>
                </a:ext>
              </a:extLst>
            </p:cNvPr>
            <p:cNvSpPr txBox="1"/>
            <p:nvPr/>
          </p:nvSpPr>
          <p:spPr>
            <a:xfrm>
              <a:off x="5549028" y="2528062"/>
              <a:ext cx="298480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Helvetica" pitchFamily="2" charset="0"/>
                </a:rPr>
                <a:t>5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2FCF623-372E-3DCF-384A-7ACBA242BDEF}"/>
                </a:ext>
              </a:extLst>
            </p:cNvPr>
            <p:cNvCxnSpPr>
              <a:cxnSpLocks/>
            </p:cNvCxnSpPr>
            <p:nvPr/>
          </p:nvCxnSpPr>
          <p:spPr>
            <a:xfrm>
              <a:off x="7801756" y="2070543"/>
              <a:ext cx="0" cy="317945"/>
            </a:xfrm>
            <a:prstGeom prst="lin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F07AF1E-9A6F-D8A3-D43A-9E259C7097DD}"/>
                </a:ext>
              </a:extLst>
            </p:cNvPr>
            <p:cNvCxnSpPr>
              <a:cxnSpLocks/>
            </p:cNvCxnSpPr>
            <p:nvPr/>
          </p:nvCxnSpPr>
          <p:spPr>
            <a:xfrm>
              <a:off x="9537789" y="2082638"/>
              <a:ext cx="0" cy="317945"/>
            </a:xfrm>
            <a:prstGeom prst="lin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7278E5D-AF48-63F1-C066-04348C6F0148}"/>
                </a:ext>
              </a:extLst>
            </p:cNvPr>
            <p:cNvSpPr txBox="1"/>
            <p:nvPr/>
          </p:nvSpPr>
          <p:spPr>
            <a:xfrm>
              <a:off x="7647707" y="2516911"/>
              <a:ext cx="298480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Helvetica" pitchFamily="2" charset="0"/>
                </a:rPr>
                <a:t>6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171382-83FF-BC83-E3E0-07FCAF438C29}"/>
                </a:ext>
              </a:extLst>
            </p:cNvPr>
            <p:cNvSpPr txBox="1"/>
            <p:nvPr/>
          </p:nvSpPr>
          <p:spPr>
            <a:xfrm>
              <a:off x="9383740" y="2539795"/>
              <a:ext cx="298480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Helvetica" pitchFamily="2" charset="0"/>
                </a:rPr>
                <a:t>7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1E34F555-ED77-B152-536E-25B5611286E7}"/>
              </a:ext>
            </a:extLst>
          </p:cNvPr>
          <p:cNvSpPr txBox="1"/>
          <p:nvPr/>
        </p:nvSpPr>
        <p:spPr>
          <a:xfrm>
            <a:off x="5046487" y="2479443"/>
            <a:ext cx="1303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10,000,000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4D0EFDB-07AD-2DAB-79CE-7A43933E6E1A}"/>
              </a:ext>
            </a:extLst>
          </p:cNvPr>
          <p:cNvSpPr txBox="1"/>
          <p:nvPr/>
        </p:nvSpPr>
        <p:spPr>
          <a:xfrm>
            <a:off x="7145166" y="2485476"/>
            <a:ext cx="1303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10,500,000</a:t>
            </a:r>
          </a:p>
        </p:txBody>
      </p:sp>
      <p:sp>
        <p:nvSpPr>
          <p:cNvPr id="39" name="Curved Down Arrow 38">
            <a:extLst>
              <a:ext uri="{FF2B5EF4-FFF2-40B4-BE49-F238E27FC236}">
                <a16:creationId xmlns:a16="http://schemas.microsoft.com/office/drawing/2014/main" id="{3A6A52A9-8970-B655-B613-FA34C7945DAF}"/>
              </a:ext>
            </a:extLst>
          </p:cNvPr>
          <p:cNvSpPr/>
          <p:nvPr/>
        </p:nvSpPr>
        <p:spPr>
          <a:xfrm>
            <a:off x="5929014" y="2188557"/>
            <a:ext cx="1718693" cy="330868"/>
          </a:xfrm>
          <a:prstGeom prst="curved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8E33966-2736-D355-3F11-2137FF1AA23A}"/>
                  </a:ext>
                </a:extLst>
              </p:cNvPr>
              <p:cNvSpPr txBox="1"/>
              <p:nvPr/>
            </p:nvSpPr>
            <p:spPr>
              <a:xfrm>
                <a:off x="6082082" y="1695822"/>
                <a:ext cx="12442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(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baseline="30000" dirty="0">
                    <a:solidFill>
                      <a:srgbClr val="C00000"/>
                    </a:solidFill>
                  </a:rPr>
                  <a:t>1</a:t>
                </a:r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8E33966-2736-D355-3F11-2137FF1AA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082" y="1695822"/>
                <a:ext cx="1244251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40BB270-216C-1D3F-9605-0F11D4B2E61F}"/>
                  </a:ext>
                </a:extLst>
              </p:cNvPr>
              <p:cNvSpPr txBox="1"/>
              <p:nvPr/>
            </p:nvSpPr>
            <p:spPr>
              <a:xfrm>
                <a:off x="3046142" y="3998597"/>
                <a:ext cx="6099716" cy="7717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𝑯𝒐𝒓𝒊𝒛𝒐𝒏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𝒗𝒂𝒍𝒖𝒆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𝑭𝑪𝑭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num>
                        <m:den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𝑾𝑨𝑪𝑪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den>
                      </m:f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𝑭𝑪𝑭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𝑾𝑨𝑪𝑪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40BB270-216C-1D3F-9605-0F11D4B2E6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142" y="3998597"/>
                <a:ext cx="6099716" cy="771750"/>
              </a:xfrm>
              <a:prstGeom prst="rect">
                <a:avLst/>
              </a:prstGeom>
              <a:blipFill>
                <a:blip r:embed="rId4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3C1C135-BBF5-062E-374F-9E57DC551EF1}"/>
                  </a:ext>
                </a:extLst>
              </p:cNvPr>
              <p:cNvSpPr txBox="1"/>
              <p:nvPr/>
            </p:nvSpPr>
            <p:spPr>
              <a:xfrm>
                <a:off x="3083310" y="5960240"/>
                <a:ext cx="6099716" cy="6888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𝑯𝒐𝒓𝒊𝒛𝒐𝒏</m:t>
                          </m:r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𝒗𝒂𝒍𝒖𝒆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𝟓𝟎𝟎</m:t>
                          </m:r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𝟎𝟎𝟎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%−</m:t>
                          </m:r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%</m:t>
                          </m:r>
                        </m:den>
                      </m:f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𝟏𝟓𝟎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𝟎𝟎𝟎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𝟎𝟎𝟎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3C1C135-BBF5-062E-374F-9E57DC551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3310" y="5960240"/>
                <a:ext cx="6099716" cy="688843"/>
              </a:xfrm>
              <a:prstGeom prst="rect">
                <a:avLst/>
              </a:prstGeom>
              <a:blipFill>
                <a:blip r:embed="rId5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7783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5" grpId="0"/>
      <p:bldP spid="36" grpId="0"/>
      <p:bldP spid="39" grpId="0" animBg="1"/>
      <p:bldP spid="40" grpId="0"/>
      <p:bldP spid="42" grpId="0"/>
      <p:bldP spid="4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7C735-237D-342A-4C8D-982C14149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1FEE61-7849-F572-3649-682357A5FB6A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7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4EFA62-79F1-F0D0-2016-5FCA37C53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C. Dividend Model vs. Corporate Valuation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AF7ACB-01D1-6ACD-765E-315204912154}"/>
              </a:ext>
            </a:extLst>
          </p:cNvPr>
          <p:cNvSpPr txBox="1"/>
          <p:nvPr/>
        </p:nvSpPr>
        <p:spPr>
          <a:xfrm>
            <a:off x="1408273" y="5495680"/>
            <a:ext cx="7053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>
                <a:solidFill>
                  <a:prstClr val="black"/>
                </a:solidFill>
                <a:latin typeface="Helvetica" pitchFamily="2" charset="0"/>
              </a:rPr>
              <a:t> </a:t>
            </a:r>
            <a:endParaRPr lang="en-US" sz="2000" b="1" dirty="0">
              <a:latin typeface="Helvetica" pitchFamily="2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86F1A4D-6500-352B-F071-ED8EAC8C1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039243"/>
              </p:ext>
            </p:extLst>
          </p:nvPr>
        </p:nvGraphicFramePr>
        <p:xfrm>
          <a:off x="412406" y="2133553"/>
          <a:ext cx="11497096" cy="3669904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575650">
                  <a:extLst>
                    <a:ext uri="{9D8B030D-6E8A-4147-A177-3AD203B41FA5}">
                      <a16:colId xmlns:a16="http://schemas.microsoft.com/office/drawing/2014/main" val="1273477175"/>
                    </a:ext>
                  </a:extLst>
                </a:gridCol>
                <a:gridCol w="4234324">
                  <a:extLst>
                    <a:ext uri="{9D8B030D-6E8A-4147-A177-3AD203B41FA5}">
                      <a16:colId xmlns:a16="http://schemas.microsoft.com/office/drawing/2014/main" val="3711039474"/>
                    </a:ext>
                  </a:extLst>
                </a:gridCol>
                <a:gridCol w="5687122">
                  <a:extLst>
                    <a:ext uri="{9D8B030D-6E8A-4147-A177-3AD203B41FA5}">
                      <a16:colId xmlns:a16="http://schemas.microsoft.com/office/drawing/2014/main" val="898656658"/>
                    </a:ext>
                  </a:extLst>
                </a:gridCol>
              </a:tblGrid>
              <a:tr h="917476">
                <a:tc>
                  <a:txBody>
                    <a:bodyPr/>
                    <a:lstStyle/>
                    <a:p>
                      <a:pPr algn="ctr" fontAlgn="b"/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Discounted Dividend Model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Corporate Valuation Model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510563"/>
                  </a:ext>
                </a:extLst>
              </a:tr>
              <a:tr h="9174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  <a:latin typeface="Helvetica" pitchFamily="2" charset="0"/>
                        </a:rPr>
                        <a:t>Best for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  <a:latin typeface="Helvetica" pitchFamily="2" charset="0"/>
                        </a:rPr>
                        <a:t>Mature, dividend-paying firms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  <a:latin typeface="Helvetica" pitchFamily="2" charset="0"/>
                        </a:rPr>
                        <a:t>All firms, especially non-dividend-paying or high-growth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036588"/>
                  </a:ext>
                </a:extLst>
              </a:tr>
              <a:tr h="9174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  <a:latin typeface="Helvetica" pitchFamily="2" charset="0"/>
                        </a:rPr>
                        <a:t>Focus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  <a:latin typeface="Helvetica" pitchFamily="2" charset="0"/>
                        </a:rPr>
                        <a:t>Forecasting dividends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  <a:latin typeface="Helvetica" pitchFamily="2" charset="0"/>
                        </a:rPr>
                        <a:t>Forecasting Free Cash Flows (FCFs)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221845"/>
                  </a:ext>
                </a:extLst>
              </a:tr>
              <a:tr h="9174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  <a:latin typeface="Helvetica" pitchFamily="2" charset="0"/>
                        </a:rPr>
                        <a:t>Output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  <a:latin typeface="Helvetica" pitchFamily="2" charset="0"/>
                        </a:rPr>
                        <a:t>Intrinsic value per share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  <a:latin typeface="Helvetica" pitchFamily="2" charset="0"/>
                        </a:rPr>
                        <a:t>Value of operations → Equity value → Per share value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213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83102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B509F-B846-DA95-FEE4-5579B0FE3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F1794CC-DF28-ED61-0484-3812EBC61EFD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7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861EA-7156-AA2A-DCAD-65F460ADF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" pitchFamily="2" charset="0"/>
              </a:rPr>
              <a:t>D. Preferred Stock: Hybrid Security</a:t>
            </a:r>
            <a:endParaRPr lang="en-US" sz="4000"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6303CE-4E26-B76F-17D7-5CF9162C15F7}"/>
              </a:ext>
            </a:extLst>
          </p:cNvPr>
          <p:cNvSpPr txBox="1"/>
          <p:nvPr/>
        </p:nvSpPr>
        <p:spPr>
          <a:xfrm>
            <a:off x="1408273" y="5495680"/>
            <a:ext cx="7053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>
                <a:solidFill>
                  <a:prstClr val="black"/>
                </a:solidFill>
                <a:latin typeface="Helvetica" pitchFamily="2" charset="0"/>
              </a:rPr>
              <a:t> </a:t>
            </a:r>
            <a:endParaRPr lang="en-US" sz="2000" b="1" dirty="0">
              <a:latin typeface="Helvetica" pitchFamily="2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B1D2EBA-D823-75BB-11BB-0136DF722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673845"/>
              </p:ext>
            </p:extLst>
          </p:nvPr>
        </p:nvGraphicFramePr>
        <p:xfrm>
          <a:off x="146984" y="2274578"/>
          <a:ext cx="11898030" cy="164592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5949015">
                  <a:extLst>
                    <a:ext uri="{9D8B030D-6E8A-4147-A177-3AD203B41FA5}">
                      <a16:colId xmlns:a16="http://schemas.microsoft.com/office/drawing/2014/main" val="1707427798"/>
                    </a:ext>
                  </a:extLst>
                </a:gridCol>
                <a:gridCol w="5949015">
                  <a:extLst>
                    <a:ext uri="{9D8B030D-6E8A-4147-A177-3AD203B41FA5}">
                      <a16:colId xmlns:a16="http://schemas.microsoft.com/office/drawing/2014/main" val="140120249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Helvetica" pitchFamily="2" charset="0"/>
                        </a:rPr>
                        <a:t>Bond-like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Helvetica" pitchFamily="2" charset="0"/>
                        </a:rPr>
                        <a:t>Stock-like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627471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Helvetica" pitchFamily="2" charset="0"/>
                        </a:rPr>
                        <a:t>Fixed dividend payments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Helvetica" pitchFamily="2" charset="0"/>
                        </a:rPr>
                        <a:t>Dividends can be omitted without bankruptcy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683337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2000">
                          <a:latin typeface="Helvetica" pitchFamily="2" charset="0"/>
                        </a:rPr>
                        <a:t>Par value and priority over common stock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Helvetica" pitchFamily="2" charset="0"/>
                        </a:rPr>
                        <a:t>Typically perpetual, no obligation to repay principal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889894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3">
                <a:extLst>
                  <a:ext uri="{FF2B5EF4-FFF2-40B4-BE49-F238E27FC236}">
                    <a16:creationId xmlns:a16="http://schemas.microsoft.com/office/drawing/2014/main" id="{08329B02-1638-CAC9-48F5-1DE0B8245A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477" y="4365338"/>
                <a:ext cx="11392157" cy="22606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tabLst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Helvetica" pitchFamily="2" charset="0"/>
                  </a:rPr>
                  <a:t>Valuation (Perpetuity):</a:t>
                </a: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pitchFamily="2" charset="0"/>
                </a:endParaRPr>
              </a:p>
              <a:p>
                <a:pPr eaLnBrk="0" fontAlgn="base" hangingPunc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1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𝐕𝐚𝐥𝐮𝐞</m:t>
                      </m:r>
                      <m:r>
                        <a:rPr lang="en-US" altLang="en-US" sz="2400" b="1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1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𝐨𝐟</m:t>
                      </m:r>
                      <m:r>
                        <a:rPr lang="en-US" altLang="en-US" sz="2400" b="1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1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𝐏𝐫𝐞𝐟𝐞𝐫𝐫𝐞𝐝</m:t>
                      </m:r>
                      <m:r>
                        <a:rPr lang="en-US" altLang="en-US" sz="2400" b="1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1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𝐒𝐭𝐨𝐜𝐤</m:t>
                      </m:r>
                      <m:r>
                        <a:rPr lang="en-US" altLang="en-US" sz="2400" b="1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en-US" sz="24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b="1" i="0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𝐃</m:t>
                              </m:r>
                            </m:e>
                            <m:sub>
                              <m:r>
                                <a:rPr lang="en-US" altLang="en-US" sz="2400" b="1" i="0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en-US" sz="24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b="1" i="0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e>
                            <m:sub>
                              <m:r>
                                <a:rPr lang="en-US" altLang="en-US" sz="2400" b="1" i="0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0" lang="en-US" altLang="en-US" sz="2400" b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pitchFamily="2" charset="0"/>
                </a:endParaRPr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Char char="•"/>
                  <a:tabLst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en-US" sz="20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Helvetica" pitchFamily="2" charset="0"/>
                  </a:rPr>
                  <a:t>: Annual Dividend</a:t>
                </a:r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Char char="•"/>
                  <a:tabLst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en-US" sz="20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2000" b="0" i="0" dirty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Helvetica" pitchFamily="2" charset="0"/>
                  </a:rPr>
                  <a:t>Required Return </a:t>
                </a:r>
              </a:p>
            </p:txBody>
          </p:sp>
        </mc:Choice>
        <mc:Fallback xmlns="">
          <p:sp>
            <p:nvSpPr>
              <p:cNvPr id="13" name="Rectangle 3">
                <a:extLst>
                  <a:ext uri="{FF2B5EF4-FFF2-40B4-BE49-F238E27FC236}">
                    <a16:creationId xmlns:a16="http://schemas.microsoft.com/office/drawing/2014/main" id="{08329B02-1638-CAC9-48F5-1DE0B8245A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477" y="4365338"/>
                <a:ext cx="11392157" cy="2260683"/>
              </a:xfrm>
              <a:prstGeom prst="rect">
                <a:avLst/>
              </a:prstGeom>
              <a:blipFill>
                <a:blip r:embed="rId2"/>
                <a:stretch>
                  <a:fillRect l="-557" t="-1117" b="-391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38DC89E-D2D1-B207-E5B2-F4CA720BC419}"/>
              </a:ext>
            </a:extLst>
          </p:cNvPr>
          <p:cNvSpPr txBox="1"/>
          <p:nvPr/>
        </p:nvSpPr>
        <p:spPr>
          <a:xfrm>
            <a:off x="256477" y="1505531"/>
            <a:ext cx="98700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</a:rPr>
              <a:t>Hybrid Nature: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</a:rPr>
              <a:t> Combines characteristics of bonds and common stock.</a:t>
            </a:r>
          </a:p>
        </p:txBody>
      </p:sp>
    </p:spTree>
    <p:extLst>
      <p:ext uri="{BB962C8B-B14F-4D97-AF65-F5344CB8AC3E}">
        <p14:creationId xmlns:p14="http://schemas.microsoft.com/office/powerpoint/2010/main" val="420023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A7E60-3343-793A-0380-C7D12E459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EF614C1-266A-E0EA-9453-395BFE174471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7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6D4E81-E84C-00B7-B7A8-FB4A39E03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Question-7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689108-FF4B-7CDD-6CCF-021228DE0F86}"/>
              </a:ext>
            </a:extLst>
          </p:cNvPr>
          <p:cNvSpPr txBox="1"/>
          <p:nvPr/>
        </p:nvSpPr>
        <p:spPr>
          <a:xfrm>
            <a:off x="1408273" y="5495680"/>
            <a:ext cx="7053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>
                <a:solidFill>
                  <a:prstClr val="black"/>
                </a:solidFill>
                <a:latin typeface="Helvetica" pitchFamily="2" charset="0"/>
              </a:rPr>
              <a:t> </a:t>
            </a:r>
            <a:endParaRPr lang="en-US" sz="2000" b="1" dirty="0">
              <a:latin typeface="Helvetic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3">
                <a:extLst>
                  <a:ext uri="{FF2B5EF4-FFF2-40B4-BE49-F238E27FC236}">
                    <a16:creationId xmlns:a16="http://schemas.microsoft.com/office/drawing/2014/main" id="{FD545549-8A24-A1CE-1297-5ED9E88760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1608" y="2746088"/>
                <a:ext cx="4743858" cy="9822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eaLnBrk="0" fontAlgn="base" hangingPunc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1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𝐕𝐚𝐥𝐮𝐞</m:t>
                      </m:r>
                      <m:r>
                        <a:rPr lang="en-US" altLang="en-US" sz="2400" b="1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1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𝐨𝐟</m:t>
                      </m:r>
                      <m:r>
                        <a:rPr lang="en-US" altLang="en-US" sz="2400" b="1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1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𝐏𝐫𝐞𝐟𝐞𝐫𝐫𝐞𝐝</m:t>
                      </m:r>
                      <m:r>
                        <a:rPr lang="en-US" altLang="en-US" sz="2400" b="1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1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𝐒𝐭𝐨𝐜𝐤</m:t>
                      </m:r>
                      <m:r>
                        <a:rPr lang="en-US" altLang="en-US" sz="2400" b="1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en-US" sz="24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b="1" i="0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𝐃</m:t>
                              </m:r>
                            </m:e>
                            <m:sub>
                              <m:r>
                                <a:rPr lang="en-US" altLang="en-US" sz="2400" b="1" i="0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en-US" sz="24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b="1" i="0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e>
                            <m:sub>
                              <m:r>
                                <a:rPr lang="en-US" altLang="en-US" sz="2400" b="1" i="0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0" lang="en-US" altLang="en-US" sz="2400" b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13" name="Rectangle 3">
                <a:extLst>
                  <a:ext uri="{FF2B5EF4-FFF2-40B4-BE49-F238E27FC236}">
                    <a16:creationId xmlns:a16="http://schemas.microsoft.com/office/drawing/2014/main" id="{FD545549-8A24-A1CE-1297-5ED9E88760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21608" y="2746088"/>
                <a:ext cx="4743858" cy="9822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31DAD24-5CD2-39BA-1C37-A58D0F7297C9}"/>
              </a:ext>
            </a:extLst>
          </p:cNvPr>
          <p:cNvSpPr txBox="1"/>
          <p:nvPr/>
        </p:nvSpPr>
        <p:spPr>
          <a:xfrm>
            <a:off x="167268" y="1505531"/>
            <a:ext cx="1194295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</a:rPr>
              <a:t>Molen Inc. has an outstanding issue of perpetual preferred stock with an annual dividend of $4.00 per share. If the required return on this preferred stock is 5.5%, then at what price should the stock sell?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0317D173-2A48-707C-2290-403B0606E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0425" y="4050029"/>
                <a:ext cx="5046224" cy="8762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eaLnBrk="0" fontAlgn="base" hangingPunc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1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𝐕𝐚𝐥𝐮𝐞</m:t>
                      </m:r>
                      <m:r>
                        <a:rPr lang="en-US" altLang="en-US" sz="2400" b="1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1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𝐨𝐟</m:t>
                      </m:r>
                      <m:r>
                        <a:rPr lang="en-US" altLang="en-US" sz="2400" b="1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1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𝐏𝐫𝐞𝐟𝐞𝐫𝐫𝐞𝐝</m:t>
                      </m:r>
                      <m:r>
                        <a:rPr lang="en-US" altLang="en-US" sz="2400" b="1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1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𝐒𝐭𝐨𝐜𝐤</m:t>
                      </m:r>
                      <m:r>
                        <a:rPr lang="en-US" altLang="en-US" sz="2400" b="1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400" b="1" i="0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US" altLang="en-US" sz="2400" b="1" i="0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en-US" sz="2400" b="1" i="0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en-US" sz="2400" b="1" i="0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en-US" sz="2400" b="1" i="0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%</m:t>
                          </m:r>
                        </m:den>
                      </m:f>
                    </m:oMath>
                  </m:oMathPara>
                </a14:m>
                <a:endParaRPr kumimoji="0" lang="en-US" altLang="en-US" sz="2400" b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0317D173-2A48-707C-2290-403B0606EB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0425" y="4050029"/>
                <a:ext cx="5046224" cy="8762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057BBC6-A5EC-2163-18FE-5E98B1C705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9852" y="5406636"/>
                <a:ext cx="4847370" cy="5386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eaLnBrk="0" fontAlgn="base" hangingPunc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1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𝐕𝐚𝐥𝐮𝐞</m:t>
                      </m:r>
                      <m:r>
                        <a:rPr lang="en-US" altLang="en-US" sz="2400" b="1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1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𝐨𝐟</m:t>
                      </m:r>
                      <m:r>
                        <a:rPr lang="en-US" altLang="en-US" sz="2400" b="1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1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𝐏𝐫𝐞𝐟𝐞𝐫𝐫𝐞𝐝</m:t>
                      </m:r>
                      <m:r>
                        <a:rPr lang="en-US" altLang="en-US" sz="2400" b="1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1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𝐒𝐭𝐨𝐜𝐤</m:t>
                      </m:r>
                      <m:r>
                        <a:rPr lang="en-US" altLang="en-US" sz="2400" b="1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2400" b="1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𝟕𝟐</m:t>
                      </m:r>
                      <m:r>
                        <a:rPr lang="en-US" altLang="en-US" sz="2400" b="1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en-US" sz="2400" b="1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kumimoji="0" lang="en-US" altLang="en-US" sz="2400" b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057BBC6-A5EC-2163-18FE-5E98B1C705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69852" y="5406636"/>
                <a:ext cx="4847370" cy="5386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2781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/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89F4E-48D7-0781-21A4-025E765C3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9234395-9D44-047A-4CF2-4487EB83530A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7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7B0FA1-4AB3-2256-692A-6871CCD1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E. Risk vs. Return for Financial Assets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5287F2-91C8-18A5-41AB-F83760635311}"/>
              </a:ext>
            </a:extLst>
          </p:cNvPr>
          <p:cNvSpPr txBox="1"/>
          <p:nvPr/>
        </p:nvSpPr>
        <p:spPr>
          <a:xfrm>
            <a:off x="1408273" y="5495680"/>
            <a:ext cx="7053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>
                <a:solidFill>
                  <a:prstClr val="black"/>
                </a:solidFill>
                <a:latin typeface="Helvetica" pitchFamily="2" charset="0"/>
              </a:rPr>
              <a:t> </a:t>
            </a:r>
            <a:endParaRPr lang="en-US" sz="2000" b="1" dirty="0">
              <a:latin typeface="Helvetica" pitchFamily="2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90525E9-DE1F-F9D8-0C88-EC6212AC5A21}"/>
              </a:ext>
            </a:extLst>
          </p:cNvPr>
          <p:cNvGrpSpPr/>
          <p:nvPr/>
        </p:nvGrpSpPr>
        <p:grpSpPr>
          <a:xfrm>
            <a:off x="108210" y="1792190"/>
            <a:ext cx="11649562" cy="4898329"/>
            <a:chOff x="108210" y="1792190"/>
            <a:chExt cx="11649562" cy="4898329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4A9EB62-AB63-F777-4A21-B8AC77B483C4}"/>
                </a:ext>
              </a:extLst>
            </p:cNvPr>
            <p:cNvCxnSpPr>
              <a:cxnSpLocks/>
            </p:cNvCxnSpPr>
            <p:nvPr/>
          </p:nvCxnSpPr>
          <p:spPr>
            <a:xfrm>
              <a:off x="671025" y="6459687"/>
              <a:ext cx="10326029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E834870-9BFB-01C0-3EF5-A1D94380E0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025" y="2309714"/>
              <a:ext cx="0" cy="417810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E477A93-340F-0ACA-F0A5-68152A45F7B1}"/>
                </a:ext>
              </a:extLst>
            </p:cNvPr>
            <p:cNvSpPr txBox="1"/>
            <p:nvPr/>
          </p:nvSpPr>
          <p:spPr>
            <a:xfrm>
              <a:off x="10973583" y="6228854"/>
              <a:ext cx="7841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Risk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A82AB8F-0557-9F84-FB8E-8EC99B5F9A49}"/>
                </a:ext>
              </a:extLst>
            </p:cNvPr>
            <p:cNvSpPr txBox="1"/>
            <p:nvPr/>
          </p:nvSpPr>
          <p:spPr>
            <a:xfrm>
              <a:off x="108210" y="1792190"/>
              <a:ext cx="11256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Return</a:t>
              </a:r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EA24A0E-6B7D-33D0-E8AE-04E7E1CA6322}"/>
              </a:ext>
            </a:extLst>
          </p:cNvPr>
          <p:cNvCxnSpPr>
            <a:cxnSpLocks/>
          </p:cNvCxnSpPr>
          <p:nvPr/>
        </p:nvCxnSpPr>
        <p:spPr>
          <a:xfrm flipV="1">
            <a:off x="713396" y="2494906"/>
            <a:ext cx="10070331" cy="3908922"/>
          </a:xfrm>
          <a:prstGeom prst="line">
            <a:avLst/>
          </a:prstGeom>
          <a:ln w="571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C27A68D-42BE-33C7-1C48-8D581D8E317D}"/>
              </a:ext>
            </a:extLst>
          </p:cNvPr>
          <p:cNvSpPr txBox="1"/>
          <p:nvPr/>
        </p:nvSpPr>
        <p:spPr>
          <a:xfrm>
            <a:off x="736711" y="5605703"/>
            <a:ext cx="1010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T-bills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0DC3E0-E4BF-D7EA-2676-6F5AEA515763}"/>
              </a:ext>
            </a:extLst>
          </p:cNvPr>
          <p:cNvSpPr txBox="1"/>
          <p:nvPr/>
        </p:nvSpPr>
        <p:spPr>
          <a:xfrm>
            <a:off x="1917347" y="4592177"/>
            <a:ext cx="2417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Corporate bonds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D49F86-EFEB-4AD1-F8A8-CA37A593CA62}"/>
              </a:ext>
            </a:extLst>
          </p:cNvPr>
          <p:cNvSpPr txBox="1"/>
          <p:nvPr/>
        </p:nvSpPr>
        <p:spPr>
          <a:xfrm>
            <a:off x="4641212" y="3566991"/>
            <a:ext cx="23856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Preferred Stocks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116B71-6E67-0EDA-C390-D4C71090377A}"/>
              </a:ext>
            </a:extLst>
          </p:cNvPr>
          <p:cNvSpPr txBox="1"/>
          <p:nvPr/>
        </p:nvSpPr>
        <p:spPr>
          <a:xfrm>
            <a:off x="7718764" y="2394878"/>
            <a:ext cx="2332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Stocks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32C45D5-267C-2A10-D778-BEC2EE34B34A}"/>
              </a:ext>
            </a:extLst>
          </p:cNvPr>
          <p:cNvSpPr/>
          <p:nvPr/>
        </p:nvSpPr>
        <p:spPr>
          <a:xfrm>
            <a:off x="10051454" y="2637140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B6BA5B8-816D-B362-44A4-003569876508}"/>
              </a:ext>
            </a:extLst>
          </p:cNvPr>
          <p:cNvSpPr/>
          <p:nvPr/>
        </p:nvSpPr>
        <p:spPr>
          <a:xfrm>
            <a:off x="1709861" y="5861628"/>
            <a:ext cx="182880" cy="18288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4717ACF-4C45-DBFF-CD58-99C6253A7C62}"/>
              </a:ext>
            </a:extLst>
          </p:cNvPr>
          <p:cNvSpPr/>
          <p:nvPr/>
        </p:nvSpPr>
        <p:spPr>
          <a:xfrm>
            <a:off x="4285927" y="4863962"/>
            <a:ext cx="182880" cy="18288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8BF6B41-A243-9303-B2F9-1D8FF869FC48}"/>
              </a:ext>
            </a:extLst>
          </p:cNvPr>
          <p:cNvSpPr/>
          <p:nvPr/>
        </p:nvSpPr>
        <p:spPr>
          <a:xfrm>
            <a:off x="6977795" y="3820843"/>
            <a:ext cx="182880" cy="18288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9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36" grpId="0"/>
      <p:bldP spid="39" grpId="0" animBg="1"/>
      <p:bldP spid="40" grpId="0" animBg="1"/>
      <p:bldP spid="41" grpId="0" animBg="1"/>
      <p:bldP spid="4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4484</TotalTime>
  <Words>2103</Words>
  <Application>Microsoft Macintosh PowerPoint</Application>
  <PresentationFormat>Widescreen</PresentationFormat>
  <Paragraphs>375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AkayaKanadaka</vt:lpstr>
      <vt:lpstr>Aptos</vt:lpstr>
      <vt:lpstr>Aptos Display</vt:lpstr>
      <vt:lpstr>Arial</vt:lpstr>
      <vt:lpstr>Cambria Math</vt:lpstr>
      <vt:lpstr>Helvetica</vt:lpstr>
      <vt:lpstr>Times New Roman</vt:lpstr>
      <vt:lpstr>Office Theme</vt:lpstr>
      <vt:lpstr>PowerPoint Presentation</vt:lpstr>
      <vt:lpstr>PowerPoint Presentation</vt:lpstr>
      <vt:lpstr>Stockholders’ Rights &amp; Protections</vt:lpstr>
      <vt:lpstr>Stock Price vs. Intrinsic Value</vt:lpstr>
      <vt:lpstr>How Do We Value Stocks?</vt:lpstr>
      <vt:lpstr>A. The Discounted Dividend Model (DDM)</vt:lpstr>
      <vt:lpstr>A1. DDM - Important Terms</vt:lpstr>
      <vt:lpstr>A2. Expected Dividends as the Basis for Stock Values</vt:lpstr>
      <vt:lpstr>A3. Constant Growth Stocks</vt:lpstr>
      <vt:lpstr>A4. The Constant Growth (Gordon) Model</vt:lpstr>
      <vt:lpstr>A6. Expected Return from (Gordon) Model</vt:lpstr>
      <vt:lpstr>Question-1</vt:lpstr>
      <vt:lpstr>Question-2</vt:lpstr>
      <vt:lpstr>A7. Dividends vs. Growth: The Trade-off</vt:lpstr>
      <vt:lpstr>Question-3</vt:lpstr>
      <vt:lpstr>A8. Valuing Nonconstant Growth Stocks</vt:lpstr>
      <vt:lpstr>A8. Valuing Nonconstant Growth Stocks</vt:lpstr>
      <vt:lpstr>A8. Nonconstant Growth Stocks(2 stage)</vt:lpstr>
      <vt:lpstr>Question-4</vt:lpstr>
      <vt:lpstr>B. Enterprise-Based Approach to Valuation</vt:lpstr>
      <vt:lpstr>B1. The Corporate Valuation Model</vt:lpstr>
      <vt:lpstr>B2. The Constant Growth on FCF</vt:lpstr>
      <vt:lpstr>B3. Market Value of Company</vt:lpstr>
      <vt:lpstr>Question-5</vt:lpstr>
      <vt:lpstr>PowerPoint Presentation</vt:lpstr>
      <vt:lpstr>C. Dividend Model vs. Corporate Valuation Model</vt:lpstr>
      <vt:lpstr>D. Preferred Stock: Hybrid Security</vt:lpstr>
      <vt:lpstr>Question-7</vt:lpstr>
      <vt:lpstr>E. Risk vs. Return for Financial Assets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HAGHIGHI ZADEH, REIHANEH</dc:creator>
  <cp:lastModifiedBy>reza bavili</cp:lastModifiedBy>
  <cp:revision>67</cp:revision>
  <dcterms:created xsi:type="dcterms:W3CDTF">2024-10-08T02:28:39Z</dcterms:created>
  <dcterms:modified xsi:type="dcterms:W3CDTF">2025-04-14T23:59:28Z</dcterms:modified>
</cp:coreProperties>
</file>