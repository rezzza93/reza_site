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0" r:id="rId4"/>
    <p:sldId id="263" r:id="rId5"/>
    <p:sldId id="264" r:id="rId6"/>
    <p:sldId id="272" r:id="rId7"/>
    <p:sldId id="265" r:id="rId8"/>
    <p:sldId id="268" r:id="rId9"/>
    <p:sldId id="269" r:id="rId10"/>
    <p:sldId id="296" r:id="rId11"/>
    <p:sldId id="270" r:id="rId12"/>
    <p:sldId id="275" r:id="rId13"/>
    <p:sldId id="273" r:id="rId14"/>
    <p:sldId id="277" r:id="rId15"/>
    <p:sldId id="258" r:id="rId16"/>
    <p:sldId id="278" r:id="rId17"/>
    <p:sldId id="279" r:id="rId18"/>
    <p:sldId id="281" r:id="rId19"/>
    <p:sldId id="280" r:id="rId20"/>
    <p:sldId id="284" r:id="rId21"/>
    <p:sldId id="287" r:id="rId22"/>
    <p:sldId id="286" r:id="rId23"/>
    <p:sldId id="288" r:id="rId24"/>
    <p:sldId id="285" r:id="rId25"/>
    <p:sldId id="289" r:id="rId26"/>
    <p:sldId id="290" r:id="rId27"/>
    <p:sldId id="291" r:id="rId28"/>
    <p:sldId id="293" r:id="rId29"/>
    <p:sldId id="294" r:id="rId30"/>
    <p:sldId id="29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6081"/>
  </p:normalViewPr>
  <p:slideViewPr>
    <p:cSldViewPr snapToGrid="0">
      <p:cViewPr varScale="1">
        <p:scale>
          <a:sx n="115" d="100"/>
          <a:sy n="115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922A4A-8FB3-4552-A493-97F17D040CF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E2AAA9-AC53-4F4E-8AF7-42E7EDD90236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that includes the circulation of money, the granting of credit, the making of investments, and the provision of banking facilities.</a:t>
          </a:r>
        </a:p>
      </dgm:t>
    </dgm:pt>
    <dgm:pt modelId="{643EA3CB-3C24-447A-8F91-6151140C5507}" type="parTrans" cxnId="{669FEE5E-04B8-47B0-B16C-94AA61129606}">
      <dgm:prSet/>
      <dgm:spPr/>
      <dgm:t>
        <a:bodyPr/>
        <a:lstStyle/>
        <a:p>
          <a:endParaRPr lang="en-US"/>
        </a:p>
      </dgm:t>
    </dgm:pt>
    <dgm:pt modelId="{5C5F2505-212A-4696-97C6-DE15B166BB91}" type="sibTrans" cxnId="{669FEE5E-04B8-47B0-B16C-94AA61129606}">
      <dgm:prSet/>
      <dgm:spPr/>
      <dgm:t>
        <a:bodyPr/>
        <a:lstStyle/>
        <a:p>
          <a:endParaRPr lang="en-US"/>
        </a:p>
      </dgm:t>
    </dgm:pt>
    <dgm:pt modelId="{B86559AE-698F-43A2-8432-FF0D0B8D5DAB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Why Study Finance?</a:t>
          </a:r>
        </a:p>
      </dgm:t>
    </dgm:pt>
    <dgm:pt modelId="{3612EFBB-9D12-400D-8D50-9A1BD34271CC}" type="parTrans" cxnId="{346C9892-0638-4FDF-A0C6-30020001C56F}">
      <dgm:prSet/>
      <dgm:spPr/>
      <dgm:t>
        <a:bodyPr/>
        <a:lstStyle/>
        <a:p>
          <a:endParaRPr lang="en-US"/>
        </a:p>
      </dgm:t>
    </dgm:pt>
    <dgm:pt modelId="{BB7AFC8F-6629-4F6F-990A-F8118ECE5F11}" type="sibTrans" cxnId="{346C9892-0638-4FDF-A0C6-30020001C56F}">
      <dgm:prSet/>
      <dgm:spPr/>
      <dgm:t>
        <a:bodyPr/>
        <a:lstStyle/>
        <a:p>
          <a:endParaRPr lang="en-US"/>
        </a:p>
      </dgm:t>
    </dgm:pt>
    <dgm:pt modelId="{AA67CDE2-4361-45DE-ABE3-2F6B2EA16E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Provides insight into how businesses raise and allocate capital</a:t>
          </a:r>
        </a:p>
      </dgm:t>
    </dgm:pt>
    <dgm:pt modelId="{EA4B778A-E13A-477E-8F93-17AB021DFFDF}" type="parTrans" cxnId="{66BB43A4-95E4-4B9A-9523-C435F0221031}">
      <dgm:prSet/>
      <dgm:spPr/>
      <dgm:t>
        <a:bodyPr/>
        <a:lstStyle/>
        <a:p>
          <a:endParaRPr lang="en-US"/>
        </a:p>
      </dgm:t>
    </dgm:pt>
    <dgm:pt modelId="{1C749245-DAA4-4268-80C9-6B45CDC0FCCB}" type="sibTrans" cxnId="{66BB43A4-95E4-4B9A-9523-C435F0221031}">
      <dgm:prSet/>
      <dgm:spPr/>
      <dgm:t>
        <a:bodyPr/>
        <a:lstStyle/>
        <a:p>
          <a:endParaRPr lang="en-US"/>
        </a:p>
      </dgm:t>
    </dgm:pt>
    <dgm:pt modelId="{72C60E1E-B15C-4CB4-9C57-C6979B9C37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Prepares students for careers in:</a:t>
          </a:r>
        </a:p>
      </dgm:t>
    </dgm:pt>
    <dgm:pt modelId="{333DF5EF-FF7C-45DC-879F-9D8222CB2412}" type="parTrans" cxnId="{76CD5262-9523-41F2-8626-16E7C0AB24CF}">
      <dgm:prSet/>
      <dgm:spPr/>
      <dgm:t>
        <a:bodyPr/>
        <a:lstStyle/>
        <a:p>
          <a:endParaRPr lang="en-US"/>
        </a:p>
      </dgm:t>
    </dgm:pt>
    <dgm:pt modelId="{F3FF0B6A-A823-4321-B2A1-69C0845499B5}" type="sibTrans" cxnId="{76CD5262-9523-41F2-8626-16E7C0AB24CF}">
      <dgm:prSet/>
      <dgm:spPr/>
      <dgm:t>
        <a:bodyPr/>
        <a:lstStyle/>
        <a:p>
          <a:endParaRPr lang="en-US"/>
        </a:p>
      </dgm:t>
    </dgm:pt>
    <dgm:pt modelId="{12EF4B86-66A0-4D40-9F89-C90F74A83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Corporate finance</a:t>
          </a:r>
        </a:p>
      </dgm:t>
    </dgm:pt>
    <dgm:pt modelId="{CFA580A9-A3F0-488E-8FFC-527924363A05}" type="parTrans" cxnId="{EE8A8A85-4D18-488F-B54B-665D77E498E2}">
      <dgm:prSet/>
      <dgm:spPr/>
      <dgm:t>
        <a:bodyPr/>
        <a:lstStyle/>
        <a:p>
          <a:endParaRPr lang="en-US"/>
        </a:p>
      </dgm:t>
    </dgm:pt>
    <dgm:pt modelId="{124F5F18-907B-4D5A-87BD-37ACC5ECB70C}" type="sibTrans" cxnId="{EE8A8A85-4D18-488F-B54B-665D77E498E2}">
      <dgm:prSet/>
      <dgm:spPr/>
      <dgm:t>
        <a:bodyPr/>
        <a:lstStyle/>
        <a:p>
          <a:endParaRPr lang="en-US"/>
        </a:p>
      </dgm:t>
    </dgm:pt>
    <dgm:pt modelId="{E40DC9F7-1477-4AD2-A94E-2D44C073FD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Investment banking</a:t>
          </a:r>
        </a:p>
      </dgm:t>
    </dgm:pt>
    <dgm:pt modelId="{99074323-3FF0-4E53-9FD9-D65B8002E7A3}" type="parTrans" cxnId="{FFE050A5-C125-412A-89E1-6F9A4F0C67CE}">
      <dgm:prSet/>
      <dgm:spPr/>
      <dgm:t>
        <a:bodyPr/>
        <a:lstStyle/>
        <a:p>
          <a:endParaRPr lang="en-US"/>
        </a:p>
      </dgm:t>
    </dgm:pt>
    <dgm:pt modelId="{925A757C-2225-4D76-8134-8688C0E1AFB3}" type="sibTrans" cxnId="{FFE050A5-C125-412A-89E1-6F9A4F0C67CE}">
      <dgm:prSet/>
      <dgm:spPr/>
      <dgm:t>
        <a:bodyPr/>
        <a:lstStyle/>
        <a:p>
          <a:endParaRPr lang="en-US"/>
        </a:p>
      </dgm:t>
    </dgm:pt>
    <dgm:pt modelId="{2DD9B31B-0C67-4839-AD45-10AB339C6E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Financial planning</a:t>
          </a:r>
        </a:p>
      </dgm:t>
    </dgm:pt>
    <dgm:pt modelId="{F835CC92-2103-4C9C-8BFA-CACEE4FEA040}" type="parTrans" cxnId="{9FA737FD-8DEA-4351-8E47-3D12C348B258}">
      <dgm:prSet/>
      <dgm:spPr/>
      <dgm:t>
        <a:bodyPr/>
        <a:lstStyle/>
        <a:p>
          <a:endParaRPr lang="en-US"/>
        </a:p>
      </dgm:t>
    </dgm:pt>
    <dgm:pt modelId="{37079144-9589-4721-B396-74C9E9A1D534}" type="sibTrans" cxnId="{9FA737FD-8DEA-4351-8E47-3D12C348B258}">
      <dgm:prSet/>
      <dgm:spPr/>
      <dgm:t>
        <a:bodyPr/>
        <a:lstStyle/>
        <a:p>
          <a:endParaRPr lang="en-US"/>
        </a:p>
      </dgm:t>
    </dgm:pt>
    <dgm:pt modelId="{2FF51584-3E04-40B9-8263-43616E22A7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Risk management</a:t>
          </a:r>
        </a:p>
      </dgm:t>
    </dgm:pt>
    <dgm:pt modelId="{3CBF8398-A79C-4E00-8977-9C8581A519E5}" type="parTrans" cxnId="{C84EE29D-6E53-45E7-A6A9-973753C4F3B9}">
      <dgm:prSet/>
      <dgm:spPr/>
      <dgm:t>
        <a:bodyPr/>
        <a:lstStyle/>
        <a:p>
          <a:endParaRPr lang="en-US"/>
        </a:p>
      </dgm:t>
    </dgm:pt>
    <dgm:pt modelId="{012DB2BA-68CA-4F5C-B4E1-E146FDBE88F5}" type="sibTrans" cxnId="{C84EE29D-6E53-45E7-A6A9-973753C4F3B9}">
      <dgm:prSet/>
      <dgm:spPr/>
      <dgm:t>
        <a:bodyPr/>
        <a:lstStyle/>
        <a:p>
          <a:endParaRPr lang="en-US"/>
        </a:p>
      </dgm:t>
    </dgm:pt>
    <dgm:pt modelId="{8091FA5A-7C71-409A-8660-32EA3B0ADA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Banking and financial markets</a:t>
          </a:r>
        </a:p>
      </dgm:t>
    </dgm:pt>
    <dgm:pt modelId="{C6898854-32FE-4B35-883A-D596C5796EB3}" type="parTrans" cxnId="{C5113618-ED83-4283-B971-FA30E3B52D38}">
      <dgm:prSet/>
      <dgm:spPr/>
      <dgm:t>
        <a:bodyPr/>
        <a:lstStyle/>
        <a:p>
          <a:endParaRPr lang="en-US"/>
        </a:p>
      </dgm:t>
    </dgm:pt>
    <dgm:pt modelId="{EFF7837D-884B-45C4-86B5-96274CB7CDFB}" type="sibTrans" cxnId="{C5113618-ED83-4283-B971-FA30E3B52D38}">
      <dgm:prSet/>
      <dgm:spPr/>
      <dgm:t>
        <a:bodyPr/>
        <a:lstStyle/>
        <a:p>
          <a:endParaRPr lang="en-US"/>
        </a:p>
      </dgm:t>
    </dgm:pt>
    <dgm:pt modelId="{CFA5BAF1-4D0F-BB4C-AF56-C78B335CDA86}" type="pres">
      <dgm:prSet presAssocID="{8B922A4A-8FB3-4552-A493-97F17D040CF2}" presName="linear" presStyleCnt="0">
        <dgm:presLayoutVars>
          <dgm:dir/>
          <dgm:animLvl val="lvl"/>
          <dgm:resizeHandles val="exact"/>
        </dgm:presLayoutVars>
      </dgm:prSet>
      <dgm:spPr/>
    </dgm:pt>
    <dgm:pt modelId="{AD826E64-2921-0C43-A85A-05228F13680C}" type="pres">
      <dgm:prSet presAssocID="{A7E2AAA9-AC53-4F4E-8AF7-42E7EDD90236}" presName="parentLin" presStyleCnt="0"/>
      <dgm:spPr/>
    </dgm:pt>
    <dgm:pt modelId="{4BE4B00C-8E3F-4F41-B866-396AE3E4BE66}" type="pres">
      <dgm:prSet presAssocID="{A7E2AAA9-AC53-4F4E-8AF7-42E7EDD90236}" presName="parentLeftMargin" presStyleLbl="node1" presStyleIdx="0" presStyleCnt="2"/>
      <dgm:spPr/>
    </dgm:pt>
    <dgm:pt modelId="{68C8EEFE-A99C-B547-9C35-AAAAB27866A8}" type="pres">
      <dgm:prSet presAssocID="{A7E2AAA9-AC53-4F4E-8AF7-42E7EDD90236}" presName="parentText" presStyleLbl="node1" presStyleIdx="0" presStyleCnt="2" custScaleX="145625" custScaleY="182399">
        <dgm:presLayoutVars>
          <dgm:chMax val="0"/>
          <dgm:bulletEnabled val="1"/>
        </dgm:presLayoutVars>
      </dgm:prSet>
      <dgm:spPr/>
    </dgm:pt>
    <dgm:pt modelId="{24246416-8B40-A847-83B4-D43965E57698}" type="pres">
      <dgm:prSet presAssocID="{A7E2AAA9-AC53-4F4E-8AF7-42E7EDD90236}" presName="negativeSpace" presStyleCnt="0"/>
      <dgm:spPr/>
    </dgm:pt>
    <dgm:pt modelId="{47109F66-2F5E-AA43-BD02-9BF9114503AB}" type="pres">
      <dgm:prSet presAssocID="{A7E2AAA9-AC53-4F4E-8AF7-42E7EDD90236}" presName="childText" presStyleLbl="conFgAcc1" presStyleIdx="0" presStyleCnt="2">
        <dgm:presLayoutVars>
          <dgm:bulletEnabled val="1"/>
        </dgm:presLayoutVars>
      </dgm:prSet>
      <dgm:spPr/>
    </dgm:pt>
    <dgm:pt modelId="{B76511B1-DB5B-1040-9068-1589FC6F280A}" type="pres">
      <dgm:prSet presAssocID="{5C5F2505-212A-4696-97C6-DE15B166BB91}" presName="spaceBetweenRectangles" presStyleCnt="0"/>
      <dgm:spPr/>
    </dgm:pt>
    <dgm:pt modelId="{BE755E63-9B6C-F945-BD96-C365EE71FFC2}" type="pres">
      <dgm:prSet presAssocID="{B86559AE-698F-43A2-8432-FF0D0B8D5DAB}" presName="parentLin" presStyleCnt="0"/>
      <dgm:spPr/>
    </dgm:pt>
    <dgm:pt modelId="{27774A9D-3C6E-EE4A-AE37-5DEBF14FBC36}" type="pres">
      <dgm:prSet presAssocID="{B86559AE-698F-43A2-8432-FF0D0B8D5DAB}" presName="parentLeftMargin" presStyleLbl="node1" presStyleIdx="0" presStyleCnt="2"/>
      <dgm:spPr/>
    </dgm:pt>
    <dgm:pt modelId="{863EF031-2A2C-004E-8BF2-53EEF4D018A0}" type="pres">
      <dgm:prSet presAssocID="{B86559AE-698F-43A2-8432-FF0D0B8D5DA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A444BD2-A006-C541-9D0C-9C7675ED241D}" type="pres">
      <dgm:prSet presAssocID="{B86559AE-698F-43A2-8432-FF0D0B8D5DAB}" presName="negativeSpace" presStyleCnt="0"/>
      <dgm:spPr/>
    </dgm:pt>
    <dgm:pt modelId="{E2C6E302-3D46-964F-9892-EED96CEE194F}" type="pres">
      <dgm:prSet presAssocID="{B86559AE-698F-43A2-8432-FF0D0B8D5DA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113618-ED83-4283-B971-FA30E3B52D38}" srcId="{72C60E1E-B15C-4CB4-9C57-C6979B9C3700}" destId="{8091FA5A-7C71-409A-8660-32EA3B0ADA7F}" srcOrd="4" destOrd="0" parTransId="{C6898854-32FE-4B35-883A-D596C5796EB3}" sibTransId="{EFF7837D-884B-45C4-86B5-96274CB7CDFB}"/>
    <dgm:cxn modelId="{FF26023A-4B58-2648-9EF2-116A961D79F1}" type="presOf" srcId="{2DD9B31B-0C67-4839-AD45-10AB339C6E89}" destId="{E2C6E302-3D46-964F-9892-EED96CEE194F}" srcOrd="0" destOrd="4" presId="urn:microsoft.com/office/officeart/2005/8/layout/list1"/>
    <dgm:cxn modelId="{44ABED44-E4AE-E148-8BC7-C41365F6DFB3}" type="presOf" srcId="{8B922A4A-8FB3-4552-A493-97F17D040CF2}" destId="{CFA5BAF1-4D0F-BB4C-AF56-C78B335CDA86}" srcOrd="0" destOrd="0" presId="urn:microsoft.com/office/officeart/2005/8/layout/list1"/>
    <dgm:cxn modelId="{669FEE5E-04B8-47B0-B16C-94AA61129606}" srcId="{8B922A4A-8FB3-4552-A493-97F17D040CF2}" destId="{A7E2AAA9-AC53-4F4E-8AF7-42E7EDD90236}" srcOrd="0" destOrd="0" parTransId="{643EA3CB-3C24-447A-8F91-6151140C5507}" sibTransId="{5C5F2505-212A-4696-97C6-DE15B166BB91}"/>
    <dgm:cxn modelId="{76CD5262-9523-41F2-8626-16E7C0AB24CF}" srcId="{B86559AE-698F-43A2-8432-FF0D0B8D5DAB}" destId="{72C60E1E-B15C-4CB4-9C57-C6979B9C3700}" srcOrd="1" destOrd="0" parTransId="{333DF5EF-FF7C-45DC-879F-9D8222CB2412}" sibTransId="{F3FF0B6A-A823-4321-B2A1-69C0845499B5}"/>
    <dgm:cxn modelId="{EE8A8A85-4D18-488F-B54B-665D77E498E2}" srcId="{72C60E1E-B15C-4CB4-9C57-C6979B9C3700}" destId="{12EF4B86-66A0-4D40-9F89-C90F74A83D13}" srcOrd="0" destOrd="0" parTransId="{CFA580A9-A3F0-488E-8FFC-527924363A05}" sibTransId="{124F5F18-907B-4D5A-87BD-37ACC5ECB70C}"/>
    <dgm:cxn modelId="{DD30E687-ABDB-F043-82CC-F67B80C11B9B}" type="presOf" srcId="{2FF51584-3E04-40B9-8263-43616E22A7F5}" destId="{E2C6E302-3D46-964F-9892-EED96CEE194F}" srcOrd="0" destOrd="5" presId="urn:microsoft.com/office/officeart/2005/8/layout/list1"/>
    <dgm:cxn modelId="{910BA089-A685-C644-B378-A1CF9BBC3FCE}" type="presOf" srcId="{AA67CDE2-4361-45DE-ABE3-2F6B2EA16EC6}" destId="{E2C6E302-3D46-964F-9892-EED96CEE194F}" srcOrd="0" destOrd="0" presId="urn:microsoft.com/office/officeart/2005/8/layout/list1"/>
    <dgm:cxn modelId="{A618118A-080F-4140-AB28-F0D0C93D1C95}" type="presOf" srcId="{72C60E1E-B15C-4CB4-9C57-C6979B9C3700}" destId="{E2C6E302-3D46-964F-9892-EED96CEE194F}" srcOrd="0" destOrd="1" presId="urn:microsoft.com/office/officeart/2005/8/layout/list1"/>
    <dgm:cxn modelId="{346C9892-0638-4FDF-A0C6-30020001C56F}" srcId="{8B922A4A-8FB3-4552-A493-97F17D040CF2}" destId="{B86559AE-698F-43A2-8432-FF0D0B8D5DAB}" srcOrd="1" destOrd="0" parTransId="{3612EFBB-9D12-400D-8D50-9A1BD34271CC}" sibTransId="{BB7AFC8F-6629-4F6F-990A-F8118ECE5F11}"/>
    <dgm:cxn modelId="{9532E696-1BFB-224A-8EE5-CE5A8BAB40CC}" type="presOf" srcId="{8091FA5A-7C71-409A-8660-32EA3B0ADA7F}" destId="{E2C6E302-3D46-964F-9892-EED96CEE194F}" srcOrd="0" destOrd="6" presId="urn:microsoft.com/office/officeart/2005/8/layout/list1"/>
    <dgm:cxn modelId="{D3B2C39A-1952-1445-831D-3DC33D6B89A5}" type="presOf" srcId="{B86559AE-698F-43A2-8432-FF0D0B8D5DAB}" destId="{27774A9D-3C6E-EE4A-AE37-5DEBF14FBC36}" srcOrd="0" destOrd="0" presId="urn:microsoft.com/office/officeart/2005/8/layout/list1"/>
    <dgm:cxn modelId="{C84EE29D-6E53-45E7-A6A9-973753C4F3B9}" srcId="{72C60E1E-B15C-4CB4-9C57-C6979B9C3700}" destId="{2FF51584-3E04-40B9-8263-43616E22A7F5}" srcOrd="3" destOrd="0" parTransId="{3CBF8398-A79C-4E00-8977-9C8581A519E5}" sibTransId="{012DB2BA-68CA-4F5C-B4E1-E146FDBE88F5}"/>
    <dgm:cxn modelId="{1AA272A2-8E26-CB4C-A830-F6BF2F025946}" type="presOf" srcId="{12EF4B86-66A0-4D40-9F89-C90F74A83D13}" destId="{E2C6E302-3D46-964F-9892-EED96CEE194F}" srcOrd="0" destOrd="2" presId="urn:microsoft.com/office/officeart/2005/8/layout/list1"/>
    <dgm:cxn modelId="{66BB43A4-95E4-4B9A-9523-C435F0221031}" srcId="{B86559AE-698F-43A2-8432-FF0D0B8D5DAB}" destId="{AA67CDE2-4361-45DE-ABE3-2F6B2EA16EC6}" srcOrd="0" destOrd="0" parTransId="{EA4B778A-E13A-477E-8F93-17AB021DFFDF}" sibTransId="{1C749245-DAA4-4268-80C9-6B45CDC0FCCB}"/>
    <dgm:cxn modelId="{FFE050A5-C125-412A-89E1-6F9A4F0C67CE}" srcId="{72C60E1E-B15C-4CB4-9C57-C6979B9C3700}" destId="{E40DC9F7-1477-4AD2-A94E-2D44C073FD62}" srcOrd="1" destOrd="0" parTransId="{99074323-3FF0-4E53-9FD9-D65B8002E7A3}" sibTransId="{925A757C-2225-4D76-8134-8688C0E1AFB3}"/>
    <dgm:cxn modelId="{4A2972AB-E853-9F47-BB98-90C10227678A}" type="presOf" srcId="{A7E2AAA9-AC53-4F4E-8AF7-42E7EDD90236}" destId="{68C8EEFE-A99C-B547-9C35-AAAAB27866A8}" srcOrd="1" destOrd="0" presId="urn:microsoft.com/office/officeart/2005/8/layout/list1"/>
    <dgm:cxn modelId="{B32D0BB0-7705-E942-863D-C74CC96FAF16}" type="presOf" srcId="{E40DC9F7-1477-4AD2-A94E-2D44C073FD62}" destId="{E2C6E302-3D46-964F-9892-EED96CEE194F}" srcOrd="0" destOrd="3" presId="urn:microsoft.com/office/officeart/2005/8/layout/list1"/>
    <dgm:cxn modelId="{031953C5-E462-914B-97C3-4F3C2E287B2F}" type="presOf" srcId="{A7E2AAA9-AC53-4F4E-8AF7-42E7EDD90236}" destId="{4BE4B00C-8E3F-4F41-B866-396AE3E4BE66}" srcOrd="0" destOrd="0" presId="urn:microsoft.com/office/officeart/2005/8/layout/list1"/>
    <dgm:cxn modelId="{05DA84E6-1A7A-9244-A8C2-45A1AFC4F7C1}" type="presOf" srcId="{B86559AE-698F-43A2-8432-FF0D0B8D5DAB}" destId="{863EF031-2A2C-004E-8BF2-53EEF4D018A0}" srcOrd="1" destOrd="0" presId="urn:microsoft.com/office/officeart/2005/8/layout/list1"/>
    <dgm:cxn modelId="{9FA737FD-8DEA-4351-8E47-3D12C348B258}" srcId="{72C60E1E-B15C-4CB4-9C57-C6979B9C3700}" destId="{2DD9B31B-0C67-4839-AD45-10AB339C6E89}" srcOrd="2" destOrd="0" parTransId="{F835CC92-2103-4C9C-8BFA-CACEE4FEA040}" sibTransId="{37079144-9589-4721-B396-74C9E9A1D534}"/>
    <dgm:cxn modelId="{E0E79983-548D-1D49-BC2F-3E4FAA24C3CA}" type="presParOf" srcId="{CFA5BAF1-4D0F-BB4C-AF56-C78B335CDA86}" destId="{AD826E64-2921-0C43-A85A-05228F13680C}" srcOrd="0" destOrd="0" presId="urn:microsoft.com/office/officeart/2005/8/layout/list1"/>
    <dgm:cxn modelId="{07BA82CA-DF4E-7F4D-85BF-56F64E8034F2}" type="presParOf" srcId="{AD826E64-2921-0C43-A85A-05228F13680C}" destId="{4BE4B00C-8E3F-4F41-B866-396AE3E4BE66}" srcOrd="0" destOrd="0" presId="urn:microsoft.com/office/officeart/2005/8/layout/list1"/>
    <dgm:cxn modelId="{AEC642C4-6A05-F646-B0CF-0C074CDF92F6}" type="presParOf" srcId="{AD826E64-2921-0C43-A85A-05228F13680C}" destId="{68C8EEFE-A99C-B547-9C35-AAAAB27866A8}" srcOrd="1" destOrd="0" presId="urn:microsoft.com/office/officeart/2005/8/layout/list1"/>
    <dgm:cxn modelId="{4AF08B3A-4287-CC4E-B1E3-6D607CC7E9C6}" type="presParOf" srcId="{CFA5BAF1-4D0F-BB4C-AF56-C78B335CDA86}" destId="{24246416-8B40-A847-83B4-D43965E57698}" srcOrd="1" destOrd="0" presId="urn:microsoft.com/office/officeart/2005/8/layout/list1"/>
    <dgm:cxn modelId="{8805BEAA-1378-5045-AF8F-ACA788CE2B5C}" type="presParOf" srcId="{CFA5BAF1-4D0F-BB4C-AF56-C78B335CDA86}" destId="{47109F66-2F5E-AA43-BD02-9BF9114503AB}" srcOrd="2" destOrd="0" presId="urn:microsoft.com/office/officeart/2005/8/layout/list1"/>
    <dgm:cxn modelId="{1F64CCEC-B4B1-584B-812C-9B2CD20343BE}" type="presParOf" srcId="{CFA5BAF1-4D0F-BB4C-AF56-C78B335CDA86}" destId="{B76511B1-DB5B-1040-9068-1589FC6F280A}" srcOrd="3" destOrd="0" presId="urn:microsoft.com/office/officeart/2005/8/layout/list1"/>
    <dgm:cxn modelId="{1198B083-3D8D-E140-861F-D1690020D791}" type="presParOf" srcId="{CFA5BAF1-4D0F-BB4C-AF56-C78B335CDA86}" destId="{BE755E63-9B6C-F945-BD96-C365EE71FFC2}" srcOrd="4" destOrd="0" presId="urn:microsoft.com/office/officeart/2005/8/layout/list1"/>
    <dgm:cxn modelId="{8D9B1E7F-70FD-6542-9FFF-2BDB5E9A5F34}" type="presParOf" srcId="{BE755E63-9B6C-F945-BD96-C365EE71FFC2}" destId="{27774A9D-3C6E-EE4A-AE37-5DEBF14FBC36}" srcOrd="0" destOrd="0" presId="urn:microsoft.com/office/officeart/2005/8/layout/list1"/>
    <dgm:cxn modelId="{77C51B63-0B54-434B-B385-C4D8EBC0BA00}" type="presParOf" srcId="{BE755E63-9B6C-F945-BD96-C365EE71FFC2}" destId="{863EF031-2A2C-004E-8BF2-53EEF4D018A0}" srcOrd="1" destOrd="0" presId="urn:microsoft.com/office/officeart/2005/8/layout/list1"/>
    <dgm:cxn modelId="{7F0AAC24-DC26-B24F-AFBF-D79F8F6CB0D7}" type="presParOf" srcId="{CFA5BAF1-4D0F-BB4C-AF56-C78B335CDA86}" destId="{2A444BD2-A006-C541-9D0C-9C7675ED241D}" srcOrd="5" destOrd="0" presId="urn:microsoft.com/office/officeart/2005/8/layout/list1"/>
    <dgm:cxn modelId="{2900720A-81C7-AA41-8C2C-3BD7792BF1C6}" type="presParOf" srcId="{CFA5BAF1-4D0F-BB4C-AF56-C78B335CDA86}" destId="{E2C6E302-3D46-964F-9892-EED96CEE194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34A86-7426-46F7-A183-72A5953E1AE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85666EA-5789-4FA2-B438-F2E9C1E8203A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Financial Management (Corporate Finance)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EDCD5A-934F-4B25-BA7D-5226BD08A57D}" type="parTrans" cxnId="{7E2DEFBF-59FB-4AF0-8512-75F460073A7E}">
      <dgm:prSet/>
      <dgm:spPr/>
      <dgm:t>
        <a:bodyPr/>
        <a:lstStyle/>
        <a:p>
          <a:endParaRPr lang="en-US"/>
        </a:p>
      </dgm:t>
    </dgm:pt>
    <dgm:pt modelId="{4C85658F-ED31-4433-95DB-52DBBB5FAC1E}" type="sibTrans" cxnId="{7E2DEFBF-59FB-4AF0-8512-75F460073A7E}">
      <dgm:prSet/>
      <dgm:spPr/>
      <dgm:t>
        <a:bodyPr/>
        <a:lstStyle/>
        <a:p>
          <a:endParaRPr lang="en-US"/>
        </a:p>
      </dgm:t>
    </dgm:pt>
    <dgm:pt modelId="{9B356552-C706-41B7-BCEB-84158B8C544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Focus: Asset acquisition, capital raising, and maximizing firm value.</a:t>
          </a:r>
        </a:p>
      </dgm:t>
    </dgm:pt>
    <dgm:pt modelId="{216A059A-DF2A-4754-BEAC-6B9BC2CE2C05}" type="parTrans" cxnId="{4C7E22A0-DB5F-4952-AFE0-FCB754EFCA5F}">
      <dgm:prSet/>
      <dgm:spPr/>
      <dgm:t>
        <a:bodyPr/>
        <a:lstStyle/>
        <a:p>
          <a:endParaRPr lang="en-US"/>
        </a:p>
      </dgm:t>
    </dgm:pt>
    <dgm:pt modelId="{ECED0B00-A528-45DC-A72D-45AB05301FCD}" type="sibTrans" cxnId="{4C7E22A0-DB5F-4952-AFE0-FCB754EFCA5F}">
      <dgm:prSet/>
      <dgm:spPr/>
      <dgm:t>
        <a:bodyPr/>
        <a:lstStyle/>
        <a:p>
          <a:endParaRPr lang="en-US"/>
        </a:p>
      </dgm:t>
    </dgm:pt>
    <dgm:pt modelId="{C3166E05-9155-4659-97E2-A5E512EF123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Applies to both for-profit and not-for-profit organizations.</a:t>
          </a:r>
        </a:p>
      </dgm:t>
    </dgm:pt>
    <dgm:pt modelId="{EAAB1541-E805-49A3-A4A3-D43F3783EC5A}" type="parTrans" cxnId="{983616C4-049B-4192-8001-1C3DBA03F2EE}">
      <dgm:prSet/>
      <dgm:spPr/>
      <dgm:t>
        <a:bodyPr/>
        <a:lstStyle/>
        <a:p>
          <a:endParaRPr lang="en-US"/>
        </a:p>
      </dgm:t>
    </dgm:pt>
    <dgm:pt modelId="{06CCF57B-1108-45A6-9175-EDD255FD2E89}" type="sibTrans" cxnId="{983616C4-049B-4192-8001-1C3DBA03F2EE}">
      <dgm:prSet/>
      <dgm:spPr/>
      <dgm:t>
        <a:bodyPr/>
        <a:lstStyle/>
        <a:p>
          <a:endParaRPr lang="en-US"/>
        </a:p>
      </dgm:t>
    </dgm:pt>
    <dgm:pt modelId="{FF4BEBB2-AA04-4A69-A3B0-5B25C13404D0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Capital Markets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44046F-A845-497E-9278-4EED3294E6AA}" type="parTrans" cxnId="{28C4D84F-F565-43AE-9966-172725E27C3E}">
      <dgm:prSet/>
      <dgm:spPr/>
      <dgm:t>
        <a:bodyPr/>
        <a:lstStyle/>
        <a:p>
          <a:endParaRPr lang="en-US"/>
        </a:p>
      </dgm:t>
    </dgm:pt>
    <dgm:pt modelId="{95742CEF-7BA5-4FE5-8B4F-F60BA8703420}" type="sibTrans" cxnId="{28C4D84F-F565-43AE-9966-172725E27C3E}">
      <dgm:prSet/>
      <dgm:spPr/>
      <dgm:t>
        <a:bodyPr/>
        <a:lstStyle/>
        <a:p>
          <a:endParaRPr lang="en-US"/>
        </a:p>
      </dgm:t>
    </dgm:pt>
    <dgm:pt modelId="{AFC13A57-5273-4F48-88EA-AEB855C58526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Focus: Determining interest rates, stock, and bond prices.</a:t>
          </a:r>
        </a:p>
      </dgm:t>
    </dgm:pt>
    <dgm:pt modelId="{4BCD6738-FCC3-4541-B944-52423B3522DB}" type="parTrans" cxnId="{CD28F660-632B-4574-B882-0D4025629A56}">
      <dgm:prSet/>
      <dgm:spPr/>
      <dgm:t>
        <a:bodyPr/>
        <a:lstStyle/>
        <a:p>
          <a:endParaRPr lang="en-US"/>
        </a:p>
      </dgm:t>
    </dgm:pt>
    <dgm:pt modelId="{812064BD-1CFD-4877-BE98-AF61CCB5F3C6}" type="sibTrans" cxnId="{CD28F660-632B-4574-B882-0D4025629A56}">
      <dgm:prSet/>
      <dgm:spPr/>
      <dgm:t>
        <a:bodyPr/>
        <a:lstStyle/>
        <a:p>
          <a:endParaRPr lang="en-US"/>
        </a:p>
      </dgm:t>
    </dgm:pt>
    <dgm:pt modelId="{8D6F286E-D988-44FE-8F27-D665D3EF203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Includes financial institutions like banks, mutual funds, and investment banks.</a:t>
          </a:r>
        </a:p>
      </dgm:t>
    </dgm:pt>
    <dgm:pt modelId="{2E08C6FA-7C2F-4E6F-88A4-A0A31D822209}" type="parTrans" cxnId="{986D93DC-5173-4C3B-8FDC-53DAD7835B71}">
      <dgm:prSet/>
      <dgm:spPr/>
      <dgm:t>
        <a:bodyPr/>
        <a:lstStyle/>
        <a:p>
          <a:endParaRPr lang="en-US"/>
        </a:p>
      </dgm:t>
    </dgm:pt>
    <dgm:pt modelId="{C8EBF3E7-8AB3-4147-9853-F197CDB3149A}" type="sibTrans" cxnId="{986D93DC-5173-4C3B-8FDC-53DAD7835B71}">
      <dgm:prSet/>
      <dgm:spPr/>
      <dgm:t>
        <a:bodyPr/>
        <a:lstStyle/>
        <a:p>
          <a:endParaRPr lang="en-US"/>
        </a:p>
      </dgm:t>
    </dgm:pt>
    <dgm:pt modelId="{C2963AD1-679B-4F79-81FB-02D1CED1CBA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Involves governmental organizations (e.g., Federal Reserve, SEC).</a:t>
          </a:r>
        </a:p>
      </dgm:t>
    </dgm:pt>
    <dgm:pt modelId="{A811C587-47BB-4119-A34D-BE0C374BDBEC}" type="parTrans" cxnId="{A0E6F1E4-33A3-40A3-BEB9-654B9055D83A}">
      <dgm:prSet/>
      <dgm:spPr/>
      <dgm:t>
        <a:bodyPr/>
        <a:lstStyle/>
        <a:p>
          <a:endParaRPr lang="en-US"/>
        </a:p>
      </dgm:t>
    </dgm:pt>
    <dgm:pt modelId="{3A8890DE-6E1D-4D00-BDAB-3BB8CCE5B7B9}" type="sibTrans" cxnId="{A0E6F1E4-33A3-40A3-BEB9-654B9055D83A}">
      <dgm:prSet/>
      <dgm:spPr/>
      <dgm:t>
        <a:bodyPr/>
        <a:lstStyle/>
        <a:p>
          <a:endParaRPr lang="en-US"/>
        </a:p>
      </dgm:t>
    </dgm:pt>
    <dgm:pt modelId="{FE651AA4-D491-4F0A-A58F-52475908264F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Investments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1E37A0-198A-4DED-A6C9-4CE749F9BE03}" type="parTrans" cxnId="{50ED4542-CEF1-4D34-8126-6BF2100F56AA}">
      <dgm:prSet/>
      <dgm:spPr/>
      <dgm:t>
        <a:bodyPr/>
        <a:lstStyle/>
        <a:p>
          <a:endParaRPr lang="en-US"/>
        </a:p>
      </dgm:t>
    </dgm:pt>
    <dgm:pt modelId="{E254FAF7-E2F9-4B83-9BC8-74A06AE51150}" type="sibTrans" cxnId="{50ED4542-CEF1-4D34-8126-6BF2100F56AA}">
      <dgm:prSet/>
      <dgm:spPr/>
      <dgm:t>
        <a:bodyPr/>
        <a:lstStyle/>
        <a:p>
          <a:endParaRPr lang="en-US"/>
        </a:p>
      </dgm:t>
    </dgm:pt>
    <dgm:pt modelId="{C2BBB908-2673-4BCA-B1DC-553E0B673FB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Focus: Decisions related to stocks and bonds.</a:t>
          </a:r>
        </a:p>
      </dgm:t>
    </dgm:pt>
    <dgm:pt modelId="{50ED7350-BC88-48E4-9101-E18C68C8E3CD}" type="parTrans" cxnId="{E5B5C6AF-97C9-4CF7-8EC6-A074E1353ADE}">
      <dgm:prSet/>
      <dgm:spPr/>
      <dgm:t>
        <a:bodyPr/>
        <a:lstStyle/>
        <a:p>
          <a:endParaRPr lang="en-US"/>
        </a:p>
      </dgm:t>
    </dgm:pt>
    <dgm:pt modelId="{54DBD2E1-54E1-4BDD-BB1D-D7B96C6A3D73}" type="sibTrans" cxnId="{E5B5C6AF-97C9-4CF7-8EC6-A074E1353ADE}">
      <dgm:prSet/>
      <dgm:spPr/>
      <dgm:t>
        <a:bodyPr/>
        <a:lstStyle/>
        <a:p>
          <a:endParaRPr lang="en-US"/>
        </a:p>
      </dgm:t>
    </dgm:pt>
    <dgm:pt modelId="{5225F509-1B3A-453C-AC8B-13174337900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Security Analysis: Valuing individual securities.</a:t>
          </a:r>
        </a:p>
      </dgm:t>
    </dgm:pt>
    <dgm:pt modelId="{9412CD87-0733-4DBE-B4E5-774D02053B0D}" type="parTrans" cxnId="{8B2EE0CE-89C0-438A-AE78-08AD2C62CD53}">
      <dgm:prSet/>
      <dgm:spPr/>
      <dgm:t>
        <a:bodyPr/>
        <a:lstStyle/>
        <a:p>
          <a:endParaRPr lang="en-US"/>
        </a:p>
      </dgm:t>
    </dgm:pt>
    <dgm:pt modelId="{C342DA87-72D8-4C36-88B8-F75920C534A7}" type="sibTrans" cxnId="{8B2EE0CE-89C0-438A-AE78-08AD2C62CD53}">
      <dgm:prSet/>
      <dgm:spPr/>
      <dgm:t>
        <a:bodyPr/>
        <a:lstStyle/>
        <a:p>
          <a:endParaRPr lang="en-US"/>
        </a:p>
      </dgm:t>
    </dgm:pt>
    <dgm:pt modelId="{86ED36EC-076D-47D7-9042-9FE23590433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Portfolio Theory: Structuring diversified portfolios.</a:t>
          </a:r>
        </a:p>
      </dgm:t>
    </dgm:pt>
    <dgm:pt modelId="{3105FAE1-5A69-4832-876E-AC72C6322202}" type="parTrans" cxnId="{8E3E5BD2-1640-42E1-A9AF-933307EA7F5E}">
      <dgm:prSet/>
      <dgm:spPr/>
      <dgm:t>
        <a:bodyPr/>
        <a:lstStyle/>
        <a:p>
          <a:endParaRPr lang="en-US"/>
        </a:p>
      </dgm:t>
    </dgm:pt>
    <dgm:pt modelId="{EA22F31B-F32B-4D9C-8A12-C04E6C47B765}" type="sibTrans" cxnId="{8E3E5BD2-1640-42E1-A9AF-933307EA7F5E}">
      <dgm:prSet/>
      <dgm:spPr/>
      <dgm:t>
        <a:bodyPr/>
        <a:lstStyle/>
        <a:p>
          <a:endParaRPr lang="en-US"/>
        </a:p>
      </dgm:t>
    </dgm:pt>
    <dgm:pt modelId="{EB0E2545-BB2C-4AEC-8355-39D5400F086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Market Analysis: Assessing whether markets are overvalued or undervalued.</a:t>
          </a:r>
        </a:p>
      </dgm:t>
    </dgm:pt>
    <dgm:pt modelId="{65E58C7E-091C-48AB-A735-9E587C956EBD}" type="parTrans" cxnId="{25E1069A-AD0A-42FB-A2FB-3F57BC02F101}">
      <dgm:prSet/>
      <dgm:spPr/>
      <dgm:t>
        <a:bodyPr/>
        <a:lstStyle/>
        <a:p>
          <a:endParaRPr lang="en-US"/>
        </a:p>
      </dgm:t>
    </dgm:pt>
    <dgm:pt modelId="{00453820-7DF8-4328-B01E-8D0DADF25F46}" type="sibTrans" cxnId="{25E1069A-AD0A-42FB-A2FB-3F57BC02F101}">
      <dgm:prSet/>
      <dgm:spPr/>
      <dgm:t>
        <a:bodyPr/>
        <a:lstStyle/>
        <a:p>
          <a:endParaRPr lang="en-US"/>
        </a:p>
      </dgm:t>
    </dgm:pt>
    <dgm:pt modelId="{FD8D1CF2-26EF-416D-BBF5-A9AFB301AAF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Behavioral Finance: Examining investor psychology and market anomalies.</a:t>
          </a:r>
        </a:p>
      </dgm:t>
    </dgm:pt>
    <dgm:pt modelId="{61A5BD2C-57F7-41DB-A08D-F077C032214B}" type="parTrans" cxnId="{B85601CA-1A2D-4E7C-8D76-7166106FC2E8}">
      <dgm:prSet/>
      <dgm:spPr/>
      <dgm:t>
        <a:bodyPr/>
        <a:lstStyle/>
        <a:p>
          <a:endParaRPr lang="en-US"/>
        </a:p>
      </dgm:t>
    </dgm:pt>
    <dgm:pt modelId="{DFF24D8C-AF90-4595-99DC-5679606C789E}" type="sibTrans" cxnId="{B85601CA-1A2D-4E7C-8D76-7166106FC2E8}">
      <dgm:prSet/>
      <dgm:spPr/>
      <dgm:t>
        <a:bodyPr/>
        <a:lstStyle/>
        <a:p>
          <a:endParaRPr lang="en-US"/>
        </a:p>
      </dgm:t>
    </dgm:pt>
    <dgm:pt modelId="{1DB596A9-ABDA-5845-92EE-D544488A79ED}" type="pres">
      <dgm:prSet presAssocID="{37634A86-7426-46F7-A183-72A5953E1AE6}" presName="linear" presStyleCnt="0">
        <dgm:presLayoutVars>
          <dgm:animLvl val="lvl"/>
          <dgm:resizeHandles val="exact"/>
        </dgm:presLayoutVars>
      </dgm:prSet>
      <dgm:spPr/>
    </dgm:pt>
    <dgm:pt modelId="{B0C7C61A-7FFB-A143-89EB-51F8A931032F}" type="pres">
      <dgm:prSet presAssocID="{385666EA-5789-4FA2-B438-F2E9C1E820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9C5EAC-854F-D149-BCFA-D6C72564D0C4}" type="pres">
      <dgm:prSet presAssocID="{385666EA-5789-4FA2-B438-F2E9C1E8203A}" presName="childText" presStyleLbl="revTx" presStyleIdx="0" presStyleCnt="3">
        <dgm:presLayoutVars>
          <dgm:bulletEnabled val="1"/>
        </dgm:presLayoutVars>
      </dgm:prSet>
      <dgm:spPr/>
    </dgm:pt>
    <dgm:pt modelId="{B6E55C6C-E244-FF4D-8E73-EB7DD5D45C04}" type="pres">
      <dgm:prSet presAssocID="{FF4BEBB2-AA04-4A69-A3B0-5B25C13404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075FB5-FFB8-BB4F-BF14-A280314F1C87}" type="pres">
      <dgm:prSet presAssocID="{FF4BEBB2-AA04-4A69-A3B0-5B25C13404D0}" presName="childText" presStyleLbl="revTx" presStyleIdx="1" presStyleCnt="3">
        <dgm:presLayoutVars>
          <dgm:bulletEnabled val="1"/>
        </dgm:presLayoutVars>
      </dgm:prSet>
      <dgm:spPr/>
    </dgm:pt>
    <dgm:pt modelId="{273EF03F-C9ED-2B43-9E3B-4123F12D8B2D}" type="pres">
      <dgm:prSet presAssocID="{FE651AA4-D491-4F0A-A58F-52475908264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E6B4BDC-1E84-F343-A9D8-51E4EBF028FA}" type="pres">
      <dgm:prSet presAssocID="{FE651AA4-D491-4F0A-A58F-52475908264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BD1AB02-1AA3-714F-B51B-A762A1DA7F7D}" type="presOf" srcId="{5225F509-1B3A-453C-AC8B-131743379008}" destId="{FE6B4BDC-1E84-F343-A9D8-51E4EBF028FA}" srcOrd="0" destOrd="1" presId="urn:microsoft.com/office/officeart/2005/8/layout/vList2"/>
    <dgm:cxn modelId="{2BCC300F-041D-CD4E-B2D8-C8C467CEF44A}" type="presOf" srcId="{FF4BEBB2-AA04-4A69-A3B0-5B25C13404D0}" destId="{B6E55C6C-E244-FF4D-8E73-EB7DD5D45C04}" srcOrd="0" destOrd="0" presId="urn:microsoft.com/office/officeart/2005/8/layout/vList2"/>
    <dgm:cxn modelId="{26ED3519-2C8A-9E41-BDC6-493AE7474717}" type="presOf" srcId="{37634A86-7426-46F7-A183-72A5953E1AE6}" destId="{1DB596A9-ABDA-5845-92EE-D544488A79ED}" srcOrd="0" destOrd="0" presId="urn:microsoft.com/office/officeart/2005/8/layout/vList2"/>
    <dgm:cxn modelId="{58F3F12E-121D-6C46-AE29-6E7F40D728D5}" type="presOf" srcId="{EB0E2545-BB2C-4AEC-8355-39D5400F0864}" destId="{FE6B4BDC-1E84-F343-A9D8-51E4EBF028FA}" srcOrd="0" destOrd="3" presId="urn:microsoft.com/office/officeart/2005/8/layout/vList2"/>
    <dgm:cxn modelId="{6A87023E-0F58-1D42-8496-A13D0D718F14}" type="presOf" srcId="{9B356552-C706-41B7-BCEB-84158B8C544C}" destId="{B89C5EAC-854F-D149-BCFA-D6C72564D0C4}" srcOrd="0" destOrd="0" presId="urn:microsoft.com/office/officeart/2005/8/layout/vList2"/>
    <dgm:cxn modelId="{50ED4542-CEF1-4D34-8126-6BF2100F56AA}" srcId="{37634A86-7426-46F7-A183-72A5953E1AE6}" destId="{FE651AA4-D491-4F0A-A58F-52475908264F}" srcOrd="2" destOrd="0" parTransId="{E61E37A0-198A-4DED-A6C9-4CE749F9BE03}" sibTransId="{E254FAF7-E2F9-4B83-9BC8-74A06AE51150}"/>
    <dgm:cxn modelId="{28C4D84F-F565-43AE-9966-172725E27C3E}" srcId="{37634A86-7426-46F7-A183-72A5953E1AE6}" destId="{FF4BEBB2-AA04-4A69-A3B0-5B25C13404D0}" srcOrd="1" destOrd="0" parTransId="{2844046F-A845-497E-9278-4EED3294E6AA}" sibTransId="{95742CEF-7BA5-4FE5-8B4F-F60BA8703420}"/>
    <dgm:cxn modelId="{834D925C-ECB9-BB47-A4B6-F749A2BCC4A8}" type="presOf" srcId="{C3166E05-9155-4659-97E2-A5E512EF123C}" destId="{B89C5EAC-854F-D149-BCFA-D6C72564D0C4}" srcOrd="0" destOrd="1" presId="urn:microsoft.com/office/officeart/2005/8/layout/vList2"/>
    <dgm:cxn modelId="{CD28F660-632B-4574-B882-0D4025629A56}" srcId="{FF4BEBB2-AA04-4A69-A3B0-5B25C13404D0}" destId="{AFC13A57-5273-4F48-88EA-AEB855C58526}" srcOrd="0" destOrd="0" parTransId="{4BCD6738-FCC3-4541-B944-52423B3522DB}" sibTransId="{812064BD-1CFD-4877-BE98-AF61CCB5F3C6}"/>
    <dgm:cxn modelId="{3C65D774-60F9-224C-AED0-B912AAB9992B}" type="presOf" srcId="{FD8D1CF2-26EF-416D-BBF5-A9AFB301AAF0}" destId="{FE6B4BDC-1E84-F343-A9D8-51E4EBF028FA}" srcOrd="0" destOrd="4" presId="urn:microsoft.com/office/officeart/2005/8/layout/vList2"/>
    <dgm:cxn modelId="{19B9AE7B-ECAE-B949-B9B9-1C3092656651}" type="presOf" srcId="{86ED36EC-076D-47D7-9042-9FE235904334}" destId="{FE6B4BDC-1E84-F343-A9D8-51E4EBF028FA}" srcOrd="0" destOrd="2" presId="urn:microsoft.com/office/officeart/2005/8/layout/vList2"/>
    <dgm:cxn modelId="{143B007C-AA05-324E-B7AA-DC3C06D7004C}" type="presOf" srcId="{8D6F286E-D988-44FE-8F27-D665D3EF2030}" destId="{0C075FB5-FFB8-BB4F-BF14-A280314F1C87}" srcOrd="0" destOrd="1" presId="urn:microsoft.com/office/officeart/2005/8/layout/vList2"/>
    <dgm:cxn modelId="{21FB4D81-46D8-6941-A628-96A6DE9E3E5F}" type="presOf" srcId="{C2BBB908-2673-4BCA-B1DC-553E0B673FBA}" destId="{FE6B4BDC-1E84-F343-A9D8-51E4EBF028FA}" srcOrd="0" destOrd="0" presId="urn:microsoft.com/office/officeart/2005/8/layout/vList2"/>
    <dgm:cxn modelId="{F059438D-05BD-2A4B-A908-5026851A7755}" type="presOf" srcId="{385666EA-5789-4FA2-B438-F2E9C1E8203A}" destId="{B0C7C61A-7FFB-A143-89EB-51F8A931032F}" srcOrd="0" destOrd="0" presId="urn:microsoft.com/office/officeart/2005/8/layout/vList2"/>
    <dgm:cxn modelId="{0CD9B790-B308-D341-8CA1-9C6655BEBACD}" type="presOf" srcId="{FE651AA4-D491-4F0A-A58F-52475908264F}" destId="{273EF03F-C9ED-2B43-9E3B-4123F12D8B2D}" srcOrd="0" destOrd="0" presId="urn:microsoft.com/office/officeart/2005/8/layout/vList2"/>
    <dgm:cxn modelId="{25E1069A-AD0A-42FB-A2FB-3F57BC02F101}" srcId="{FE651AA4-D491-4F0A-A58F-52475908264F}" destId="{EB0E2545-BB2C-4AEC-8355-39D5400F0864}" srcOrd="3" destOrd="0" parTransId="{65E58C7E-091C-48AB-A735-9E587C956EBD}" sibTransId="{00453820-7DF8-4328-B01E-8D0DADF25F46}"/>
    <dgm:cxn modelId="{4C7E22A0-DB5F-4952-AFE0-FCB754EFCA5F}" srcId="{385666EA-5789-4FA2-B438-F2E9C1E8203A}" destId="{9B356552-C706-41B7-BCEB-84158B8C544C}" srcOrd="0" destOrd="0" parTransId="{216A059A-DF2A-4754-BEAC-6B9BC2CE2C05}" sibTransId="{ECED0B00-A528-45DC-A72D-45AB05301FCD}"/>
    <dgm:cxn modelId="{E5B5C6AF-97C9-4CF7-8EC6-A074E1353ADE}" srcId="{FE651AA4-D491-4F0A-A58F-52475908264F}" destId="{C2BBB908-2673-4BCA-B1DC-553E0B673FBA}" srcOrd="0" destOrd="0" parTransId="{50ED7350-BC88-48E4-9101-E18C68C8E3CD}" sibTransId="{54DBD2E1-54E1-4BDD-BB1D-D7B96C6A3D73}"/>
    <dgm:cxn modelId="{7E2DEFBF-59FB-4AF0-8512-75F460073A7E}" srcId="{37634A86-7426-46F7-A183-72A5953E1AE6}" destId="{385666EA-5789-4FA2-B438-F2E9C1E8203A}" srcOrd="0" destOrd="0" parTransId="{B0EDCD5A-934F-4B25-BA7D-5226BD08A57D}" sibTransId="{4C85658F-ED31-4433-95DB-52DBBB5FAC1E}"/>
    <dgm:cxn modelId="{983616C4-049B-4192-8001-1C3DBA03F2EE}" srcId="{385666EA-5789-4FA2-B438-F2E9C1E8203A}" destId="{C3166E05-9155-4659-97E2-A5E512EF123C}" srcOrd="1" destOrd="0" parTransId="{EAAB1541-E805-49A3-A4A3-D43F3783EC5A}" sibTransId="{06CCF57B-1108-45A6-9175-EDD255FD2E89}"/>
    <dgm:cxn modelId="{B85601CA-1A2D-4E7C-8D76-7166106FC2E8}" srcId="{FE651AA4-D491-4F0A-A58F-52475908264F}" destId="{FD8D1CF2-26EF-416D-BBF5-A9AFB301AAF0}" srcOrd="4" destOrd="0" parTransId="{61A5BD2C-57F7-41DB-A08D-F077C032214B}" sibTransId="{DFF24D8C-AF90-4595-99DC-5679606C789E}"/>
    <dgm:cxn modelId="{B2D8EECB-DC9A-9349-BED0-C478EB6FF487}" type="presOf" srcId="{AFC13A57-5273-4F48-88EA-AEB855C58526}" destId="{0C075FB5-FFB8-BB4F-BF14-A280314F1C87}" srcOrd="0" destOrd="0" presId="urn:microsoft.com/office/officeart/2005/8/layout/vList2"/>
    <dgm:cxn modelId="{8B2EE0CE-89C0-438A-AE78-08AD2C62CD53}" srcId="{FE651AA4-D491-4F0A-A58F-52475908264F}" destId="{5225F509-1B3A-453C-AC8B-131743379008}" srcOrd="1" destOrd="0" parTransId="{9412CD87-0733-4DBE-B4E5-774D02053B0D}" sibTransId="{C342DA87-72D8-4C36-88B8-F75920C534A7}"/>
    <dgm:cxn modelId="{8E3E5BD2-1640-42E1-A9AF-933307EA7F5E}" srcId="{FE651AA4-D491-4F0A-A58F-52475908264F}" destId="{86ED36EC-076D-47D7-9042-9FE235904334}" srcOrd="2" destOrd="0" parTransId="{3105FAE1-5A69-4832-876E-AC72C6322202}" sibTransId="{EA22F31B-F32B-4D9C-8A12-C04E6C47B765}"/>
    <dgm:cxn modelId="{986D93DC-5173-4C3B-8FDC-53DAD7835B71}" srcId="{FF4BEBB2-AA04-4A69-A3B0-5B25C13404D0}" destId="{8D6F286E-D988-44FE-8F27-D665D3EF2030}" srcOrd="1" destOrd="0" parTransId="{2E08C6FA-7C2F-4E6F-88A4-A0A31D822209}" sibTransId="{C8EBF3E7-8AB3-4147-9853-F197CDB3149A}"/>
    <dgm:cxn modelId="{A0E6F1E4-33A3-40A3-BEB9-654B9055D83A}" srcId="{FF4BEBB2-AA04-4A69-A3B0-5B25C13404D0}" destId="{C2963AD1-679B-4F79-81FB-02D1CED1CBAB}" srcOrd="2" destOrd="0" parTransId="{A811C587-47BB-4119-A34D-BE0C374BDBEC}" sibTransId="{3A8890DE-6E1D-4D00-BDAB-3BB8CCE5B7B9}"/>
    <dgm:cxn modelId="{4C9BDBF2-9272-F14C-B70E-1873A44A23CD}" type="presOf" srcId="{C2963AD1-679B-4F79-81FB-02D1CED1CBAB}" destId="{0C075FB5-FFB8-BB4F-BF14-A280314F1C87}" srcOrd="0" destOrd="2" presId="urn:microsoft.com/office/officeart/2005/8/layout/vList2"/>
    <dgm:cxn modelId="{FD381B7D-55DC-5041-81A4-EB1122D1B14B}" type="presParOf" srcId="{1DB596A9-ABDA-5845-92EE-D544488A79ED}" destId="{B0C7C61A-7FFB-A143-89EB-51F8A931032F}" srcOrd="0" destOrd="0" presId="urn:microsoft.com/office/officeart/2005/8/layout/vList2"/>
    <dgm:cxn modelId="{1B953438-A5F2-6E4B-898C-94BBE48AEF33}" type="presParOf" srcId="{1DB596A9-ABDA-5845-92EE-D544488A79ED}" destId="{B89C5EAC-854F-D149-BCFA-D6C72564D0C4}" srcOrd="1" destOrd="0" presId="urn:microsoft.com/office/officeart/2005/8/layout/vList2"/>
    <dgm:cxn modelId="{13272186-591A-9A47-A812-9FFA1B9703E4}" type="presParOf" srcId="{1DB596A9-ABDA-5845-92EE-D544488A79ED}" destId="{B6E55C6C-E244-FF4D-8E73-EB7DD5D45C04}" srcOrd="2" destOrd="0" presId="urn:microsoft.com/office/officeart/2005/8/layout/vList2"/>
    <dgm:cxn modelId="{B13FB204-9D7E-D44C-9A21-A1B8A70AA66C}" type="presParOf" srcId="{1DB596A9-ABDA-5845-92EE-D544488A79ED}" destId="{0C075FB5-FFB8-BB4F-BF14-A280314F1C87}" srcOrd="3" destOrd="0" presId="urn:microsoft.com/office/officeart/2005/8/layout/vList2"/>
    <dgm:cxn modelId="{9E6B6C48-35D4-4548-8A3E-F4C86A2007A9}" type="presParOf" srcId="{1DB596A9-ABDA-5845-92EE-D544488A79ED}" destId="{273EF03F-C9ED-2B43-9E3B-4123F12D8B2D}" srcOrd="4" destOrd="0" presId="urn:microsoft.com/office/officeart/2005/8/layout/vList2"/>
    <dgm:cxn modelId="{5E4BCF12-CD32-E24E-AAA4-1898944C240A}" type="presParOf" srcId="{1DB596A9-ABDA-5845-92EE-D544488A79ED}" destId="{FE6B4BDC-1E84-F343-A9D8-51E4EBF028F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19B4A1-2674-4E72-8A3E-0F7845AD3EA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B788095-95E9-4378-94A6-EE0149B4365C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Board of Directors</a:t>
          </a:r>
        </a:p>
      </dgm:t>
    </dgm:pt>
    <dgm:pt modelId="{D58760CA-24A8-4B2E-8F4F-72CD1B74E023}" type="parTrans" cxnId="{D3B38A78-C255-4440-B5CA-0BA16A9FC7C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1305E7-45BE-4696-B1DE-65F9E3304968}" type="sibTrans" cxnId="{D3B38A78-C255-4440-B5CA-0BA16A9FC7C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C9C3E0-5C32-4112-BD7D-2792E77A7274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Executive Officer (CEO)</a:t>
          </a:r>
        </a:p>
      </dgm:t>
    </dgm:pt>
    <dgm:pt modelId="{781F35E1-73BF-481A-BD37-7C72C30C7C20}" type="parTrans" cxnId="{22E3CDC9-1670-4061-B628-F52F03E7118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B38B9E-ABCF-4D82-B6E5-DC3A98F9ABBB}" type="sibTrans" cxnId="{22E3CDC9-1670-4061-B628-F52F03E7118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D4B31B-2210-4841-B49A-589D63028FD8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Operating Officer (COO)</a:t>
          </a:r>
        </a:p>
      </dgm:t>
    </dgm:pt>
    <dgm:pt modelId="{1B71643C-C432-4C22-A456-02683E3FE402}" type="parTrans" cxnId="{8D75A7AF-DA1D-48CF-934E-EF2DAADAE9A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96462E-D7F4-4B27-9187-656A0F823B48}" type="sibTrans" cxnId="{8D75A7AF-DA1D-48CF-934E-EF2DAADAE9A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2C2619-C26E-4286-80C5-D699C984019F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Financial Officer (CFO)</a:t>
          </a:r>
        </a:p>
      </dgm:t>
    </dgm:pt>
    <dgm:pt modelId="{28AF9C1D-7B30-43EE-BFC4-8A47141CD2FA}" type="parTrans" cxnId="{71451FE0-32FC-4251-B1D5-804012C583D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EC645E-F994-4518-98D1-D38DE789E987}" type="sibTrans" cxnId="{71451FE0-32FC-4251-B1D5-804012C583D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1820A7-A819-4B17-A039-166E03F1E0B1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Marketing, Production, Human Resources, and Other Operating Departments</a:t>
          </a:r>
        </a:p>
      </dgm:t>
    </dgm:pt>
    <dgm:pt modelId="{D2C82DFD-4785-4A3D-8338-1581A0A4EFBD}" type="parTrans" cxnId="{7BD67D5D-8133-446C-B38C-6228D4D2709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AB5915-FE99-4F5D-A78C-D6D9B9598143}" type="sibTrans" cxnId="{7BD67D5D-8133-446C-B38C-6228D4D2709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02996B-2A2A-44C4-883F-E806D0A8B48F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Accounting, Treasury, Credit, Legal, Capital Budgeting, and Investor Relations</a:t>
          </a:r>
        </a:p>
      </dgm:t>
    </dgm:pt>
    <dgm:pt modelId="{DD15BA8F-45A6-4CF0-824E-4A22942BE9D2}" type="parTrans" cxnId="{7E846F50-00D3-4B7F-A14E-5EA91D59B30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50F89D-73CE-49B3-A8E5-C4816C160054}" type="sibTrans" cxnId="{7E846F50-00D3-4B7F-A14E-5EA91D59B30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1B7D29-E81F-49CC-8748-9D4EAB130996}" type="pres">
      <dgm:prSet presAssocID="{E319B4A1-2674-4E72-8A3E-0F7845AD3EA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36CB80-073C-4FA4-8EBF-1B08AEA4236F}" type="pres">
      <dgm:prSet presAssocID="{6B788095-95E9-4378-94A6-EE0149B4365C}" presName="hierRoot1" presStyleCnt="0"/>
      <dgm:spPr/>
    </dgm:pt>
    <dgm:pt modelId="{38C9CD72-B62B-4853-805E-9BE283E1ADCB}" type="pres">
      <dgm:prSet presAssocID="{6B788095-95E9-4378-94A6-EE0149B4365C}" presName="composite" presStyleCnt="0"/>
      <dgm:spPr/>
    </dgm:pt>
    <dgm:pt modelId="{89D47909-1CE3-44F0-9235-8437FE52A4FF}" type="pres">
      <dgm:prSet presAssocID="{6B788095-95E9-4378-94A6-EE0149B4365C}" presName="background" presStyleLbl="node0" presStyleIdx="0" presStyleCnt="1"/>
      <dgm:spPr/>
    </dgm:pt>
    <dgm:pt modelId="{C6EA1D0D-8CE5-4182-AAC1-31BDF4E327D4}" type="pres">
      <dgm:prSet presAssocID="{6B788095-95E9-4378-94A6-EE0149B4365C}" presName="text" presStyleLbl="fgAcc0" presStyleIdx="0" presStyleCnt="1" custScaleX="153146" custScaleY="42934" custLinFactNeighborY="-6858">
        <dgm:presLayoutVars>
          <dgm:chPref val="3"/>
        </dgm:presLayoutVars>
      </dgm:prSet>
      <dgm:spPr/>
    </dgm:pt>
    <dgm:pt modelId="{D7C8A02E-DD08-4768-9C2E-71F4B9FFFB59}" type="pres">
      <dgm:prSet presAssocID="{6B788095-95E9-4378-94A6-EE0149B4365C}" presName="hierChild2" presStyleCnt="0"/>
      <dgm:spPr/>
    </dgm:pt>
    <dgm:pt modelId="{ED3A27C4-B511-4213-B394-1A87FCF5D4C5}" type="pres">
      <dgm:prSet presAssocID="{781F35E1-73BF-481A-BD37-7C72C30C7C20}" presName="Name10" presStyleLbl="parChTrans1D2" presStyleIdx="0" presStyleCnt="1"/>
      <dgm:spPr/>
    </dgm:pt>
    <dgm:pt modelId="{013DA1F7-BC5B-4480-B8A4-7E6A40C83119}" type="pres">
      <dgm:prSet presAssocID="{3CC9C3E0-5C32-4112-BD7D-2792E77A7274}" presName="hierRoot2" presStyleCnt="0"/>
      <dgm:spPr/>
    </dgm:pt>
    <dgm:pt modelId="{D68E199A-A339-47BA-99EC-447237BE0747}" type="pres">
      <dgm:prSet presAssocID="{3CC9C3E0-5C32-4112-BD7D-2792E77A7274}" presName="composite2" presStyleCnt="0"/>
      <dgm:spPr/>
    </dgm:pt>
    <dgm:pt modelId="{118A45C5-E6D9-4C6E-B996-7B2913B6E183}" type="pres">
      <dgm:prSet presAssocID="{3CC9C3E0-5C32-4112-BD7D-2792E77A7274}" presName="background2" presStyleLbl="node2" presStyleIdx="0" presStyleCnt="1"/>
      <dgm:spPr/>
    </dgm:pt>
    <dgm:pt modelId="{5F25714E-F578-4E72-A60C-54A2E4D7D868}" type="pres">
      <dgm:prSet presAssocID="{3CC9C3E0-5C32-4112-BD7D-2792E77A7274}" presName="text2" presStyleLbl="fgAcc2" presStyleIdx="0" presStyleCnt="1" custScaleX="170722" custScaleY="42729" custLinFactNeighborY="-6858">
        <dgm:presLayoutVars>
          <dgm:chPref val="3"/>
        </dgm:presLayoutVars>
      </dgm:prSet>
      <dgm:spPr/>
    </dgm:pt>
    <dgm:pt modelId="{F117DD0E-CC81-4361-950C-FB22DC0B0A40}" type="pres">
      <dgm:prSet presAssocID="{3CC9C3E0-5C32-4112-BD7D-2792E77A7274}" presName="hierChild3" presStyleCnt="0"/>
      <dgm:spPr/>
    </dgm:pt>
    <dgm:pt modelId="{F5AB6F2D-31FE-4A96-95FF-9F7F5BB648A9}" type="pres">
      <dgm:prSet presAssocID="{1B71643C-C432-4C22-A456-02683E3FE402}" presName="Name17" presStyleLbl="parChTrans1D3" presStyleIdx="0" presStyleCnt="2"/>
      <dgm:spPr/>
    </dgm:pt>
    <dgm:pt modelId="{F24F2397-DCB1-4BFB-BA0D-448A1BF8DA72}" type="pres">
      <dgm:prSet presAssocID="{A4D4B31B-2210-4841-B49A-589D63028FD8}" presName="hierRoot3" presStyleCnt="0"/>
      <dgm:spPr/>
    </dgm:pt>
    <dgm:pt modelId="{DCC7D608-F778-4DCD-A38D-5D9B23FE2106}" type="pres">
      <dgm:prSet presAssocID="{A4D4B31B-2210-4841-B49A-589D63028FD8}" presName="composite3" presStyleCnt="0"/>
      <dgm:spPr/>
    </dgm:pt>
    <dgm:pt modelId="{CCF3549F-D7C0-423B-9A41-64A457A851CC}" type="pres">
      <dgm:prSet presAssocID="{A4D4B31B-2210-4841-B49A-589D63028FD8}" presName="background3" presStyleLbl="node3" presStyleIdx="0" presStyleCnt="2"/>
      <dgm:spPr/>
    </dgm:pt>
    <dgm:pt modelId="{031C20C4-4F80-4011-B7F2-766337818AE5}" type="pres">
      <dgm:prSet presAssocID="{A4D4B31B-2210-4841-B49A-589D63028FD8}" presName="text3" presStyleLbl="fgAcc3" presStyleIdx="0" presStyleCnt="2" custScaleX="165036" custScaleY="45019">
        <dgm:presLayoutVars>
          <dgm:chPref val="3"/>
        </dgm:presLayoutVars>
      </dgm:prSet>
      <dgm:spPr/>
    </dgm:pt>
    <dgm:pt modelId="{959299F0-13B7-4630-A2E6-C6615B3A1457}" type="pres">
      <dgm:prSet presAssocID="{A4D4B31B-2210-4841-B49A-589D63028FD8}" presName="hierChild4" presStyleCnt="0"/>
      <dgm:spPr/>
    </dgm:pt>
    <dgm:pt modelId="{A74F9DD4-C202-43AF-A8D9-DD4D14E20B59}" type="pres">
      <dgm:prSet presAssocID="{D2C82DFD-4785-4A3D-8338-1581A0A4EFBD}" presName="Name23" presStyleLbl="parChTrans1D4" presStyleIdx="0" presStyleCnt="2"/>
      <dgm:spPr/>
    </dgm:pt>
    <dgm:pt modelId="{259E3164-601E-4E8E-ABC8-89C8A4CCACBC}" type="pres">
      <dgm:prSet presAssocID="{2C1820A7-A819-4B17-A039-166E03F1E0B1}" presName="hierRoot4" presStyleCnt="0"/>
      <dgm:spPr/>
    </dgm:pt>
    <dgm:pt modelId="{5701AAF6-ED95-48C6-9098-A24007A6AAAD}" type="pres">
      <dgm:prSet presAssocID="{2C1820A7-A819-4B17-A039-166E03F1E0B1}" presName="composite4" presStyleCnt="0"/>
      <dgm:spPr/>
    </dgm:pt>
    <dgm:pt modelId="{84D4A318-9538-4820-AD79-9A40AABC2475}" type="pres">
      <dgm:prSet presAssocID="{2C1820A7-A819-4B17-A039-166E03F1E0B1}" presName="background4" presStyleLbl="node4" presStyleIdx="0" presStyleCnt="2"/>
      <dgm:spPr/>
    </dgm:pt>
    <dgm:pt modelId="{EB484A23-1E72-4974-9BB2-F5D80A9C4F88}" type="pres">
      <dgm:prSet presAssocID="{2C1820A7-A819-4B17-A039-166E03F1E0B1}" presName="text4" presStyleLbl="fgAcc4" presStyleIdx="0" presStyleCnt="2" custScaleX="214470" custScaleY="44646">
        <dgm:presLayoutVars>
          <dgm:chPref val="3"/>
        </dgm:presLayoutVars>
      </dgm:prSet>
      <dgm:spPr/>
    </dgm:pt>
    <dgm:pt modelId="{83D1DCF1-57FF-42EF-81B3-0DAE7E812FF6}" type="pres">
      <dgm:prSet presAssocID="{2C1820A7-A819-4B17-A039-166E03F1E0B1}" presName="hierChild5" presStyleCnt="0"/>
      <dgm:spPr/>
    </dgm:pt>
    <dgm:pt modelId="{8D22AB72-FAE3-412B-A693-099ACA2C62ED}" type="pres">
      <dgm:prSet presAssocID="{28AF9C1D-7B30-43EE-BFC4-8A47141CD2FA}" presName="Name17" presStyleLbl="parChTrans1D3" presStyleIdx="1" presStyleCnt="2"/>
      <dgm:spPr/>
    </dgm:pt>
    <dgm:pt modelId="{964188D8-CD70-4F83-B0C4-6471EE0E6ADF}" type="pres">
      <dgm:prSet presAssocID="{A42C2619-C26E-4286-80C5-D699C984019F}" presName="hierRoot3" presStyleCnt="0"/>
      <dgm:spPr/>
    </dgm:pt>
    <dgm:pt modelId="{5F94E30A-D373-4390-BD1D-712ADCF8F875}" type="pres">
      <dgm:prSet presAssocID="{A42C2619-C26E-4286-80C5-D699C984019F}" presName="composite3" presStyleCnt="0"/>
      <dgm:spPr/>
    </dgm:pt>
    <dgm:pt modelId="{0966CEDC-4882-43C3-8BC0-5DD1F094D3F4}" type="pres">
      <dgm:prSet presAssocID="{A42C2619-C26E-4286-80C5-D699C984019F}" presName="background3" presStyleLbl="node3" presStyleIdx="1" presStyleCnt="2"/>
      <dgm:spPr/>
    </dgm:pt>
    <dgm:pt modelId="{BA670E05-683A-4AE7-A8B0-215BD476C0A9}" type="pres">
      <dgm:prSet presAssocID="{A42C2619-C26E-4286-80C5-D699C984019F}" presName="text3" presStyleLbl="fgAcc3" presStyleIdx="1" presStyleCnt="2" custScaleX="163750" custScaleY="45019">
        <dgm:presLayoutVars>
          <dgm:chPref val="3"/>
        </dgm:presLayoutVars>
      </dgm:prSet>
      <dgm:spPr/>
    </dgm:pt>
    <dgm:pt modelId="{BEAD1BA8-48D1-4BE1-90D3-ADBE35DEF560}" type="pres">
      <dgm:prSet presAssocID="{A42C2619-C26E-4286-80C5-D699C984019F}" presName="hierChild4" presStyleCnt="0"/>
      <dgm:spPr/>
    </dgm:pt>
    <dgm:pt modelId="{D4229593-F7A2-4476-A4BE-EB73A763DC9B}" type="pres">
      <dgm:prSet presAssocID="{DD15BA8F-45A6-4CF0-824E-4A22942BE9D2}" presName="Name23" presStyleLbl="parChTrans1D4" presStyleIdx="1" presStyleCnt="2"/>
      <dgm:spPr/>
    </dgm:pt>
    <dgm:pt modelId="{6FF8B445-B30F-411D-A7A8-080B7D2367ED}" type="pres">
      <dgm:prSet presAssocID="{4A02996B-2A2A-44C4-883F-E806D0A8B48F}" presName="hierRoot4" presStyleCnt="0"/>
      <dgm:spPr/>
    </dgm:pt>
    <dgm:pt modelId="{D9D25053-43E0-4CAB-8492-F6789831C322}" type="pres">
      <dgm:prSet presAssocID="{4A02996B-2A2A-44C4-883F-E806D0A8B48F}" presName="composite4" presStyleCnt="0"/>
      <dgm:spPr/>
    </dgm:pt>
    <dgm:pt modelId="{FF27CAFE-B80A-4052-B52C-E6C81E92C6A5}" type="pres">
      <dgm:prSet presAssocID="{4A02996B-2A2A-44C4-883F-E806D0A8B48F}" presName="background4" presStyleLbl="node4" presStyleIdx="1" presStyleCnt="2"/>
      <dgm:spPr/>
    </dgm:pt>
    <dgm:pt modelId="{3DB97BA4-DDB4-40A5-9363-0E40904776FC}" type="pres">
      <dgm:prSet presAssocID="{4A02996B-2A2A-44C4-883F-E806D0A8B48F}" presName="text4" presStyleLbl="fgAcc4" presStyleIdx="1" presStyleCnt="2" custScaleX="207487" custScaleY="44646">
        <dgm:presLayoutVars>
          <dgm:chPref val="3"/>
        </dgm:presLayoutVars>
      </dgm:prSet>
      <dgm:spPr/>
    </dgm:pt>
    <dgm:pt modelId="{AB22DDD2-197E-4AA7-9842-C92EE521356D}" type="pres">
      <dgm:prSet presAssocID="{4A02996B-2A2A-44C4-883F-E806D0A8B48F}" presName="hierChild5" presStyleCnt="0"/>
      <dgm:spPr/>
    </dgm:pt>
  </dgm:ptLst>
  <dgm:cxnLst>
    <dgm:cxn modelId="{0D5BFE10-87D9-48B4-A50C-3F0B5FB70934}" type="presOf" srcId="{A4D4B31B-2210-4841-B49A-589D63028FD8}" destId="{031C20C4-4F80-4011-B7F2-766337818AE5}" srcOrd="0" destOrd="0" presId="urn:microsoft.com/office/officeart/2005/8/layout/hierarchy1"/>
    <dgm:cxn modelId="{95C8121F-096A-4302-804F-6D644B11D68B}" type="presOf" srcId="{E319B4A1-2674-4E72-8A3E-0F7845AD3EAE}" destId="{BC1B7D29-E81F-49CC-8748-9D4EAB130996}" srcOrd="0" destOrd="0" presId="urn:microsoft.com/office/officeart/2005/8/layout/hierarchy1"/>
    <dgm:cxn modelId="{7E846F50-00D3-4B7F-A14E-5EA91D59B309}" srcId="{A42C2619-C26E-4286-80C5-D699C984019F}" destId="{4A02996B-2A2A-44C4-883F-E806D0A8B48F}" srcOrd="0" destOrd="0" parTransId="{DD15BA8F-45A6-4CF0-824E-4A22942BE9D2}" sibTransId="{8350F89D-73CE-49B3-A8E5-C4816C160054}"/>
    <dgm:cxn modelId="{7BD67D5D-8133-446C-B38C-6228D4D27098}" srcId="{A4D4B31B-2210-4841-B49A-589D63028FD8}" destId="{2C1820A7-A819-4B17-A039-166E03F1E0B1}" srcOrd="0" destOrd="0" parTransId="{D2C82DFD-4785-4A3D-8338-1581A0A4EFBD}" sibTransId="{B8AB5915-FE99-4F5D-A78C-D6D9B9598143}"/>
    <dgm:cxn modelId="{D3B38A78-C255-4440-B5CA-0BA16A9FC7CC}" srcId="{E319B4A1-2674-4E72-8A3E-0F7845AD3EAE}" destId="{6B788095-95E9-4378-94A6-EE0149B4365C}" srcOrd="0" destOrd="0" parTransId="{D58760CA-24A8-4B2E-8F4F-72CD1B74E023}" sibTransId="{2D1305E7-45BE-4696-B1DE-65F9E3304968}"/>
    <dgm:cxn modelId="{50E45C7D-FFEA-40FC-A8C9-2362B3285699}" type="presOf" srcId="{3CC9C3E0-5C32-4112-BD7D-2792E77A7274}" destId="{5F25714E-F578-4E72-A60C-54A2E4D7D868}" srcOrd="0" destOrd="0" presId="urn:microsoft.com/office/officeart/2005/8/layout/hierarchy1"/>
    <dgm:cxn modelId="{811A2982-DE1F-4197-BBB7-E8D5FDE9EC66}" type="presOf" srcId="{6B788095-95E9-4378-94A6-EE0149B4365C}" destId="{C6EA1D0D-8CE5-4182-AAC1-31BDF4E327D4}" srcOrd="0" destOrd="0" presId="urn:microsoft.com/office/officeart/2005/8/layout/hierarchy1"/>
    <dgm:cxn modelId="{28FF4C8A-BC2D-4C4C-BB0D-EF862B2D852E}" type="presOf" srcId="{781F35E1-73BF-481A-BD37-7C72C30C7C20}" destId="{ED3A27C4-B511-4213-B394-1A87FCF5D4C5}" srcOrd="0" destOrd="0" presId="urn:microsoft.com/office/officeart/2005/8/layout/hierarchy1"/>
    <dgm:cxn modelId="{CBA4868D-8F20-42CA-A535-B8BC374BD88E}" type="presOf" srcId="{A42C2619-C26E-4286-80C5-D699C984019F}" destId="{BA670E05-683A-4AE7-A8B0-215BD476C0A9}" srcOrd="0" destOrd="0" presId="urn:microsoft.com/office/officeart/2005/8/layout/hierarchy1"/>
    <dgm:cxn modelId="{7796A8AC-FDF1-4B8C-B5F8-BA0A439A1F31}" type="presOf" srcId="{D2C82DFD-4785-4A3D-8338-1581A0A4EFBD}" destId="{A74F9DD4-C202-43AF-A8D9-DD4D14E20B59}" srcOrd="0" destOrd="0" presId="urn:microsoft.com/office/officeart/2005/8/layout/hierarchy1"/>
    <dgm:cxn modelId="{8D75A7AF-DA1D-48CF-934E-EF2DAADAE9A2}" srcId="{3CC9C3E0-5C32-4112-BD7D-2792E77A7274}" destId="{A4D4B31B-2210-4841-B49A-589D63028FD8}" srcOrd="0" destOrd="0" parTransId="{1B71643C-C432-4C22-A456-02683E3FE402}" sibTransId="{2596462E-D7F4-4B27-9187-656A0F823B48}"/>
    <dgm:cxn modelId="{22E3CDC9-1670-4061-B628-F52F03E71181}" srcId="{6B788095-95E9-4378-94A6-EE0149B4365C}" destId="{3CC9C3E0-5C32-4112-BD7D-2792E77A7274}" srcOrd="0" destOrd="0" parTransId="{781F35E1-73BF-481A-BD37-7C72C30C7C20}" sibTransId="{F5B38B9E-ABCF-4D82-B6E5-DC3A98F9ABBB}"/>
    <dgm:cxn modelId="{3A5E13D3-9E46-4969-BA83-CFD51A545694}" type="presOf" srcId="{1B71643C-C432-4C22-A456-02683E3FE402}" destId="{F5AB6F2D-31FE-4A96-95FF-9F7F5BB648A9}" srcOrd="0" destOrd="0" presId="urn:microsoft.com/office/officeart/2005/8/layout/hierarchy1"/>
    <dgm:cxn modelId="{71451FE0-32FC-4251-B1D5-804012C583DC}" srcId="{3CC9C3E0-5C32-4112-BD7D-2792E77A7274}" destId="{A42C2619-C26E-4286-80C5-D699C984019F}" srcOrd="1" destOrd="0" parTransId="{28AF9C1D-7B30-43EE-BFC4-8A47141CD2FA}" sibTransId="{45EC645E-F994-4518-98D1-D38DE789E987}"/>
    <dgm:cxn modelId="{084104E5-9F10-4C52-848B-B8E82F56853A}" type="presOf" srcId="{4A02996B-2A2A-44C4-883F-E806D0A8B48F}" destId="{3DB97BA4-DDB4-40A5-9363-0E40904776FC}" srcOrd="0" destOrd="0" presId="urn:microsoft.com/office/officeart/2005/8/layout/hierarchy1"/>
    <dgm:cxn modelId="{3A27CDE7-13AF-47FF-B6D5-11037F3E6ECE}" type="presOf" srcId="{DD15BA8F-45A6-4CF0-824E-4A22942BE9D2}" destId="{D4229593-F7A2-4476-A4BE-EB73A763DC9B}" srcOrd="0" destOrd="0" presId="urn:microsoft.com/office/officeart/2005/8/layout/hierarchy1"/>
    <dgm:cxn modelId="{59B456EA-7072-4F59-87E3-FF639B0D3152}" type="presOf" srcId="{28AF9C1D-7B30-43EE-BFC4-8A47141CD2FA}" destId="{8D22AB72-FAE3-412B-A693-099ACA2C62ED}" srcOrd="0" destOrd="0" presId="urn:microsoft.com/office/officeart/2005/8/layout/hierarchy1"/>
    <dgm:cxn modelId="{B4097BEE-4AD6-4E10-A01B-BE07CE6B1776}" type="presOf" srcId="{2C1820A7-A819-4B17-A039-166E03F1E0B1}" destId="{EB484A23-1E72-4974-9BB2-F5D80A9C4F88}" srcOrd="0" destOrd="0" presId="urn:microsoft.com/office/officeart/2005/8/layout/hierarchy1"/>
    <dgm:cxn modelId="{844E2C57-EE33-4054-8323-FE6EC9C00CD9}" type="presParOf" srcId="{BC1B7D29-E81F-49CC-8748-9D4EAB130996}" destId="{4936CB80-073C-4FA4-8EBF-1B08AEA4236F}" srcOrd="0" destOrd="0" presId="urn:microsoft.com/office/officeart/2005/8/layout/hierarchy1"/>
    <dgm:cxn modelId="{FEDE6330-C036-45D7-95EA-5B242F8AA7FD}" type="presParOf" srcId="{4936CB80-073C-4FA4-8EBF-1B08AEA4236F}" destId="{38C9CD72-B62B-4853-805E-9BE283E1ADCB}" srcOrd="0" destOrd="0" presId="urn:microsoft.com/office/officeart/2005/8/layout/hierarchy1"/>
    <dgm:cxn modelId="{E69ED36C-F251-475A-A44B-CFBF478CBCA5}" type="presParOf" srcId="{38C9CD72-B62B-4853-805E-9BE283E1ADCB}" destId="{89D47909-1CE3-44F0-9235-8437FE52A4FF}" srcOrd="0" destOrd="0" presId="urn:microsoft.com/office/officeart/2005/8/layout/hierarchy1"/>
    <dgm:cxn modelId="{DC92E9F0-7B5E-4B93-A263-8A47D9D889A8}" type="presParOf" srcId="{38C9CD72-B62B-4853-805E-9BE283E1ADCB}" destId="{C6EA1D0D-8CE5-4182-AAC1-31BDF4E327D4}" srcOrd="1" destOrd="0" presId="urn:microsoft.com/office/officeart/2005/8/layout/hierarchy1"/>
    <dgm:cxn modelId="{D36343AA-F52E-44C6-8401-C29916B8277A}" type="presParOf" srcId="{4936CB80-073C-4FA4-8EBF-1B08AEA4236F}" destId="{D7C8A02E-DD08-4768-9C2E-71F4B9FFFB59}" srcOrd="1" destOrd="0" presId="urn:microsoft.com/office/officeart/2005/8/layout/hierarchy1"/>
    <dgm:cxn modelId="{036561D1-0259-4703-89A8-A3DE35C8869A}" type="presParOf" srcId="{D7C8A02E-DD08-4768-9C2E-71F4B9FFFB59}" destId="{ED3A27C4-B511-4213-B394-1A87FCF5D4C5}" srcOrd="0" destOrd="0" presId="urn:microsoft.com/office/officeart/2005/8/layout/hierarchy1"/>
    <dgm:cxn modelId="{423CBCF4-2CDC-4336-8BEF-BCB0FE205CF2}" type="presParOf" srcId="{D7C8A02E-DD08-4768-9C2E-71F4B9FFFB59}" destId="{013DA1F7-BC5B-4480-B8A4-7E6A40C83119}" srcOrd="1" destOrd="0" presId="urn:microsoft.com/office/officeart/2005/8/layout/hierarchy1"/>
    <dgm:cxn modelId="{14E59CC7-F38F-4BE7-A553-D3F08E596198}" type="presParOf" srcId="{013DA1F7-BC5B-4480-B8A4-7E6A40C83119}" destId="{D68E199A-A339-47BA-99EC-447237BE0747}" srcOrd="0" destOrd="0" presId="urn:microsoft.com/office/officeart/2005/8/layout/hierarchy1"/>
    <dgm:cxn modelId="{DEAECBED-AA04-4943-ABBF-4BD56AEAB08A}" type="presParOf" srcId="{D68E199A-A339-47BA-99EC-447237BE0747}" destId="{118A45C5-E6D9-4C6E-B996-7B2913B6E183}" srcOrd="0" destOrd="0" presId="urn:microsoft.com/office/officeart/2005/8/layout/hierarchy1"/>
    <dgm:cxn modelId="{41DE9602-E91B-4352-8E7D-7DCA389D37DB}" type="presParOf" srcId="{D68E199A-A339-47BA-99EC-447237BE0747}" destId="{5F25714E-F578-4E72-A60C-54A2E4D7D868}" srcOrd="1" destOrd="0" presId="urn:microsoft.com/office/officeart/2005/8/layout/hierarchy1"/>
    <dgm:cxn modelId="{BF37C0EE-9CDD-4BF4-96A4-CDD781151E22}" type="presParOf" srcId="{013DA1F7-BC5B-4480-B8A4-7E6A40C83119}" destId="{F117DD0E-CC81-4361-950C-FB22DC0B0A40}" srcOrd="1" destOrd="0" presId="urn:microsoft.com/office/officeart/2005/8/layout/hierarchy1"/>
    <dgm:cxn modelId="{45B62349-F805-4E99-BBE7-1F61433A9971}" type="presParOf" srcId="{F117DD0E-CC81-4361-950C-FB22DC0B0A40}" destId="{F5AB6F2D-31FE-4A96-95FF-9F7F5BB648A9}" srcOrd="0" destOrd="0" presId="urn:microsoft.com/office/officeart/2005/8/layout/hierarchy1"/>
    <dgm:cxn modelId="{6E256876-E4BC-48B2-A769-A93695E1ABE4}" type="presParOf" srcId="{F117DD0E-CC81-4361-950C-FB22DC0B0A40}" destId="{F24F2397-DCB1-4BFB-BA0D-448A1BF8DA72}" srcOrd="1" destOrd="0" presId="urn:microsoft.com/office/officeart/2005/8/layout/hierarchy1"/>
    <dgm:cxn modelId="{ACE4CA03-02B5-41CB-8190-471B7D5A3020}" type="presParOf" srcId="{F24F2397-DCB1-4BFB-BA0D-448A1BF8DA72}" destId="{DCC7D608-F778-4DCD-A38D-5D9B23FE2106}" srcOrd="0" destOrd="0" presId="urn:microsoft.com/office/officeart/2005/8/layout/hierarchy1"/>
    <dgm:cxn modelId="{2C1DB8DD-8493-4FB4-B006-3B593DA15A7A}" type="presParOf" srcId="{DCC7D608-F778-4DCD-A38D-5D9B23FE2106}" destId="{CCF3549F-D7C0-423B-9A41-64A457A851CC}" srcOrd="0" destOrd="0" presId="urn:microsoft.com/office/officeart/2005/8/layout/hierarchy1"/>
    <dgm:cxn modelId="{A1DF35B6-8217-41A4-B88C-F80DA4D61132}" type="presParOf" srcId="{DCC7D608-F778-4DCD-A38D-5D9B23FE2106}" destId="{031C20C4-4F80-4011-B7F2-766337818AE5}" srcOrd="1" destOrd="0" presId="urn:microsoft.com/office/officeart/2005/8/layout/hierarchy1"/>
    <dgm:cxn modelId="{5F5F5206-5F8B-4A83-9CF8-F66F7F5662B3}" type="presParOf" srcId="{F24F2397-DCB1-4BFB-BA0D-448A1BF8DA72}" destId="{959299F0-13B7-4630-A2E6-C6615B3A1457}" srcOrd="1" destOrd="0" presId="urn:microsoft.com/office/officeart/2005/8/layout/hierarchy1"/>
    <dgm:cxn modelId="{08CFE7BD-38CF-4E20-ABBA-E6B3BEBFEEF7}" type="presParOf" srcId="{959299F0-13B7-4630-A2E6-C6615B3A1457}" destId="{A74F9DD4-C202-43AF-A8D9-DD4D14E20B59}" srcOrd="0" destOrd="0" presId="urn:microsoft.com/office/officeart/2005/8/layout/hierarchy1"/>
    <dgm:cxn modelId="{4D4CE628-4E10-4EF1-87DB-3088C9BFAEFB}" type="presParOf" srcId="{959299F0-13B7-4630-A2E6-C6615B3A1457}" destId="{259E3164-601E-4E8E-ABC8-89C8A4CCACBC}" srcOrd="1" destOrd="0" presId="urn:microsoft.com/office/officeart/2005/8/layout/hierarchy1"/>
    <dgm:cxn modelId="{DB7AF2D2-6F98-4D48-8ABC-341BD84FC843}" type="presParOf" srcId="{259E3164-601E-4E8E-ABC8-89C8A4CCACBC}" destId="{5701AAF6-ED95-48C6-9098-A24007A6AAAD}" srcOrd="0" destOrd="0" presId="urn:microsoft.com/office/officeart/2005/8/layout/hierarchy1"/>
    <dgm:cxn modelId="{1F03ABDE-7764-4FA9-9E74-746DA1A7A72A}" type="presParOf" srcId="{5701AAF6-ED95-48C6-9098-A24007A6AAAD}" destId="{84D4A318-9538-4820-AD79-9A40AABC2475}" srcOrd="0" destOrd="0" presId="urn:microsoft.com/office/officeart/2005/8/layout/hierarchy1"/>
    <dgm:cxn modelId="{F136DEF7-A984-4221-A973-8F36C89CA250}" type="presParOf" srcId="{5701AAF6-ED95-48C6-9098-A24007A6AAAD}" destId="{EB484A23-1E72-4974-9BB2-F5D80A9C4F88}" srcOrd="1" destOrd="0" presId="urn:microsoft.com/office/officeart/2005/8/layout/hierarchy1"/>
    <dgm:cxn modelId="{4D84E54F-4657-4422-9148-6AFCB44E20EB}" type="presParOf" srcId="{259E3164-601E-4E8E-ABC8-89C8A4CCACBC}" destId="{83D1DCF1-57FF-42EF-81B3-0DAE7E812FF6}" srcOrd="1" destOrd="0" presId="urn:microsoft.com/office/officeart/2005/8/layout/hierarchy1"/>
    <dgm:cxn modelId="{ED937100-F3B6-4425-9ADF-8C77ED5DE473}" type="presParOf" srcId="{F117DD0E-CC81-4361-950C-FB22DC0B0A40}" destId="{8D22AB72-FAE3-412B-A693-099ACA2C62ED}" srcOrd="2" destOrd="0" presId="urn:microsoft.com/office/officeart/2005/8/layout/hierarchy1"/>
    <dgm:cxn modelId="{CE4813B2-8FCC-43E0-AE0D-D4285C04F0AB}" type="presParOf" srcId="{F117DD0E-CC81-4361-950C-FB22DC0B0A40}" destId="{964188D8-CD70-4F83-B0C4-6471EE0E6ADF}" srcOrd="3" destOrd="0" presId="urn:microsoft.com/office/officeart/2005/8/layout/hierarchy1"/>
    <dgm:cxn modelId="{EA6163BF-DD4F-4D4D-986B-6C2BD6799ECD}" type="presParOf" srcId="{964188D8-CD70-4F83-B0C4-6471EE0E6ADF}" destId="{5F94E30A-D373-4390-BD1D-712ADCF8F875}" srcOrd="0" destOrd="0" presId="urn:microsoft.com/office/officeart/2005/8/layout/hierarchy1"/>
    <dgm:cxn modelId="{ECB62F3B-3E9F-4A5C-9A4C-E4AD23BEDF52}" type="presParOf" srcId="{5F94E30A-D373-4390-BD1D-712ADCF8F875}" destId="{0966CEDC-4882-43C3-8BC0-5DD1F094D3F4}" srcOrd="0" destOrd="0" presId="urn:microsoft.com/office/officeart/2005/8/layout/hierarchy1"/>
    <dgm:cxn modelId="{757232F6-DF07-48AF-B143-ED1EBCF560C3}" type="presParOf" srcId="{5F94E30A-D373-4390-BD1D-712ADCF8F875}" destId="{BA670E05-683A-4AE7-A8B0-215BD476C0A9}" srcOrd="1" destOrd="0" presId="urn:microsoft.com/office/officeart/2005/8/layout/hierarchy1"/>
    <dgm:cxn modelId="{79CC1328-1E43-4FA1-9D04-3AE6C8174B45}" type="presParOf" srcId="{964188D8-CD70-4F83-B0C4-6471EE0E6ADF}" destId="{BEAD1BA8-48D1-4BE1-90D3-ADBE35DEF560}" srcOrd="1" destOrd="0" presId="urn:microsoft.com/office/officeart/2005/8/layout/hierarchy1"/>
    <dgm:cxn modelId="{709C2E91-0696-438C-A6CF-2C55120B039A}" type="presParOf" srcId="{BEAD1BA8-48D1-4BE1-90D3-ADBE35DEF560}" destId="{D4229593-F7A2-4476-A4BE-EB73A763DC9B}" srcOrd="0" destOrd="0" presId="urn:microsoft.com/office/officeart/2005/8/layout/hierarchy1"/>
    <dgm:cxn modelId="{B04DD3CB-1085-44C9-A9E8-072DA76CE4BA}" type="presParOf" srcId="{BEAD1BA8-48D1-4BE1-90D3-ADBE35DEF560}" destId="{6FF8B445-B30F-411D-A7A8-080B7D2367ED}" srcOrd="1" destOrd="0" presId="urn:microsoft.com/office/officeart/2005/8/layout/hierarchy1"/>
    <dgm:cxn modelId="{2F2DBEFC-56AD-4E05-9FF7-EDD492833635}" type="presParOf" srcId="{6FF8B445-B30F-411D-A7A8-080B7D2367ED}" destId="{D9D25053-43E0-4CAB-8492-F6789831C322}" srcOrd="0" destOrd="0" presId="urn:microsoft.com/office/officeart/2005/8/layout/hierarchy1"/>
    <dgm:cxn modelId="{EBAA6C78-25B4-4268-829B-CA9880AC70F0}" type="presParOf" srcId="{D9D25053-43E0-4CAB-8492-F6789831C322}" destId="{FF27CAFE-B80A-4052-B52C-E6C81E92C6A5}" srcOrd="0" destOrd="0" presId="urn:microsoft.com/office/officeart/2005/8/layout/hierarchy1"/>
    <dgm:cxn modelId="{768A9DB9-9577-462D-9D05-11371615D44E}" type="presParOf" srcId="{D9D25053-43E0-4CAB-8492-F6789831C322}" destId="{3DB97BA4-DDB4-40A5-9363-0E40904776FC}" srcOrd="1" destOrd="0" presId="urn:microsoft.com/office/officeart/2005/8/layout/hierarchy1"/>
    <dgm:cxn modelId="{223FD8CF-5A78-49C3-80B4-1D54C935ADFF}" type="presParOf" srcId="{6FF8B445-B30F-411D-A7A8-080B7D2367ED}" destId="{AB22DDD2-197E-4AA7-9842-C92EE52135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734694-C4FE-4436-9388-22AE2FD0A8F7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922312-6182-48C8-B42E-BD74EFAFB561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Four Main Types:</a:t>
          </a:r>
        </a:p>
      </dgm:t>
    </dgm:pt>
    <dgm:pt modelId="{3AA03277-059B-4CE0-A35F-ADBF135E98E5}" type="parTrans" cxnId="{DACA2FA0-E86D-4FA5-83AD-27AC13C36FD2}">
      <dgm:prSet/>
      <dgm:spPr/>
      <dgm:t>
        <a:bodyPr/>
        <a:lstStyle/>
        <a:p>
          <a:endParaRPr lang="en-US"/>
        </a:p>
      </dgm:t>
    </dgm:pt>
    <dgm:pt modelId="{FF164F1A-9498-43E4-975A-F5F0F912C58A}" type="sibTrans" cxnId="{DACA2FA0-E86D-4FA5-83AD-27AC13C36FD2}">
      <dgm:prSet/>
      <dgm:spPr/>
      <dgm:t>
        <a:bodyPr/>
        <a:lstStyle/>
        <a:p>
          <a:endParaRPr lang="en-US"/>
        </a:p>
      </dgm:t>
    </dgm:pt>
    <dgm:pt modelId="{8DB1E25A-A08F-4CB6-93A5-CEFDA7231E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Sole ownership</a:t>
          </a:r>
        </a:p>
      </dgm:t>
    </dgm:pt>
    <dgm:pt modelId="{8484D527-85BF-402C-86D5-6E1D8520ED6E}" type="parTrans" cxnId="{47C011BD-F2B5-4F2E-BCE9-48DF9A9927BB}">
      <dgm:prSet/>
      <dgm:spPr/>
      <dgm:t>
        <a:bodyPr/>
        <a:lstStyle/>
        <a:p>
          <a:endParaRPr lang="en-US"/>
        </a:p>
      </dgm:t>
    </dgm:pt>
    <dgm:pt modelId="{4E5D3AE5-2B95-4957-B935-AAA7AF1E67F0}" type="sibTrans" cxnId="{47C011BD-F2B5-4F2E-BCE9-48DF9A9927BB}">
      <dgm:prSet/>
      <dgm:spPr/>
      <dgm:t>
        <a:bodyPr/>
        <a:lstStyle/>
        <a:p>
          <a:endParaRPr lang="en-US"/>
        </a:p>
      </dgm:t>
    </dgm:pt>
    <dgm:pt modelId="{21211FEC-B756-4440-844B-65DB3350FC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Partnerships</a:t>
          </a:r>
        </a:p>
      </dgm:t>
    </dgm:pt>
    <dgm:pt modelId="{F0351F92-0F22-4437-9522-8AF3BF9B8E89}" type="parTrans" cxnId="{C00043A9-22E6-4E98-AF1E-3B0ECE908409}">
      <dgm:prSet/>
      <dgm:spPr/>
      <dgm:t>
        <a:bodyPr/>
        <a:lstStyle/>
        <a:p>
          <a:endParaRPr lang="en-US"/>
        </a:p>
      </dgm:t>
    </dgm:pt>
    <dgm:pt modelId="{DABEF12D-DE76-4C30-BEC6-2D9A35C6964B}" type="sibTrans" cxnId="{C00043A9-22E6-4E98-AF1E-3B0ECE908409}">
      <dgm:prSet/>
      <dgm:spPr/>
      <dgm:t>
        <a:bodyPr/>
        <a:lstStyle/>
        <a:p>
          <a:endParaRPr lang="en-US"/>
        </a:p>
      </dgm:t>
    </dgm:pt>
    <dgm:pt modelId="{B7BFAFFA-3949-4D3F-B7FE-6C37AC616F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Corporations</a:t>
          </a:r>
        </a:p>
      </dgm:t>
    </dgm:pt>
    <dgm:pt modelId="{B2BEE71C-392C-462D-AC63-C56A6F77A9AB}" type="parTrans" cxnId="{C3833BCC-F621-472A-8FD7-4038A619F15F}">
      <dgm:prSet/>
      <dgm:spPr/>
      <dgm:t>
        <a:bodyPr/>
        <a:lstStyle/>
        <a:p>
          <a:endParaRPr lang="en-US"/>
        </a:p>
      </dgm:t>
    </dgm:pt>
    <dgm:pt modelId="{8FD6AA60-CC08-4E9E-A2B8-CECA54C324C2}" type="sibTrans" cxnId="{C3833BCC-F621-472A-8FD7-4038A619F15F}">
      <dgm:prSet/>
      <dgm:spPr/>
      <dgm:t>
        <a:bodyPr/>
        <a:lstStyle/>
        <a:p>
          <a:endParaRPr lang="en-US"/>
        </a:p>
      </dgm:t>
    </dgm:pt>
    <dgm:pt modelId="{7E061673-7828-4553-8D57-D369B4CB83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Liability Companies (LLCs) &amp; Limited Liability Partnerships (LLPs)</a:t>
          </a:r>
        </a:p>
      </dgm:t>
    </dgm:pt>
    <dgm:pt modelId="{6025FDD5-F93A-4FCF-AE61-27E10E18069F}" type="parTrans" cxnId="{0AF127BA-2AC5-4921-9A38-AFF50F689AE8}">
      <dgm:prSet/>
      <dgm:spPr/>
      <dgm:t>
        <a:bodyPr/>
        <a:lstStyle/>
        <a:p>
          <a:endParaRPr lang="en-US"/>
        </a:p>
      </dgm:t>
    </dgm:pt>
    <dgm:pt modelId="{53E24054-0871-417C-899E-777E1BE2E831}" type="sibTrans" cxnId="{0AF127BA-2AC5-4921-9A38-AFF50F689AE8}">
      <dgm:prSet/>
      <dgm:spPr/>
      <dgm:t>
        <a:bodyPr/>
        <a:lstStyle/>
        <a:p>
          <a:endParaRPr lang="en-US"/>
        </a:p>
      </dgm:t>
    </dgm:pt>
    <dgm:pt modelId="{0B3DF8FD-EFF4-4B39-9AA8-EC62208A6A04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Most Common:</a:t>
          </a:r>
        </a:p>
      </dgm:t>
    </dgm:pt>
    <dgm:pt modelId="{3B2EB0E4-8E7B-4F01-97FF-E075A1A970F3}" type="sibTrans" cxnId="{103A8B30-0524-40A9-836B-F6DDCAC1FFAB}">
      <dgm:prSet/>
      <dgm:spPr/>
      <dgm:t>
        <a:bodyPr/>
        <a:lstStyle/>
        <a:p>
          <a:endParaRPr lang="en-US"/>
        </a:p>
      </dgm:t>
    </dgm:pt>
    <dgm:pt modelId="{C1325B0D-356E-4A50-AE66-9C250C188E3D}" type="parTrans" cxnId="{103A8B30-0524-40A9-836B-F6DDCAC1FFAB}">
      <dgm:prSet/>
      <dgm:spPr/>
      <dgm:t>
        <a:bodyPr/>
        <a:lstStyle/>
        <a:p>
          <a:endParaRPr lang="en-US"/>
        </a:p>
      </dgm:t>
    </dgm:pt>
    <dgm:pt modelId="{9D1D86FD-B8B4-49AC-A1BA-21070898B44E}">
      <dgm:prSet custT="1"/>
      <dgm:spPr/>
      <dgm:t>
        <a:bodyPr/>
        <a:lstStyle/>
        <a:p>
          <a:pPr algn="just">
            <a:lnSpc>
              <a:spcPct val="100000"/>
            </a:lnSpc>
            <a:spcBef>
              <a:spcPts val="600"/>
            </a:spcBef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Most businesses are proprietorships by number of entities, but the vast majority 80% of the total dollar value of goods and services sold in the economy comes from corporations.</a:t>
          </a:r>
        </a:p>
      </dgm:t>
    </dgm:pt>
    <dgm:pt modelId="{F3A17B91-82D9-44BE-82C1-9DBB1E53DB45}" type="sibTrans" cxnId="{5FD90DFB-89F4-4AEE-882F-887BA0781435}">
      <dgm:prSet/>
      <dgm:spPr/>
      <dgm:t>
        <a:bodyPr/>
        <a:lstStyle/>
        <a:p>
          <a:endParaRPr lang="en-US"/>
        </a:p>
      </dgm:t>
    </dgm:pt>
    <dgm:pt modelId="{9CE40F10-BF03-4559-88CD-737D2A552C40}" type="parTrans" cxnId="{5FD90DFB-89F4-4AEE-882F-887BA0781435}">
      <dgm:prSet/>
      <dgm:spPr/>
      <dgm:t>
        <a:bodyPr/>
        <a:lstStyle/>
        <a:p>
          <a:endParaRPr lang="en-US"/>
        </a:p>
      </dgm:t>
    </dgm:pt>
    <dgm:pt modelId="{B690DA39-D0F7-D744-85C7-6D4A5ABB9CD1}" type="pres">
      <dgm:prSet presAssocID="{27734694-C4FE-4436-9388-22AE2FD0A8F7}" presName="linear" presStyleCnt="0">
        <dgm:presLayoutVars>
          <dgm:dir/>
          <dgm:animLvl val="lvl"/>
          <dgm:resizeHandles val="exact"/>
        </dgm:presLayoutVars>
      </dgm:prSet>
      <dgm:spPr/>
    </dgm:pt>
    <dgm:pt modelId="{4E6B0C32-D322-054B-A8E9-0EA1D6B9BDCC}" type="pres">
      <dgm:prSet presAssocID="{80922312-6182-48C8-B42E-BD74EFAFB561}" presName="parentLin" presStyleCnt="0"/>
      <dgm:spPr/>
    </dgm:pt>
    <dgm:pt modelId="{4BAE4C03-8BF8-2A4D-B0BC-F84D34CA85BA}" type="pres">
      <dgm:prSet presAssocID="{80922312-6182-48C8-B42E-BD74EFAFB561}" presName="parentLeftMargin" presStyleLbl="node1" presStyleIdx="0" presStyleCnt="2"/>
      <dgm:spPr/>
    </dgm:pt>
    <dgm:pt modelId="{B9671174-304B-674B-B3CB-2F11A4F55238}" type="pres">
      <dgm:prSet presAssocID="{80922312-6182-48C8-B42E-BD74EFAFB561}" presName="parentText" presStyleLbl="node1" presStyleIdx="0" presStyleCnt="2" custScaleX="100190" custScaleY="71539">
        <dgm:presLayoutVars>
          <dgm:chMax val="0"/>
          <dgm:bulletEnabled val="1"/>
        </dgm:presLayoutVars>
      </dgm:prSet>
      <dgm:spPr/>
    </dgm:pt>
    <dgm:pt modelId="{76678179-394C-D64C-BDCE-8364BF3A8630}" type="pres">
      <dgm:prSet presAssocID="{80922312-6182-48C8-B42E-BD74EFAFB561}" presName="negativeSpace" presStyleCnt="0"/>
      <dgm:spPr/>
    </dgm:pt>
    <dgm:pt modelId="{5BA2853A-9A7A-3D42-B616-21A230044316}" type="pres">
      <dgm:prSet presAssocID="{80922312-6182-48C8-B42E-BD74EFAFB561}" presName="childText" presStyleLbl="conFgAcc1" presStyleIdx="0" presStyleCnt="2">
        <dgm:presLayoutVars>
          <dgm:bulletEnabled val="1"/>
        </dgm:presLayoutVars>
      </dgm:prSet>
      <dgm:spPr/>
    </dgm:pt>
    <dgm:pt modelId="{770994E7-695A-4C47-A6CB-992A5358C9A3}" type="pres">
      <dgm:prSet presAssocID="{FF164F1A-9498-43E4-975A-F5F0F912C58A}" presName="spaceBetweenRectangles" presStyleCnt="0"/>
      <dgm:spPr/>
    </dgm:pt>
    <dgm:pt modelId="{B370020B-FBBB-694C-A638-0A9CF147A638}" type="pres">
      <dgm:prSet presAssocID="{0B3DF8FD-EFF4-4B39-9AA8-EC62208A6A04}" presName="parentLin" presStyleCnt="0"/>
      <dgm:spPr/>
    </dgm:pt>
    <dgm:pt modelId="{41117FE5-7098-534E-99F1-A94F4A350E20}" type="pres">
      <dgm:prSet presAssocID="{0B3DF8FD-EFF4-4B39-9AA8-EC62208A6A04}" presName="parentLeftMargin" presStyleLbl="node1" presStyleIdx="0" presStyleCnt="2"/>
      <dgm:spPr/>
    </dgm:pt>
    <dgm:pt modelId="{90C49A53-8216-6E44-ABC6-99A9DE9051E2}" type="pres">
      <dgm:prSet presAssocID="{0B3DF8FD-EFF4-4B39-9AA8-EC62208A6A04}" presName="parentText" presStyleLbl="node1" presStyleIdx="1" presStyleCnt="2" custScaleX="100190" custScaleY="71908">
        <dgm:presLayoutVars>
          <dgm:chMax val="0"/>
          <dgm:bulletEnabled val="1"/>
        </dgm:presLayoutVars>
      </dgm:prSet>
      <dgm:spPr/>
    </dgm:pt>
    <dgm:pt modelId="{11C922C2-5275-B84B-B4FF-223494D00D49}" type="pres">
      <dgm:prSet presAssocID="{0B3DF8FD-EFF4-4B39-9AA8-EC62208A6A04}" presName="negativeSpace" presStyleCnt="0"/>
      <dgm:spPr/>
    </dgm:pt>
    <dgm:pt modelId="{5469EE71-4A27-AB41-98F4-D72449C18B96}" type="pres">
      <dgm:prSet presAssocID="{0B3DF8FD-EFF4-4B39-9AA8-EC62208A6A04}" presName="childText" presStyleLbl="conFgAcc1" presStyleIdx="1" presStyleCnt="2" custScaleY="136657">
        <dgm:presLayoutVars>
          <dgm:bulletEnabled val="1"/>
        </dgm:presLayoutVars>
      </dgm:prSet>
      <dgm:spPr/>
    </dgm:pt>
  </dgm:ptLst>
  <dgm:cxnLst>
    <dgm:cxn modelId="{2BB1222D-C220-814E-A307-6F1A6048C200}" type="presOf" srcId="{8DB1E25A-A08F-4CB6-93A5-CEFDA7231E16}" destId="{5BA2853A-9A7A-3D42-B616-21A230044316}" srcOrd="0" destOrd="0" presId="urn:microsoft.com/office/officeart/2005/8/layout/list1"/>
    <dgm:cxn modelId="{103A8B30-0524-40A9-836B-F6DDCAC1FFAB}" srcId="{27734694-C4FE-4436-9388-22AE2FD0A8F7}" destId="{0B3DF8FD-EFF4-4B39-9AA8-EC62208A6A04}" srcOrd="1" destOrd="0" parTransId="{C1325B0D-356E-4A50-AE66-9C250C188E3D}" sibTransId="{3B2EB0E4-8E7B-4F01-97FF-E075A1A970F3}"/>
    <dgm:cxn modelId="{2345D961-D543-574C-958D-A0A3B8B24391}" type="presOf" srcId="{80922312-6182-48C8-B42E-BD74EFAFB561}" destId="{4BAE4C03-8BF8-2A4D-B0BC-F84D34CA85BA}" srcOrd="0" destOrd="0" presId="urn:microsoft.com/office/officeart/2005/8/layout/list1"/>
    <dgm:cxn modelId="{8967176A-094F-D74C-8D34-D43EE896BC1F}" type="presOf" srcId="{9D1D86FD-B8B4-49AC-A1BA-21070898B44E}" destId="{5469EE71-4A27-AB41-98F4-D72449C18B96}" srcOrd="0" destOrd="0" presId="urn:microsoft.com/office/officeart/2005/8/layout/list1"/>
    <dgm:cxn modelId="{A0543071-150F-2648-BC1B-D6BEFA707E23}" type="presOf" srcId="{0B3DF8FD-EFF4-4B39-9AA8-EC62208A6A04}" destId="{41117FE5-7098-534E-99F1-A94F4A350E20}" srcOrd="0" destOrd="0" presId="urn:microsoft.com/office/officeart/2005/8/layout/list1"/>
    <dgm:cxn modelId="{606F1C79-4E20-8E4B-90ED-26980CAB9FB5}" type="presOf" srcId="{80922312-6182-48C8-B42E-BD74EFAFB561}" destId="{B9671174-304B-674B-B3CB-2F11A4F55238}" srcOrd="1" destOrd="0" presId="urn:microsoft.com/office/officeart/2005/8/layout/list1"/>
    <dgm:cxn modelId="{C1E48285-393F-064B-982E-E0E92B1701B5}" type="presOf" srcId="{0B3DF8FD-EFF4-4B39-9AA8-EC62208A6A04}" destId="{90C49A53-8216-6E44-ABC6-99A9DE9051E2}" srcOrd="1" destOrd="0" presId="urn:microsoft.com/office/officeart/2005/8/layout/list1"/>
    <dgm:cxn modelId="{D6EF8992-5CE5-EF49-80BD-8AB44B9DF2D5}" type="presOf" srcId="{21211FEC-B756-4440-844B-65DB3350FC4B}" destId="{5BA2853A-9A7A-3D42-B616-21A230044316}" srcOrd="0" destOrd="1" presId="urn:microsoft.com/office/officeart/2005/8/layout/list1"/>
    <dgm:cxn modelId="{DACA2FA0-E86D-4FA5-83AD-27AC13C36FD2}" srcId="{27734694-C4FE-4436-9388-22AE2FD0A8F7}" destId="{80922312-6182-48C8-B42E-BD74EFAFB561}" srcOrd="0" destOrd="0" parTransId="{3AA03277-059B-4CE0-A35F-ADBF135E98E5}" sibTransId="{FF164F1A-9498-43E4-975A-F5F0F912C58A}"/>
    <dgm:cxn modelId="{1312C7A5-853A-764E-BA5A-6C684997A335}" type="presOf" srcId="{27734694-C4FE-4436-9388-22AE2FD0A8F7}" destId="{B690DA39-D0F7-D744-85C7-6D4A5ABB9CD1}" srcOrd="0" destOrd="0" presId="urn:microsoft.com/office/officeart/2005/8/layout/list1"/>
    <dgm:cxn modelId="{C00043A9-22E6-4E98-AF1E-3B0ECE908409}" srcId="{80922312-6182-48C8-B42E-BD74EFAFB561}" destId="{21211FEC-B756-4440-844B-65DB3350FC4B}" srcOrd="1" destOrd="0" parTransId="{F0351F92-0F22-4437-9522-8AF3BF9B8E89}" sibTransId="{DABEF12D-DE76-4C30-BEC6-2D9A35C6964B}"/>
    <dgm:cxn modelId="{0AF127BA-2AC5-4921-9A38-AFF50F689AE8}" srcId="{80922312-6182-48C8-B42E-BD74EFAFB561}" destId="{7E061673-7828-4553-8D57-D369B4CB8368}" srcOrd="3" destOrd="0" parTransId="{6025FDD5-F93A-4FCF-AE61-27E10E18069F}" sibTransId="{53E24054-0871-417C-899E-777E1BE2E831}"/>
    <dgm:cxn modelId="{47C011BD-F2B5-4F2E-BCE9-48DF9A9927BB}" srcId="{80922312-6182-48C8-B42E-BD74EFAFB561}" destId="{8DB1E25A-A08F-4CB6-93A5-CEFDA7231E16}" srcOrd="0" destOrd="0" parTransId="{8484D527-85BF-402C-86D5-6E1D8520ED6E}" sibTransId="{4E5D3AE5-2B95-4957-B935-AAA7AF1E67F0}"/>
    <dgm:cxn modelId="{C3833BCC-F621-472A-8FD7-4038A619F15F}" srcId="{80922312-6182-48C8-B42E-BD74EFAFB561}" destId="{B7BFAFFA-3949-4D3F-B7FE-6C37AC616FE9}" srcOrd="2" destOrd="0" parTransId="{B2BEE71C-392C-462D-AC63-C56A6F77A9AB}" sibTransId="{8FD6AA60-CC08-4E9E-A2B8-CECA54C324C2}"/>
    <dgm:cxn modelId="{AEB29BF4-3B4C-A04B-85EE-71F842140B0D}" type="presOf" srcId="{7E061673-7828-4553-8D57-D369B4CB8368}" destId="{5BA2853A-9A7A-3D42-B616-21A230044316}" srcOrd="0" destOrd="3" presId="urn:microsoft.com/office/officeart/2005/8/layout/list1"/>
    <dgm:cxn modelId="{54486CF6-4A92-2742-8850-2CF48131E0F9}" type="presOf" srcId="{B7BFAFFA-3949-4D3F-B7FE-6C37AC616FE9}" destId="{5BA2853A-9A7A-3D42-B616-21A230044316}" srcOrd="0" destOrd="2" presId="urn:microsoft.com/office/officeart/2005/8/layout/list1"/>
    <dgm:cxn modelId="{5FD90DFB-89F4-4AEE-882F-887BA0781435}" srcId="{0B3DF8FD-EFF4-4B39-9AA8-EC62208A6A04}" destId="{9D1D86FD-B8B4-49AC-A1BA-21070898B44E}" srcOrd="0" destOrd="0" parTransId="{9CE40F10-BF03-4559-88CD-737D2A552C40}" sibTransId="{F3A17B91-82D9-44BE-82C1-9DBB1E53DB45}"/>
    <dgm:cxn modelId="{29B4A7F3-D93F-B346-BC9F-B927F36EABAD}" type="presParOf" srcId="{B690DA39-D0F7-D744-85C7-6D4A5ABB9CD1}" destId="{4E6B0C32-D322-054B-A8E9-0EA1D6B9BDCC}" srcOrd="0" destOrd="0" presId="urn:microsoft.com/office/officeart/2005/8/layout/list1"/>
    <dgm:cxn modelId="{89B22B70-B79D-6E41-A724-C36D5AD71888}" type="presParOf" srcId="{4E6B0C32-D322-054B-A8E9-0EA1D6B9BDCC}" destId="{4BAE4C03-8BF8-2A4D-B0BC-F84D34CA85BA}" srcOrd="0" destOrd="0" presId="urn:microsoft.com/office/officeart/2005/8/layout/list1"/>
    <dgm:cxn modelId="{C6F00625-5952-E445-BF2F-A15649AB28BB}" type="presParOf" srcId="{4E6B0C32-D322-054B-A8E9-0EA1D6B9BDCC}" destId="{B9671174-304B-674B-B3CB-2F11A4F55238}" srcOrd="1" destOrd="0" presId="urn:microsoft.com/office/officeart/2005/8/layout/list1"/>
    <dgm:cxn modelId="{40228F84-D092-E040-9D82-36E32AC6234C}" type="presParOf" srcId="{B690DA39-D0F7-D744-85C7-6D4A5ABB9CD1}" destId="{76678179-394C-D64C-BDCE-8364BF3A8630}" srcOrd="1" destOrd="0" presId="urn:microsoft.com/office/officeart/2005/8/layout/list1"/>
    <dgm:cxn modelId="{DB9E2E4D-C27E-9144-ADB9-BE8982450125}" type="presParOf" srcId="{B690DA39-D0F7-D744-85C7-6D4A5ABB9CD1}" destId="{5BA2853A-9A7A-3D42-B616-21A230044316}" srcOrd="2" destOrd="0" presId="urn:microsoft.com/office/officeart/2005/8/layout/list1"/>
    <dgm:cxn modelId="{98EDC6F8-4CF1-E741-AB5F-488B6FB9566F}" type="presParOf" srcId="{B690DA39-D0F7-D744-85C7-6D4A5ABB9CD1}" destId="{770994E7-695A-4C47-A6CB-992A5358C9A3}" srcOrd="3" destOrd="0" presId="urn:microsoft.com/office/officeart/2005/8/layout/list1"/>
    <dgm:cxn modelId="{44BDE1FB-95F2-DB46-A8D9-97CBE2F4BF04}" type="presParOf" srcId="{B690DA39-D0F7-D744-85C7-6D4A5ABB9CD1}" destId="{B370020B-FBBB-694C-A638-0A9CF147A638}" srcOrd="4" destOrd="0" presId="urn:microsoft.com/office/officeart/2005/8/layout/list1"/>
    <dgm:cxn modelId="{A72E6A0E-E0C0-4D49-8D50-2ADE1C81E67F}" type="presParOf" srcId="{B370020B-FBBB-694C-A638-0A9CF147A638}" destId="{41117FE5-7098-534E-99F1-A94F4A350E20}" srcOrd="0" destOrd="0" presId="urn:microsoft.com/office/officeart/2005/8/layout/list1"/>
    <dgm:cxn modelId="{6AF68E84-3C53-554E-B224-1B5074240825}" type="presParOf" srcId="{B370020B-FBBB-694C-A638-0A9CF147A638}" destId="{90C49A53-8216-6E44-ABC6-99A9DE9051E2}" srcOrd="1" destOrd="0" presId="urn:microsoft.com/office/officeart/2005/8/layout/list1"/>
    <dgm:cxn modelId="{1CE29F99-3963-2744-BEA2-EFB59FA54903}" type="presParOf" srcId="{B690DA39-D0F7-D744-85C7-6D4A5ABB9CD1}" destId="{11C922C2-5275-B84B-B4FF-223494D00D49}" srcOrd="5" destOrd="0" presId="urn:microsoft.com/office/officeart/2005/8/layout/list1"/>
    <dgm:cxn modelId="{F0A29DEA-0FAF-0D4C-9154-2499710B8FAA}" type="presParOf" srcId="{B690DA39-D0F7-D744-85C7-6D4A5ABB9CD1}" destId="{5469EE71-4A27-AB41-98F4-D72449C18B9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09F66-2F5E-AA43-BD02-9BF9114503AB}">
      <dsp:nvSpPr>
        <dsp:cNvPr id="0" name=""/>
        <dsp:cNvSpPr/>
      </dsp:nvSpPr>
      <dsp:spPr>
        <a:xfrm>
          <a:off x="0" y="884464"/>
          <a:ext cx="10800644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8EEFE-A99C-B547-9C35-AAAAB27866A8}">
      <dsp:nvSpPr>
        <dsp:cNvPr id="0" name=""/>
        <dsp:cNvSpPr/>
      </dsp:nvSpPr>
      <dsp:spPr>
        <a:xfrm>
          <a:off x="504698" y="24611"/>
          <a:ext cx="10289531" cy="118457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67" tIns="0" rIns="28576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that includes the circulation of money, the granting of credit, the making of investments, and the provision of banking facilities.</a:t>
          </a:r>
        </a:p>
      </dsp:txBody>
      <dsp:txXfrm>
        <a:off x="562524" y="82437"/>
        <a:ext cx="10173879" cy="1068920"/>
      </dsp:txXfrm>
    </dsp:sp>
    <dsp:sp modelId="{E2C6E302-3D46-964F-9892-EED96CEE194F}">
      <dsp:nvSpPr>
        <dsp:cNvPr id="0" name=""/>
        <dsp:cNvSpPr/>
      </dsp:nvSpPr>
      <dsp:spPr>
        <a:xfrm>
          <a:off x="0" y="1882384"/>
          <a:ext cx="10800644" cy="311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50" tIns="458216" rIns="83825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insight into how businesses raise and allocate capital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Prepares students for careers in:</a:t>
          </a:r>
        </a:p>
        <a:p>
          <a:pPr marL="457200" lvl="2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Corporate finance</a:t>
          </a:r>
        </a:p>
        <a:p>
          <a:pPr marL="457200" lvl="2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Investment banking</a:t>
          </a:r>
        </a:p>
        <a:p>
          <a:pPr marL="457200" lvl="2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Financial planning</a:t>
          </a:r>
        </a:p>
        <a:p>
          <a:pPr marL="457200" lvl="2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Risk management</a:t>
          </a:r>
        </a:p>
        <a:p>
          <a:pPr marL="457200" lvl="2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Banking and financial markets</a:t>
          </a:r>
        </a:p>
      </dsp:txBody>
      <dsp:txXfrm>
        <a:off x="0" y="1882384"/>
        <a:ext cx="10800644" cy="3118500"/>
      </dsp:txXfrm>
    </dsp:sp>
    <dsp:sp modelId="{863EF031-2A2C-004E-8BF2-53EEF4D018A0}">
      <dsp:nvSpPr>
        <dsp:cNvPr id="0" name=""/>
        <dsp:cNvSpPr/>
      </dsp:nvSpPr>
      <dsp:spPr>
        <a:xfrm>
          <a:off x="540032" y="1557664"/>
          <a:ext cx="7560450" cy="6494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67" tIns="0" rIns="28576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Why Study Finance?</a:t>
          </a:r>
        </a:p>
      </dsp:txBody>
      <dsp:txXfrm>
        <a:off x="571735" y="1589367"/>
        <a:ext cx="7497044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7C61A-7FFB-A143-89EB-51F8A931032F}">
      <dsp:nvSpPr>
        <dsp:cNvPr id="0" name=""/>
        <dsp:cNvSpPr/>
      </dsp:nvSpPr>
      <dsp:spPr>
        <a:xfrm>
          <a:off x="0" y="15501"/>
          <a:ext cx="10875195" cy="58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Financial Management (Corporate Finance)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29" y="43830"/>
        <a:ext cx="10818537" cy="523662"/>
      </dsp:txXfrm>
    </dsp:sp>
    <dsp:sp modelId="{B89C5EAC-854F-D149-BCFA-D6C72564D0C4}">
      <dsp:nvSpPr>
        <dsp:cNvPr id="0" name=""/>
        <dsp:cNvSpPr/>
      </dsp:nvSpPr>
      <dsp:spPr>
        <a:xfrm>
          <a:off x="0" y="595821"/>
          <a:ext cx="10875195" cy="753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28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Focus: Asset acquisition, capital raising, and maximizing firm value.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Applies to both for-profit and not-for-profit organizations.</a:t>
          </a:r>
        </a:p>
      </dsp:txBody>
      <dsp:txXfrm>
        <a:off x="0" y="595821"/>
        <a:ext cx="10875195" cy="753997"/>
      </dsp:txXfrm>
    </dsp:sp>
    <dsp:sp modelId="{B6E55C6C-E244-FF4D-8E73-EB7DD5D45C04}">
      <dsp:nvSpPr>
        <dsp:cNvPr id="0" name=""/>
        <dsp:cNvSpPr/>
      </dsp:nvSpPr>
      <dsp:spPr>
        <a:xfrm>
          <a:off x="0" y="1349819"/>
          <a:ext cx="10875195" cy="58032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Capital Markets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29" y="1378148"/>
        <a:ext cx="10818537" cy="523662"/>
      </dsp:txXfrm>
    </dsp:sp>
    <dsp:sp modelId="{0C075FB5-FFB8-BB4F-BF14-A280314F1C87}">
      <dsp:nvSpPr>
        <dsp:cNvPr id="0" name=""/>
        <dsp:cNvSpPr/>
      </dsp:nvSpPr>
      <dsp:spPr>
        <a:xfrm>
          <a:off x="0" y="1930139"/>
          <a:ext cx="10875195" cy="115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28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Focus: Determining interest rates, stock, and bond prices.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Includes financial institutions like banks, mutual funds, and investment banks.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Involves governmental organizations (e.g., Federal Reserve, SEC).</a:t>
          </a:r>
        </a:p>
      </dsp:txBody>
      <dsp:txXfrm>
        <a:off x="0" y="1930139"/>
        <a:ext cx="10875195" cy="1155060"/>
      </dsp:txXfrm>
    </dsp:sp>
    <dsp:sp modelId="{273EF03F-C9ED-2B43-9E3B-4123F12D8B2D}">
      <dsp:nvSpPr>
        <dsp:cNvPr id="0" name=""/>
        <dsp:cNvSpPr/>
      </dsp:nvSpPr>
      <dsp:spPr>
        <a:xfrm>
          <a:off x="0" y="3085199"/>
          <a:ext cx="10875195" cy="58032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Investments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29" y="3113528"/>
        <a:ext cx="10818537" cy="523662"/>
      </dsp:txXfrm>
    </dsp:sp>
    <dsp:sp modelId="{FE6B4BDC-1E84-F343-A9D8-51E4EBF028FA}">
      <dsp:nvSpPr>
        <dsp:cNvPr id="0" name=""/>
        <dsp:cNvSpPr/>
      </dsp:nvSpPr>
      <dsp:spPr>
        <a:xfrm>
          <a:off x="0" y="3665519"/>
          <a:ext cx="10875195" cy="189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28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Focus: Decisions related to stocks and bonds.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Security Analysis: Valuing individual securities.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Portfolio Theory: Structuring diversified portfolios.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Market Analysis: Assessing whether markets are overvalued or undervalued.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Behavioral Finance: Examining investor psychology and market anomalies.</a:t>
          </a:r>
        </a:p>
      </dsp:txBody>
      <dsp:txXfrm>
        <a:off x="0" y="3665519"/>
        <a:ext cx="10875195" cy="18930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29593-F7A2-4476-A4BE-EB73A763DC9B}">
      <dsp:nvSpPr>
        <dsp:cNvPr id="0" name=""/>
        <dsp:cNvSpPr/>
      </dsp:nvSpPr>
      <dsp:spPr>
        <a:xfrm>
          <a:off x="8300827" y="3560662"/>
          <a:ext cx="91440" cy="7127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12754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2AB72-FAE3-412B-A693-099ACA2C62ED}">
      <dsp:nvSpPr>
        <dsp:cNvPr id="0" name=""/>
        <dsp:cNvSpPr/>
      </dsp:nvSpPr>
      <dsp:spPr>
        <a:xfrm>
          <a:off x="5481108" y="2040591"/>
          <a:ext cx="2865439" cy="819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446"/>
              </a:lnTo>
              <a:lnTo>
                <a:pt x="2865439" y="592446"/>
              </a:lnTo>
              <a:lnTo>
                <a:pt x="2865439" y="819479"/>
              </a:lnTo>
            </a:path>
          </a:pathLst>
        </a:custGeom>
        <a:noFill/>
        <a:ln w="19050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F9DD4-C202-43AF-A8D9-DD4D14E20B59}">
      <dsp:nvSpPr>
        <dsp:cNvPr id="0" name=""/>
        <dsp:cNvSpPr/>
      </dsp:nvSpPr>
      <dsp:spPr>
        <a:xfrm>
          <a:off x="2585706" y="3560662"/>
          <a:ext cx="91440" cy="7127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12754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B6F2D-31FE-4A96-95FF-9F7F5BB648A9}">
      <dsp:nvSpPr>
        <dsp:cNvPr id="0" name=""/>
        <dsp:cNvSpPr/>
      </dsp:nvSpPr>
      <dsp:spPr>
        <a:xfrm>
          <a:off x="2631426" y="2040591"/>
          <a:ext cx="2849681" cy="819479"/>
        </a:xfrm>
        <a:custGeom>
          <a:avLst/>
          <a:gdLst/>
          <a:ahLst/>
          <a:cxnLst/>
          <a:rect l="0" t="0" r="0" b="0"/>
          <a:pathLst>
            <a:path>
              <a:moveTo>
                <a:pt x="2849681" y="0"/>
              </a:moveTo>
              <a:lnTo>
                <a:pt x="2849681" y="592446"/>
              </a:lnTo>
              <a:lnTo>
                <a:pt x="0" y="592446"/>
              </a:lnTo>
              <a:lnTo>
                <a:pt x="0" y="819479"/>
              </a:lnTo>
            </a:path>
          </a:pathLst>
        </a:custGeom>
        <a:noFill/>
        <a:ln w="19050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A27C4-B511-4213-B394-1A87FCF5D4C5}">
      <dsp:nvSpPr>
        <dsp:cNvPr id="0" name=""/>
        <dsp:cNvSpPr/>
      </dsp:nvSpPr>
      <dsp:spPr>
        <a:xfrm>
          <a:off x="5435388" y="662882"/>
          <a:ext cx="91440" cy="7127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12754"/>
              </a:lnTo>
            </a:path>
          </a:pathLst>
        </a:custGeom>
        <a:noFill/>
        <a:ln w="1905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D47909-1CE3-44F0-9235-8437FE52A4FF}">
      <dsp:nvSpPr>
        <dsp:cNvPr id="0" name=""/>
        <dsp:cNvSpPr/>
      </dsp:nvSpPr>
      <dsp:spPr>
        <a:xfrm>
          <a:off x="3604510" y="-5262"/>
          <a:ext cx="3753195" cy="668144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A1D0D-8CE5-4182-AAC1-31BDF4E327D4}">
      <dsp:nvSpPr>
        <dsp:cNvPr id="0" name=""/>
        <dsp:cNvSpPr/>
      </dsp:nvSpPr>
      <dsp:spPr>
        <a:xfrm>
          <a:off x="3876813" y="253426"/>
          <a:ext cx="3753195" cy="6681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Board of Directors</a:t>
          </a:r>
        </a:p>
      </dsp:txBody>
      <dsp:txXfrm>
        <a:off x="3896382" y="272995"/>
        <a:ext cx="3714057" cy="629006"/>
      </dsp:txXfrm>
    </dsp:sp>
    <dsp:sp modelId="{118A45C5-E6D9-4C6E-B996-7B2913B6E183}">
      <dsp:nvSpPr>
        <dsp:cNvPr id="0" name=""/>
        <dsp:cNvSpPr/>
      </dsp:nvSpPr>
      <dsp:spPr>
        <a:xfrm>
          <a:off x="3389140" y="1375636"/>
          <a:ext cx="4183935" cy="66495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5714E-F578-4E72-A60C-54A2E4D7D868}">
      <dsp:nvSpPr>
        <dsp:cNvPr id="0" name=""/>
        <dsp:cNvSpPr/>
      </dsp:nvSpPr>
      <dsp:spPr>
        <a:xfrm>
          <a:off x="3661443" y="1634324"/>
          <a:ext cx="4183935" cy="664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Executive Officer (CEO)</a:t>
          </a:r>
        </a:p>
      </dsp:txBody>
      <dsp:txXfrm>
        <a:off x="3680919" y="1653800"/>
        <a:ext cx="4144983" cy="626002"/>
      </dsp:txXfrm>
    </dsp:sp>
    <dsp:sp modelId="{CCF3549F-D7C0-423B-9A41-64A457A851CC}">
      <dsp:nvSpPr>
        <dsp:cNvPr id="0" name=""/>
        <dsp:cNvSpPr/>
      </dsp:nvSpPr>
      <dsp:spPr>
        <a:xfrm>
          <a:off x="609133" y="2860070"/>
          <a:ext cx="4044587" cy="700591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C20C4-4F80-4011-B7F2-766337818AE5}">
      <dsp:nvSpPr>
        <dsp:cNvPr id="0" name=""/>
        <dsp:cNvSpPr/>
      </dsp:nvSpPr>
      <dsp:spPr>
        <a:xfrm>
          <a:off x="881436" y="3118758"/>
          <a:ext cx="4044587" cy="7005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Operating Officer (COO)</a:t>
          </a:r>
        </a:p>
      </dsp:txBody>
      <dsp:txXfrm>
        <a:off x="901956" y="3139278"/>
        <a:ext cx="4003547" cy="659551"/>
      </dsp:txXfrm>
    </dsp:sp>
    <dsp:sp modelId="{84D4A318-9538-4820-AD79-9A40AABC2475}">
      <dsp:nvSpPr>
        <dsp:cNvPr id="0" name=""/>
        <dsp:cNvSpPr/>
      </dsp:nvSpPr>
      <dsp:spPr>
        <a:xfrm>
          <a:off x="3386" y="4273416"/>
          <a:ext cx="5256081" cy="694787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84A23-1E72-4974-9BB2-F5D80A9C4F88}">
      <dsp:nvSpPr>
        <dsp:cNvPr id="0" name=""/>
        <dsp:cNvSpPr/>
      </dsp:nvSpPr>
      <dsp:spPr>
        <a:xfrm>
          <a:off x="275689" y="4532104"/>
          <a:ext cx="5256081" cy="6947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Marketing, Production, Human Resources, and Other Operating Departments</a:t>
          </a:r>
        </a:p>
      </dsp:txBody>
      <dsp:txXfrm>
        <a:off x="296039" y="4552454"/>
        <a:ext cx="5215381" cy="654087"/>
      </dsp:txXfrm>
    </dsp:sp>
    <dsp:sp modelId="{0966CEDC-4882-43C3-8BC0-5DD1F094D3F4}">
      <dsp:nvSpPr>
        <dsp:cNvPr id="0" name=""/>
        <dsp:cNvSpPr/>
      </dsp:nvSpPr>
      <dsp:spPr>
        <a:xfrm>
          <a:off x="6340012" y="2860070"/>
          <a:ext cx="4013071" cy="700591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70E05-683A-4AE7-A8B0-215BD476C0A9}">
      <dsp:nvSpPr>
        <dsp:cNvPr id="0" name=""/>
        <dsp:cNvSpPr/>
      </dsp:nvSpPr>
      <dsp:spPr>
        <a:xfrm>
          <a:off x="6612315" y="3118758"/>
          <a:ext cx="4013071" cy="7005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Chief Financial Officer (CFO)</a:t>
          </a:r>
        </a:p>
      </dsp:txBody>
      <dsp:txXfrm>
        <a:off x="6632835" y="3139278"/>
        <a:ext cx="3972031" cy="659551"/>
      </dsp:txXfrm>
    </dsp:sp>
    <dsp:sp modelId="{FF27CAFE-B80A-4052-B52C-E6C81E92C6A5}">
      <dsp:nvSpPr>
        <dsp:cNvPr id="0" name=""/>
        <dsp:cNvSpPr/>
      </dsp:nvSpPr>
      <dsp:spPr>
        <a:xfrm>
          <a:off x="5804074" y="4273416"/>
          <a:ext cx="5084946" cy="694787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97BA4-DDB4-40A5-9363-0E40904776FC}">
      <dsp:nvSpPr>
        <dsp:cNvPr id="0" name=""/>
        <dsp:cNvSpPr/>
      </dsp:nvSpPr>
      <dsp:spPr>
        <a:xfrm>
          <a:off x="6076377" y="4532104"/>
          <a:ext cx="5084946" cy="6947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rPr>
            <a:t>Accounting, Treasury, Credit, Legal, Capital Budgeting, and Investor Relations</a:t>
          </a:r>
        </a:p>
      </dsp:txBody>
      <dsp:txXfrm>
        <a:off x="6096727" y="4552454"/>
        <a:ext cx="5044246" cy="6540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2853A-9A7A-3D42-B616-21A230044316}">
      <dsp:nvSpPr>
        <dsp:cNvPr id="0" name=""/>
        <dsp:cNvSpPr/>
      </dsp:nvSpPr>
      <dsp:spPr>
        <a:xfrm>
          <a:off x="0" y="165115"/>
          <a:ext cx="11594548" cy="209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866" tIns="395732" rIns="89986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Sole ownership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Partnerships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Corporations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Liability Companies (LLCs) &amp; Limited Liability Partnerships (LLPs)</a:t>
          </a:r>
        </a:p>
      </dsp:txBody>
      <dsp:txXfrm>
        <a:off x="0" y="165115"/>
        <a:ext cx="11594548" cy="2094750"/>
      </dsp:txXfrm>
    </dsp:sp>
    <dsp:sp modelId="{B9671174-304B-674B-B3CB-2F11A4F55238}">
      <dsp:nvSpPr>
        <dsp:cNvPr id="0" name=""/>
        <dsp:cNvSpPr/>
      </dsp:nvSpPr>
      <dsp:spPr>
        <a:xfrm>
          <a:off x="579727" y="44307"/>
          <a:ext cx="8131604" cy="4012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6772" tIns="0" rIns="30677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Four Main Types:</a:t>
          </a:r>
        </a:p>
      </dsp:txBody>
      <dsp:txXfrm>
        <a:off x="599314" y="63894"/>
        <a:ext cx="8092430" cy="362073"/>
      </dsp:txXfrm>
    </dsp:sp>
    <dsp:sp modelId="{5469EE71-4A27-AB41-98F4-D72449C18B96}">
      <dsp:nvSpPr>
        <dsp:cNvPr id="0" name=""/>
        <dsp:cNvSpPr/>
      </dsp:nvSpPr>
      <dsp:spPr>
        <a:xfrm>
          <a:off x="0" y="2485342"/>
          <a:ext cx="11594548" cy="21674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866" tIns="395732" rIns="899866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100000"/>
            </a:lnSpc>
            <a:spcBef>
              <a:spcPts val="60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Most businesses are proprietorships by number of entities, but the vast majority 80% of the total dollar value of goods and services sold in the economy comes from corporations.</a:t>
          </a:r>
        </a:p>
      </dsp:txBody>
      <dsp:txXfrm>
        <a:off x="0" y="2485342"/>
        <a:ext cx="11594548" cy="2167414"/>
      </dsp:txXfrm>
    </dsp:sp>
    <dsp:sp modelId="{90C49A53-8216-6E44-ABC6-99A9DE9051E2}">
      <dsp:nvSpPr>
        <dsp:cNvPr id="0" name=""/>
        <dsp:cNvSpPr/>
      </dsp:nvSpPr>
      <dsp:spPr>
        <a:xfrm>
          <a:off x="579727" y="2362465"/>
          <a:ext cx="8131604" cy="403317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6772" tIns="0" rIns="30677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Most Common:</a:t>
          </a:r>
        </a:p>
      </dsp:txBody>
      <dsp:txXfrm>
        <a:off x="599415" y="2382153"/>
        <a:ext cx="8092228" cy="363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75D4D-DD20-9541-890F-5DC1B3D5EF48}" type="datetimeFigureOut">
              <a:rPr lang="en-US" smtClean="0"/>
              <a:t>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EDE79-8DC1-B145-8D1C-DD470F7AF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0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76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9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entities, the vast majority of the total dollar value of goods and services sold in the economy comes from </a:t>
            </a:r>
            <a:r>
              <a:rPr lang="en-US" b="1" dirty="0"/>
              <a:t>corporations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3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645A-24FD-CDAB-17A4-6744FD19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775B0-3194-DB4B-5191-35FAFCF7B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B6936-2931-5F21-E07B-27E1B036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E8D35-11D4-82B5-2C6B-16FCEBA6F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0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BCFB4-FBC1-B375-D789-6EC3E92E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0E044-595E-00B7-5B28-7A56D9DB6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D703A-D129-3FB0-0852-A58794008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1C2EF-E7C0-E485-264A-9849311D6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80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9F90-263F-4FA6-FD39-86EB2774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5E0A8-4E48-D9FE-309F-F587FC895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37531-5399-532A-3A2B-B7610729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B01A9-22B3-1A7C-3F23-5F0EB17F3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97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9D28-5778-26CD-F30E-E5B05159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58F98-37C3-8C6B-8D90-FB8DAB232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9706D-CB68-51D2-8025-AEAA28324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7CFD-80A3-415B-E2CE-D1EF0FAE4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9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7A63-C3EE-36E1-D0DF-586B62FA8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9970E-54E0-07C6-A289-98870A806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DCD9-5328-0D33-CD66-F4D72DC7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9E8A-5A10-D0DE-51E8-9AEA7914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FD013-EE79-12DE-EDBC-97CB5847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3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EB57-F30A-DD27-3151-7D4FCC1B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3172-3DE6-B686-F518-C95362E5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F2425-FE06-241E-72A6-036EEFA9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1378-59C6-58F9-C2A6-E80292B1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AF2E8-038A-6C4E-2487-14C7FD1F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4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4A83-645C-CBC0-1BD5-E63742B1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D3C07-7191-CAFB-6E7D-EFD1337E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4666B-3AED-721B-E4D7-00DD5BDA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1C038-EEB3-F711-5B77-E9B55A79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CF066-D896-6A08-E083-DFD97465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4522-D6EE-80D3-ADEE-62EE6B7C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D913-D2A9-E3BC-793B-DA647C686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3BDCA-FB8D-37AA-37A4-234FD721F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DC7A-A386-E82E-7EF5-B2D1E511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A5D30-CBD6-4148-D8C5-3F6403EC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5E40F-487E-AFF9-3CAF-191510CC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9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6FD2-B68A-C04E-315D-F1FDF655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C0AF7-7F72-D73B-0D09-301EFC58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C9995-2AC3-46C9-9F69-5B110A6E1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7C5E0-374B-4823-0E3F-43CDB787B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61BFB-647C-DB49-9289-2C78B72B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529D9-F430-5852-7DFC-8A6AA3F5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1FE0F-FA06-B5A8-4BDB-8130880D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CE928-8634-73E3-5C9E-D600F72E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6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24C8-D3A3-C915-CD61-8AA573DE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AF085-7131-FC1D-9AEC-68301B6C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D974D-EA13-B08A-29A3-D74872A70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F3B51-D0F1-5BC1-9A1D-7203DEE5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5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48263-02BE-828E-A51C-3AA0CD22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10C6F-378E-80B3-4A2D-1D02052E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0ECBE-E2B6-4418-FFB3-DE2DE608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010D-63AB-8092-5FF7-BF1AD14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EEDD6-AF6F-57C9-97BE-71D8AAC8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3A901-D84D-EB44-8EC8-A50EBB69A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F616C-C952-458F-EA10-3E846BCE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77621-B2BB-6F83-C3BD-5B5DC2B0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EFEE1-2991-0269-9923-8F678608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4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31F-B8B5-376F-84AF-110346D8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9ED49-E3B0-9E22-9041-D32BB9623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C837D-2305-5021-1E44-278FAD92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529DB-C8F1-F179-20CD-96BC50A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16A44-C563-CBA5-C17C-E26FA859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0D08B-9DE0-EC7E-B1BB-32439F19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8761-9415-06DA-ED91-50C1ECAB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95CB9-BE05-16EF-06E3-BF5BB4766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DE36D-A60D-E379-E31A-87C66335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2BE5-A1C0-2343-7CB8-FC2F8383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E6652-B7D6-A69E-4093-29A28A2B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8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DD80E-6E1F-5C91-B735-5674D0A84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AC7D2-91A5-551E-71C0-8AD15972B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B2E5-CE42-B0F5-D0ED-FDB17EA8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3D00C-0BF6-F87B-847D-6B461518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5EFA6-E14D-9016-AE45-E275BC3C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4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95D0C-615E-DB38-51FE-71A55FF4E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B9349-084F-D77B-BBF0-29C5B54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E218-FBC8-055F-447C-6A1C1B3B2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61939-D89A-EF4C-BF2A-E48CB6AD1120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97CFA-1B22-C13F-F8D0-1AD1710D3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AE71-4701-CD42-1105-E73B797FD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F475F-F676-405C-BC39-67E6FE69C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795" y="2137126"/>
            <a:ext cx="9690410" cy="2764028"/>
          </a:xfrm>
        </p:spPr>
        <p:txBody>
          <a:bodyPr anchor="ctr">
            <a:normAutofit/>
          </a:bodyPr>
          <a:lstStyle/>
          <a:p>
            <a:r>
              <a:rPr lang="en-US" sz="4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Chapter-1</a:t>
            </a:r>
            <a:br>
              <a:rPr lang="en-US" sz="4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Overview of Financial Management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5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BD5F7-8434-0472-51DD-CEB8EAB7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We Cover in This Chapter?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352AB-FED6-680F-9AE6-E9B39072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3751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Finance in businesses and various finance-related careers.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Business Organization: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Sole ownership, Partnerships, Corporations.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each structure.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Shareholder Wealth: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long-run value vs. current stock price.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executive incentives for long-term value creation.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Conflicts in Firms: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 vs. Managers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 vs. Bondholders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mitigate these conflicts.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758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A5D17-DA84-DD7F-7386-AFCC9C2A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5ADC4-97B5-7DF6-914F-3AFF5591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111144"/>
            <a:ext cx="10967961" cy="829762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Finance?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F055811-2B99-3951-695C-6C2745BE8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279626"/>
              </p:ext>
            </p:extLst>
          </p:nvPr>
        </p:nvGraphicFramePr>
        <p:xfrm>
          <a:off x="553156" y="1151468"/>
          <a:ext cx="10800644" cy="5025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23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44E2C-126F-0F9B-AA61-4C3D5430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B7B841-B6EE-A2AB-8170-85C62501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9DFC2-CA43-1F5D-9549-B6F41056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111144"/>
            <a:ext cx="10967961" cy="829762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Finance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B64F831-ADB1-E288-4D5A-0D6587464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554222"/>
              </p:ext>
            </p:extLst>
          </p:nvPr>
        </p:nvGraphicFramePr>
        <p:xfrm>
          <a:off x="477078" y="1052051"/>
          <a:ext cx="10875195" cy="5574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265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BC563-FD26-283C-1A2B-453A90F5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59E644-B1B5-5A53-2321-341A467F1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EBD04-5AAE-F8BB-55FA-4066DB37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111144"/>
            <a:ext cx="10967961" cy="829762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Structure of a Business</a:t>
            </a:r>
          </a:p>
        </p:txBody>
      </p:sp>
      <p:graphicFrame>
        <p:nvGraphicFramePr>
          <p:cNvPr id="6" name="Diagram 5" descr="Organizational chart that shows the hierarchy of business executives and which financial departments report to them." title="Hierarchy of Business Organizations">
            <a:extLst>
              <a:ext uri="{FF2B5EF4-FFF2-40B4-BE49-F238E27FC236}">
                <a16:creationId xmlns:a16="http://schemas.microsoft.com/office/drawing/2014/main" id="{860A2A4A-C2A0-6831-66FE-3DD57AE40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307550"/>
              </p:ext>
            </p:extLst>
          </p:nvPr>
        </p:nvGraphicFramePr>
        <p:xfrm>
          <a:off x="530578" y="1241777"/>
          <a:ext cx="11164711" cy="5328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484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46997-BF17-CA24-3336-84502D0D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98A8AC-CF90-FC27-795F-AE820F42A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F907C-6F95-0EB0-0454-FF4B4171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Structure of a Business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58AF2E9-21F9-524D-72BD-BD785C92F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0ACE1-E065-DBE9-EE0F-2B1D903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06222"/>
            <a:ext cx="11112500" cy="437512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of Directors: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governing body in a business. The Chairperson of the Board is the top-ranking individual.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Executive Officer (CEO): 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serves as the Chairperson of the Board. Responsible for overall management and decision-making.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Operating Officer (COO): 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designated as President. Manages operations: marketing, manufacturing, sales, and other departments.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Financial Officer (CFO): 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vice president, usually third in command. Oversees accounting, finance, credit policy, asset acquisition, and investor relations.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6675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D376E-CA17-CA51-6B74-F56B4136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5CAC5-EE64-4356-CF7C-FC923C9F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9" y="548464"/>
            <a:ext cx="10875196" cy="7635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Business Organization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9E2BC89-02FA-997C-1D05-917BA816A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9425242"/>
              </p:ext>
            </p:extLst>
          </p:nvPr>
        </p:nvGraphicFramePr>
        <p:xfrm>
          <a:off x="318053" y="1608484"/>
          <a:ext cx="11594548" cy="469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7748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8C631D-70C7-5436-7309-2AE5762A3837}"/>
              </a:ext>
            </a:extLst>
          </p:cNvPr>
          <p:cNvGrpSpPr/>
          <p:nvPr/>
        </p:nvGrpSpPr>
        <p:grpSpPr>
          <a:xfrm>
            <a:off x="467143" y="4055160"/>
            <a:ext cx="11324826" cy="2262158"/>
            <a:chOff x="692427" y="3737112"/>
            <a:chExt cx="11324826" cy="226215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796A21-F546-1C68-40C2-826AF663B887}"/>
                </a:ext>
              </a:extLst>
            </p:cNvPr>
            <p:cNvSpPr txBox="1"/>
            <p:nvPr/>
          </p:nvSpPr>
          <p:spPr>
            <a:xfrm>
              <a:off x="692427" y="3737112"/>
              <a:ext cx="5486400" cy="2262158"/>
            </a:xfrm>
            <a:prstGeom prst="rect">
              <a:avLst/>
            </a:prstGeom>
            <a:ln w="381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Easy and inexpensive to form.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Few government regulations.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income taxes than corporations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DCF8D0-17D4-7D2D-CF43-D443671FF490}"/>
                </a:ext>
              </a:extLst>
            </p:cNvPr>
            <p:cNvSpPr txBox="1"/>
            <p:nvPr/>
          </p:nvSpPr>
          <p:spPr>
            <a:xfrm>
              <a:off x="6350253" y="3737112"/>
              <a:ext cx="5667000" cy="2262158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Unlimited personal liability for debts.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Life of business tied to the owner.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Difficulty in raising large sums of capital.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9880CC-7420-E156-D292-069D48739B08}"/>
                </a:ext>
              </a:extLst>
            </p:cNvPr>
            <p:cNvSpPr/>
            <p:nvPr/>
          </p:nvSpPr>
          <p:spPr>
            <a:xfrm>
              <a:off x="2375454" y="3737112"/>
              <a:ext cx="2120346" cy="563218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A3E83A-3DF7-E5FF-4CDB-52D75E8D1F91}"/>
                </a:ext>
              </a:extLst>
            </p:cNvPr>
            <p:cNvSpPr/>
            <p:nvPr/>
          </p:nvSpPr>
          <p:spPr>
            <a:xfrm>
              <a:off x="8123581" y="3737112"/>
              <a:ext cx="2120346" cy="56321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Limitations</a:t>
              </a:r>
              <a:endPara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A43E0F1D-71F7-E285-3399-3BCFA406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9" y="548464"/>
            <a:ext cx="10875196" cy="7635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Proprietorships or Sole ownership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C0C1F-50A0-6B4B-189E-057157542EEC}"/>
              </a:ext>
            </a:extLst>
          </p:cNvPr>
          <p:cNvSpPr txBox="1"/>
          <p:nvPr/>
        </p:nvSpPr>
        <p:spPr>
          <a:xfrm>
            <a:off x="477079" y="1676906"/>
            <a:ext cx="78630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Unincorporated business owned by one individual.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D791A-DEB7-35D5-4298-84944C255F7C}"/>
              </a:ext>
            </a:extLst>
          </p:cNvPr>
          <p:cNvSpPr txBox="1"/>
          <p:nvPr/>
        </p:nvSpPr>
        <p:spPr>
          <a:xfrm>
            <a:off x="462556" y="2492593"/>
            <a:ext cx="11324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freelance graphic designer works independently, offering design services to clients. The designer is the sole owner of the business, handling all operations, payments, and profits.</a:t>
            </a:r>
          </a:p>
        </p:txBody>
      </p:sp>
    </p:spTree>
    <p:extLst>
      <p:ext uri="{BB962C8B-B14F-4D97-AF65-F5344CB8AC3E}">
        <p14:creationId xmlns:p14="http://schemas.microsoft.com/office/powerpoint/2010/main" val="423971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4FA6-3C74-14CB-BE6D-63372E7A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945008B-1F82-976B-D806-FB068A797802}"/>
              </a:ext>
            </a:extLst>
          </p:cNvPr>
          <p:cNvGrpSpPr/>
          <p:nvPr/>
        </p:nvGrpSpPr>
        <p:grpSpPr>
          <a:xfrm>
            <a:off x="467143" y="4046944"/>
            <a:ext cx="11427570" cy="2270374"/>
            <a:chOff x="692427" y="3728896"/>
            <a:chExt cx="11427570" cy="22703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141050-8466-8998-DB70-74BD76737F34}"/>
                </a:ext>
              </a:extLst>
            </p:cNvPr>
            <p:cNvSpPr txBox="1"/>
            <p:nvPr/>
          </p:nvSpPr>
          <p:spPr>
            <a:xfrm>
              <a:off x="692427" y="3737112"/>
              <a:ext cx="5486400" cy="2258568"/>
            </a:xfrm>
            <a:prstGeom prst="rect">
              <a:avLst/>
            </a:prstGeom>
            <a:ln w="381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Easy and inexpensive to form.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Avoids corporate income tax.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554C4E-875A-2E47-EF27-3CD811833791}"/>
                </a:ext>
              </a:extLst>
            </p:cNvPr>
            <p:cNvSpPr txBox="1"/>
            <p:nvPr/>
          </p:nvSpPr>
          <p:spPr>
            <a:xfrm>
              <a:off x="6633597" y="3737112"/>
              <a:ext cx="5486400" cy="2262158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Unlimited personal liability.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Difficulty in raising capital.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one partner can affect all.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4C5016-2462-04A4-08B1-EA69C7015858}"/>
                </a:ext>
              </a:extLst>
            </p:cNvPr>
            <p:cNvSpPr/>
            <p:nvPr/>
          </p:nvSpPr>
          <p:spPr>
            <a:xfrm>
              <a:off x="2375454" y="3737112"/>
              <a:ext cx="2120346" cy="563218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4A5E15-8044-5D20-D79A-7DC8F966AC9A}"/>
                </a:ext>
              </a:extLst>
            </p:cNvPr>
            <p:cNvSpPr/>
            <p:nvPr/>
          </p:nvSpPr>
          <p:spPr>
            <a:xfrm>
              <a:off x="8316624" y="3728896"/>
              <a:ext cx="2120346" cy="56321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Limitations</a:t>
              </a:r>
              <a:endPara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9298ABB-0BB5-A796-D921-0414E500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9" y="548464"/>
            <a:ext cx="10875196" cy="7635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A83EF-CC4A-FF3B-0D85-B8EFD3054438}"/>
              </a:ext>
            </a:extLst>
          </p:cNvPr>
          <p:cNvSpPr txBox="1"/>
          <p:nvPr/>
        </p:nvSpPr>
        <p:spPr>
          <a:xfrm>
            <a:off x="477079" y="1676906"/>
            <a:ext cx="11310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Legal arrangement between two or more people doing business together.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0206C-20B6-D554-BA55-06AF02E0CDAC}"/>
              </a:ext>
            </a:extLst>
          </p:cNvPr>
          <p:cNvSpPr txBox="1"/>
          <p:nvPr/>
        </p:nvSpPr>
        <p:spPr>
          <a:xfrm>
            <a:off x="462556" y="2492593"/>
            <a:ext cx="11324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friends decide to open a bakery together. One specializes in baking, and the other in managing the shop. They share profits and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301152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987C1-ED13-8741-F5D9-B6D972F1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4B63A8-05BA-516E-C5CB-5FBB0AEEC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FD0BC-4212-D5C2-4900-EFE13E2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Calculation in Partnerships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4CBB503-0CDF-CC7D-587C-CE36C98AE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EDFAF-BC51-7F7C-0D9E-EE525692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06222"/>
            <a:ext cx="11112500" cy="43751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partnership, profits are shared based on the agreement made between the partners.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</a:p>
          <a:p>
            <a:pPr lvl="1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 Terms: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partnership agreement may include specific terms for sharing profits, such as a fixed percentage or based on other factors like workload or Capital Contribution.</a:t>
            </a:r>
          </a:p>
          <a:p>
            <a:pPr lvl="1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Contribution: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partner contributes a certain amount of capital (money, assets, etc.) to the business.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2959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168C-ADD9-9072-8796-95996727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136AEA5-48E4-38B2-3B4A-32398E09A85C}"/>
              </a:ext>
            </a:extLst>
          </p:cNvPr>
          <p:cNvGrpSpPr/>
          <p:nvPr/>
        </p:nvGrpSpPr>
        <p:grpSpPr>
          <a:xfrm>
            <a:off x="467143" y="4055160"/>
            <a:ext cx="11232267" cy="2262158"/>
            <a:chOff x="692427" y="3737112"/>
            <a:chExt cx="11232267" cy="226215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FC3EC6-796A-2AF5-4D71-43CB993ED2D0}"/>
                </a:ext>
              </a:extLst>
            </p:cNvPr>
            <p:cNvSpPr txBox="1"/>
            <p:nvPr/>
          </p:nvSpPr>
          <p:spPr>
            <a:xfrm>
              <a:off x="692427" y="3737112"/>
              <a:ext cx="5486400" cy="2262158"/>
            </a:xfrm>
            <a:prstGeom prst="rect">
              <a:avLst/>
            </a:prstGeom>
            <a:ln w="381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liability for stockholders.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Unlimited life.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Easier to raise capital and transfer.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A74247-3A0C-CBEE-D65C-E1E8C8806130}"/>
                </a:ext>
              </a:extLst>
            </p:cNvPr>
            <p:cNvSpPr txBox="1"/>
            <p:nvPr/>
          </p:nvSpPr>
          <p:spPr>
            <a:xfrm>
              <a:off x="6438294" y="3737112"/>
              <a:ext cx="5486400" cy="2262158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 taxation.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regulatory requirements..</a:t>
              </a:r>
            </a:p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of setup and report filing.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D6DB1-2FCA-1387-2756-3B85BC46FC13}"/>
                </a:ext>
              </a:extLst>
            </p:cNvPr>
            <p:cNvSpPr/>
            <p:nvPr/>
          </p:nvSpPr>
          <p:spPr>
            <a:xfrm>
              <a:off x="2375454" y="3737112"/>
              <a:ext cx="2120346" cy="563218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EE9FE-62D9-DF19-9D98-7BCF629796D0}"/>
                </a:ext>
              </a:extLst>
            </p:cNvPr>
            <p:cNvSpPr/>
            <p:nvPr/>
          </p:nvSpPr>
          <p:spPr>
            <a:xfrm>
              <a:off x="8121321" y="3737112"/>
              <a:ext cx="2120346" cy="56321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Limitations</a:t>
              </a:r>
              <a:endPara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3411936-2A9D-C64B-B5E5-813BA6D2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9" y="548464"/>
            <a:ext cx="10875196" cy="7635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5A91D-C102-BBC0-F1F0-474C5E1A4F65}"/>
              </a:ext>
            </a:extLst>
          </p:cNvPr>
          <p:cNvSpPr txBox="1"/>
          <p:nvPr/>
        </p:nvSpPr>
        <p:spPr>
          <a:xfrm>
            <a:off x="477079" y="1676906"/>
            <a:ext cx="11310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Legal entity separate from its owners and managers.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2C0D1C-34AE-15E6-A68A-A81D032A582C}"/>
              </a:ext>
            </a:extLst>
          </p:cNvPr>
          <p:cNvSpPr txBox="1"/>
          <p:nvPr/>
        </p:nvSpPr>
        <p:spPr>
          <a:xfrm>
            <a:off x="462556" y="2251293"/>
            <a:ext cx="11324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restaurant decides to expand into a chain and incorporates as a corporation. It allows them to raise capital by selling shares to investors, protecting the owners’ personal assets, and continuing even if the owner leaves.</a:t>
            </a:r>
          </a:p>
        </p:txBody>
      </p:sp>
    </p:spTree>
    <p:extLst>
      <p:ext uri="{BB962C8B-B14F-4D97-AF65-F5344CB8AC3E}">
        <p14:creationId xmlns:p14="http://schemas.microsoft.com/office/powerpoint/2010/main" val="355408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A467-2926-9A34-AB0B-D0421C54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F2E7BF4-FD7C-5E2E-C73C-27E7044F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9" y="446864"/>
            <a:ext cx="10875196" cy="7635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 Rights in Corporations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5D75A-2EA2-BACC-9016-51A643CB322B}"/>
              </a:ext>
            </a:extLst>
          </p:cNvPr>
          <p:cNvSpPr/>
          <p:nvPr/>
        </p:nvSpPr>
        <p:spPr>
          <a:xfrm>
            <a:off x="2524539" y="1432714"/>
            <a:ext cx="7142921" cy="153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Vote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of Board of Directors.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of mergers, acquisitions, or significant business changes.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Amendments to the company’s articles of incorporation or bylaws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4A761-B71D-A3AC-9B2D-961797D23FAF}"/>
              </a:ext>
            </a:extLst>
          </p:cNvPr>
          <p:cNvSpPr/>
          <p:nvPr/>
        </p:nvSpPr>
        <p:spPr>
          <a:xfrm>
            <a:off x="4340639" y="4950876"/>
            <a:ext cx="3764723" cy="58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Receive Dividends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E3A57-FCB8-446B-75C3-76F5F252CCE5}"/>
              </a:ext>
            </a:extLst>
          </p:cNvPr>
          <p:cNvSpPr/>
          <p:nvPr/>
        </p:nvSpPr>
        <p:spPr>
          <a:xfrm>
            <a:off x="1511302" y="5706230"/>
            <a:ext cx="4889498" cy="58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Inspect Corporate Records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64781A-1AB6-2D5D-EE3B-4EA10C4D6251}"/>
              </a:ext>
            </a:extLst>
          </p:cNvPr>
          <p:cNvSpPr/>
          <p:nvPr/>
        </p:nvSpPr>
        <p:spPr>
          <a:xfrm>
            <a:off x="2524539" y="3084821"/>
            <a:ext cx="7142920" cy="1692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Share in Assets Upon Liquidation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Claims: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Debts (creditors).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shareholders (if applicable).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shareholders (last in line).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4CB8C-3F41-B5B0-BB81-A4D01E5E8C7C}"/>
              </a:ext>
            </a:extLst>
          </p:cNvPr>
          <p:cNvSpPr/>
          <p:nvPr/>
        </p:nvSpPr>
        <p:spPr>
          <a:xfrm>
            <a:off x="8267702" y="4950876"/>
            <a:ext cx="3764723" cy="58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 Rights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6C162-A939-D4AD-8AF6-96F40D8E5271}"/>
              </a:ext>
            </a:extLst>
          </p:cNvPr>
          <p:cNvSpPr/>
          <p:nvPr/>
        </p:nvSpPr>
        <p:spPr>
          <a:xfrm>
            <a:off x="203202" y="4950876"/>
            <a:ext cx="3975098" cy="58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Sue for Wrongdoing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EAF183-9935-1D7C-1057-9CBA0F221469}"/>
              </a:ext>
            </a:extLst>
          </p:cNvPr>
          <p:cNvSpPr/>
          <p:nvPr/>
        </p:nvSpPr>
        <p:spPr>
          <a:xfrm>
            <a:off x="6540502" y="5706229"/>
            <a:ext cx="4432298" cy="58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Transfer Shares</a:t>
            </a:r>
          </a:p>
        </p:txBody>
      </p:sp>
    </p:spTree>
    <p:extLst>
      <p:ext uri="{BB962C8B-B14F-4D97-AF65-F5344CB8AC3E}">
        <p14:creationId xmlns:p14="http://schemas.microsoft.com/office/powerpoint/2010/main" val="327337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2C3F7-DA96-11AF-7458-6D7550B5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32E410-B875-1335-2B9B-55D29B2C9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8ADDC-803C-788D-A383-0D2CACD6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LLCs and LLPs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FAE8BE7-6E43-116A-194D-4D66B1657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A3E2-BB4D-A509-5173-7BED1948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1"/>
            <a:ext cx="10935942" cy="468665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LLCs (Limited Liability Companies):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 are called members, and an LLC can have one or multiple members. Members can be individuals, corporations, or other LLCs.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between partnerships and corporations.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limited liability protection but taxed like a partnership.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have voting rights based on ownership interest.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LLPs (Limited Liability Partnerships):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 are called partners, and an LLP typically requires at least two partners. The partners must be individuals (not corporations or other entities).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LLCs, used for professional firms (accounting, law, etc.).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limited liability but taxed as partnerships.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97425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A244F-A6C5-3005-40AD-6FEF851F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7CA68-C7F6-163F-548E-DB76BB908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59FEC-9B40-EA41-78ED-3CC209F9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Smith's Invisible Hand &amp; Profit Maximization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3D16727-4495-E21B-52D7-1041309BA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1F1C-B048-8B0A-562D-9D7FE68E6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3751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Smith (1776): The “invisible hand” guides firms toward profit maximization, benefiting society.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refers to the market's self-regulating nature, where individuals pursuing their own self-interest unintentionally contribute to society's overall good.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enterprise system viewed as ideal for economic growth and social welfare.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Challenge: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Firms are larger, global, and owned by millions of shareholders.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profit maximization remain the sole objective, or should firms balance broader societal interests?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16047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D1382-31B9-F274-5A79-A365A44D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593CC7-3526-9CC2-6D5B-F0B779F45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7F9FE-0B8A-2F0C-D4A5-95138F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Financial Goal of Firms-1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2788986-8480-FB1F-EB6A-185B6BBEE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1F9F-2D8D-368E-D6EB-9DAC1A078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83988" cy="4738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financial objective of public corporations is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shareholder wealth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and employees are responsible for making decisions that increase stockholder value.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Stockholders’ Perspective: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have committed their hard-earned money with the expectation of a return on investment.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financial goals of investors may include saving for retirement, a new home, or education.</a:t>
            </a:r>
          </a:p>
        </p:txBody>
      </p:sp>
    </p:spTree>
    <p:extLst>
      <p:ext uri="{BB962C8B-B14F-4D97-AF65-F5344CB8AC3E}">
        <p14:creationId xmlns:p14="http://schemas.microsoft.com/office/powerpoint/2010/main" val="743944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B4185-0E77-20B4-ED9D-46B0568C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8E24E6-2C9D-404E-620A-8D5C91AF7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A53E3-22FF-920A-8FA6-DB1069C6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Financial Goal of Firms-2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500D3A1-29E0-80D0-C69C-3E85A0372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9EB2-3D98-238C-1CD0-5739DFA06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64164" cy="4738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Stockholder Wealth Determined?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any asset is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value of future cash flows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 are influenced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future cash flows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current 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View: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stockholder wealth requires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perspective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operations.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Managerial actions that impact value may not immediately be reflected in the stock price.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decisions affect stock prices over time.</a:t>
            </a:r>
          </a:p>
        </p:txBody>
      </p:sp>
    </p:spTree>
    <p:extLst>
      <p:ext uri="{BB962C8B-B14F-4D97-AF65-F5344CB8AC3E}">
        <p14:creationId xmlns:p14="http://schemas.microsoft.com/office/powerpoint/2010/main" val="496250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1B794-3CD4-5157-0D2C-67B22D0C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5F6A9-0970-2AA6-E494-72F35DE72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D66C2-14E0-8791-9D71-D7EC669C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Value: Cash Flows &amp; Risk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BDA1774-55C2-DC43-4737-1D0009C3B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100C-2A5C-7EC9-ED57-7D0ED45B3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64164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Managerial Actions &amp; External Factors: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Managerial actions, economy, taxes, and political conditions affect a company's future cash flows and risk.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expected cash flows and lower perceived risk lead to a higher stock price.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vs. Perceived Cash Flows and Risk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Cash Flows and Risk: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investors would expect with full information about the company.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Perceived Cash Flows and Risk: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investors expect based on the limited information available to them.</a:t>
            </a:r>
          </a:p>
        </p:txBody>
      </p:sp>
    </p:spTree>
    <p:extLst>
      <p:ext uri="{BB962C8B-B14F-4D97-AF65-F5344CB8AC3E}">
        <p14:creationId xmlns:p14="http://schemas.microsoft.com/office/powerpoint/2010/main" val="3296272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F7C50-8378-B783-B4D3-A6C96F65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9594C5-3DD4-529F-1F99-A4F50DDA4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77856-14EB-38FC-2D8F-A774139D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 vs. Market Price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FE6657A-B8A5-20CE-55BB-55691393B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55E2-FE49-DCA8-D1B7-08AD44CB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64164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 vs. Market Price: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stock’s "true" value, calculated by competent analysts using the best available data.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market price based on the perceived information available to investors, determined by the marginal investor.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Equilibrium: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market price equals the intrinsic value, the stock is in equilibrium.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pressure exists for price changes in equilibrium.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Convergence: Over time, market prices and intrinsic values tend to converge as more information becomes available.</a:t>
            </a:r>
          </a:p>
        </p:txBody>
      </p:sp>
    </p:spTree>
    <p:extLst>
      <p:ext uri="{BB962C8B-B14F-4D97-AF65-F5344CB8AC3E}">
        <p14:creationId xmlns:p14="http://schemas.microsoft.com/office/powerpoint/2010/main" val="3525336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D4A5E-BB2E-335F-5B23-5B8A39E6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E4C2CE-41E1-9CA3-C5A5-619A2358D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FCE77-D2D4-0663-4A5F-1A18EC12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Value: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4F82E86-C54D-C2CB-7A8B-BD4D0407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51BBFF0-E350-2706-46E2-50619502A2C8}"/>
              </a:ext>
            </a:extLst>
          </p:cNvPr>
          <p:cNvGrpSpPr/>
          <p:nvPr/>
        </p:nvGrpSpPr>
        <p:grpSpPr>
          <a:xfrm>
            <a:off x="669036" y="2691024"/>
            <a:ext cx="10571242" cy="1940458"/>
            <a:chOff x="-2771058" y="3002936"/>
            <a:chExt cx="14127492" cy="29504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46A30F-FC09-4BA1-927E-FB617F302C04}"/>
                </a:ext>
              </a:extLst>
            </p:cNvPr>
            <p:cNvGrpSpPr/>
            <p:nvPr/>
          </p:nvGrpSpPr>
          <p:grpSpPr>
            <a:xfrm>
              <a:off x="-2771058" y="3002936"/>
              <a:ext cx="14127492" cy="1978467"/>
              <a:chOff x="-2968954" y="3468465"/>
              <a:chExt cx="14127492" cy="197846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A3BD22D-13C1-010D-E34B-FD14B2EFB8DE}"/>
                  </a:ext>
                </a:extLst>
              </p:cNvPr>
              <p:cNvGrpSpPr/>
              <p:nvPr/>
            </p:nvGrpSpPr>
            <p:grpSpPr>
              <a:xfrm>
                <a:off x="-2968954" y="3468466"/>
                <a:ext cx="14127492" cy="1978466"/>
                <a:chOff x="-2868942" y="4168553"/>
                <a:chExt cx="14127492" cy="1978466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AB1F1F6F-C180-A876-81FC-E95D2EE81F24}"/>
                    </a:ext>
                  </a:extLst>
                </p:cNvPr>
                <p:cNvGrpSpPr/>
                <p:nvPr/>
              </p:nvGrpSpPr>
              <p:grpSpPr>
                <a:xfrm>
                  <a:off x="-2868942" y="5024756"/>
                  <a:ext cx="14127492" cy="1122263"/>
                  <a:chOff x="-3011817" y="5053331"/>
                  <a:chExt cx="14127492" cy="1122263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46B96BD8-F263-7E3F-3E3C-0ED8B80B0CA5}"/>
                      </a:ext>
                    </a:extLst>
                  </p:cNvPr>
                  <p:cNvGrpSpPr/>
                  <p:nvPr/>
                </p:nvGrpSpPr>
                <p:grpSpPr>
                  <a:xfrm>
                    <a:off x="-3011817" y="5053331"/>
                    <a:ext cx="14127492" cy="475932"/>
                    <a:chOff x="-3011817" y="5053331"/>
                    <a:chExt cx="14127492" cy="475932"/>
                  </a:xfrm>
                </p:grpSpPr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22E8F7B5-86A0-C187-77A4-DDDB3041D1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3011817" y="5300661"/>
                      <a:ext cx="14127492" cy="0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6D4FDC74-1333-912C-2A7B-38C724D97F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10DA7E25-6333-D6B6-AABD-EBAF8F12D9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D06CA00D-9471-FEA7-7073-36183143D1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AD5115D7-ED86-6226-86D8-11953963F3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2A243387-7A28-CE0A-AB39-220AFAE966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2E7EBF5-6369-9A79-B4FB-3BE7D7E88A54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F5D4DB6-44CE-B3E2-4404-952898E221A7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B25D022-A50C-26D2-449F-8BF83FAF565C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6328142-AF5B-A41E-8BDC-CEC45B781222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BB3B211-16B6-CE47-DF19-F805490B701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74295D-E0E2-9307-7729-30340318B559}"/>
                    </a:ext>
                  </a:extLst>
                </p:cNvPr>
                <p:cNvSpPr txBox="1"/>
                <p:nvPr/>
              </p:nvSpPr>
              <p:spPr>
                <a:xfrm>
                  <a:off x="734634" y="4168553"/>
                  <a:ext cx="1163679" cy="7019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3"/>
                      </a:solidFill>
                      <a:latin typeface="Helvetica" pitchFamily="2" charset="0"/>
                    </a:rPr>
                    <a:t>$200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8DC61C-EA44-1286-2CDF-FF0D9451CF62}"/>
                    </a:ext>
                  </a:extLst>
                </p:cNvPr>
                <p:cNvSpPr txBox="1"/>
                <p:nvPr/>
              </p:nvSpPr>
              <p:spPr>
                <a:xfrm>
                  <a:off x="3071120" y="4168942"/>
                  <a:ext cx="1163679" cy="7019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3"/>
                      </a:solidFill>
                      <a:latin typeface="Helvetica" pitchFamily="2" charset="0"/>
                    </a:rPr>
                    <a:t>$250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CD3D9D-76A8-1A12-6ABA-25E5150AA7EC}"/>
                  </a:ext>
                </a:extLst>
              </p:cNvPr>
              <p:cNvSpPr txBox="1"/>
              <p:nvPr/>
            </p:nvSpPr>
            <p:spPr>
              <a:xfrm>
                <a:off x="5190842" y="3468465"/>
                <a:ext cx="1163679" cy="701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3"/>
                    </a:solidFill>
                    <a:latin typeface="Helvetica" pitchFamily="2" charset="0"/>
                  </a:rPr>
                  <a:t>$220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97B5B-C678-DB16-9A69-CC7EBBF6936D}"/>
                </a:ext>
              </a:extLst>
            </p:cNvPr>
            <p:cNvSpPr txBox="1"/>
            <p:nvPr/>
          </p:nvSpPr>
          <p:spPr>
            <a:xfrm>
              <a:off x="7657989" y="3002936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3"/>
                  </a:solidFill>
                  <a:latin typeface="Helvetica" pitchFamily="2" charset="0"/>
                </a:rPr>
                <a:t>$280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A28EBD1-13B4-1A81-DC38-1A29CDF00813}"/>
                </a:ext>
              </a:extLst>
            </p:cNvPr>
            <p:cNvSpPr txBox="1"/>
            <p:nvPr/>
          </p:nvSpPr>
          <p:spPr>
            <a:xfrm>
              <a:off x="10019687" y="3002936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3"/>
                  </a:solidFill>
                  <a:latin typeface="Helvetica" pitchFamily="2" charset="0"/>
                </a:rPr>
                <a:t>$320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0C0EA9-CA1C-ACBD-4D6F-84038357307B}"/>
                </a:ext>
              </a:extLst>
            </p:cNvPr>
            <p:cNvSpPr txBox="1"/>
            <p:nvPr/>
          </p:nvSpPr>
          <p:spPr>
            <a:xfrm>
              <a:off x="832518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DFD224A-4F94-5318-C0AF-6628DD5E5E38}"/>
                </a:ext>
              </a:extLst>
            </p:cNvPr>
            <p:cNvSpPr txBox="1"/>
            <p:nvPr/>
          </p:nvSpPr>
          <p:spPr>
            <a:xfrm>
              <a:off x="3147340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$260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0EAACB-70B9-E67F-0026-43166EE67792}"/>
                </a:ext>
              </a:extLst>
            </p:cNvPr>
            <p:cNvSpPr txBox="1"/>
            <p:nvPr/>
          </p:nvSpPr>
          <p:spPr>
            <a:xfrm>
              <a:off x="5404351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$270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244C988-78FF-6252-4CA2-C76422D72F8D}"/>
                </a:ext>
              </a:extLst>
            </p:cNvPr>
            <p:cNvSpPr txBox="1"/>
            <p:nvPr/>
          </p:nvSpPr>
          <p:spPr>
            <a:xfrm>
              <a:off x="7657988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$310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7C3C1E4-AA03-173F-383A-D662B01E7C97}"/>
                </a:ext>
              </a:extLst>
            </p:cNvPr>
            <p:cNvSpPr txBox="1"/>
            <p:nvPr/>
          </p:nvSpPr>
          <p:spPr>
            <a:xfrm>
              <a:off x="9995641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$350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67D639DC-0C62-476B-A48B-E8558C7149CB}"/>
              </a:ext>
            </a:extLst>
          </p:cNvPr>
          <p:cNvSpPr txBox="1"/>
          <p:nvPr/>
        </p:nvSpPr>
        <p:spPr>
          <a:xfrm>
            <a:off x="221680" y="3838311"/>
            <a:ext cx="2922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information CFs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E33839-C7B6-7BF8-DBFC-2B04D5D9E512}"/>
              </a:ext>
            </a:extLst>
          </p:cNvPr>
          <p:cNvSpPr txBox="1"/>
          <p:nvPr/>
        </p:nvSpPr>
        <p:spPr>
          <a:xfrm>
            <a:off x="197407" y="2691023"/>
            <a:ext cx="2970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information CFs</a:t>
            </a:r>
            <a:endParaRPr lang="en-US" sz="2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FD2D0-B78B-804E-CCFE-491223DD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56DD44-7547-66A6-203E-98A1B81BB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D0F3B-68B4-DBDC-138B-0272C4AC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Value: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F03FF8E-434B-5E21-DB4D-2E3B54B89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9A0889B-6C89-DE9B-5FAC-FE72B009D9E4}"/>
              </a:ext>
            </a:extLst>
          </p:cNvPr>
          <p:cNvGrpSpPr/>
          <p:nvPr/>
        </p:nvGrpSpPr>
        <p:grpSpPr>
          <a:xfrm>
            <a:off x="669036" y="2691024"/>
            <a:ext cx="10571242" cy="1940458"/>
            <a:chOff x="-2771058" y="3002936"/>
            <a:chExt cx="14127492" cy="29504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A50753D-D4A4-06E9-524A-5A71E8FCBA52}"/>
                </a:ext>
              </a:extLst>
            </p:cNvPr>
            <p:cNvGrpSpPr/>
            <p:nvPr/>
          </p:nvGrpSpPr>
          <p:grpSpPr>
            <a:xfrm>
              <a:off x="-2771058" y="3002936"/>
              <a:ext cx="14127492" cy="1978467"/>
              <a:chOff x="-2968954" y="3468465"/>
              <a:chExt cx="14127492" cy="197846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F6BAB61-D443-BC30-89BB-7707B94528AE}"/>
                  </a:ext>
                </a:extLst>
              </p:cNvPr>
              <p:cNvGrpSpPr/>
              <p:nvPr/>
            </p:nvGrpSpPr>
            <p:grpSpPr>
              <a:xfrm>
                <a:off x="-2968954" y="3468466"/>
                <a:ext cx="14127492" cy="1978466"/>
                <a:chOff x="-2868942" y="4168553"/>
                <a:chExt cx="14127492" cy="1978466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93F98D00-064F-D04B-2953-A1A38DFF5C70}"/>
                    </a:ext>
                  </a:extLst>
                </p:cNvPr>
                <p:cNvGrpSpPr/>
                <p:nvPr/>
              </p:nvGrpSpPr>
              <p:grpSpPr>
                <a:xfrm>
                  <a:off x="-2868942" y="5024756"/>
                  <a:ext cx="14127492" cy="1122263"/>
                  <a:chOff x="-3011817" y="5053331"/>
                  <a:chExt cx="14127492" cy="1122263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DDEC99C9-15EA-5261-5F37-5CB538F342A7}"/>
                      </a:ext>
                    </a:extLst>
                  </p:cNvPr>
                  <p:cNvGrpSpPr/>
                  <p:nvPr/>
                </p:nvGrpSpPr>
                <p:grpSpPr>
                  <a:xfrm>
                    <a:off x="-3011817" y="5053331"/>
                    <a:ext cx="14127492" cy="475932"/>
                    <a:chOff x="-3011817" y="5053331"/>
                    <a:chExt cx="14127492" cy="475932"/>
                  </a:xfrm>
                </p:grpSpPr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4CFD282E-5548-43D4-0FE9-4258AD42D5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3011817" y="5300661"/>
                      <a:ext cx="14127492" cy="0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DA1A29E6-8939-A801-9A15-1390D12F7A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A9A2D96E-E7EC-B916-002B-003DE94197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3471A966-5343-C32C-8A65-147991E01A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471E215D-A629-2475-DB85-0EF681C8CD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98FADF3B-2512-95BB-DBA4-06407AABC6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8A927BC-BFA2-1689-C48C-58C6EDC1F414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F0F85B0B-24F9-202B-C6A8-EBD8195E6BEA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7CD420A-6258-545E-CE14-65370C43F45C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043F0E1-1806-F0DE-BDE0-B9D571A55182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3AF1006-1E93-69D6-8001-E6615AE212C7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3B36A5A-43F3-E1B7-C385-AED08D4437D0}"/>
                    </a:ext>
                  </a:extLst>
                </p:cNvPr>
                <p:cNvSpPr txBox="1"/>
                <p:nvPr/>
              </p:nvSpPr>
              <p:spPr>
                <a:xfrm>
                  <a:off x="734634" y="4168553"/>
                  <a:ext cx="1163679" cy="7019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3"/>
                      </a:solidFill>
                      <a:latin typeface="Helvetica" pitchFamily="2" charset="0"/>
                    </a:rPr>
                    <a:t>$200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0698E1A-9D5B-6DE7-21FB-93EF94FA8B69}"/>
                    </a:ext>
                  </a:extLst>
                </p:cNvPr>
                <p:cNvSpPr txBox="1"/>
                <p:nvPr/>
              </p:nvSpPr>
              <p:spPr>
                <a:xfrm>
                  <a:off x="3071120" y="4168942"/>
                  <a:ext cx="1163679" cy="7019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3"/>
                      </a:solidFill>
                      <a:latin typeface="Helvetica" pitchFamily="2" charset="0"/>
                    </a:rPr>
                    <a:t>$250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CE8C19-0C07-10E0-BE72-3A93AF792049}"/>
                  </a:ext>
                </a:extLst>
              </p:cNvPr>
              <p:cNvSpPr txBox="1"/>
              <p:nvPr/>
            </p:nvSpPr>
            <p:spPr>
              <a:xfrm>
                <a:off x="5190842" y="3468465"/>
                <a:ext cx="1163679" cy="701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3"/>
                    </a:solidFill>
                    <a:latin typeface="Helvetica" pitchFamily="2" charset="0"/>
                  </a:rPr>
                  <a:t>$220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0719F8E-03EE-9D82-9BC7-8364555CABA5}"/>
                </a:ext>
              </a:extLst>
            </p:cNvPr>
            <p:cNvSpPr txBox="1"/>
            <p:nvPr/>
          </p:nvSpPr>
          <p:spPr>
            <a:xfrm>
              <a:off x="7657989" y="3002936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3"/>
                  </a:solidFill>
                  <a:latin typeface="Helvetica" pitchFamily="2" charset="0"/>
                </a:rPr>
                <a:t>$280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546D72C-9B0D-96DB-A0CB-FB89C3261A69}"/>
                </a:ext>
              </a:extLst>
            </p:cNvPr>
            <p:cNvSpPr txBox="1"/>
            <p:nvPr/>
          </p:nvSpPr>
          <p:spPr>
            <a:xfrm>
              <a:off x="10019687" y="3002936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3"/>
                  </a:solidFill>
                  <a:latin typeface="Helvetica" pitchFamily="2" charset="0"/>
                </a:rPr>
                <a:t>$320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A50D1EE-5EB7-A453-E91F-406D331B16E9}"/>
                </a:ext>
              </a:extLst>
            </p:cNvPr>
            <p:cNvSpPr txBox="1"/>
            <p:nvPr/>
          </p:nvSpPr>
          <p:spPr>
            <a:xfrm>
              <a:off x="832518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58BC137-746F-5B80-D669-CF8010271BE8}"/>
                </a:ext>
              </a:extLst>
            </p:cNvPr>
            <p:cNvSpPr txBox="1"/>
            <p:nvPr/>
          </p:nvSpPr>
          <p:spPr>
            <a:xfrm>
              <a:off x="3147340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$280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A9AA929-59A2-D047-B6AE-7DCB371C5C74}"/>
                </a:ext>
              </a:extLst>
            </p:cNvPr>
            <p:cNvSpPr txBox="1"/>
            <p:nvPr/>
          </p:nvSpPr>
          <p:spPr>
            <a:xfrm>
              <a:off x="5404351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$290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02ED9D5-F0D2-CCF8-F2BF-A8400E478698}"/>
                </a:ext>
              </a:extLst>
            </p:cNvPr>
            <p:cNvSpPr txBox="1"/>
            <p:nvPr/>
          </p:nvSpPr>
          <p:spPr>
            <a:xfrm>
              <a:off x="7657988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$310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D123B71-444A-F730-A8D9-2A517130D93A}"/>
                </a:ext>
              </a:extLst>
            </p:cNvPr>
            <p:cNvSpPr txBox="1"/>
            <p:nvPr/>
          </p:nvSpPr>
          <p:spPr>
            <a:xfrm>
              <a:off x="9995641" y="5251402"/>
              <a:ext cx="1163679" cy="701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Helvetica" pitchFamily="2" charset="0"/>
                </a:rPr>
                <a:t>$350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D2B601B-76BD-DA99-7BA7-45EB8B4FEF6D}"/>
              </a:ext>
            </a:extLst>
          </p:cNvPr>
          <p:cNvSpPr txBox="1"/>
          <p:nvPr/>
        </p:nvSpPr>
        <p:spPr>
          <a:xfrm>
            <a:off x="221680" y="3838311"/>
            <a:ext cx="2922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information CFs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5BBE5-FA87-D402-BF4B-DC5AE4CB20C1}"/>
              </a:ext>
            </a:extLst>
          </p:cNvPr>
          <p:cNvSpPr txBox="1"/>
          <p:nvPr/>
        </p:nvSpPr>
        <p:spPr>
          <a:xfrm>
            <a:off x="197407" y="2691023"/>
            <a:ext cx="2970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information CFs</a:t>
            </a:r>
            <a:endParaRPr lang="en-US" sz="2400" b="1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37440-75BF-4AAD-4545-4F39C334C124}"/>
              </a:ext>
            </a:extLst>
          </p:cNvPr>
          <p:cNvSpPr txBox="1"/>
          <p:nvPr/>
        </p:nvSpPr>
        <p:spPr>
          <a:xfrm>
            <a:off x="464673" y="4826348"/>
            <a:ext cx="8433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= Present Value of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Percieved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Cash Flows = $1300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52D6C-E867-1E7A-D453-FB2CA3F008B7}"/>
              </a:ext>
            </a:extLst>
          </p:cNvPr>
          <p:cNvSpPr txBox="1"/>
          <p:nvPr/>
        </p:nvSpPr>
        <p:spPr>
          <a:xfrm>
            <a:off x="464673" y="1970822"/>
            <a:ext cx="7972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 = Present Value of True Cash Flows = $1000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67541-DA39-D542-48EC-C2FC5012F93B}"/>
              </a:ext>
            </a:extLst>
          </p:cNvPr>
          <p:cNvSpPr txBox="1"/>
          <p:nvPr/>
        </p:nvSpPr>
        <p:spPr>
          <a:xfrm>
            <a:off x="641196" y="5810189"/>
            <a:ext cx="9151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happen to the price of this company at the end of first year?</a:t>
            </a:r>
          </a:p>
        </p:txBody>
      </p:sp>
    </p:spTree>
    <p:extLst>
      <p:ext uri="{BB962C8B-B14F-4D97-AF65-F5344CB8AC3E}">
        <p14:creationId xmlns:p14="http://schemas.microsoft.com/office/powerpoint/2010/main" val="3192069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33B44-42C6-D2A4-0EC1-AFCBDB13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6A558D-A964-5911-134C-F8666F845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6051F-FADD-BBB9-7A6A-62759E6A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Value: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BE437B6-9762-3BD7-0324-D61F1538E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diagram of a price increase&#10;&#10;AI-generated content may be incorrect.">
            <a:extLst>
              <a:ext uri="{FF2B5EF4-FFF2-40B4-BE49-F238E27FC236}">
                <a16:creationId xmlns:a16="http://schemas.microsoft.com/office/drawing/2014/main" id="{992C60AB-E0CD-55DA-239D-A147256A7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852613"/>
            <a:ext cx="8626443" cy="36578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F36079-6566-740F-5676-D25845A9FF73}"/>
              </a:ext>
            </a:extLst>
          </p:cNvPr>
          <p:cNvSpPr txBox="1"/>
          <p:nvPr/>
        </p:nvSpPr>
        <p:spPr>
          <a:xfrm>
            <a:off x="669036" y="5587833"/>
            <a:ext cx="1104045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estimates of intrinsic value distinguish successful from unsuccessful investors.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often have better information about the firm’s prospects, leading to more accurate estimates.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9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30405-1BD4-AB47-42A9-B86464EC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7811BB-D12B-6341-BC24-321CE15C5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88325-E719-4C0E-69BF-74FE90319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Value: A Long-Run Concept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F26B8A-A453-04B6-83E1-9E2D4D53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4127-9C0F-A152-C35D-0C4BAAD7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1806222"/>
            <a:ext cx="11251095" cy="473862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vs. Intrinsic Value Over Time: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intrinsic value may increase or decrease over time depending on how the firm’s actions, such as reinvesting earnings, affect future profits and risks.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 occur due to investor optimism, pessimism, and imperfect knowledge.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Intrinsic Value: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should focus on maximizing intrinsic value, not short-term market prices.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should disclose information that helps investors make better intrinsic value estimates—unless it risks helping competitors.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long run, maximizing intrinsic value leads to higher average stock prices.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34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29B4A-EBE1-7855-269E-E93B2B76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E93E4A-EDF1-290D-AF33-29C04EA1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21040-66DD-A409-8668-BAE914BC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Stockholder–Manager Conflicts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1135BF7-C83A-9DCA-6B0F-CD065534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4FAC-5493-42F5-20FD-371F9F83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1806222"/>
            <a:ext cx="11418957" cy="47386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of Interest: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Managers’ personal goals may not always align with shareholder wealth maximization.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Excessive salaries or decisions aimed at personal gain.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 Tools: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compensation packages.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Firing underperforming managers.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of hostile takeovers.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Packages: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reward managers for long-term stock performance rather than short-term price fluctuations.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phased-in options or direct stock awards over time.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249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259D8-EB8D-48FE-70D1-0740E0EE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972A0A-D019-5ADF-545E-702C4932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BBEC6-F987-4EC5-7401-F91F72DE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Stockholder Intervention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CE5C780-6313-D1CB-6A96-B26BF4148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970F9-1049-0568-73C5-DAA1CDEE5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in Stock Ownership: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stock now owned by institutional investors (e.g., pension funds, mutual funds).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investors exert significant influence over company policies.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investors and activists can demand changes in management and strategy.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 of Activists: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role of activists in promoting shareholder interests and social responsibility (e.g., ESG initiatives).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BlackRock, Vanguard pushing for reduced carbon footprints.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89992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DD556-F26E-F0A5-82C6-2B488B14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B8DD8F-1BE7-63C0-FC5C-DA39431CC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009FD-9D32-33AA-642E-69735EFF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Managers’ Response to Activism and Hostile Takeovers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18C89A3-E7A1-9692-9429-868C2A2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8BA49-E050-7DA7-0527-BEE7D90A4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Hostile Takeovers: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Undervalued firms attract corporate raiders who buy the firm and replace managers.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incentivizes managers to maximize stock value over the long run.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Long-Run Price Focus: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should focus on increasing the intrinsic value of the stock.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with shareholders helps keep the actual stock price close to intrinsic value.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Management: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intrinsic value cannot be observed, managers can use valuation models to estimate it.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guide decisions that are aligned with long-term value maximization.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75285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AA7E1-DB1D-8282-2866-77ED2A59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175CBA-01BF-95DB-2A38-263FF7DA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F0918-B97D-A95F-DD5D-7D156593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Debtholders?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644B517-75AC-3748-AE29-832D4E8E2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1F91A-EA13-3D86-1B91-4AF621705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 provide debt capital to a company, typically through: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(e.g., from banks).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Bonds (issued by the company and purchased by investors).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to Debtholders: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payments, such as interest and principal repayment.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Role: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 expect the company to maintain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repayment.</a:t>
            </a:r>
          </a:p>
        </p:txBody>
      </p:sp>
    </p:spTree>
    <p:extLst>
      <p:ext uri="{BB962C8B-B14F-4D97-AF65-F5344CB8AC3E}">
        <p14:creationId xmlns:p14="http://schemas.microsoft.com/office/powerpoint/2010/main" val="4114900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FC145-003E-12E5-2BF2-55081ED8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68221C-E54E-0443-7242-911C41F8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EB2D6-C8DF-0DAC-8875-4C34C0BA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Stockholder–Debtholder Conflicts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B908BB1-103E-F120-8897-E2C7020A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5643F-233A-FDE2-AD0C-8073EE1EB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arises because: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 earn a fixed return regardless of how well the company performs.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 earn variable returns and benefit when the company takes on riskier projects.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Conflict: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 may prefer riskier investments (higher potential returns).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 prefer safer investments to protect their fixed payments.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Stockholders: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 from higher risk → higher potential returns.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Prefer lower risk to ensure fixed returns.</a:t>
            </a:r>
          </a:p>
        </p:txBody>
      </p:sp>
    </p:spTree>
    <p:extLst>
      <p:ext uri="{BB962C8B-B14F-4D97-AF65-F5344CB8AC3E}">
        <p14:creationId xmlns:p14="http://schemas.microsoft.com/office/powerpoint/2010/main" val="2647147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EB931-8236-8EBB-BB2D-2DD96553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D30672-F554-F6A9-4B22-3575B9E59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FC200-B79A-E43A-A74A-4136816F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Mitigating Stockholder–Debtholder Conflicts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71672F2-681A-136C-0393-F36F70CE8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0390B-8FF5-238F-DA06-EE8DE9BE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Interest Rates: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Debtholders demand higher returns to compensate for increased risk.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Restrictive Covenants*: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Risky Investments: Prevent excessive risk-taking by stockholders.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Additional Debt: Control the firm’s leverage to protect existing debt.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Communication: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policies to reassure debtholders about risk management practices.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Collateral: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loans or bonds with assets to reduce perceived risk.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812D2-6F6E-264A-76B7-E5A399299EC0}"/>
              </a:ext>
            </a:extLst>
          </p:cNvPr>
          <p:cNvSpPr txBox="1"/>
          <p:nvPr/>
        </p:nvSpPr>
        <p:spPr>
          <a:xfrm>
            <a:off x="469901" y="5851452"/>
            <a:ext cx="1158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*Covenants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clauses in loan or bond agreements that place restrictions on a borrower to protect the interests of the lender (debtholders). </a:t>
            </a:r>
          </a:p>
        </p:txBody>
      </p:sp>
    </p:spTree>
    <p:extLst>
      <p:ext uri="{BB962C8B-B14F-4D97-AF65-F5344CB8AC3E}">
        <p14:creationId xmlns:p14="http://schemas.microsoft.com/office/powerpoint/2010/main" val="564012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DEAF5-09A0-E4AF-9A99-8AC12EB2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BED9E0-7655-036A-5485-2D0D876ED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DB0C1-2DA7-19BB-9196-CFB3AD1C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 Interests and Society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BB709B7-C600-A048-4673-6211727ED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4967-5117-FD76-56F4-2998C7D49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7386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Management's primary financial goal: Shareholder Wealth Maximization.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must also behave ethically and follow laws and societal constraints.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 societal interests can lead to: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attracting top employees.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Boycotts and loss of customers.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Lawsuits, regulations, and negative publicity.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costs reduce shareholder value.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who consider societal constraints create long-term value by ensuring sustainability and reducing potential costs.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3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3BCF54F-58E4-EB2E-ABBA-D7C1CFE4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49" t="28491" b="2395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20D83-4A93-3E47-647E-246708F4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2287</Words>
  <Application>Microsoft Macintosh PowerPoint</Application>
  <PresentationFormat>Widescreen</PresentationFormat>
  <Paragraphs>302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Helvetica</vt:lpstr>
      <vt:lpstr>Times New Roman</vt:lpstr>
      <vt:lpstr>Wingdings</vt:lpstr>
      <vt:lpstr>Office Theme</vt:lpstr>
      <vt:lpstr>Chapter-1 An Overview of Financial Management</vt:lpstr>
      <vt:lpstr>What Will We Cover in This Chapter?</vt:lpstr>
      <vt:lpstr>What is Finance?</vt:lpstr>
      <vt:lpstr>Overview of Finance</vt:lpstr>
      <vt:lpstr>Organizational Structure of a Business</vt:lpstr>
      <vt:lpstr>Organizational Structure of a Business</vt:lpstr>
      <vt:lpstr>Forms of Business Organization</vt:lpstr>
      <vt:lpstr>Proprietorships or Sole ownership</vt:lpstr>
      <vt:lpstr>Partnerships</vt:lpstr>
      <vt:lpstr>Profit Calculation in Partnerships</vt:lpstr>
      <vt:lpstr>Corporations</vt:lpstr>
      <vt:lpstr>Shareholder Rights in Corporations</vt:lpstr>
      <vt:lpstr>LLCs and LLPs</vt:lpstr>
      <vt:lpstr>Adam Smith's Invisible Hand &amp; Profit Maximization</vt:lpstr>
      <vt:lpstr>Modern Financial Goal of Firms-1</vt:lpstr>
      <vt:lpstr>Modern Financial Goal of Firms-2</vt:lpstr>
      <vt:lpstr>Determinants of Value: Cash Flows &amp; Risk</vt:lpstr>
      <vt:lpstr>Intrinsic Value vs. Market Price</vt:lpstr>
      <vt:lpstr>Determinants of Value: Example</vt:lpstr>
      <vt:lpstr>Determinants of Value: Example</vt:lpstr>
      <vt:lpstr>Determinants of Value: Example</vt:lpstr>
      <vt:lpstr>Intrinsic Value: A Long-Run Concept</vt:lpstr>
      <vt:lpstr>Stockholder–Manager Conflicts</vt:lpstr>
      <vt:lpstr>Direct Stockholder Intervention</vt:lpstr>
      <vt:lpstr>Managers’ Response to Activism and Hostile Takeovers</vt:lpstr>
      <vt:lpstr>Who Are the Debtholders?</vt:lpstr>
      <vt:lpstr>Stockholder–Debtholder Conflicts</vt:lpstr>
      <vt:lpstr>Mitigating Stockholder–Debtholder Conflicts</vt:lpstr>
      <vt:lpstr>Shareholder Interests and Society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bavili</dc:creator>
  <cp:lastModifiedBy>reza bavili</cp:lastModifiedBy>
  <cp:revision>9</cp:revision>
  <dcterms:created xsi:type="dcterms:W3CDTF">2025-01-15T20:12:49Z</dcterms:created>
  <dcterms:modified xsi:type="dcterms:W3CDTF">2025-01-16T06:18:22Z</dcterms:modified>
</cp:coreProperties>
</file>