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8" r:id="rId2"/>
    <p:sldId id="263" r:id="rId3"/>
    <p:sldId id="265" r:id="rId4"/>
    <p:sldId id="267" r:id="rId5"/>
    <p:sldId id="268" r:id="rId6"/>
    <p:sldId id="272" r:id="rId7"/>
    <p:sldId id="269" r:id="rId8"/>
    <p:sldId id="270" r:id="rId9"/>
    <p:sldId id="271" r:id="rId10"/>
    <p:sldId id="273" r:id="rId11"/>
    <p:sldId id="274" r:id="rId12"/>
    <p:sldId id="276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0086"/>
    <a:srgbClr val="8A0293"/>
    <a:srgbClr val="A600AF"/>
    <a:srgbClr val="0061B4"/>
    <a:srgbClr val="0032FF"/>
    <a:srgbClr val="820700"/>
    <a:srgbClr val="171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86"/>
    <p:restoredTop sz="96087"/>
  </p:normalViewPr>
  <p:slideViewPr>
    <p:cSldViewPr snapToGrid="0">
      <p:cViewPr varScale="1">
        <p:scale>
          <a:sx n="115" d="100"/>
          <a:sy n="115" d="100"/>
        </p:scale>
        <p:origin x="5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red arrow pointing up to a graph&#10;&#10;AI-generated content may be incorrect.">
            <a:extLst>
              <a:ext uri="{FF2B5EF4-FFF2-40B4-BE49-F238E27FC236}">
                <a16:creationId xmlns:a16="http://schemas.microsoft.com/office/drawing/2014/main" id="{C3CC60C6-B5AA-0407-4BC0-05F9C73B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9" y="2022229"/>
            <a:ext cx="6502400" cy="365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903845" y="1024967"/>
            <a:ext cx="238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Understanding the Cost of Money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0040F-DDAE-7F89-EDD9-73B9DED7E5F6}"/>
              </a:ext>
            </a:extLst>
          </p:cNvPr>
          <p:cNvSpPr txBox="1"/>
          <p:nvPr/>
        </p:nvSpPr>
        <p:spPr>
          <a:xfrm>
            <a:off x="356382" y="1586306"/>
            <a:ext cx="1147923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Four Fundamental Factors Affecting the Cost of Money: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Production Opportunities</a:t>
            </a:r>
            <a:endParaRPr lang="en-US" sz="2000" dirty="0">
              <a:latin typeface="Helvetica" pitchFamily="2" charset="0"/>
            </a:endParaRP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The ability of investments to generate returns.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Time Preferences for Consumption vs. Willingness to Save </a:t>
            </a: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How much individuals value present consumption versus future consumption.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Risk</a:t>
            </a:r>
            <a:r>
              <a:rPr lang="en-US" sz="2000" dirty="0">
                <a:latin typeface="Helvetica" pitchFamily="2" charset="0"/>
              </a:rPr>
              <a:t> </a:t>
            </a: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The uncertainty associated with investment returns.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Inflation</a:t>
            </a:r>
            <a:r>
              <a:rPr lang="en-US" sz="2000" dirty="0">
                <a:latin typeface="Helvetica" pitchFamily="2" charset="0"/>
              </a:rPr>
              <a:t> </a:t>
            </a: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The expected change in the purchasing power of money over time.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6075A-CB9F-0D62-B13F-3B3D6B1DF837}"/>
              </a:ext>
            </a:extLst>
          </p:cNvPr>
          <p:cNvSpPr txBox="1"/>
          <p:nvPr/>
        </p:nvSpPr>
        <p:spPr>
          <a:xfrm>
            <a:off x="683540" y="5685175"/>
            <a:ext cx="4849404" cy="95410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Cost of Borrowing Debt Capital: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200" b="1" dirty="0">
                <a:latin typeface="Helvetica" pitchFamily="2" charset="0"/>
              </a:rPr>
              <a:t>Interest rate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D53EF-5850-00B3-B4D5-678CBCF443F8}"/>
              </a:ext>
            </a:extLst>
          </p:cNvPr>
          <p:cNvSpPr txBox="1"/>
          <p:nvPr/>
        </p:nvSpPr>
        <p:spPr>
          <a:xfrm>
            <a:off x="6659056" y="5685175"/>
            <a:ext cx="4849404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Cost of Equity:</a:t>
            </a:r>
            <a:endParaRPr lang="en-US" sz="2000" b="1" dirty="0">
              <a:latin typeface="Helvetica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Helvetica" pitchFamily="2" charset="0"/>
              </a:rPr>
              <a:t>sum of </a:t>
            </a:r>
            <a:r>
              <a:rPr lang="en-US" sz="2200" b="1" dirty="0">
                <a:latin typeface="Helvetica" pitchFamily="2" charset="0"/>
              </a:rPr>
              <a:t>dividends</a:t>
            </a:r>
            <a:r>
              <a:rPr lang="en-US" sz="2200" dirty="0">
                <a:latin typeface="Helvetica" pitchFamily="2" charset="0"/>
              </a:rPr>
              <a:t> and </a:t>
            </a:r>
            <a:r>
              <a:rPr lang="en-US" sz="2200" b="1" dirty="0">
                <a:latin typeface="Helvetica" pitchFamily="2" charset="0"/>
              </a:rPr>
              <a:t>capital gains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B9A7-ADDB-3330-07C0-BE8EE8D7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D55FE-60A6-825C-ACA7-93E9B25F006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654AD-70AD-6D56-B509-DE5AFCFC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How Interest Rate Levels Are Determined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5E608-D2D6-D125-AF8A-F0ECEE68F5B8}"/>
              </a:ext>
            </a:extLst>
          </p:cNvPr>
          <p:cNvSpPr txBox="1"/>
          <p:nvPr/>
        </p:nvSpPr>
        <p:spPr>
          <a:xfrm>
            <a:off x="356382" y="1586306"/>
            <a:ext cx="11479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b="1" dirty="0"/>
              <a:t>Interest rates are determined by supply and demand for capital.</a:t>
            </a:r>
          </a:p>
          <a:p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6B7091-4E44-FF42-799E-119EE859B7B9}"/>
              </a:ext>
            </a:extLst>
          </p:cNvPr>
          <p:cNvCxnSpPr>
            <a:cxnSpLocks/>
          </p:cNvCxnSpPr>
          <p:nvPr/>
        </p:nvCxnSpPr>
        <p:spPr>
          <a:xfrm>
            <a:off x="1930017" y="3429000"/>
            <a:ext cx="1982491" cy="13762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C92523-EC71-80EC-7974-FA6498BF6CAB}"/>
              </a:ext>
            </a:extLst>
          </p:cNvPr>
          <p:cNvCxnSpPr>
            <a:cxnSpLocks/>
          </p:cNvCxnSpPr>
          <p:nvPr/>
        </p:nvCxnSpPr>
        <p:spPr>
          <a:xfrm>
            <a:off x="7494546" y="2661978"/>
            <a:ext cx="2566403" cy="19403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B1863A-9857-2758-3B25-453C89A443EB}"/>
              </a:ext>
            </a:extLst>
          </p:cNvPr>
          <p:cNvCxnSpPr>
            <a:cxnSpLocks/>
          </p:cNvCxnSpPr>
          <p:nvPr/>
        </p:nvCxnSpPr>
        <p:spPr>
          <a:xfrm flipH="1">
            <a:off x="2533422" y="3235862"/>
            <a:ext cx="1779166" cy="162494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A9F44C-C6D7-42E2-AD99-63EE6E7971E0}"/>
              </a:ext>
            </a:extLst>
          </p:cNvPr>
          <p:cNvCxnSpPr>
            <a:cxnSpLocks/>
          </p:cNvCxnSpPr>
          <p:nvPr/>
        </p:nvCxnSpPr>
        <p:spPr>
          <a:xfrm flipH="1">
            <a:off x="7470125" y="2749201"/>
            <a:ext cx="1456653" cy="136603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592BB13-46AE-D30A-7A4C-D6D7C86EFAF9}"/>
              </a:ext>
            </a:extLst>
          </p:cNvPr>
          <p:cNvSpPr txBox="1"/>
          <p:nvPr/>
        </p:nvSpPr>
        <p:spPr>
          <a:xfrm>
            <a:off x="4261858" y="2962165"/>
            <a:ext cx="39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baseline="-25000" dirty="0">
                <a:solidFill>
                  <a:srgbClr val="00B050"/>
                </a:solidFill>
              </a:rPr>
              <a:t>2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0D1ABB-27BB-0172-CDB3-19B1C0304EDB}"/>
              </a:ext>
            </a:extLst>
          </p:cNvPr>
          <p:cNvSpPr txBox="1"/>
          <p:nvPr/>
        </p:nvSpPr>
        <p:spPr>
          <a:xfrm>
            <a:off x="1897531" y="313704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B71450-6C33-B052-DC25-46B0A8E1F646}"/>
              </a:ext>
            </a:extLst>
          </p:cNvPr>
          <p:cNvCxnSpPr>
            <a:cxnSpLocks/>
          </p:cNvCxnSpPr>
          <p:nvPr/>
        </p:nvCxnSpPr>
        <p:spPr>
          <a:xfrm flipH="1">
            <a:off x="2231260" y="2967335"/>
            <a:ext cx="1703830" cy="152780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259327-B79F-2D1A-46DC-1708234F5DE3}"/>
              </a:ext>
            </a:extLst>
          </p:cNvPr>
          <p:cNvSpPr txBox="1"/>
          <p:nvPr/>
        </p:nvSpPr>
        <p:spPr>
          <a:xfrm>
            <a:off x="3857549" y="2658935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77353C-F923-192D-9B0E-51D146337555}"/>
              </a:ext>
            </a:extLst>
          </p:cNvPr>
          <p:cNvCxnSpPr>
            <a:cxnSpLocks/>
          </p:cNvCxnSpPr>
          <p:nvPr/>
        </p:nvCxnSpPr>
        <p:spPr>
          <a:xfrm flipH="1">
            <a:off x="7801182" y="2993876"/>
            <a:ext cx="1419446" cy="141927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FB0272C-0F9F-E2FD-DC10-8B055674F9A5}"/>
              </a:ext>
            </a:extLst>
          </p:cNvPr>
          <p:cNvSpPr txBox="1"/>
          <p:nvPr/>
        </p:nvSpPr>
        <p:spPr>
          <a:xfrm>
            <a:off x="9154526" y="271837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CE17E9-2ED7-8A62-AA2D-306370F505CC}"/>
              </a:ext>
            </a:extLst>
          </p:cNvPr>
          <p:cNvSpPr txBox="1"/>
          <p:nvPr/>
        </p:nvSpPr>
        <p:spPr>
          <a:xfrm>
            <a:off x="8855129" y="245667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baseline="-25000" dirty="0">
                <a:solidFill>
                  <a:srgbClr val="00B050"/>
                </a:solidFill>
              </a:rPr>
              <a:t>2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E552E7-FC9A-3207-611C-4CA7908094A2}"/>
              </a:ext>
            </a:extLst>
          </p:cNvPr>
          <p:cNvSpPr txBox="1"/>
          <p:nvPr/>
        </p:nvSpPr>
        <p:spPr>
          <a:xfrm>
            <a:off x="7520669" y="244447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8F6DC94-AAC8-1121-2BED-6096595AEED4}"/>
              </a:ext>
            </a:extLst>
          </p:cNvPr>
          <p:cNvGrpSpPr/>
          <p:nvPr/>
        </p:nvGrpSpPr>
        <p:grpSpPr>
          <a:xfrm>
            <a:off x="1710798" y="3999694"/>
            <a:ext cx="1041844" cy="1076640"/>
            <a:chOff x="2644726" y="5744113"/>
            <a:chExt cx="1041844" cy="107664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9AFBBD9-E418-9A8A-86C8-A387FE6AC24C}"/>
                </a:ext>
              </a:extLst>
            </p:cNvPr>
            <p:cNvCxnSpPr>
              <a:cxnSpLocks/>
            </p:cNvCxnSpPr>
            <p:nvPr/>
          </p:nvCxnSpPr>
          <p:spPr>
            <a:xfrm>
              <a:off x="2644726" y="5750805"/>
              <a:ext cx="104184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6166263-9FB4-CA42-2733-433F9AF0B294}"/>
                </a:ext>
              </a:extLst>
            </p:cNvPr>
            <p:cNvCxnSpPr>
              <a:cxnSpLocks/>
            </p:cNvCxnSpPr>
            <p:nvPr/>
          </p:nvCxnSpPr>
          <p:spPr>
            <a:xfrm>
              <a:off x="3686570" y="5744113"/>
              <a:ext cx="0" cy="1076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C86F028-B807-9A30-149B-69C13BDD355B}"/>
              </a:ext>
            </a:extLst>
          </p:cNvPr>
          <p:cNvGrpSpPr/>
          <p:nvPr/>
        </p:nvGrpSpPr>
        <p:grpSpPr>
          <a:xfrm>
            <a:off x="1710798" y="4285075"/>
            <a:ext cx="1453481" cy="797952"/>
            <a:chOff x="2644726" y="5744113"/>
            <a:chExt cx="1041844" cy="107664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11AB2C-52C9-2C29-419A-485680149C7F}"/>
                </a:ext>
              </a:extLst>
            </p:cNvPr>
            <p:cNvCxnSpPr>
              <a:cxnSpLocks/>
            </p:cNvCxnSpPr>
            <p:nvPr/>
          </p:nvCxnSpPr>
          <p:spPr>
            <a:xfrm>
              <a:off x="2644726" y="5750805"/>
              <a:ext cx="104184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7179426-34E3-9553-C7B5-88FB9BFE0784}"/>
                </a:ext>
              </a:extLst>
            </p:cNvPr>
            <p:cNvCxnSpPr>
              <a:cxnSpLocks/>
            </p:cNvCxnSpPr>
            <p:nvPr/>
          </p:nvCxnSpPr>
          <p:spPr>
            <a:xfrm>
              <a:off x="3686570" y="5744113"/>
              <a:ext cx="0" cy="1076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6884D93-00E1-741D-9D34-862573F9946C}"/>
              </a:ext>
            </a:extLst>
          </p:cNvPr>
          <p:cNvGrpSpPr/>
          <p:nvPr/>
        </p:nvGrpSpPr>
        <p:grpSpPr>
          <a:xfrm>
            <a:off x="7121898" y="3291049"/>
            <a:ext cx="1214895" cy="1769383"/>
            <a:chOff x="2644726" y="5744113"/>
            <a:chExt cx="1041844" cy="1076640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B9189FE-6CF5-55EF-614F-95642B75C48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726" y="5750805"/>
              <a:ext cx="104184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B07595F-7C9C-C4F6-395F-6C5234D92A6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570" y="5744113"/>
              <a:ext cx="0" cy="1076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B66E571-EB09-AF8E-90AC-5C43812811B1}"/>
              </a:ext>
            </a:extLst>
          </p:cNvPr>
          <p:cNvGrpSpPr/>
          <p:nvPr/>
        </p:nvGrpSpPr>
        <p:grpSpPr>
          <a:xfrm>
            <a:off x="7118534" y="3540051"/>
            <a:ext cx="1535644" cy="1536278"/>
            <a:chOff x="2644726" y="5744113"/>
            <a:chExt cx="1041844" cy="1076640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E545102-D728-AE70-8F99-A510339A6B55}"/>
                </a:ext>
              </a:extLst>
            </p:cNvPr>
            <p:cNvCxnSpPr>
              <a:cxnSpLocks/>
            </p:cNvCxnSpPr>
            <p:nvPr/>
          </p:nvCxnSpPr>
          <p:spPr>
            <a:xfrm>
              <a:off x="2644726" y="5750805"/>
              <a:ext cx="104184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4AE7ABE-93FA-2D75-67A0-7C6BC78D2A8B}"/>
                </a:ext>
              </a:extLst>
            </p:cNvPr>
            <p:cNvCxnSpPr>
              <a:cxnSpLocks/>
            </p:cNvCxnSpPr>
            <p:nvPr/>
          </p:nvCxnSpPr>
          <p:spPr>
            <a:xfrm>
              <a:off x="3686570" y="5744113"/>
              <a:ext cx="0" cy="1076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CDA29349-6975-480D-82B2-98BE75C6CCA5}"/>
              </a:ext>
            </a:extLst>
          </p:cNvPr>
          <p:cNvSpPr txBox="1"/>
          <p:nvPr/>
        </p:nvSpPr>
        <p:spPr>
          <a:xfrm>
            <a:off x="6816798" y="3394505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07A012-D7C8-FE8D-E8C4-552917CFFA63}"/>
              </a:ext>
            </a:extLst>
          </p:cNvPr>
          <p:cNvSpPr txBox="1"/>
          <p:nvPr/>
        </p:nvSpPr>
        <p:spPr>
          <a:xfrm>
            <a:off x="6828344" y="3155268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C88C3E-DB1C-CC86-C7E4-E5CF822E8E38}"/>
              </a:ext>
            </a:extLst>
          </p:cNvPr>
          <p:cNvSpPr txBox="1"/>
          <p:nvPr/>
        </p:nvSpPr>
        <p:spPr>
          <a:xfrm>
            <a:off x="1382324" y="412722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4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5CEC0E-6ED9-434F-E7A7-F6A4C19EB711}"/>
              </a:ext>
            </a:extLst>
          </p:cNvPr>
          <p:cNvSpPr txBox="1"/>
          <p:nvPr/>
        </p:nvSpPr>
        <p:spPr>
          <a:xfrm>
            <a:off x="1380019" y="383041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5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99EE2F1-5790-4B1A-B9CA-CEBA56E1397A}"/>
              </a:ext>
            </a:extLst>
          </p:cNvPr>
          <p:cNvGrpSpPr/>
          <p:nvPr/>
        </p:nvGrpSpPr>
        <p:grpSpPr>
          <a:xfrm>
            <a:off x="1055383" y="2298257"/>
            <a:ext cx="9998989" cy="3891068"/>
            <a:chOff x="83833" y="2298257"/>
            <a:chExt cx="9998989" cy="3891068"/>
          </a:xfrm>
        </p:grpSpPr>
        <p:sp>
          <p:nvSpPr>
            <p:cNvPr id="3" name="Left-Up Arrow 2">
              <a:extLst>
                <a:ext uri="{FF2B5EF4-FFF2-40B4-BE49-F238E27FC236}">
                  <a16:creationId xmlns:a16="http://schemas.microsoft.com/office/drawing/2014/main" id="{0B9D1CA4-C7CB-18A2-359E-F53C10D40337}"/>
                </a:ext>
              </a:extLst>
            </p:cNvPr>
            <p:cNvSpPr/>
            <p:nvPr/>
          </p:nvSpPr>
          <p:spPr>
            <a:xfrm rot="5400000">
              <a:off x="1223259" y="2059766"/>
              <a:ext cx="2522088" cy="3668618"/>
            </a:xfrm>
            <a:prstGeom prst="leftUpArrow">
              <a:avLst>
                <a:gd name="adj1" fmla="val 0"/>
                <a:gd name="adj2" fmla="val 3033"/>
                <a:gd name="adj3" fmla="val 51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Left-Up Arrow 3">
              <a:extLst>
                <a:ext uri="{FF2B5EF4-FFF2-40B4-BE49-F238E27FC236}">
                  <a16:creationId xmlns:a16="http://schemas.microsoft.com/office/drawing/2014/main" id="{E4C861B7-C76D-5FA1-6185-EC5C9CE22846}"/>
                </a:ext>
              </a:extLst>
            </p:cNvPr>
            <p:cNvSpPr/>
            <p:nvPr/>
          </p:nvSpPr>
          <p:spPr>
            <a:xfrm rot="5400000">
              <a:off x="6656412" y="2059766"/>
              <a:ext cx="2522088" cy="3668618"/>
            </a:xfrm>
            <a:prstGeom prst="leftUpArrow">
              <a:avLst>
                <a:gd name="adj1" fmla="val 0"/>
                <a:gd name="adj2" fmla="val 3033"/>
                <a:gd name="adj3" fmla="val 51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E60CDFB-E4EF-B0DE-279E-D3F97A5DA32A}"/>
                </a:ext>
              </a:extLst>
            </p:cNvPr>
            <p:cNvSpPr txBox="1"/>
            <p:nvPr/>
          </p:nvSpPr>
          <p:spPr>
            <a:xfrm>
              <a:off x="3749040" y="5155119"/>
              <a:ext cx="898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Dollars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4967D66-C92B-B3AA-3D0C-8E42BC3610BD}"/>
                </a:ext>
              </a:extLst>
            </p:cNvPr>
            <p:cNvSpPr txBox="1"/>
            <p:nvPr/>
          </p:nvSpPr>
          <p:spPr>
            <a:xfrm>
              <a:off x="9183858" y="5155119"/>
              <a:ext cx="898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Dollars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C80137-D39D-CE64-4C7E-50B7DCFAE87E}"/>
                </a:ext>
              </a:extLst>
            </p:cNvPr>
            <p:cNvSpPr txBox="1"/>
            <p:nvPr/>
          </p:nvSpPr>
          <p:spPr>
            <a:xfrm>
              <a:off x="83833" y="2299933"/>
              <a:ext cx="1453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Interest Rate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E17146E-11FE-4595-C079-9912B00CD169}"/>
                </a:ext>
              </a:extLst>
            </p:cNvPr>
            <p:cNvSpPr txBox="1"/>
            <p:nvPr/>
          </p:nvSpPr>
          <p:spPr>
            <a:xfrm>
              <a:off x="5265446" y="2298257"/>
              <a:ext cx="1453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Interest Rate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062D25-019B-B0BE-89FF-B22088C9588C}"/>
                </a:ext>
              </a:extLst>
            </p:cNvPr>
            <p:cNvSpPr txBox="1"/>
            <p:nvPr/>
          </p:nvSpPr>
          <p:spPr>
            <a:xfrm>
              <a:off x="585199" y="50870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A3E180D-DFA2-9F59-4682-91378DF93F3E}"/>
                </a:ext>
              </a:extLst>
            </p:cNvPr>
            <p:cNvSpPr txBox="1"/>
            <p:nvPr/>
          </p:nvSpPr>
          <p:spPr>
            <a:xfrm>
              <a:off x="6015794" y="5083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F01BDC0-7EBF-FCDE-0CC4-960F4A257779}"/>
                </a:ext>
              </a:extLst>
            </p:cNvPr>
            <p:cNvSpPr txBox="1"/>
            <p:nvPr/>
          </p:nvSpPr>
          <p:spPr>
            <a:xfrm>
              <a:off x="966014" y="5727660"/>
              <a:ext cx="24534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Low Risk Market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B1EE915-6432-0724-6185-4B7DF66A26B1}"/>
                </a:ext>
              </a:extLst>
            </p:cNvPr>
            <p:cNvSpPr txBox="1"/>
            <p:nvPr/>
          </p:nvSpPr>
          <p:spPr>
            <a:xfrm>
              <a:off x="6441456" y="5727660"/>
              <a:ext cx="2528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High Risk Market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61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0" grpId="0"/>
      <p:bldP spid="40" grpId="0"/>
      <p:bldP spid="56" grpId="0"/>
      <p:bldP spid="57" grpId="0"/>
      <p:bldP spid="82" grpId="0"/>
      <p:bldP spid="83" grpId="0"/>
      <p:bldP spid="84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16AD-CE7A-A96E-9E40-3DF5A15F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65CF7C-1E4F-FF3C-CDC6-6CE42FF1C67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3C1A5-DB68-D648-BC91-3D85E004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Interest Rates, Inflation, Economic Conditions</a:t>
            </a:r>
          </a:p>
        </p:txBody>
      </p:sp>
      <p:pic>
        <p:nvPicPr>
          <p:cNvPr id="8" name="Picture 7" descr="A graph showing long term rates&#10;&#10;AI-generated content may be incorrect.">
            <a:extLst>
              <a:ext uri="{FF2B5EF4-FFF2-40B4-BE49-F238E27FC236}">
                <a16:creationId xmlns:a16="http://schemas.microsoft.com/office/drawing/2014/main" id="{1C120AE7-6C5F-52C6-31C3-3A712CC7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" y="1555739"/>
            <a:ext cx="6959600" cy="3617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1BF35C-A3E7-A875-95A0-A0B2D9A4C191}"/>
              </a:ext>
            </a:extLst>
          </p:cNvPr>
          <p:cNvSpPr txBox="1"/>
          <p:nvPr/>
        </p:nvSpPr>
        <p:spPr>
          <a:xfrm>
            <a:off x="7086600" y="1541465"/>
            <a:ext cx="48920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Long-term rates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 are influenced by: 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Expected inflation 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Economic policies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b="1" dirty="0">
                <a:solidFill>
                  <a:srgbClr val="820700"/>
                </a:solidFill>
                <a:latin typeface="Helvetica" pitchFamily="2" charset="0"/>
              </a:rPr>
              <a:t>Short-term rates: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US" sz="2000" dirty="0">
                <a:solidFill>
                  <a:srgbClr val="820700"/>
                </a:solidFill>
                <a:latin typeface="Helvetica" pitchFamily="2" charset="0"/>
              </a:rPr>
              <a:t>They are volatile; 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US" sz="2000" b="1" dirty="0">
                <a:solidFill>
                  <a:srgbClr val="820700"/>
                </a:solidFill>
                <a:latin typeface="Helvetica" pitchFamily="2" charset="0"/>
              </a:rPr>
              <a:t>Rising during Booms </a:t>
            </a:r>
            <a:endParaRPr lang="en-US" sz="2000" b="1" dirty="0">
              <a:solidFill>
                <a:srgbClr val="820700"/>
              </a:solidFill>
              <a:latin typeface="Helvetica" pitchFamily="2" charset="0"/>
              <a:sym typeface="Wingdings" pitchFamily="2" charset="2"/>
            </a:endParaRP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US" sz="2000" dirty="0">
                <a:solidFill>
                  <a:srgbClr val="820700"/>
                </a:solidFill>
                <a:latin typeface="Helvetica" pitchFamily="2" charset="0"/>
                <a:sym typeface="Wingdings" pitchFamily="2" charset="2"/>
              </a:rPr>
              <a:t>Due to </a:t>
            </a:r>
            <a:r>
              <a:rPr lang="en-US" sz="2000" dirty="0">
                <a:solidFill>
                  <a:srgbClr val="820700"/>
                </a:solidFill>
                <a:latin typeface="Helvetica" pitchFamily="2" charset="0"/>
              </a:rPr>
              <a:t>Higher capital demand 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US" sz="2000" b="1" dirty="0">
                <a:solidFill>
                  <a:srgbClr val="820700"/>
                </a:solidFill>
                <a:latin typeface="Helvetica" pitchFamily="2" charset="0"/>
              </a:rPr>
              <a:t>Falling during Recessions</a:t>
            </a:r>
          </a:p>
          <a:p>
            <a:pPr marL="1257300" lvl="2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US" sz="2000" dirty="0">
                <a:solidFill>
                  <a:srgbClr val="820700"/>
                </a:solidFill>
                <a:latin typeface="Helvetica" pitchFamily="2" charset="0"/>
              </a:rPr>
              <a:t>Due to Lower capital demand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51FC-2C24-1B3F-6941-6FC4DD18C98F}"/>
              </a:ext>
            </a:extLst>
          </p:cNvPr>
          <p:cNvSpPr txBox="1"/>
          <p:nvPr/>
        </p:nvSpPr>
        <p:spPr>
          <a:xfrm>
            <a:off x="1995358" y="5783580"/>
            <a:ext cx="8201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Helvetica" pitchFamily="2" charset="0"/>
              </a:rPr>
              <a:t>Real Interest Rate</a:t>
            </a:r>
            <a:r>
              <a:rPr lang="en-US" sz="2400" dirty="0">
                <a:solidFill>
                  <a:srgbClr val="C00000"/>
                </a:solidFill>
                <a:latin typeface="Helvetica" pitchFamily="2" charset="0"/>
              </a:rPr>
              <a:t> = Nominal Interest Rate - Inflation Rate</a:t>
            </a:r>
          </a:p>
        </p:txBody>
      </p:sp>
    </p:spTree>
    <p:extLst>
      <p:ext uri="{BB962C8B-B14F-4D97-AF65-F5344CB8AC3E}">
        <p14:creationId xmlns:p14="http://schemas.microsoft.com/office/powerpoint/2010/main" val="193499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34BA9-06C7-DC07-3CB1-80B0D31C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80ABBB-1FCE-7EA8-5C32-6BE7F36D190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DFEE6-E19B-4209-35E9-E42A7D66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Components of Market Interest Rates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E3FC06-389B-A21C-9BB4-08ABE468BD72}"/>
              </a:ext>
            </a:extLst>
          </p:cNvPr>
          <p:cNvSpPr txBox="1"/>
          <p:nvPr/>
        </p:nvSpPr>
        <p:spPr>
          <a:xfrm>
            <a:off x="173502" y="1586306"/>
            <a:ext cx="11835618" cy="4493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Quoted (nominal) interest rate (r):</a:t>
            </a:r>
            <a:endParaRPr lang="en-US" sz="2400" dirty="0">
              <a:latin typeface="Helvetica" pitchFamily="2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r = r* + IP + DRP + LP + MRP</a:t>
            </a:r>
          </a:p>
          <a:p>
            <a:pPr algn="ctr"/>
            <a:endParaRPr lang="en-US" sz="3200" b="1" dirty="0">
              <a:solidFill>
                <a:schemeClr val="accent6">
                  <a:lumMod val="50000"/>
                </a:schemeClr>
              </a:solidFill>
              <a:latin typeface="Helvetica" pitchFamily="2" charset="0"/>
            </a:endParaRPr>
          </a:p>
          <a:p>
            <a:pPr algn="ctr"/>
            <a:endParaRPr lang="en-US" sz="3200" b="1" dirty="0">
              <a:solidFill>
                <a:schemeClr val="accent6">
                  <a:lumMod val="50000"/>
                </a:schemeClr>
              </a:solidFill>
              <a:latin typeface="Helvetica" pitchFamily="2" charset="0"/>
            </a:endParaRPr>
          </a:p>
          <a:p>
            <a:pPr algn="ctr"/>
            <a:endParaRPr lang="en-US" sz="3200" b="1" dirty="0">
              <a:solidFill>
                <a:schemeClr val="accent6">
                  <a:lumMod val="50000"/>
                </a:schemeClr>
              </a:solidFill>
              <a:latin typeface="Helvetica" pitchFamily="2" charset="0"/>
            </a:endParaRPr>
          </a:p>
          <a:p>
            <a:pPr algn="ctr"/>
            <a:endParaRPr lang="en-US" sz="3200" b="1" dirty="0">
              <a:solidFill>
                <a:schemeClr val="accent6">
                  <a:lumMod val="50000"/>
                </a:schemeClr>
              </a:solidFill>
              <a:latin typeface="Helvetica" pitchFamily="2" charset="0"/>
            </a:endParaRPr>
          </a:p>
          <a:p>
            <a:endParaRPr lang="en-US" sz="2400" b="1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Quoted (nominal) risk-free rate r</a:t>
            </a:r>
            <a:r>
              <a:rPr lang="en-US" sz="2400" b="1" baseline="-25000" dirty="0">
                <a:latin typeface="Helvetica" pitchFamily="2" charset="0"/>
              </a:rPr>
              <a:t>RF</a:t>
            </a:r>
            <a:r>
              <a:rPr lang="en-US" sz="2400" b="1" dirty="0">
                <a:latin typeface="Helvetica" pitchFamily="2" charset="0"/>
              </a:rPr>
              <a:t>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 r</a:t>
            </a:r>
            <a:r>
              <a:rPr lang="en-US" sz="2400" b="1" baseline="-25000" dirty="0">
                <a:latin typeface="Helvetica" pitchFamily="2" charset="0"/>
              </a:rPr>
              <a:t>RF</a:t>
            </a:r>
            <a:r>
              <a:rPr lang="en-US" sz="2400" b="1" dirty="0">
                <a:latin typeface="Helvetica" pitchFamily="2" charset="0"/>
              </a:rPr>
              <a:t> =  r* + IP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DF4BFC-8D25-CC0D-D0BF-0B3E443CEE17}"/>
              </a:ext>
            </a:extLst>
          </p:cNvPr>
          <p:cNvGrpSpPr/>
          <p:nvPr/>
        </p:nvGrpSpPr>
        <p:grpSpPr>
          <a:xfrm>
            <a:off x="759932" y="2537460"/>
            <a:ext cx="10754197" cy="2318628"/>
            <a:chOff x="718902" y="3897630"/>
            <a:chExt cx="10754197" cy="231862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0F9ECF-77B8-C0BC-EE12-0FCFE0D3BE0A}"/>
                </a:ext>
              </a:extLst>
            </p:cNvPr>
            <p:cNvSpPr/>
            <p:nvPr/>
          </p:nvSpPr>
          <p:spPr>
            <a:xfrm>
              <a:off x="8787748" y="4207611"/>
              <a:ext cx="2685351" cy="50512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latin typeface="Helvetica" pitchFamily="2" charset="0"/>
                  <a:cs typeface="Times New Roman" panose="02020603050405020304" pitchFamily="18" charset="0"/>
                </a:rPr>
                <a:t>Maturity Risk Premium</a:t>
              </a:r>
              <a:endParaRPr lang="en-US" dirty="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C929D2-3D62-52B6-2CFF-01109F03E89E}"/>
                </a:ext>
              </a:extLst>
            </p:cNvPr>
            <p:cNvSpPr/>
            <p:nvPr/>
          </p:nvSpPr>
          <p:spPr>
            <a:xfrm>
              <a:off x="7165344" y="4956491"/>
              <a:ext cx="2685351" cy="50512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latin typeface="Helvetica" pitchFamily="2" charset="0"/>
                  <a:cs typeface="Times New Roman" panose="02020603050405020304" pitchFamily="18" charset="0"/>
                </a:rPr>
                <a:t>Liquidity Premium</a:t>
              </a:r>
              <a:endParaRPr lang="en-US" dirty="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9BA4BC-586B-C618-BF71-01FAF9FA8D30}"/>
                </a:ext>
              </a:extLst>
            </p:cNvPr>
            <p:cNvSpPr/>
            <p:nvPr/>
          </p:nvSpPr>
          <p:spPr>
            <a:xfrm>
              <a:off x="4748635" y="5711137"/>
              <a:ext cx="2685351" cy="50512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latin typeface="Helvetica" pitchFamily="2" charset="0"/>
                  <a:cs typeface="Times New Roman" panose="02020603050405020304" pitchFamily="18" charset="0"/>
                </a:rPr>
                <a:t>Default Risk Premium</a:t>
              </a:r>
              <a:endParaRPr lang="en-US" dirty="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B58995-B6F1-703D-A916-9C50DF4A038C}"/>
                </a:ext>
              </a:extLst>
            </p:cNvPr>
            <p:cNvSpPr/>
            <p:nvPr/>
          </p:nvSpPr>
          <p:spPr>
            <a:xfrm>
              <a:off x="2341305" y="4956490"/>
              <a:ext cx="2685351" cy="50512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latin typeface="Helvetica" pitchFamily="2" charset="0"/>
                  <a:cs typeface="Times New Roman" panose="02020603050405020304" pitchFamily="18" charset="0"/>
                </a:rPr>
                <a:t>Inflation Premium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E34A3A-A867-33DF-CE68-0FD80D8D4578}"/>
                </a:ext>
              </a:extLst>
            </p:cNvPr>
            <p:cNvSpPr/>
            <p:nvPr/>
          </p:nvSpPr>
          <p:spPr>
            <a:xfrm>
              <a:off x="718902" y="4207610"/>
              <a:ext cx="2685351" cy="50512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latin typeface="Helvetica" pitchFamily="2" charset="0"/>
                  <a:cs typeface="Times New Roman" panose="02020603050405020304" pitchFamily="18" charset="0"/>
                </a:rPr>
                <a:t>Real Risk-Free Rate</a:t>
              </a:r>
              <a:endParaRPr lang="en-US" dirty="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D77F267-2716-63F4-1BB0-3C8066011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4253" y="3897630"/>
              <a:ext cx="545400" cy="30998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0A8A078-0A10-7EB9-EDC8-4A694712F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7925" y="3899684"/>
              <a:ext cx="682798" cy="9352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2EABDDE-C3E9-5F14-115D-70C43A9A3F80}"/>
                </a:ext>
              </a:extLst>
            </p:cNvPr>
            <p:cNvCxnSpPr>
              <a:cxnSpLocks/>
            </p:cNvCxnSpPr>
            <p:nvPr/>
          </p:nvCxnSpPr>
          <p:spPr>
            <a:xfrm>
              <a:off x="6035794" y="3899684"/>
              <a:ext cx="0" cy="167304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5B5C044-567F-D0D1-B65E-03C281E7274A}"/>
                </a:ext>
              </a:extLst>
            </p:cNvPr>
            <p:cNvCxnSpPr>
              <a:cxnSpLocks/>
            </p:cNvCxnSpPr>
            <p:nvPr/>
          </p:nvCxnSpPr>
          <p:spPr>
            <a:xfrm>
              <a:off x="7165344" y="3911529"/>
              <a:ext cx="698496" cy="92336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D505365-5117-F08B-8D03-75816151134B}"/>
                </a:ext>
              </a:extLst>
            </p:cNvPr>
            <p:cNvCxnSpPr>
              <a:cxnSpLocks/>
            </p:cNvCxnSpPr>
            <p:nvPr/>
          </p:nvCxnSpPr>
          <p:spPr>
            <a:xfrm>
              <a:off x="8309610" y="3897630"/>
              <a:ext cx="478138" cy="30998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248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9E8A-3F50-E0C3-6894-0A4AC26F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7F5599-84E7-4987-19E8-34B5D484431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1B08F-3D4A-C96F-713B-472C775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T-bill, T-bond, and Corporate bond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31D788-D64F-341B-D9B3-05B78C2F2C6C}"/>
              </a:ext>
            </a:extLst>
          </p:cNvPr>
          <p:cNvSpPr txBox="1"/>
          <p:nvPr/>
        </p:nvSpPr>
        <p:spPr>
          <a:xfrm>
            <a:off x="173502" y="1586306"/>
            <a:ext cx="11835618" cy="250837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T-bill &amp; T-bond: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70C0"/>
                </a:solidFill>
                <a:latin typeface="Helvetica" pitchFamily="2" charset="0"/>
              </a:rPr>
              <a:t>r = r* + IP + MRP</a:t>
            </a:r>
          </a:p>
          <a:p>
            <a:pPr marL="342900" indent="-342900">
              <a:spcBef>
                <a:spcPts val="30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Corporate bond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Helvetica" pitchFamily="2" charset="0"/>
              </a:rPr>
              <a:t>r = r* + IP + DRP + LP + MRP</a:t>
            </a:r>
          </a:p>
        </p:txBody>
      </p:sp>
    </p:spTree>
    <p:extLst>
      <p:ext uri="{BB962C8B-B14F-4D97-AF65-F5344CB8AC3E}">
        <p14:creationId xmlns:p14="http://schemas.microsoft.com/office/powerpoint/2010/main" val="72020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58BF-BF13-75CD-3F95-A6A0B709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A5A872-F8EF-F56A-68CF-28AD9366A2C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A93A1-C09C-28BB-B4BB-94EA46DC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Short-Term vs. Long-Term Bonds – Risk Trade-offs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A745D-39A3-CFB9-B0FC-A7E612A6A006}"/>
              </a:ext>
            </a:extLst>
          </p:cNvPr>
          <p:cNvSpPr txBox="1"/>
          <p:nvPr/>
        </p:nvSpPr>
        <p:spPr>
          <a:xfrm>
            <a:off x="173502" y="1586306"/>
            <a:ext cx="11835618" cy="23237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b="1" dirty="0">
                <a:latin typeface="Helvetica" pitchFamily="2" charset="0"/>
              </a:rPr>
              <a:t>Interest Rate Risk vs. Reinvestment Rate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Long-Term Bonds → Higher Interest Rate Risk</a:t>
            </a:r>
            <a:endParaRPr lang="en-US" sz="2000" dirty="0">
              <a:latin typeface="Helvetica" pitchFamily="2" charset="0"/>
            </a:endParaRP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If rates </a:t>
            </a:r>
            <a:r>
              <a:rPr lang="en-US" sz="2000" b="1" dirty="0">
                <a:latin typeface="Helvetica" pitchFamily="2" charset="0"/>
              </a:rPr>
              <a:t>rise</a:t>
            </a:r>
            <a:r>
              <a:rPr lang="en-US" sz="2000" dirty="0">
                <a:latin typeface="Helvetica" pitchFamily="2" charset="0"/>
              </a:rPr>
              <a:t>, bond prices </a:t>
            </a:r>
            <a:r>
              <a:rPr lang="en-US" sz="2000" b="1" dirty="0">
                <a:latin typeface="Helvetica" pitchFamily="2" charset="0"/>
              </a:rPr>
              <a:t>fall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Short-Term Bonds → Higher Reinvestment Rate Risk</a:t>
            </a:r>
            <a:endParaRPr lang="en-US" sz="2000" dirty="0">
              <a:latin typeface="Helvetica" pitchFamily="2" charset="0"/>
            </a:endParaRP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If rates </a:t>
            </a:r>
            <a:r>
              <a:rPr lang="en-US" sz="2000" b="1" dirty="0">
                <a:latin typeface="Helvetica" pitchFamily="2" charset="0"/>
              </a:rPr>
              <a:t>fall</a:t>
            </a:r>
            <a:r>
              <a:rPr lang="en-US" sz="2000" dirty="0">
                <a:latin typeface="Helvetica" pitchFamily="2" charset="0"/>
              </a:rPr>
              <a:t>, reinvesting principal earns lower returns.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CAB459-30BB-6128-26B4-E1BAD6709017}"/>
              </a:ext>
            </a:extLst>
          </p:cNvPr>
          <p:cNvGrpSpPr/>
          <p:nvPr/>
        </p:nvGrpSpPr>
        <p:grpSpPr>
          <a:xfrm>
            <a:off x="970016" y="3354018"/>
            <a:ext cx="10242589" cy="1823787"/>
            <a:chOff x="794284" y="2980504"/>
            <a:chExt cx="10242589" cy="182378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B6A897E-1736-D26E-8069-9D182238A056}"/>
                </a:ext>
              </a:extLst>
            </p:cNvPr>
            <p:cNvGrpSpPr/>
            <p:nvPr/>
          </p:nvGrpSpPr>
          <p:grpSpPr>
            <a:xfrm>
              <a:off x="794284" y="3376895"/>
              <a:ext cx="10242589" cy="1427396"/>
              <a:chOff x="794284" y="2422284"/>
              <a:chExt cx="10242589" cy="1427396"/>
            </a:xfrm>
            <a:noFill/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010380D-72B2-02F9-4B6B-377D902CDA68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0242589" cy="797948"/>
                <a:chOff x="873086" y="5053331"/>
                <a:chExt cx="10242589" cy="1147434"/>
              </a:xfrm>
              <a:grpFill/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97C5ECFC-A02E-9A1D-9812-CDA6536E8A84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38F9347F-64E6-77A6-32EB-A76FE0F9F1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D103CAC3-E244-A37D-A301-F3221C1EBE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172ABA9B-03B0-4630-3960-786F56FF0F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C8C9F9B3-491C-604E-D5EA-6170678416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7E9D4292-AAFE-34CB-ABFA-BD01B0AD5D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42298DC9-FDE6-A163-3FAA-56050E0086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ED0C862-700B-7ED3-DA75-7E197FCBF4D9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74FA49D-A074-7904-0384-1B733D327303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473265A-C006-6B84-23EA-2CC71198CD0C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4775153-757A-397E-D81B-98D628F95104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E936336-3AD7-F734-831B-409249C36B8A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C5797E-B246-4B16-A3B5-82C86EFD68CF}"/>
                  </a:ext>
                </a:extLst>
              </p:cNvPr>
              <p:cNvSpPr txBox="1"/>
              <p:nvPr/>
            </p:nvSpPr>
            <p:spPr>
              <a:xfrm>
                <a:off x="2890319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7CF1D9-0DB9-EB74-99F3-B4E32D11AD59}"/>
                  </a:ext>
                </a:extLst>
              </p:cNvPr>
              <p:cNvSpPr txBox="1"/>
              <p:nvPr/>
            </p:nvSpPr>
            <p:spPr>
              <a:xfrm>
                <a:off x="5171352" y="242228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993668-7AB2-DC79-257D-9BC6C579E9ED}"/>
                  </a:ext>
                </a:extLst>
              </p:cNvPr>
              <p:cNvSpPr txBox="1"/>
              <p:nvPr/>
            </p:nvSpPr>
            <p:spPr>
              <a:xfrm>
                <a:off x="7466953" y="245813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134EBA5-3D21-66F0-75E6-0B2B09638ED5}"/>
                  </a:ext>
                </a:extLst>
              </p:cNvPr>
              <p:cNvSpPr txBox="1"/>
              <p:nvPr/>
            </p:nvSpPr>
            <p:spPr>
              <a:xfrm>
                <a:off x="9786687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2CFE47-8B69-7332-21BF-ABA385D5AD82}"/>
                </a:ext>
              </a:extLst>
            </p:cNvPr>
            <p:cNvSpPr txBox="1"/>
            <p:nvPr/>
          </p:nvSpPr>
          <p:spPr>
            <a:xfrm>
              <a:off x="9672874" y="2980504"/>
              <a:ext cx="9685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Helvetica" pitchFamily="2" charset="0"/>
                </a:rPr>
                <a:t>$2,000</a:t>
              </a:r>
            </a:p>
          </p:txBody>
        </p:sp>
      </p:grpSp>
      <p:sp>
        <p:nvSpPr>
          <p:cNvPr id="57" name="Multiply 56">
            <a:extLst>
              <a:ext uri="{FF2B5EF4-FFF2-40B4-BE49-F238E27FC236}">
                <a16:creationId xmlns:a16="http://schemas.microsoft.com/office/drawing/2014/main" id="{99C77664-3028-5C9C-D1D0-FCDEA0722F7D}"/>
              </a:ext>
            </a:extLst>
          </p:cNvPr>
          <p:cNvSpPr/>
          <p:nvPr/>
        </p:nvSpPr>
        <p:spPr>
          <a:xfrm>
            <a:off x="5221950" y="4854139"/>
            <a:ext cx="914400" cy="914400"/>
          </a:xfrm>
          <a:prstGeom prst="mathMultiply">
            <a:avLst>
              <a:gd name="adj1" fmla="val 977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Multiply 57">
            <a:extLst>
              <a:ext uri="{FF2B5EF4-FFF2-40B4-BE49-F238E27FC236}">
                <a16:creationId xmlns:a16="http://schemas.microsoft.com/office/drawing/2014/main" id="{EA06E0A7-994E-EDD6-F010-12F21539B382}"/>
              </a:ext>
            </a:extLst>
          </p:cNvPr>
          <p:cNvSpPr/>
          <p:nvPr/>
        </p:nvSpPr>
        <p:spPr>
          <a:xfrm>
            <a:off x="9821593" y="4865569"/>
            <a:ext cx="914400" cy="914400"/>
          </a:xfrm>
          <a:prstGeom prst="mathMultiply">
            <a:avLst>
              <a:gd name="adj1" fmla="val 977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9D70B3-22BD-0662-26D8-5D14E9CD791A}"/>
              </a:ext>
            </a:extLst>
          </p:cNvPr>
          <p:cNvSpPr txBox="1"/>
          <p:nvPr/>
        </p:nvSpPr>
        <p:spPr>
          <a:xfrm>
            <a:off x="1636330" y="4142969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1</a:t>
            </a:r>
            <a:r>
              <a:rPr lang="en-US" b="1" dirty="0"/>
              <a:t> = 10%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2BB561-0AE0-295C-47B4-87C85879DCE0}"/>
              </a:ext>
            </a:extLst>
          </p:cNvPr>
          <p:cNvSpPr txBox="1"/>
          <p:nvPr/>
        </p:nvSpPr>
        <p:spPr>
          <a:xfrm>
            <a:off x="6241041" y="469655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2</a:t>
            </a:r>
            <a:r>
              <a:rPr lang="en-US" b="1" dirty="0"/>
              <a:t> = 15%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356A2B-E852-CD6D-7D75-BAC186FD7ABA}"/>
              </a:ext>
            </a:extLst>
          </p:cNvPr>
          <p:cNvSpPr txBox="1"/>
          <p:nvPr/>
        </p:nvSpPr>
        <p:spPr>
          <a:xfrm>
            <a:off x="5109740" y="5583873"/>
            <a:ext cx="12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Investor(b)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CDBF7A-1D8A-F544-0B2D-A8B7CA9DC93F}"/>
              </a:ext>
            </a:extLst>
          </p:cNvPr>
          <p:cNvSpPr txBox="1"/>
          <p:nvPr/>
        </p:nvSpPr>
        <p:spPr>
          <a:xfrm>
            <a:off x="9716902" y="5520685"/>
            <a:ext cx="1239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Investor(a)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5C8875-99F5-CB4F-223F-76EC426BBB08}"/>
              </a:ext>
            </a:extLst>
          </p:cNvPr>
          <p:cNvSpPr txBox="1"/>
          <p:nvPr/>
        </p:nvSpPr>
        <p:spPr>
          <a:xfrm>
            <a:off x="505488" y="5295173"/>
            <a:ext cx="1678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PV</a:t>
            </a:r>
            <a:r>
              <a:rPr lang="en-US" sz="2400" b="1" baseline="-25000" dirty="0"/>
              <a:t>1</a:t>
            </a:r>
            <a:r>
              <a:rPr lang="en-US" sz="2400" b="1" dirty="0"/>
              <a:t> = 1683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2A4530-76FF-817C-47A0-5BB4316EFC6E}"/>
              </a:ext>
            </a:extLst>
          </p:cNvPr>
          <p:cNvSpPr txBox="1"/>
          <p:nvPr/>
        </p:nvSpPr>
        <p:spPr>
          <a:xfrm>
            <a:off x="500444" y="5731392"/>
            <a:ext cx="1678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PV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= 1440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5FDE0D-0521-EFBA-339E-87402D252C35}"/>
              </a:ext>
            </a:extLst>
          </p:cNvPr>
          <p:cNvSpPr txBox="1"/>
          <p:nvPr/>
        </p:nvSpPr>
        <p:spPr>
          <a:xfrm>
            <a:off x="6752073" y="6353929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Reinvest at r</a:t>
            </a:r>
            <a:r>
              <a:rPr lang="en-US" b="1" baseline="-25000" dirty="0">
                <a:solidFill>
                  <a:srgbClr val="00B050"/>
                </a:solidFill>
                <a:latin typeface="Helvetica" pitchFamily="2" charset="0"/>
              </a:rPr>
              <a:t>2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67" name="Bent Arrow 66">
            <a:extLst>
              <a:ext uri="{FF2B5EF4-FFF2-40B4-BE49-F238E27FC236}">
                <a16:creationId xmlns:a16="http://schemas.microsoft.com/office/drawing/2014/main" id="{2A25C484-1B35-6255-7A63-6D0D25D8F419}"/>
              </a:ext>
            </a:extLst>
          </p:cNvPr>
          <p:cNvSpPr/>
          <p:nvPr/>
        </p:nvSpPr>
        <p:spPr>
          <a:xfrm rot="14939501" flipH="1" flipV="1">
            <a:off x="6319763" y="5718394"/>
            <a:ext cx="741765" cy="60866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75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3F9F3B-90D9-E89A-CE07-D7A9E035AAD4}"/>
              </a:ext>
            </a:extLst>
          </p:cNvPr>
          <p:cNvSpPr txBox="1"/>
          <p:nvPr/>
        </p:nvSpPr>
        <p:spPr>
          <a:xfrm>
            <a:off x="2671565" y="6445793"/>
            <a:ext cx="190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Investor(a): Loss</a:t>
            </a:r>
          </a:p>
        </p:txBody>
      </p:sp>
      <p:sp>
        <p:nvSpPr>
          <p:cNvPr id="69" name="Bent Arrow 68">
            <a:extLst>
              <a:ext uri="{FF2B5EF4-FFF2-40B4-BE49-F238E27FC236}">
                <a16:creationId xmlns:a16="http://schemas.microsoft.com/office/drawing/2014/main" id="{25A52331-1CC1-B224-D151-1C006BB98276}"/>
              </a:ext>
            </a:extLst>
          </p:cNvPr>
          <p:cNvSpPr/>
          <p:nvPr/>
        </p:nvSpPr>
        <p:spPr>
          <a:xfrm rot="14939501" flipH="1" flipV="1">
            <a:off x="2231633" y="5870794"/>
            <a:ext cx="741765" cy="60866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75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61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6" grpId="0"/>
      <p:bldP spid="67" grpId="0" animBg="1"/>
      <p:bldP spid="68" grpId="0"/>
      <p:bldP spid="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4C0C-D5A7-A629-E7E0-01F9D3D1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A08AE4-6FF8-11DB-F063-CC144378D2A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A01F9-B33A-0BB0-0247-F6C8D77F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EE6BD0-FE76-7858-E79F-B9F0CE8036BC}"/>
                  </a:ext>
                </a:extLst>
              </p:cNvPr>
              <p:cNvSpPr txBox="1"/>
              <p:nvPr/>
            </p:nvSpPr>
            <p:spPr>
              <a:xfrm>
                <a:off x="307731" y="1505734"/>
                <a:ext cx="11576538" cy="5257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125"/>
                  </a:spcAft>
                </a:pPr>
                <a:r>
                  <a:rPr lang="en-US" sz="2200" b="0" i="0" dirty="0">
                    <a:effectLst/>
                    <a:latin typeface="Helvetica" pitchFamily="2" charset="0"/>
                  </a:rPr>
                  <a:t>An analyst evaluating securities has obtained the following information. The real rate of interest is 2% and is expected to remain constant for the next 3 years. Inflation is expected to be 3% next year, 3.5% the following year, and 4% the third year. The maturity risk premium is estimated to be 0.1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200" b="0" i="0" dirty="0">
                    <a:effectLst/>
                    <a:latin typeface="Helvetica" pitchFamily="2" charset="0"/>
                  </a:rPr>
                  <a:t>(t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200" b="0" i="0" dirty="0">
                    <a:effectLst/>
                    <a:latin typeface="Helvetica" pitchFamily="2" charset="0"/>
                  </a:rPr>
                  <a:t>1)% . The liquidity premium on relevant 3-year securities is 0.25%, and the default risk premium on relevant 3-year securities is 0.6%.</a:t>
                </a:r>
              </a:p>
              <a:p>
                <a:pPr marL="342900" indent="-342900" algn="l">
                  <a:spcBef>
                    <a:spcPts val="1200"/>
                  </a:spcBef>
                  <a:spcAft>
                    <a:spcPts val="750"/>
                  </a:spcAft>
                  <a:buFont typeface="Wingdings" pitchFamily="2" charset="2"/>
                  <a:buChar char="ü"/>
                </a:pPr>
                <a:r>
                  <a:rPr lang="en-US" sz="2400" i="0" dirty="0">
                    <a:effectLst/>
                    <a:latin typeface="Helvetica" pitchFamily="2" charset="0"/>
                  </a:rPr>
                  <a:t>What is the yield on a 1-year T-bill?</a:t>
                </a:r>
              </a:p>
              <a:p>
                <a:pPr marL="342900" indent="-342900" algn="l">
                  <a:spcAft>
                    <a:spcPts val="750"/>
                  </a:spcAft>
                  <a:buFont typeface="Wingdings" pitchFamily="2" charset="2"/>
                  <a:buChar char="ü"/>
                </a:pPr>
                <a:endParaRPr lang="en-US" sz="2400" i="0" dirty="0">
                  <a:effectLst/>
                  <a:latin typeface="Helvetica" pitchFamily="2" charset="0"/>
                </a:endParaRPr>
              </a:p>
              <a:p>
                <a:pPr marL="342900" indent="-342900" algn="l">
                  <a:spcAft>
                    <a:spcPts val="750"/>
                  </a:spcAft>
                  <a:buFont typeface="Wingdings" pitchFamily="2" charset="2"/>
                  <a:buChar char="ü"/>
                </a:pPr>
                <a:r>
                  <a:rPr lang="en-US" sz="2400" i="0" dirty="0">
                    <a:effectLst/>
                    <a:latin typeface="Helvetica" pitchFamily="2" charset="0"/>
                  </a:rPr>
                  <a:t>What is the yield on a 3-year T-bond?</a:t>
                </a:r>
              </a:p>
              <a:p>
                <a:pPr marL="342900" indent="-342900" algn="l">
                  <a:spcAft>
                    <a:spcPts val="750"/>
                  </a:spcAft>
                  <a:buFont typeface="Wingdings" pitchFamily="2" charset="2"/>
                  <a:buChar char="ü"/>
                </a:pPr>
                <a:endParaRPr lang="en-US" sz="2400" i="0" dirty="0">
                  <a:effectLst/>
                  <a:latin typeface="Helvetica" pitchFamily="2" charset="0"/>
                </a:endParaRPr>
              </a:p>
              <a:p>
                <a:pPr marL="342900" indent="-342900" algn="l">
                  <a:spcAft>
                    <a:spcPts val="750"/>
                  </a:spcAft>
                  <a:buFont typeface="Wingdings" pitchFamily="2" charset="2"/>
                  <a:buChar char="ü"/>
                </a:pPr>
                <a:r>
                  <a:rPr lang="en-US" sz="2400" i="0" dirty="0">
                    <a:effectLst/>
                    <a:latin typeface="Helvetica" pitchFamily="2" charset="0"/>
                  </a:rPr>
                  <a:t>What is the yield on a 3-year corporate bond?</a:t>
                </a:r>
              </a:p>
              <a:p>
                <a:pPr>
                  <a:spcAft>
                    <a:spcPts val="1125"/>
                  </a:spcAft>
                </a:pPr>
                <a:endParaRPr lang="en-US" sz="2200" b="0" i="0" dirty="0">
                  <a:effectLst/>
                  <a:latin typeface="Helvetica" pitchFamily="2" charset="0"/>
                </a:endParaRPr>
              </a:p>
              <a:p>
                <a:pPr algn="l">
                  <a:spcAft>
                    <a:spcPts val="750"/>
                  </a:spcAft>
                </a:pPr>
                <a:endParaRPr lang="en-US" sz="2000" b="0" i="0" dirty="0">
                  <a:solidFill>
                    <a:srgbClr val="575757"/>
                  </a:solidFill>
                  <a:effectLst/>
                  <a:latin typeface="rooney-web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EE6BD0-FE76-7858-E79F-B9F0CE80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31" y="1505734"/>
                <a:ext cx="11576538" cy="5257850"/>
              </a:xfrm>
              <a:prstGeom prst="rect">
                <a:avLst/>
              </a:prstGeom>
              <a:blipFill>
                <a:blip r:embed="rId2"/>
                <a:stretch>
                  <a:fillRect l="-767" t="-7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77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22B1-C969-0EC2-122A-508A8A75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EF5B2-EF46-77EE-65C0-C05FA9153299}"/>
              </a:ext>
            </a:extLst>
          </p:cNvPr>
          <p:cNvSpPr txBox="1"/>
          <p:nvPr/>
        </p:nvSpPr>
        <p:spPr>
          <a:xfrm>
            <a:off x="308610" y="1575554"/>
            <a:ext cx="3610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Categorizing information: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CBFE5-54C3-B714-B74C-BE88C7DCDE94}"/>
              </a:ext>
            </a:extLst>
          </p:cNvPr>
          <p:cNvSpPr txBox="1"/>
          <p:nvPr/>
        </p:nvSpPr>
        <p:spPr>
          <a:xfrm>
            <a:off x="670889" y="2037219"/>
            <a:ext cx="3684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R</a:t>
            </a:r>
            <a:r>
              <a:rPr lang="en-US" sz="2000" b="0" i="0" dirty="0">
                <a:effectLst/>
                <a:latin typeface="Helvetica" pitchFamily="2" charset="0"/>
              </a:rPr>
              <a:t>eal rate of interest is 2% </a:t>
            </a:r>
            <a:r>
              <a:rPr lang="en-US" sz="2000" b="0" i="0" dirty="0">
                <a:effectLst/>
                <a:latin typeface="Helvetica" pitchFamily="2" charset="0"/>
                <a:sym typeface="Wingdings" pitchFamily="2" charset="2"/>
              </a:rPr>
              <a:t> r</a:t>
            </a:r>
            <a:r>
              <a:rPr lang="en-US" sz="2000" b="0" i="0" baseline="30000" dirty="0">
                <a:effectLst/>
                <a:latin typeface="Helvetica" pitchFamily="2" charset="0"/>
                <a:sym typeface="Wingdings" pitchFamily="2" charset="2"/>
              </a:rPr>
              <a:t>*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B6A41-6846-1D34-F3E0-D167D954D976}"/>
              </a:ext>
            </a:extLst>
          </p:cNvPr>
          <p:cNvSpPr txBox="1"/>
          <p:nvPr/>
        </p:nvSpPr>
        <p:spPr>
          <a:xfrm>
            <a:off x="634985" y="2925955"/>
            <a:ext cx="7767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0" dirty="0">
                <a:effectLst/>
                <a:latin typeface="Helvetica" pitchFamily="2" charset="0"/>
              </a:rPr>
              <a:t>3% next year, 3.5% the following year, and 4% the third year </a:t>
            </a:r>
            <a:r>
              <a:rPr lang="en-US" sz="2000" b="0" i="0" dirty="0">
                <a:effectLst/>
                <a:latin typeface="Helvetica" pitchFamily="2" charset="0"/>
                <a:sym typeface="Wingdings" pitchFamily="2" charset="2"/>
              </a:rPr>
              <a:t> </a:t>
            </a:r>
            <a:r>
              <a:rPr lang="en-US" sz="2000" b="0" i="0" dirty="0" err="1">
                <a:effectLst/>
                <a:latin typeface="Helvetica" pitchFamily="2" charset="0"/>
                <a:sym typeface="Wingdings" pitchFamily="2" charset="2"/>
              </a:rPr>
              <a:t>IP</a:t>
            </a:r>
            <a:r>
              <a:rPr lang="en-US" sz="2000" baseline="-25000" dirty="0" err="1">
                <a:latin typeface="Helvetica" pitchFamily="2" charset="0"/>
                <a:sym typeface="Wingdings" pitchFamily="2" charset="2"/>
              </a:rPr>
              <a:t>n</a:t>
            </a:r>
            <a:endParaRPr lang="en-US" sz="20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6E4D81-9EAB-2CFA-BBAB-247718F9A805}"/>
                  </a:ext>
                </a:extLst>
              </p:cNvPr>
              <p:cNvSpPr txBox="1"/>
              <p:nvPr/>
            </p:nvSpPr>
            <p:spPr>
              <a:xfrm>
                <a:off x="6016262" y="2037219"/>
                <a:ext cx="56172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Helvetica" pitchFamily="2" charset="0"/>
                  </a:rPr>
                  <a:t>M</a:t>
                </a:r>
                <a:r>
                  <a:rPr lang="en-US" sz="2000" b="0" i="0" dirty="0">
                    <a:effectLst/>
                    <a:latin typeface="Helvetica" pitchFamily="2" charset="0"/>
                  </a:rPr>
                  <a:t>aturity risk premium is 0.1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000" b="0" i="0" dirty="0">
                    <a:effectLst/>
                    <a:latin typeface="Helvetica" pitchFamily="2" charset="0"/>
                  </a:rPr>
                  <a:t>(t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000" b="0" i="0" dirty="0">
                    <a:effectLst/>
                    <a:latin typeface="Helvetica" pitchFamily="2" charset="0"/>
                  </a:rPr>
                  <a:t>1)% </a:t>
                </a:r>
                <a:r>
                  <a:rPr lang="en-US" sz="2000" b="0" i="0" dirty="0">
                    <a:effectLst/>
                    <a:latin typeface="Helvetica" pitchFamily="2" charset="0"/>
                    <a:sym typeface="Wingdings" pitchFamily="2" charset="2"/>
                  </a:rPr>
                  <a:t> </a:t>
                </a:r>
                <a:r>
                  <a:rPr lang="en-US" sz="2000" b="0" i="0" dirty="0" err="1">
                    <a:effectLst/>
                    <a:latin typeface="Helvetica" pitchFamily="2" charset="0"/>
                    <a:sym typeface="Wingdings" pitchFamily="2" charset="2"/>
                  </a:rPr>
                  <a:t>MRP</a:t>
                </a:r>
                <a:r>
                  <a:rPr lang="en-US" sz="2000" b="0" i="0" baseline="-25000" dirty="0" err="1">
                    <a:effectLst/>
                    <a:latin typeface="Helvetica" pitchFamily="2" charset="0"/>
                    <a:sym typeface="Wingdings" pitchFamily="2" charset="2"/>
                  </a:rPr>
                  <a:t>n</a:t>
                </a:r>
                <a:r>
                  <a:rPr lang="en-US" sz="2000" b="0" i="0" dirty="0">
                    <a:effectLst/>
                    <a:latin typeface="Helvetica" pitchFamily="2" charset="0"/>
                  </a:rPr>
                  <a:t> </a:t>
                </a:r>
                <a:endParaRPr lang="en-US" sz="20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6E4D81-9EAB-2CFA-BBAB-247718F9A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262" y="2037219"/>
                <a:ext cx="5617243" cy="400110"/>
              </a:xfrm>
              <a:prstGeom prst="rect">
                <a:avLst/>
              </a:prstGeom>
              <a:blipFill>
                <a:blip r:embed="rId2"/>
                <a:stretch>
                  <a:fillRect l="-1129" t="-9375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3E40224-ECEE-7352-A1F0-D4914475C064}"/>
              </a:ext>
            </a:extLst>
          </p:cNvPr>
          <p:cNvSpPr txBox="1"/>
          <p:nvPr/>
        </p:nvSpPr>
        <p:spPr>
          <a:xfrm>
            <a:off x="634985" y="2477633"/>
            <a:ext cx="5129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L</a:t>
            </a:r>
            <a:r>
              <a:rPr lang="en-US" sz="2000" b="0" i="0" dirty="0">
                <a:effectLst/>
                <a:latin typeface="Helvetica" pitchFamily="2" charset="0"/>
              </a:rPr>
              <a:t>iquidity premium on 3-year is 0.25% </a:t>
            </a:r>
            <a:r>
              <a:rPr lang="en-US" sz="2000" b="0" i="0" dirty="0">
                <a:effectLst/>
                <a:latin typeface="Helvetica" pitchFamily="2" charset="0"/>
                <a:sym typeface="Wingdings" pitchFamily="2" charset="2"/>
              </a:rPr>
              <a:t> LP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BC5EE-842F-4A57-9B66-4853277F4F77}"/>
              </a:ext>
            </a:extLst>
          </p:cNvPr>
          <p:cNvSpPr txBox="1"/>
          <p:nvPr/>
        </p:nvSpPr>
        <p:spPr>
          <a:xfrm>
            <a:off x="6016262" y="2478751"/>
            <a:ext cx="5513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D</a:t>
            </a:r>
            <a:r>
              <a:rPr lang="en-US" sz="2000" b="0" i="0" dirty="0">
                <a:effectLst/>
                <a:latin typeface="Helvetica" pitchFamily="2" charset="0"/>
              </a:rPr>
              <a:t>efault risk premium on 3-year is 0.6% </a:t>
            </a:r>
            <a:r>
              <a:rPr lang="en-US" sz="2000" b="0" i="0" dirty="0">
                <a:effectLst/>
                <a:latin typeface="Helvetica" pitchFamily="2" charset="0"/>
                <a:sym typeface="Wingdings" pitchFamily="2" charset="2"/>
              </a:rPr>
              <a:t> DRP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0108A-3198-C03A-C318-7104640D4B60}"/>
              </a:ext>
            </a:extLst>
          </p:cNvPr>
          <p:cNvSpPr txBox="1"/>
          <p:nvPr/>
        </p:nvSpPr>
        <p:spPr>
          <a:xfrm>
            <a:off x="670889" y="3512675"/>
            <a:ext cx="409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1" i="0" dirty="0">
                <a:solidFill>
                  <a:srgbClr val="0070C0"/>
                </a:solidFill>
                <a:effectLst/>
                <a:latin typeface="Helvetica" pitchFamily="2" charset="0"/>
              </a:rPr>
              <a:t>What is the yield on a 1-year T-bill?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20030D-EBEA-6CB9-26E2-F0B3B5569AD3}"/>
                  </a:ext>
                </a:extLst>
              </p:cNvPr>
              <p:cNvSpPr txBox="1"/>
              <p:nvPr/>
            </p:nvSpPr>
            <p:spPr>
              <a:xfrm>
                <a:off x="308611" y="166463"/>
                <a:ext cx="1153287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0" dirty="0">
                    <a:effectLst/>
                    <a:latin typeface="Helvetica" pitchFamily="2" charset="0"/>
                  </a:rPr>
                  <a:t>An analyst evaluating securities has obtained the following information. The real rate of interest is 2% and is expected to remain constant for the next 3 years. Inflation is expected to be 3% next year, 3.5% the following year, and 4% the third year. The maturity risk premium is estimated to be 0.1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b="0" i="0" dirty="0">
                    <a:effectLst/>
                    <a:latin typeface="Helvetica" pitchFamily="2" charset="0"/>
                  </a:rPr>
                  <a:t>(t</a:t>
                </a:r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1800" b="0" i="0" dirty="0">
                    <a:effectLst/>
                    <a:latin typeface="Helvetica" pitchFamily="2" charset="0"/>
                  </a:rPr>
                  <a:t>1)% . The liquidity premium on relevant 3-year securities is 0.25%, and the default risk premium on relevant 3-year securities is 0.6%.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20030D-EBEA-6CB9-26E2-F0B3B5569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1" y="166463"/>
                <a:ext cx="11532870" cy="1200329"/>
              </a:xfrm>
              <a:prstGeom prst="rect">
                <a:avLst/>
              </a:prstGeom>
              <a:blipFill>
                <a:blip r:embed="rId3"/>
                <a:stretch>
                  <a:fillRect l="-440" t="-104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AB58C59-5A0C-5AD5-2006-A9B66A18933E}"/>
              </a:ext>
            </a:extLst>
          </p:cNvPr>
          <p:cNvSpPr txBox="1"/>
          <p:nvPr/>
        </p:nvSpPr>
        <p:spPr>
          <a:xfrm>
            <a:off x="4766310" y="3512675"/>
            <a:ext cx="243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1800" b="1" baseline="-25000" dirty="0">
                <a:solidFill>
                  <a:srgbClr val="0070C0"/>
                </a:solidFill>
                <a:latin typeface="Helvetica" pitchFamily="2" charset="0"/>
              </a:rPr>
              <a:t>T1</a:t>
            </a: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 = r* + IP</a:t>
            </a:r>
            <a:r>
              <a:rPr lang="en-US" sz="1800" b="1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 + MRP</a:t>
            </a:r>
            <a:r>
              <a:rPr lang="en-US" sz="1800" b="1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endParaRPr lang="en-US" sz="1800" b="1" dirty="0">
              <a:solidFill>
                <a:srgbClr val="0070C0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D06D85-4773-67EF-5250-9F98AC81866B}"/>
                  </a:ext>
                </a:extLst>
              </p:cNvPr>
              <p:cNvSpPr txBox="1"/>
              <p:nvPr/>
            </p:nvSpPr>
            <p:spPr>
              <a:xfrm>
                <a:off x="3611879" y="3921602"/>
                <a:ext cx="3400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b="1" dirty="0">
                    <a:solidFill>
                      <a:srgbClr val="0070C0"/>
                    </a:solidFill>
                    <a:latin typeface="Helvetica" pitchFamily="2" charset="0"/>
                  </a:rPr>
                  <a:t>r</a:t>
                </a:r>
                <a:r>
                  <a:rPr lang="en-US" sz="1800" b="1" baseline="-25000" dirty="0">
                    <a:solidFill>
                      <a:srgbClr val="0070C0"/>
                    </a:solidFill>
                    <a:latin typeface="Helvetica" pitchFamily="2" charset="0"/>
                  </a:rPr>
                  <a:t>T1</a:t>
                </a:r>
                <a:r>
                  <a:rPr lang="en-US" sz="1800" b="1" dirty="0">
                    <a:solidFill>
                      <a:srgbClr val="0070C0"/>
                    </a:solidFill>
                    <a:latin typeface="Helvetica" pitchFamily="2" charset="0"/>
                  </a:rPr>
                  <a:t> = 2% + </a:t>
                </a:r>
                <a:r>
                  <a:rPr lang="en-US" b="1" dirty="0">
                    <a:solidFill>
                      <a:srgbClr val="0070C0"/>
                    </a:solidFill>
                    <a:latin typeface="Helvetica" pitchFamily="2" charset="0"/>
                  </a:rPr>
                  <a:t>3% + 0.1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Helvetica" pitchFamily="2" charset="0"/>
                  </a:rPr>
                  <a:t>(1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Helvetica" pitchFamily="2" charset="0"/>
                  </a:rPr>
                  <a:t>1)%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D06D85-4773-67EF-5250-9F98AC818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879" y="3921602"/>
                <a:ext cx="3400095" cy="369332"/>
              </a:xfrm>
              <a:prstGeom prst="rect">
                <a:avLst/>
              </a:prstGeom>
              <a:blipFill>
                <a:blip r:embed="rId4"/>
                <a:stretch>
                  <a:fillRect l="-373" t="-6667" r="-22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86BFB87-7931-4BA5-B9B1-FE38525D8355}"/>
              </a:ext>
            </a:extLst>
          </p:cNvPr>
          <p:cNvSpPr txBox="1"/>
          <p:nvPr/>
        </p:nvSpPr>
        <p:spPr>
          <a:xfrm>
            <a:off x="7201211" y="3921602"/>
            <a:ext cx="1067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1800" b="1" baseline="-25000" dirty="0">
                <a:solidFill>
                  <a:srgbClr val="0070C0"/>
                </a:solidFill>
                <a:latin typeface="Helvetica" pitchFamily="2" charset="0"/>
              </a:rPr>
              <a:t>T1</a:t>
            </a: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 = </a:t>
            </a:r>
            <a:r>
              <a:rPr lang="en-US" b="1" dirty="0">
                <a:solidFill>
                  <a:srgbClr val="0070C0"/>
                </a:solidFill>
                <a:latin typeface="Helvetica" pitchFamily="2" charset="0"/>
              </a:rPr>
              <a:t>5</a:t>
            </a:r>
            <a:r>
              <a:rPr lang="en-US" sz="1800" b="1" dirty="0">
                <a:solidFill>
                  <a:srgbClr val="0070C0"/>
                </a:solidFill>
                <a:latin typeface="Helvetica" pitchFamily="2" charset="0"/>
              </a:rPr>
              <a:t>%</a:t>
            </a:r>
            <a:endParaRPr lang="en-US" b="1" dirty="0">
              <a:solidFill>
                <a:srgbClr val="0070C0"/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5F0A6-572E-23C6-DD8E-FFA3244C2516}"/>
              </a:ext>
            </a:extLst>
          </p:cNvPr>
          <p:cNvSpPr txBox="1"/>
          <p:nvPr/>
        </p:nvSpPr>
        <p:spPr>
          <a:xfrm>
            <a:off x="670889" y="4564987"/>
            <a:ext cx="426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1" i="0" dirty="0">
                <a:solidFill>
                  <a:schemeClr val="accent6">
                    <a:lumMod val="50000"/>
                  </a:schemeClr>
                </a:solidFill>
                <a:effectLst/>
                <a:latin typeface="Helvetica" pitchFamily="2" charset="0"/>
              </a:rPr>
              <a:t>What is the yield on a 3-year T-bond?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678F7D-9C72-0EFA-6C15-79617659C4F0}"/>
              </a:ext>
            </a:extLst>
          </p:cNvPr>
          <p:cNvSpPr txBox="1"/>
          <p:nvPr/>
        </p:nvSpPr>
        <p:spPr>
          <a:xfrm>
            <a:off x="634985" y="5724644"/>
            <a:ext cx="5224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1" i="0" dirty="0">
                <a:solidFill>
                  <a:srgbClr val="C00000"/>
                </a:solidFill>
                <a:effectLst/>
                <a:latin typeface="Helvetica" pitchFamily="2" charset="0"/>
              </a:rPr>
              <a:t>What is the yield on a 3-year corporate bond?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0B9C82-5BAA-8A3D-A48F-9606EC76E8A1}"/>
              </a:ext>
            </a:extLst>
          </p:cNvPr>
          <p:cNvSpPr txBox="1"/>
          <p:nvPr/>
        </p:nvSpPr>
        <p:spPr>
          <a:xfrm>
            <a:off x="6165202" y="4564987"/>
            <a:ext cx="2237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r</a:t>
            </a:r>
            <a:r>
              <a:rPr lang="en-US" sz="1800" b="1" baseline="-25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T3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= r* + IP</a:t>
            </a:r>
            <a:r>
              <a:rPr lang="en-US" sz="1800" b="1" baseline="-25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3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+ MRP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AF288-CAB7-732A-5917-21022D62B481}"/>
              </a:ext>
            </a:extLst>
          </p:cNvPr>
          <p:cNvSpPr txBox="1"/>
          <p:nvPr/>
        </p:nvSpPr>
        <p:spPr>
          <a:xfrm>
            <a:off x="1317864" y="5075476"/>
            <a:ext cx="376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IP</a:t>
            </a:r>
            <a:r>
              <a:rPr lang="en-US" b="1" baseline="-25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3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= (3%+ 3.5%+ 4%) / 3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  <a:sym typeface="Wingdings" pitchFamily="2" charset="2"/>
              </a:rPr>
              <a:t>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3.5%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63E5A2-2F7C-E49C-F9D3-DA21381D241A}"/>
                  </a:ext>
                </a:extLst>
              </p:cNvPr>
              <p:cNvSpPr txBox="1"/>
              <p:nvPr/>
            </p:nvSpPr>
            <p:spPr>
              <a:xfrm>
                <a:off x="5209009" y="5075476"/>
                <a:ext cx="35637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r</a:t>
                </a:r>
                <a:r>
                  <a:rPr lang="en-US" sz="1800" b="1" baseline="-25000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T3</a:t>
                </a:r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 = 2% +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3.5% + 0.1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(3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Helvetica" pitchFamily="2" charset="0"/>
                  </a:rPr>
                  <a:t>1)%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63E5A2-2F7C-E49C-F9D3-DA21381D2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009" y="5075476"/>
                <a:ext cx="3563777" cy="369332"/>
              </a:xfrm>
              <a:prstGeom prst="rect">
                <a:avLst/>
              </a:prstGeom>
              <a:blipFill>
                <a:blip r:embed="rId5"/>
                <a:stretch>
                  <a:fillRect l="-355" t="-6667" r="-24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0CDCA8C-7530-EE41-0936-F3B6660ACA16}"/>
              </a:ext>
            </a:extLst>
          </p:cNvPr>
          <p:cNvSpPr txBox="1"/>
          <p:nvPr/>
        </p:nvSpPr>
        <p:spPr>
          <a:xfrm>
            <a:off x="8899758" y="5075476"/>
            <a:ext cx="123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r</a:t>
            </a:r>
            <a:r>
              <a:rPr lang="en-US" sz="1800" b="1" baseline="-25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T3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= 5.7%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F36FB2-05FA-5BA8-126E-FB831C8F0DDA}"/>
              </a:ext>
            </a:extLst>
          </p:cNvPr>
          <p:cNvSpPr txBox="1"/>
          <p:nvPr/>
        </p:nvSpPr>
        <p:spPr>
          <a:xfrm>
            <a:off x="6165203" y="5729524"/>
            <a:ext cx="3710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1800" b="1" baseline="-25000" dirty="0">
                <a:solidFill>
                  <a:srgbClr val="C00000"/>
                </a:solidFill>
                <a:latin typeface="Helvetica" pitchFamily="2" charset="0"/>
              </a:rPr>
              <a:t>C3</a:t>
            </a:r>
            <a:r>
              <a:rPr lang="en-US" sz="1800" b="1" dirty="0">
                <a:solidFill>
                  <a:srgbClr val="C00000"/>
                </a:solidFill>
                <a:latin typeface="Helvetica" pitchFamily="2" charset="0"/>
              </a:rPr>
              <a:t> = r* + IP</a:t>
            </a:r>
            <a:r>
              <a:rPr lang="en-US" sz="1800" b="1" baseline="-25000" dirty="0">
                <a:solidFill>
                  <a:srgbClr val="C00000"/>
                </a:solidFill>
                <a:latin typeface="Helvetica" pitchFamily="2" charset="0"/>
              </a:rPr>
              <a:t>3</a:t>
            </a:r>
            <a:r>
              <a:rPr lang="en-US" sz="1800" b="1" dirty="0">
                <a:solidFill>
                  <a:srgbClr val="C00000"/>
                </a:solidFill>
                <a:latin typeface="Helvetica" pitchFamily="2" charset="0"/>
              </a:rPr>
              <a:t> + DRP</a:t>
            </a:r>
            <a:r>
              <a:rPr lang="en-US" sz="1800" b="1" baseline="-25000" dirty="0">
                <a:solidFill>
                  <a:srgbClr val="C00000"/>
                </a:solidFill>
                <a:latin typeface="Helvetica" pitchFamily="2" charset="0"/>
              </a:rPr>
              <a:t>3</a:t>
            </a:r>
            <a:r>
              <a:rPr lang="en-US" sz="1800" b="1" dirty="0">
                <a:solidFill>
                  <a:srgbClr val="C00000"/>
                </a:solidFill>
                <a:latin typeface="Helvetica" pitchFamily="2" charset="0"/>
              </a:rPr>
              <a:t> + LP + MRP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1C937-F4A8-CD2F-86A4-EE82C9F6104B}"/>
                  </a:ext>
                </a:extLst>
              </p:cNvPr>
              <p:cNvSpPr txBox="1"/>
              <p:nvPr/>
            </p:nvSpPr>
            <p:spPr>
              <a:xfrm>
                <a:off x="1645232" y="6198790"/>
                <a:ext cx="52241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Helvetica" pitchFamily="2" charset="0"/>
                  </a:rPr>
                  <a:t>r</a:t>
                </a:r>
                <a:r>
                  <a:rPr lang="en-US" sz="1800" b="1" baseline="-25000" dirty="0">
                    <a:solidFill>
                      <a:srgbClr val="C00000"/>
                    </a:solidFill>
                    <a:latin typeface="Helvetica" pitchFamily="2" charset="0"/>
                  </a:rPr>
                  <a:t>C3</a:t>
                </a:r>
                <a:r>
                  <a:rPr lang="en-US" sz="1800" b="1" dirty="0">
                    <a:solidFill>
                      <a:srgbClr val="C00000"/>
                    </a:solidFill>
                    <a:latin typeface="Helvetica" pitchFamily="2" charset="0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  <a:latin typeface="Helvetica" pitchFamily="2" charset="0"/>
                  </a:rPr>
                  <a:t>= 2% + 3.5% + 0.1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Helvetica" pitchFamily="2" charset="0"/>
                  </a:rPr>
                  <a:t>(3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Helvetica" pitchFamily="2" charset="0"/>
                  </a:rPr>
                  <a:t>1)% +0.6% + 0.25%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1C937-F4A8-CD2F-86A4-EE82C9F61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232" y="6198790"/>
                <a:ext cx="5224198" cy="369332"/>
              </a:xfrm>
              <a:prstGeom prst="rect">
                <a:avLst/>
              </a:prstGeom>
              <a:blipFill>
                <a:blip r:embed="rId6"/>
                <a:stretch>
                  <a:fillRect l="-243" t="-10345" r="-1699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8A81907-B9F6-B104-9490-C30D37B48A44}"/>
              </a:ext>
            </a:extLst>
          </p:cNvPr>
          <p:cNvSpPr txBox="1"/>
          <p:nvPr/>
        </p:nvSpPr>
        <p:spPr>
          <a:xfrm>
            <a:off x="7011974" y="6198790"/>
            <a:ext cx="1390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b="1" baseline="-25000" dirty="0">
                <a:solidFill>
                  <a:srgbClr val="C00000"/>
                </a:solidFill>
                <a:latin typeface="Helvetica" pitchFamily="2" charset="0"/>
              </a:rPr>
              <a:t>C3</a:t>
            </a:r>
            <a:r>
              <a:rPr lang="en-US" b="1" dirty="0">
                <a:solidFill>
                  <a:srgbClr val="C00000"/>
                </a:solidFill>
                <a:latin typeface="Helvetica" pitchFamily="2" charset="0"/>
              </a:rPr>
              <a:t> = 6.55%</a:t>
            </a:r>
          </a:p>
        </p:txBody>
      </p:sp>
    </p:spTree>
    <p:extLst>
      <p:ext uri="{BB962C8B-B14F-4D97-AF65-F5344CB8AC3E}">
        <p14:creationId xmlns:p14="http://schemas.microsoft.com/office/powerpoint/2010/main" val="298232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3" grpId="0"/>
      <p:bldP spid="13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DC4F-5D42-B813-D7CD-7027EB74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E29FBD-D4AB-1F39-B0C9-46CFF78BF09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ED433-D417-91E0-BC3B-E0E42766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The Term Structure of Interest Rates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A4886-E1C8-2D2C-3112-0B9227516993}"/>
              </a:ext>
            </a:extLst>
          </p:cNvPr>
          <p:cNvSpPr txBox="1"/>
          <p:nvPr/>
        </p:nvSpPr>
        <p:spPr>
          <a:xfrm>
            <a:off x="307731" y="1505734"/>
            <a:ext cx="11613760" cy="3939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What is the Term Structure of Interest Rates?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200" dirty="0">
                <a:latin typeface="Helvetica" pitchFamily="2" charset="0"/>
              </a:rPr>
              <a:t>It describes the relationship between </a:t>
            </a:r>
            <a:r>
              <a:rPr lang="en-US" sz="2200" b="1" dirty="0">
                <a:latin typeface="Helvetica" pitchFamily="2" charset="0"/>
              </a:rPr>
              <a:t>short-term and long-term interest rates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200" dirty="0">
                <a:latin typeface="Helvetica" pitchFamily="2" charset="0"/>
              </a:rPr>
              <a:t>Helps </a:t>
            </a:r>
            <a:r>
              <a:rPr lang="en-US" sz="2200" b="1" dirty="0">
                <a:latin typeface="Helvetica" pitchFamily="2" charset="0"/>
              </a:rPr>
              <a:t>corporate treasurers</a:t>
            </a:r>
            <a:r>
              <a:rPr lang="en-US" sz="2200" dirty="0">
                <a:latin typeface="Helvetica" pitchFamily="2" charset="0"/>
              </a:rPr>
              <a:t> decide whether to issue short- or long-term debt.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200" dirty="0">
                <a:latin typeface="Helvetica" pitchFamily="2" charset="0"/>
              </a:rPr>
              <a:t>Helps </a:t>
            </a:r>
            <a:r>
              <a:rPr lang="en-US" sz="2200" b="1" dirty="0">
                <a:latin typeface="Helvetica" pitchFamily="2" charset="0"/>
              </a:rPr>
              <a:t>investors</a:t>
            </a:r>
            <a:r>
              <a:rPr lang="en-US" sz="2200" dirty="0">
                <a:latin typeface="Helvetica" pitchFamily="2" charset="0"/>
              </a:rPr>
              <a:t> decide whether to buy short- or long-term bonds.</a:t>
            </a:r>
            <a:endParaRPr lang="en-US" sz="2400" b="1" dirty="0">
              <a:latin typeface="Helvetica" pitchFamily="2" charset="0"/>
            </a:endParaRPr>
          </a:p>
          <a:p>
            <a:pPr marL="342900" indent="-342900">
              <a:spcBef>
                <a:spcPts val="18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Yield curve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200" dirty="0">
                <a:latin typeface="Helvetica" pitchFamily="2" charset="0"/>
              </a:rPr>
              <a:t>A </a:t>
            </a:r>
            <a:r>
              <a:rPr lang="en-US" sz="2200" b="1" dirty="0">
                <a:latin typeface="Helvetica" pitchFamily="2" charset="0"/>
              </a:rPr>
              <a:t>yield curve</a:t>
            </a:r>
            <a:r>
              <a:rPr lang="en-US" sz="2200" dirty="0">
                <a:latin typeface="Helvetica" pitchFamily="2" charset="0"/>
              </a:rPr>
              <a:t> is created by plotting interest rates for bonds with different maturities.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200" dirty="0">
                <a:latin typeface="Helvetica" pitchFamily="2" charset="0"/>
              </a:rPr>
              <a:t>The </a:t>
            </a:r>
            <a:r>
              <a:rPr lang="en-US" sz="2200" b="1" dirty="0">
                <a:latin typeface="Helvetica" pitchFamily="2" charset="0"/>
              </a:rPr>
              <a:t>shape of the yield curve changes over time</a:t>
            </a:r>
            <a:r>
              <a:rPr lang="en-US" sz="2200" dirty="0">
                <a:latin typeface="Helvetica" pitchFamily="2" charset="0"/>
              </a:rPr>
              <a:t> based on inflation expectations and market conditions.</a:t>
            </a:r>
            <a:endParaRPr lang="en-US" sz="22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31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5F74-C6B8-3966-B074-B5C20909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5EB308-45DD-3AC2-2827-A0FF00489A7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5E53B-8844-EEFC-1196-5E2363C5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Yield Curve Shapes and Their Implications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FA668-43CD-BCE3-5CB0-E944020D2E4F}"/>
              </a:ext>
            </a:extLst>
          </p:cNvPr>
          <p:cNvSpPr txBox="1"/>
          <p:nvPr/>
        </p:nvSpPr>
        <p:spPr>
          <a:xfrm>
            <a:off x="307731" y="1505734"/>
            <a:ext cx="11613760" cy="42780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b="1" dirty="0">
                <a:latin typeface="Helvetica" pitchFamily="2" charset="0"/>
              </a:rPr>
              <a:t>Normal Yield Curve (Upward-Sloping)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b="1" dirty="0">
                <a:latin typeface="Helvetica" pitchFamily="2" charset="0"/>
              </a:rPr>
              <a:t>Long-term rates &gt; Short-term rates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dirty="0">
                <a:latin typeface="Helvetica" pitchFamily="2" charset="0"/>
              </a:rPr>
              <a:t>Common due to the </a:t>
            </a:r>
            <a:r>
              <a:rPr lang="en-US" b="1" dirty="0">
                <a:latin typeface="Helvetica" pitchFamily="2" charset="0"/>
              </a:rPr>
              <a:t>maturity risk premium (MRP)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 marL="285750" indent="-285750">
              <a:spcBef>
                <a:spcPts val="24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b="1" dirty="0">
                <a:latin typeface="Helvetica" pitchFamily="2" charset="0"/>
              </a:rPr>
              <a:t>Inverted Yield Curve (Downward-Sloping)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b="1" dirty="0">
                <a:latin typeface="Helvetica" pitchFamily="2" charset="0"/>
              </a:rPr>
              <a:t>Short-term rates &gt; Long-term rates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dirty="0">
                <a:latin typeface="Helvetica" pitchFamily="2" charset="0"/>
              </a:rPr>
              <a:t>Signals economic downturns or declines in inflation.</a:t>
            </a:r>
          </a:p>
          <a:p>
            <a:pPr marL="285750" indent="-285750">
              <a:spcBef>
                <a:spcPts val="24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b="1" dirty="0">
                <a:latin typeface="Helvetica" pitchFamily="2" charset="0"/>
              </a:rPr>
              <a:t>Humped Yield Curve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b="1" dirty="0">
                <a:latin typeface="Helvetica" pitchFamily="2" charset="0"/>
              </a:rPr>
              <a:t>Intermediate-term rates &gt; Short- and Long-term rates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dirty="0">
                <a:latin typeface="Helvetica" pitchFamily="2" charset="0"/>
              </a:rPr>
              <a:t>Uncommon, suggests uncertainty in economic conditions.</a:t>
            </a:r>
          </a:p>
        </p:txBody>
      </p:sp>
      <p:pic>
        <p:nvPicPr>
          <p:cNvPr id="4" name="Picture 3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C0A5ECFC-4760-8CC0-CE64-7BB65777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90" y="1505734"/>
            <a:ext cx="4946259" cy="503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3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70488-63B2-102A-AE62-C149E4C4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ine graph with different colored lines&#10;&#10;AI-generated content may be incorrect.">
            <a:extLst>
              <a:ext uri="{FF2B5EF4-FFF2-40B4-BE49-F238E27FC236}">
                <a16:creationId xmlns:a16="http://schemas.microsoft.com/office/drawing/2014/main" id="{A1BE4A9E-2115-742E-6BFE-71E81BDE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1598614"/>
            <a:ext cx="6150899" cy="48479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B0EA01-7619-D1CE-7649-494A11CFB71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5510D-F548-23A3-0E19-1230502B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Yield Curve Shapes and Their Implications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8BDBB-80F3-1019-0111-00295F89E384}"/>
              </a:ext>
            </a:extLst>
          </p:cNvPr>
          <p:cNvSpPr txBox="1"/>
          <p:nvPr/>
        </p:nvSpPr>
        <p:spPr>
          <a:xfrm>
            <a:off x="6096000" y="2193967"/>
            <a:ext cx="5825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Helvetica" pitchFamily="2" charset="0"/>
              </a:rPr>
              <a:t>r =   r*   +   IP   +   DRP   +   LP   +   MRP</a:t>
            </a:r>
          </a:p>
        </p:txBody>
      </p:sp>
      <p:sp>
        <p:nvSpPr>
          <p:cNvPr id="9" name="7-Point Star 8">
            <a:extLst>
              <a:ext uri="{FF2B5EF4-FFF2-40B4-BE49-F238E27FC236}">
                <a16:creationId xmlns:a16="http://schemas.microsoft.com/office/drawing/2014/main" id="{E49E1C15-5B9C-0B92-C973-6AB02AA64F6D}"/>
              </a:ext>
            </a:extLst>
          </p:cNvPr>
          <p:cNvSpPr/>
          <p:nvPr/>
        </p:nvSpPr>
        <p:spPr>
          <a:xfrm>
            <a:off x="8526065" y="2076318"/>
            <a:ext cx="1018396" cy="579314"/>
          </a:xfrm>
          <a:prstGeom prst="star7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7-Point Star 9">
            <a:extLst>
              <a:ext uri="{FF2B5EF4-FFF2-40B4-BE49-F238E27FC236}">
                <a16:creationId xmlns:a16="http://schemas.microsoft.com/office/drawing/2014/main" id="{8B51AD19-5B11-1341-4A01-119D799402C4}"/>
              </a:ext>
            </a:extLst>
          </p:cNvPr>
          <p:cNvSpPr/>
          <p:nvPr/>
        </p:nvSpPr>
        <p:spPr>
          <a:xfrm>
            <a:off x="9830211" y="2076318"/>
            <a:ext cx="834390" cy="624607"/>
          </a:xfrm>
          <a:prstGeom prst="star7">
            <a:avLst>
              <a:gd name="adj" fmla="val 34601"/>
              <a:gd name="hf" fmla="val 102572"/>
              <a:gd name="vf" fmla="val 105210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60FD9-82E2-4387-F66F-20AA9B8E88B7}"/>
              </a:ext>
            </a:extLst>
          </p:cNvPr>
          <p:cNvSpPr txBox="1"/>
          <p:nvPr/>
        </p:nvSpPr>
        <p:spPr>
          <a:xfrm>
            <a:off x="5258579" y="3600156"/>
            <a:ext cx="5825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Helvetica" pitchFamily="2" charset="0"/>
              </a:rPr>
              <a:t>r =   r*   +   IP   +   MRP</a:t>
            </a:r>
          </a:p>
        </p:txBody>
      </p:sp>
      <p:sp>
        <p:nvSpPr>
          <p:cNvPr id="12" name="7-Point Star 11">
            <a:extLst>
              <a:ext uri="{FF2B5EF4-FFF2-40B4-BE49-F238E27FC236}">
                <a16:creationId xmlns:a16="http://schemas.microsoft.com/office/drawing/2014/main" id="{B918ECCA-DA9E-B00A-16F1-D75E3A52D7B7}"/>
              </a:ext>
            </a:extLst>
          </p:cNvPr>
          <p:cNvSpPr/>
          <p:nvPr/>
        </p:nvSpPr>
        <p:spPr>
          <a:xfrm>
            <a:off x="8863316" y="3390248"/>
            <a:ext cx="1152048" cy="787547"/>
          </a:xfrm>
          <a:prstGeom prst="star7">
            <a:avLst>
              <a:gd name="adj" fmla="val 34601"/>
              <a:gd name="hf" fmla="val 102572"/>
              <a:gd name="vf" fmla="val 105210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7-Point Star 12">
            <a:extLst>
              <a:ext uri="{FF2B5EF4-FFF2-40B4-BE49-F238E27FC236}">
                <a16:creationId xmlns:a16="http://schemas.microsoft.com/office/drawing/2014/main" id="{546E3972-F6A9-4FE5-C3B1-BD2230904C50}"/>
              </a:ext>
            </a:extLst>
          </p:cNvPr>
          <p:cNvSpPr/>
          <p:nvPr/>
        </p:nvSpPr>
        <p:spPr>
          <a:xfrm>
            <a:off x="7934389" y="3507041"/>
            <a:ext cx="633889" cy="579314"/>
          </a:xfrm>
          <a:prstGeom prst="star7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0EDB1-D8F1-6B34-073F-4D473EF0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A17FFA-7FAD-3154-1CB3-7A05C8D88DA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2FC47-E6DA-E841-F65D-EF54D06C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The Pure Expectations Theory-1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44B6A-E715-EA4A-E624-73EED9339F1D}"/>
              </a:ext>
            </a:extLst>
          </p:cNvPr>
          <p:cNvSpPr txBox="1"/>
          <p:nvPr/>
        </p:nvSpPr>
        <p:spPr>
          <a:xfrm>
            <a:off x="307731" y="1505734"/>
            <a:ext cx="11613760" cy="32316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What is the Pure Expectations Theory?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b="0" i="0" dirty="0">
                <a:effectLst/>
                <a:latin typeface="Helvetica" pitchFamily="2" charset="0"/>
              </a:rPr>
              <a:t>A theory that states that the shape of the yield curve depends on investors’ expectations about future interest rates.</a:t>
            </a:r>
            <a:endParaRPr lang="en-US" sz="2000" b="1" dirty="0">
              <a:latin typeface="Helvetica" pitchFamily="2" charset="0"/>
            </a:endParaRP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The </a:t>
            </a:r>
            <a:r>
              <a:rPr lang="en-US" sz="2000" b="1" dirty="0">
                <a:latin typeface="Helvetica" pitchFamily="2" charset="0"/>
              </a:rPr>
              <a:t>Pure Expectations Theory</a:t>
            </a:r>
            <a:r>
              <a:rPr lang="en-US" sz="2000" dirty="0">
                <a:latin typeface="Helvetica" pitchFamily="2" charset="0"/>
              </a:rPr>
              <a:t> states that </a:t>
            </a:r>
            <a:r>
              <a:rPr lang="en-US" sz="2000" b="1" dirty="0">
                <a:latin typeface="Helvetica" pitchFamily="2" charset="0"/>
              </a:rPr>
              <a:t>long-term interest rates</a:t>
            </a:r>
            <a:r>
              <a:rPr lang="en-US" sz="2000" dirty="0">
                <a:latin typeface="Helvetica" pitchFamily="2" charset="0"/>
              </a:rPr>
              <a:t> are determined solely by </a:t>
            </a:r>
            <a:r>
              <a:rPr lang="en-US" sz="2000" b="1" dirty="0">
                <a:latin typeface="Helvetica" pitchFamily="2" charset="0"/>
              </a:rPr>
              <a:t>expected future short-term interest rates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Assumes </a:t>
            </a:r>
            <a:r>
              <a:rPr lang="en-US" sz="2000" b="1" dirty="0">
                <a:latin typeface="Helvetica" pitchFamily="2" charset="0"/>
              </a:rPr>
              <a:t>no maturity risk premium (MRP = 0)</a:t>
            </a:r>
            <a:r>
              <a:rPr lang="en-US" sz="2000" dirty="0">
                <a:latin typeface="Helvetica" pitchFamily="2" charset="0"/>
              </a:rPr>
              <a:t> → Investors are indifferent between holding long-term or rolling over short-term bonds.</a:t>
            </a:r>
          </a:p>
        </p:txBody>
      </p:sp>
    </p:spTree>
    <p:extLst>
      <p:ext uri="{BB962C8B-B14F-4D97-AF65-F5344CB8AC3E}">
        <p14:creationId xmlns:p14="http://schemas.microsoft.com/office/powerpoint/2010/main" val="144986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9042-6E86-FBF0-A43F-22FA4336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07F546-28D9-43AC-9F71-149EE3FE1CE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F87C0-31BE-C3EE-B87C-78B05FFFC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The Pure Expectations Theory-2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D3F05-0147-493E-B5F5-C6095119C8F8}"/>
              </a:ext>
            </a:extLst>
          </p:cNvPr>
          <p:cNvSpPr txBox="1"/>
          <p:nvPr/>
        </p:nvSpPr>
        <p:spPr>
          <a:xfrm>
            <a:off x="307731" y="1448584"/>
            <a:ext cx="1161376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b="0" i="0" dirty="0">
                <a:effectLst/>
                <a:latin typeface="Helvetica" pitchFamily="2" charset="0"/>
              </a:rPr>
              <a:t>To illustrate the pure expectations theory, assume that a 1-year Treasury bond currently yields 6.00%, and a 2-year bond yields 7%. Investors who want to invest for a 2-year horizon have two primary options: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35EF2E-1E49-1D50-638C-AB14FB61E2BE}"/>
              </a:ext>
            </a:extLst>
          </p:cNvPr>
          <p:cNvGrpSpPr/>
          <p:nvPr/>
        </p:nvGrpSpPr>
        <p:grpSpPr>
          <a:xfrm>
            <a:off x="993316" y="2554131"/>
            <a:ext cx="10242589" cy="797948"/>
            <a:chOff x="873086" y="5053331"/>
            <a:chExt cx="10242589" cy="1147434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CD77DB0-CFB5-C9C9-BFB3-69453BB1878F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943BA57A-0AA8-A06C-149F-E2D5F4F89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997EB01-3478-852B-5C5D-AEED7749BF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B77539D-ADD0-3ACD-A948-0917C18CC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E3ED6D5-D0C7-F767-B440-51723C016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AF6FDEC-C5B8-5BD9-4572-4A9ECC549B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02DC22A-C6F0-2C57-0D5E-9543BED534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55694C-6A4E-66FF-8069-56733223B638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410EDB-D363-BDB3-9C00-B5E6A0F5EDE4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D77675-3A43-A378-0AAB-6A1065D80BE0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1EA8F0-FC1F-302F-A128-FF460F73519B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0DE3B5-ABC1-0871-6771-33B57CF632B0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37" name="Bent Arrow 36">
            <a:extLst>
              <a:ext uri="{FF2B5EF4-FFF2-40B4-BE49-F238E27FC236}">
                <a16:creationId xmlns:a16="http://schemas.microsoft.com/office/drawing/2014/main" id="{7A78E282-269C-515F-303A-F02C0CD0EEFE}"/>
              </a:ext>
            </a:extLst>
          </p:cNvPr>
          <p:cNvSpPr/>
          <p:nvPr/>
        </p:nvSpPr>
        <p:spPr>
          <a:xfrm rot="8022296" flipH="1">
            <a:off x="1726685" y="2227152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31B0C8-27FD-B15C-DCC9-4C95F5712816}"/>
              </a:ext>
            </a:extLst>
          </p:cNvPr>
          <p:cNvSpPr txBox="1"/>
          <p:nvPr/>
        </p:nvSpPr>
        <p:spPr>
          <a:xfrm>
            <a:off x="1768154" y="317785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2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 7%</a:t>
            </a:r>
          </a:p>
        </p:txBody>
      </p:sp>
      <p:sp>
        <p:nvSpPr>
          <p:cNvPr id="39" name="Bent Arrow 38">
            <a:extLst>
              <a:ext uri="{FF2B5EF4-FFF2-40B4-BE49-F238E27FC236}">
                <a16:creationId xmlns:a16="http://schemas.microsoft.com/office/drawing/2014/main" id="{8EFE491A-4AFE-3978-704E-E4E681DD605B}"/>
              </a:ext>
            </a:extLst>
          </p:cNvPr>
          <p:cNvSpPr/>
          <p:nvPr/>
        </p:nvSpPr>
        <p:spPr>
          <a:xfrm rot="8022296" flipH="1">
            <a:off x="3986155" y="223653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CBB59D-4851-265D-4814-1A1A4C33F7F3}"/>
              </a:ext>
            </a:extLst>
          </p:cNvPr>
          <p:cNvSpPr txBox="1"/>
          <p:nvPr/>
        </p:nvSpPr>
        <p:spPr>
          <a:xfrm>
            <a:off x="3990416" y="317785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2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 7%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078759-43E6-A4B3-9ED5-D1AAE01CDCAC}"/>
              </a:ext>
            </a:extLst>
          </p:cNvPr>
          <p:cNvGrpSpPr/>
          <p:nvPr/>
        </p:nvGrpSpPr>
        <p:grpSpPr>
          <a:xfrm>
            <a:off x="997126" y="4729641"/>
            <a:ext cx="10242589" cy="797948"/>
            <a:chOff x="873086" y="5053331"/>
            <a:chExt cx="10242589" cy="1147434"/>
          </a:xfrm>
          <a:noFill/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2A7F24E-5C05-D36A-D739-A0F706AF5672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8437F91-A956-3D2A-6544-A3FF42475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7C32F90-DDEA-A3D2-CB51-169F84C26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7235368-A02E-38DA-04E8-5EF641D2A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07FC434-C34E-CA7C-65ED-18B2A8195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3252977-D875-E165-C64F-4006DF8288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36E5E56-FF16-D128-B76F-DDD8F7DA23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63ADB9-FADD-AD09-9C93-13409CC376EB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BD534E2-B81A-D9BC-C5E1-DBEB3B03179C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FD1448-71F8-66B1-B61E-F47E9DFDD84C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DAAFBC1-DB1A-2A05-341F-00F57B49AE93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399FF41-2EDF-6FF8-1E51-6193223B64DB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54" name="Bent Arrow 53">
            <a:extLst>
              <a:ext uri="{FF2B5EF4-FFF2-40B4-BE49-F238E27FC236}">
                <a16:creationId xmlns:a16="http://schemas.microsoft.com/office/drawing/2014/main" id="{0998A8DC-A20F-86C3-D62A-3361E201DB1C}"/>
              </a:ext>
            </a:extLst>
          </p:cNvPr>
          <p:cNvSpPr/>
          <p:nvPr/>
        </p:nvSpPr>
        <p:spPr>
          <a:xfrm rot="8022296" flipH="1">
            <a:off x="1730495" y="4402662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06D98-19BE-FC7C-94DB-7BBEA032870A}"/>
              </a:ext>
            </a:extLst>
          </p:cNvPr>
          <p:cNvSpPr txBox="1"/>
          <p:nvPr/>
        </p:nvSpPr>
        <p:spPr>
          <a:xfrm>
            <a:off x="1771964" y="5353364"/>
            <a:ext cx="1039067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 = 6%</a:t>
            </a:r>
          </a:p>
        </p:txBody>
      </p:sp>
      <p:sp>
        <p:nvSpPr>
          <p:cNvPr id="56" name="Bent Arrow 55">
            <a:extLst>
              <a:ext uri="{FF2B5EF4-FFF2-40B4-BE49-F238E27FC236}">
                <a16:creationId xmlns:a16="http://schemas.microsoft.com/office/drawing/2014/main" id="{D671C3D3-F2E6-0E81-6636-8ABFE42118B3}"/>
              </a:ext>
            </a:extLst>
          </p:cNvPr>
          <p:cNvSpPr/>
          <p:nvPr/>
        </p:nvSpPr>
        <p:spPr>
          <a:xfrm rot="8022296" flipH="1">
            <a:off x="3989965" y="441204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21DD80-1F6F-2B30-7DFC-EE160F7451C5}"/>
              </a:ext>
            </a:extLst>
          </p:cNvPr>
          <p:cNvSpPr txBox="1"/>
          <p:nvPr/>
        </p:nvSpPr>
        <p:spPr>
          <a:xfrm>
            <a:off x="3994226" y="5353364"/>
            <a:ext cx="112562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  <a:latin typeface="Helvetica" pitchFamily="2" charset="0"/>
              </a:rPr>
              <a:t>1,1</a:t>
            </a:r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 = ??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0E80EB-E587-CB3F-8E8D-4983BC2AE3AC}"/>
              </a:ext>
            </a:extLst>
          </p:cNvPr>
          <p:cNvSpPr txBox="1"/>
          <p:nvPr/>
        </p:nvSpPr>
        <p:spPr>
          <a:xfrm>
            <a:off x="605791" y="4138959"/>
            <a:ext cx="11052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solidFill>
                  <a:srgbClr val="0070C0"/>
                </a:solidFill>
                <a:effectLst/>
                <a:latin typeface="Helvetica" pitchFamily="2" charset="0"/>
              </a:rPr>
              <a:t>Option 2: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Helvetica" pitchFamily="2" charset="0"/>
              </a:rPr>
              <a:t> </a:t>
            </a:r>
            <a:r>
              <a:rPr lang="en-US" sz="1800" b="0" i="1" dirty="0">
                <a:solidFill>
                  <a:srgbClr val="0070C0"/>
                </a:solidFill>
                <a:effectLst/>
                <a:latin typeface="Helvetica" pitchFamily="2" charset="0"/>
              </a:rPr>
              <a:t>Buy a 1-year security, hold it for 1 year, and then at the end of the year reinvest the proceeds in another 1-year security.</a:t>
            </a:r>
            <a:endParaRPr lang="en-US" sz="1800" b="0" i="0" dirty="0">
              <a:solidFill>
                <a:srgbClr val="0070C0"/>
              </a:solidFill>
              <a:effectLst/>
              <a:latin typeface="Helvetica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A8EE51-D331-4982-71B8-AC08D735F7A4}"/>
              </a:ext>
            </a:extLst>
          </p:cNvPr>
          <p:cNvSpPr txBox="1"/>
          <p:nvPr/>
        </p:nvSpPr>
        <p:spPr>
          <a:xfrm>
            <a:off x="605790" y="2217106"/>
            <a:ext cx="5775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solidFill>
                  <a:srgbClr val="C00000"/>
                </a:solidFill>
                <a:effectLst/>
                <a:latin typeface="Helvetica" pitchFamily="2" charset="0"/>
              </a:rPr>
              <a:t>Option 1: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Helvetica" pitchFamily="2" charset="0"/>
              </a:rPr>
              <a:t> </a:t>
            </a:r>
            <a:r>
              <a:rPr lang="en-US" sz="1800" b="0" i="1" dirty="0">
                <a:solidFill>
                  <a:srgbClr val="C00000"/>
                </a:solidFill>
                <a:effectLst/>
                <a:latin typeface="Helvetica" pitchFamily="2" charset="0"/>
              </a:rPr>
              <a:t>Buy a 2-year security and hold it for 2 years.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047D163-948B-3469-15D7-647C94BC86AC}"/>
                  </a:ext>
                </a:extLst>
              </p:cNvPr>
              <p:cNvSpPr txBox="1"/>
              <p:nvPr/>
            </p:nvSpPr>
            <p:spPr>
              <a:xfrm>
                <a:off x="4152359" y="3565589"/>
                <a:ext cx="34980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(1 + 0.08)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 (1 + 0.08)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  <a:ea typeface="Cambria Math" panose="02040503050406030204" pitchFamily="18" charset="0"/>
                  </a:rPr>
                  <a:t>  = 1.1664</a:t>
                </a:r>
                <a:endParaRPr lang="en-US" sz="18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047D163-948B-3469-15D7-647C94BC8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359" y="3565589"/>
                <a:ext cx="3498073" cy="369332"/>
              </a:xfrm>
              <a:prstGeom prst="rect">
                <a:avLst/>
              </a:prstGeom>
              <a:blipFill>
                <a:blip r:embed="rId2"/>
                <a:stretch>
                  <a:fillRect l="-1083" t="-6667" r="-36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C9FAD-5F8D-DA34-DAD2-7307E4C3B0EF}"/>
                  </a:ext>
                </a:extLst>
              </p:cNvPr>
              <p:cNvSpPr txBox="1"/>
              <p:nvPr/>
            </p:nvSpPr>
            <p:spPr>
              <a:xfrm>
                <a:off x="4090547" y="5978965"/>
                <a:ext cx="3203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(1 + 0.06)</a:t>
                </a:r>
                <a:r>
                  <a:rPr lang="en-US" sz="1800" b="1" dirty="0">
                    <a:solidFill>
                      <a:srgbClr val="00B050"/>
                    </a:solidFill>
                    <a:effectLst/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 (1 + </a:t>
                </a:r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X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)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 = 1.1664</a:t>
                </a:r>
                <a:endParaRPr lang="en-US" sz="1800" b="1" dirty="0">
                  <a:solidFill>
                    <a:srgbClr val="00B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C9FAD-5F8D-DA34-DAD2-7307E4C3B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547" y="5978965"/>
                <a:ext cx="3203121" cy="369332"/>
              </a:xfrm>
              <a:prstGeom prst="rect">
                <a:avLst/>
              </a:prstGeom>
              <a:blipFill>
                <a:blip r:embed="rId3"/>
                <a:stretch>
                  <a:fillRect l="-1581" t="-6667" r="-3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51BC3A82-D8B6-A375-A41E-2DC45B7719C1}"/>
              </a:ext>
            </a:extLst>
          </p:cNvPr>
          <p:cNvSpPr txBox="1"/>
          <p:nvPr/>
        </p:nvSpPr>
        <p:spPr>
          <a:xfrm>
            <a:off x="4097402" y="6365359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(1 + X)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1.1664 / </a:t>
            </a:r>
            <a:r>
              <a:rPr lang="en-US" sz="1800" b="1" dirty="0">
                <a:solidFill>
                  <a:srgbClr val="00B050"/>
                </a:solidFill>
                <a:latin typeface="Helvetica" pitchFamily="2" charset="0"/>
              </a:rPr>
              <a:t>(1 + 0.06) = 1.1004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4655E6-67AB-3794-BB4F-5EF3486DCA12}"/>
              </a:ext>
            </a:extLst>
          </p:cNvPr>
          <p:cNvSpPr txBox="1"/>
          <p:nvPr/>
        </p:nvSpPr>
        <p:spPr>
          <a:xfrm>
            <a:off x="8708607" y="6335716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X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10.04%</a:t>
            </a:r>
            <a:endParaRPr lang="en-US" sz="1800" b="1" dirty="0">
              <a:solidFill>
                <a:srgbClr val="00B05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56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 animBg="1"/>
      <p:bldP spid="40" grpId="0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1D47-8ECD-0B8D-660E-90B86BFB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185BA8-BA53-8D5D-CF4D-FC554CD1797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5E207-713E-2D44-590A-06939B05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C814E-AD5F-A5B4-6ECC-CBE0612CA26D}"/>
              </a:ext>
            </a:extLst>
          </p:cNvPr>
          <p:cNvSpPr txBox="1"/>
          <p:nvPr/>
        </p:nvSpPr>
        <p:spPr>
          <a:xfrm>
            <a:off x="307731" y="1505734"/>
            <a:ext cx="11576538" cy="848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Aft>
                <a:spcPts val="1125"/>
              </a:spcAft>
            </a:pPr>
            <a:r>
              <a:rPr lang="en-US" sz="2000" b="0" i="0" dirty="0">
                <a:effectLst/>
                <a:latin typeface="Helvetica" pitchFamily="2" charset="0"/>
              </a:rPr>
              <a:t>Let’s suppose that the yield curve looks as: 1-year T-bond: 4.00%, 4-year T-bond: 6.50%.</a:t>
            </a:r>
          </a:p>
          <a:p>
            <a:pPr algn="l">
              <a:spcAft>
                <a:spcPts val="1125"/>
              </a:spcAft>
            </a:pPr>
            <a:r>
              <a:rPr lang="en-US" sz="2000" b="1" dirty="0">
                <a:latin typeface="Helvetica" pitchFamily="2" charset="0"/>
              </a:rPr>
              <a:t>D</a:t>
            </a:r>
            <a:r>
              <a:rPr lang="en-US" sz="2000" b="1" i="0" dirty="0">
                <a:effectLst/>
                <a:latin typeface="Helvetica" pitchFamily="2" charset="0"/>
              </a:rPr>
              <a:t>etermine the expected yield on the 3-year T-bond 1 year from today.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0195A-007E-5472-6CCF-37724EAB83BF}"/>
              </a:ext>
            </a:extLst>
          </p:cNvPr>
          <p:cNvSpPr txBox="1"/>
          <p:nvPr/>
        </p:nvSpPr>
        <p:spPr>
          <a:xfrm>
            <a:off x="6938356" y="2293671"/>
            <a:ext cx="9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r</a:t>
            </a:r>
            <a:r>
              <a:rPr lang="en-US" sz="2000" b="1" baseline="-25000" dirty="0">
                <a:latin typeface="Helvetica" pitchFamily="2" charset="0"/>
              </a:rPr>
              <a:t>3,1</a:t>
            </a:r>
            <a:r>
              <a:rPr lang="en-US" sz="2000" b="1" dirty="0">
                <a:latin typeface="Helvetica" pitchFamily="2" charset="0"/>
              </a:rPr>
              <a:t>=??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4F987-8910-41D1-575A-907921A9E0A6}"/>
              </a:ext>
            </a:extLst>
          </p:cNvPr>
          <p:cNvSpPr txBox="1"/>
          <p:nvPr/>
        </p:nvSpPr>
        <p:spPr>
          <a:xfrm>
            <a:off x="4169112" y="229367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32FF"/>
                </a:solidFill>
                <a:latin typeface="Helvetica" pitchFamily="2" charset="0"/>
              </a:rPr>
              <a:t>1</a:t>
            </a:r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 =4%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10619-5534-927B-23E2-B219CF5D80C3}"/>
              </a:ext>
            </a:extLst>
          </p:cNvPr>
          <p:cNvSpPr txBox="1"/>
          <p:nvPr/>
        </p:nvSpPr>
        <p:spPr>
          <a:xfrm>
            <a:off x="5447134" y="2293671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32FF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 =6.5%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ADF018-6B10-13AF-39F9-A8C922046AB2}"/>
              </a:ext>
            </a:extLst>
          </p:cNvPr>
          <p:cNvGrpSpPr/>
          <p:nvPr/>
        </p:nvGrpSpPr>
        <p:grpSpPr>
          <a:xfrm>
            <a:off x="838200" y="2811780"/>
            <a:ext cx="10242589" cy="797948"/>
            <a:chOff x="873086" y="5053331"/>
            <a:chExt cx="10242589" cy="1147434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8A205A1-4DCF-B4CD-65EC-4F58A4C99302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FC4791D-E3A3-3EF0-B383-28BD2035E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1DEA84F-DF93-FCFB-62AF-6A2119FE8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AB60999-7437-F051-7BB5-EFAD4CCCF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2503D83-169D-5DCC-E8CF-D625D83281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FEAFA4-5753-126B-B34E-FE0B587402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42D4B66-5078-1AFE-7DE2-B23F97F35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C700B6-F546-2EF3-9597-673490445D89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059BA4-63E0-3DF8-1231-88F534B8DD25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83912E-8DD3-FBA9-A78A-6B396E91306C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2E9E59-DE7E-5371-5A0F-FD5CBA7D93CD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1500C2-4624-0D74-3185-B218D7CEFB4D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787F1B1-9F00-CD9B-9901-D22BBB5EA688}"/>
              </a:ext>
            </a:extLst>
          </p:cNvPr>
          <p:cNvGrpSpPr/>
          <p:nvPr/>
        </p:nvGrpSpPr>
        <p:grpSpPr>
          <a:xfrm>
            <a:off x="842093" y="4651907"/>
            <a:ext cx="10242589" cy="797948"/>
            <a:chOff x="873086" y="5053331"/>
            <a:chExt cx="10242589" cy="1147434"/>
          </a:xfrm>
          <a:noFill/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BBC5A54-304A-9ADE-EE05-8CD7DB5C630D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DA38BB2-E1C3-0C36-E687-C7F7519CD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C636F89-A076-87CC-BE1A-BA14FAFDFA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25178A-0C1E-90B0-C982-F5771B982E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14CB2E4-ABE1-663C-70BE-3C7D0C128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1D0B84F-5A80-9989-9944-275F99875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335FB1F-79DB-3691-C1A5-828B0BCBC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A3C9CB2-B94B-1B96-4C42-C2EE1E6F17F9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E49157-87FD-DE9B-D1DE-813AF7886865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2A6C69-70D4-6C1B-38BA-ECB1CA379C3E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227AB3-D9B1-2487-272D-CD4B9AFA2971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0DA3C5-3892-F421-BDCA-DEB6136F8548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35" name="Bent Arrow 34">
            <a:extLst>
              <a:ext uri="{FF2B5EF4-FFF2-40B4-BE49-F238E27FC236}">
                <a16:creationId xmlns:a16="http://schemas.microsoft.com/office/drawing/2014/main" id="{4F25AD08-2132-3DD1-80A3-E3E771FF87F4}"/>
              </a:ext>
            </a:extLst>
          </p:cNvPr>
          <p:cNvSpPr/>
          <p:nvPr/>
        </p:nvSpPr>
        <p:spPr>
          <a:xfrm rot="8022296" flipH="1">
            <a:off x="1656041" y="247520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6" name="Bent Arrow 35">
            <a:extLst>
              <a:ext uri="{FF2B5EF4-FFF2-40B4-BE49-F238E27FC236}">
                <a16:creationId xmlns:a16="http://schemas.microsoft.com/office/drawing/2014/main" id="{E1C7A4F8-8E7B-3BB5-4965-30BBEEC6C738}"/>
              </a:ext>
            </a:extLst>
          </p:cNvPr>
          <p:cNvSpPr/>
          <p:nvPr/>
        </p:nvSpPr>
        <p:spPr>
          <a:xfrm rot="8022296" flipH="1">
            <a:off x="3915511" y="2484578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7" name="Bent Arrow 36">
            <a:extLst>
              <a:ext uri="{FF2B5EF4-FFF2-40B4-BE49-F238E27FC236}">
                <a16:creationId xmlns:a16="http://schemas.microsoft.com/office/drawing/2014/main" id="{FC265442-5D65-D00E-F261-EEC6E39517DA}"/>
              </a:ext>
            </a:extLst>
          </p:cNvPr>
          <p:cNvSpPr/>
          <p:nvPr/>
        </p:nvSpPr>
        <p:spPr>
          <a:xfrm rot="8022296" flipH="1">
            <a:off x="6180956" y="2493767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6358B322-0F1A-D67A-7B62-B63A2DEF1971}"/>
              </a:ext>
            </a:extLst>
          </p:cNvPr>
          <p:cNvSpPr/>
          <p:nvPr/>
        </p:nvSpPr>
        <p:spPr>
          <a:xfrm rot="8022296" flipH="1">
            <a:off x="8440426" y="2503145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4F0E78-9103-2AA0-FDD1-BE413755F4E8}"/>
              </a:ext>
            </a:extLst>
          </p:cNvPr>
          <p:cNvSpPr txBox="1"/>
          <p:nvPr/>
        </p:nvSpPr>
        <p:spPr>
          <a:xfrm>
            <a:off x="1576889" y="3359929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=6.5%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4E0E86-3761-6543-9FDA-0A731CF97F99}"/>
              </a:ext>
            </a:extLst>
          </p:cNvPr>
          <p:cNvSpPr txBox="1"/>
          <p:nvPr/>
        </p:nvSpPr>
        <p:spPr>
          <a:xfrm>
            <a:off x="3871607" y="3359929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=6.5%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A892DF-893B-182C-BEA8-9BE761091B4C}"/>
              </a:ext>
            </a:extLst>
          </p:cNvPr>
          <p:cNvSpPr txBox="1"/>
          <p:nvPr/>
        </p:nvSpPr>
        <p:spPr>
          <a:xfrm>
            <a:off x="6142363" y="3359929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=6.5%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5C5A4A-D109-71AC-2C93-10E438799697}"/>
              </a:ext>
            </a:extLst>
          </p:cNvPr>
          <p:cNvSpPr txBox="1"/>
          <p:nvPr/>
        </p:nvSpPr>
        <p:spPr>
          <a:xfrm>
            <a:off x="8401833" y="3359929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=6.5%</a:t>
            </a:r>
          </a:p>
        </p:txBody>
      </p:sp>
      <p:sp>
        <p:nvSpPr>
          <p:cNvPr id="43" name="Bent Arrow 42">
            <a:extLst>
              <a:ext uri="{FF2B5EF4-FFF2-40B4-BE49-F238E27FC236}">
                <a16:creationId xmlns:a16="http://schemas.microsoft.com/office/drawing/2014/main" id="{511A7E84-5266-D678-6A19-EDA0A2D85CB4}"/>
              </a:ext>
            </a:extLst>
          </p:cNvPr>
          <p:cNvSpPr/>
          <p:nvPr/>
        </p:nvSpPr>
        <p:spPr>
          <a:xfrm rot="8022296" flipH="1">
            <a:off x="1579759" y="434508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4875FF-4AC7-3717-C718-2CB98AC7B8B7}"/>
              </a:ext>
            </a:extLst>
          </p:cNvPr>
          <p:cNvSpPr txBox="1"/>
          <p:nvPr/>
        </p:nvSpPr>
        <p:spPr>
          <a:xfrm>
            <a:off x="1571214" y="5241734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1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=4%</a:t>
            </a:r>
          </a:p>
        </p:txBody>
      </p:sp>
      <p:sp>
        <p:nvSpPr>
          <p:cNvPr id="45" name="Bent Arrow 44">
            <a:extLst>
              <a:ext uri="{FF2B5EF4-FFF2-40B4-BE49-F238E27FC236}">
                <a16:creationId xmlns:a16="http://schemas.microsoft.com/office/drawing/2014/main" id="{D245FCAB-85BF-F4DA-86B3-43969976E793}"/>
              </a:ext>
            </a:extLst>
          </p:cNvPr>
          <p:cNvSpPr/>
          <p:nvPr/>
        </p:nvSpPr>
        <p:spPr>
          <a:xfrm rot="8022296" flipH="1">
            <a:off x="3929311" y="4331943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E8BA94-C6E5-569B-7B6D-EF20FC4FE476}"/>
              </a:ext>
            </a:extLst>
          </p:cNvPr>
          <p:cNvSpPr txBox="1"/>
          <p:nvPr/>
        </p:nvSpPr>
        <p:spPr>
          <a:xfrm>
            <a:off x="3920766" y="5228597"/>
            <a:ext cx="12394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3,1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=??%</a:t>
            </a: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11463FB0-5D40-369A-8254-BBEE93E4F867}"/>
              </a:ext>
            </a:extLst>
          </p:cNvPr>
          <p:cNvSpPr/>
          <p:nvPr/>
        </p:nvSpPr>
        <p:spPr>
          <a:xfrm rot="8022296" flipH="1">
            <a:off x="6271376" y="4313376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A533D9-A8D7-41F5-39FC-29BCC11CD9D9}"/>
              </a:ext>
            </a:extLst>
          </p:cNvPr>
          <p:cNvSpPr txBox="1"/>
          <p:nvPr/>
        </p:nvSpPr>
        <p:spPr>
          <a:xfrm>
            <a:off x="6262831" y="5210030"/>
            <a:ext cx="12394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3,1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=??%</a:t>
            </a:r>
          </a:p>
        </p:txBody>
      </p:sp>
      <p:sp>
        <p:nvSpPr>
          <p:cNvPr id="49" name="Bent Arrow 48">
            <a:extLst>
              <a:ext uri="{FF2B5EF4-FFF2-40B4-BE49-F238E27FC236}">
                <a16:creationId xmlns:a16="http://schemas.microsoft.com/office/drawing/2014/main" id="{C165A7C9-525D-F8F1-32CB-9DCFAA84ABF6}"/>
              </a:ext>
            </a:extLst>
          </p:cNvPr>
          <p:cNvSpPr/>
          <p:nvPr/>
        </p:nvSpPr>
        <p:spPr>
          <a:xfrm rot="8022296" flipH="1">
            <a:off x="8555520" y="4325076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3FE5FF-9F3F-3223-4004-79864FFA6ABF}"/>
              </a:ext>
            </a:extLst>
          </p:cNvPr>
          <p:cNvSpPr txBox="1"/>
          <p:nvPr/>
        </p:nvSpPr>
        <p:spPr>
          <a:xfrm>
            <a:off x="8546975" y="5221730"/>
            <a:ext cx="12394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3,1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=??%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3A4A9C-1358-D94A-A355-463586AF4D1E}"/>
              </a:ext>
            </a:extLst>
          </p:cNvPr>
          <p:cNvSpPr txBox="1"/>
          <p:nvPr/>
        </p:nvSpPr>
        <p:spPr>
          <a:xfrm>
            <a:off x="4243011" y="3912984"/>
            <a:ext cx="2408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(1 + 0.065)</a:t>
            </a:r>
            <a:r>
              <a:rPr lang="en-US" sz="1800" b="1" baseline="30000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4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effectLst/>
                <a:latin typeface="Helvetica" pitchFamily="2" charset="0"/>
                <a:ea typeface="Cambria Math" panose="02040503050406030204" pitchFamily="18" charset="0"/>
              </a:rPr>
              <a:t>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  <a:ea typeface="Cambria Math" panose="02040503050406030204" pitchFamily="18" charset="0"/>
              </a:rPr>
              <a:t>= 1.2865</a:t>
            </a:r>
            <a:endParaRPr lang="en-US" sz="1800" b="1" dirty="0">
              <a:solidFill>
                <a:schemeClr val="accent5">
                  <a:lumMod val="75000"/>
                </a:schemeClr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ABF225-6841-4F66-080F-55AB92A75651}"/>
                  </a:ext>
                </a:extLst>
              </p:cNvPr>
              <p:cNvSpPr txBox="1"/>
              <p:nvPr/>
            </p:nvSpPr>
            <p:spPr>
              <a:xfrm>
                <a:off x="3942369" y="5775485"/>
                <a:ext cx="3288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(1 + 0.04)</a:t>
                </a:r>
                <a:r>
                  <a:rPr lang="en-US" sz="1800" b="1" dirty="0">
                    <a:solidFill>
                      <a:srgbClr val="00B050"/>
                    </a:solidFill>
                    <a:effectLst/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 (1 + </a:t>
                </a:r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X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)</a:t>
                </a:r>
                <a:r>
                  <a:rPr lang="en-US" sz="1800" b="1" baseline="30000" dirty="0">
                    <a:solidFill>
                      <a:srgbClr val="00B050"/>
                    </a:solidFill>
                    <a:latin typeface="Helvetica" pitchFamily="2" charset="0"/>
                  </a:rPr>
                  <a:t>3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 = 1.2864</a:t>
                </a:r>
                <a:endParaRPr lang="en-US" sz="1800" b="1" dirty="0">
                  <a:solidFill>
                    <a:srgbClr val="00B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ABF225-6841-4F66-080F-55AB92A75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369" y="5775485"/>
                <a:ext cx="3288080" cy="369332"/>
              </a:xfrm>
              <a:prstGeom prst="rect">
                <a:avLst/>
              </a:prstGeom>
              <a:blipFill>
                <a:blip r:embed="rId2"/>
                <a:stretch>
                  <a:fillRect l="-1538" t="-6667" r="-38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F95B235E-19E4-0C52-7F02-19CFFB41F3DC}"/>
              </a:ext>
            </a:extLst>
          </p:cNvPr>
          <p:cNvSpPr txBox="1"/>
          <p:nvPr/>
        </p:nvSpPr>
        <p:spPr>
          <a:xfrm>
            <a:off x="3617235" y="6237547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(1 + X)</a:t>
            </a:r>
            <a:r>
              <a:rPr lang="en-US" b="1" baseline="30000" dirty="0">
                <a:solidFill>
                  <a:srgbClr val="00B050"/>
                </a:solidFill>
                <a:latin typeface="Helvetica" pitchFamily="2" charset="0"/>
              </a:rPr>
              <a:t>3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1.2864 / </a:t>
            </a:r>
            <a:r>
              <a:rPr lang="en-US" sz="1800" b="1" dirty="0">
                <a:solidFill>
                  <a:srgbClr val="00B050"/>
                </a:solidFill>
                <a:latin typeface="Helvetica" pitchFamily="2" charset="0"/>
              </a:rPr>
              <a:t>(1.04) = 1.2369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0DB969-4769-2919-7198-30792E1EC9BF}"/>
              </a:ext>
            </a:extLst>
          </p:cNvPr>
          <p:cNvSpPr txBox="1"/>
          <p:nvPr/>
        </p:nvSpPr>
        <p:spPr>
          <a:xfrm>
            <a:off x="7536967" y="6242179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(1 + X)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1.0734</a:t>
            </a:r>
            <a:endParaRPr lang="en-US" sz="1800" b="1" dirty="0">
              <a:solidFill>
                <a:srgbClr val="00B050"/>
              </a:solidFill>
              <a:latin typeface="Helvetic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0F2012-579B-37E9-5979-B959D2C623AC}"/>
              </a:ext>
            </a:extLst>
          </p:cNvPr>
          <p:cNvSpPr txBox="1"/>
          <p:nvPr/>
        </p:nvSpPr>
        <p:spPr>
          <a:xfrm>
            <a:off x="9694870" y="623754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X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7.34%</a:t>
            </a:r>
            <a:endParaRPr lang="en-US" sz="1800" b="1" dirty="0">
              <a:solidFill>
                <a:srgbClr val="00B05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0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2" grpId="0"/>
      <p:bldP spid="53" grpId="0"/>
      <p:bldP spid="54" grpId="0"/>
      <p:bldP spid="55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ED52-ABBF-6ADB-4688-1835D70A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03483E-17DD-F6AC-2B34-EDA59DDD38D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A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B0600-A25F-590B-B410-2222F7BD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4EEFA-14BA-8B68-7F08-958B180579AF}"/>
              </a:ext>
            </a:extLst>
          </p:cNvPr>
          <p:cNvSpPr txBox="1"/>
          <p:nvPr/>
        </p:nvSpPr>
        <p:spPr>
          <a:xfrm>
            <a:off x="307731" y="1505734"/>
            <a:ext cx="11576538" cy="848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Aft>
                <a:spcPts val="1125"/>
              </a:spcAft>
            </a:pPr>
            <a:r>
              <a:rPr lang="en-US" sz="2000" dirty="0">
                <a:latin typeface="Helvetica" pitchFamily="2" charset="0"/>
              </a:rPr>
              <a:t>S</a:t>
            </a:r>
            <a:r>
              <a:rPr lang="en-US" sz="2000" b="0" i="0" dirty="0">
                <a:effectLst/>
                <a:latin typeface="Helvetica" pitchFamily="2" charset="0"/>
              </a:rPr>
              <a:t>uppose that the yield curve looks as: 3-year T-bond: 8.00%, 4-year T-bond: 10%.</a:t>
            </a:r>
          </a:p>
          <a:p>
            <a:pPr algn="l">
              <a:spcAft>
                <a:spcPts val="1125"/>
              </a:spcAft>
            </a:pPr>
            <a:r>
              <a:rPr lang="en-US" sz="2000" b="1" dirty="0">
                <a:latin typeface="Helvetica" pitchFamily="2" charset="0"/>
              </a:rPr>
              <a:t>D</a:t>
            </a:r>
            <a:r>
              <a:rPr lang="en-US" sz="2000" b="1" i="0" dirty="0">
                <a:effectLst/>
                <a:latin typeface="Helvetica" pitchFamily="2" charset="0"/>
              </a:rPr>
              <a:t>etermine the expected yield on the 1-year T-bond 3 year from today.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C02BE-3D05-B177-B4D1-1E651424ABE5}"/>
              </a:ext>
            </a:extLst>
          </p:cNvPr>
          <p:cNvSpPr txBox="1"/>
          <p:nvPr/>
        </p:nvSpPr>
        <p:spPr>
          <a:xfrm>
            <a:off x="6938356" y="2293671"/>
            <a:ext cx="9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r</a:t>
            </a:r>
            <a:r>
              <a:rPr lang="en-US" sz="2000" b="1" baseline="-25000" dirty="0">
                <a:latin typeface="Helvetica" pitchFamily="2" charset="0"/>
              </a:rPr>
              <a:t>1,3</a:t>
            </a:r>
            <a:r>
              <a:rPr lang="en-US" sz="2000" b="1" dirty="0">
                <a:latin typeface="Helvetica" pitchFamily="2" charset="0"/>
              </a:rPr>
              <a:t>=??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B4279-BB29-118A-6BBB-0E0EE0F556C0}"/>
              </a:ext>
            </a:extLst>
          </p:cNvPr>
          <p:cNvSpPr txBox="1"/>
          <p:nvPr/>
        </p:nvSpPr>
        <p:spPr>
          <a:xfrm>
            <a:off x="4169112" y="229367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32FF"/>
                </a:solidFill>
                <a:latin typeface="Helvetica" pitchFamily="2" charset="0"/>
              </a:rPr>
              <a:t>3</a:t>
            </a:r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 =8%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C36B4-09F4-452B-15BA-6C69F02E4BBF}"/>
              </a:ext>
            </a:extLst>
          </p:cNvPr>
          <p:cNvSpPr txBox="1"/>
          <p:nvPr/>
        </p:nvSpPr>
        <p:spPr>
          <a:xfrm>
            <a:off x="5447134" y="2293671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32FF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0032FF"/>
                </a:solidFill>
                <a:latin typeface="Helvetica" pitchFamily="2" charset="0"/>
              </a:rPr>
              <a:t> =10%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95A482-1F5F-A432-46B5-FFCC0F82618C}"/>
              </a:ext>
            </a:extLst>
          </p:cNvPr>
          <p:cNvGrpSpPr/>
          <p:nvPr/>
        </p:nvGrpSpPr>
        <p:grpSpPr>
          <a:xfrm>
            <a:off x="838200" y="2811780"/>
            <a:ext cx="10242589" cy="797948"/>
            <a:chOff x="873086" y="5053331"/>
            <a:chExt cx="10242589" cy="1147434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1F287C4-1B5E-EAFC-E98C-0E53736C2461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4C20A41-3040-C998-D0EE-107146EBC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F6AEECD-1562-0FC1-8E1C-ECF84CF6B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46F74E6-6494-EC5D-2F94-734F1589B6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3F6038E-9340-2AF2-A278-462AB08B11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7AD610A-3336-A42C-A2D2-66FA63FC4B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8FF7A8A-AD5D-34E3-E528-DC249BC5E1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CD6529-567A-CBDF-1DB2-05328D7283E5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7B7E12-D0FE-7A74-E18B-CCDF097787F9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EAF652-29BD-7487-7C23-92BB360B6FD9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164F1C-436D-DB89-1428-6F04ECBF2DF7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2B88734-589D-FB84-63D5-1C03F6CBCB4F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984C80-EB82-0C00-F111-6A5D412A8619}"/>
              </a:ext>
            </a:extLst>
          </p:cNvPr>
          <p:cNvGrpSpPr/>
          <p:nvPr/>
        </p:nvGrpSpPr>
        <p:grpSpPr>
          <a:xfrm>
            <a:off x="842093" y="4651907"/>
            <a:ext cx="10242589" cy="797948"/>
            <a:chOff x="873086" y="5053331"/>
            <a:chExt cx="10242589" cy="1147434"/>
          </a:xfrm>
          <a:noFill/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3D2F4B-9AD0-0786-0E65-A10A97E38CD4}"/>
                </a:ext>
              </a:extLst>
            </p:cNvPr>
            <p:cNvGrpSpPr/>
            <p:nvPr/>
          </p:nvGrpSpPr>
          <p:grpSpPr>
            <a:xfrm>
              <a:off x="1027135" y="5053331"/>
              <a:ext cx="10088540" cy="475932"/>
              <a:chOff x="1027135" y="5053331"/>
              <a:chExt cx="10088540" cy="475932"/>
            </a:xfrm>
            <a:grpFill/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6160D0E-0CFF-0A76-DD5B-65764E69A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088540" cy="14677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54577C6-1814-1C33-3CB2-02B9AE74F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DB35A78-824A-6902-D49C-DF6A889D1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3890" y="5072062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9BD6BE-D240-C351-A740-86FF5F8C31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0258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CFBD0B0-A67E-5628-51A4-8913B9779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0524" y="505333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432C1C4-33FE-D2C1-7360-96A7F40DF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923" y="5072063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ADF860-3ECA-DB4C-EC29-26AF742FA7F2}"/>
                </a:ext>
              </a:extLst>
            </p:cNvPr>
            <p:cNvSpPr txBox="1"/>
            <p:nvPr/>
          </p:nvSpPr>
          <p:spPr>
            <a:xfrm>
              <a:off x="873086" y="5713928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A30855-0B19-C173-F350-C6129F3C2622}"/>
                </a:ext>
              </a:extLst>
            </p:cNvPr>
            <p:cNvSpPr txBox="1"/>
            <p:nvPr/>
          </p:nvSpPr>
          <p:spPr>
            <a:xfrm>
              <a:off x="3139841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B00B75-4DAC-D37C-C38C-286E73C953C0}"/>
                </a:ext>
              </a:extLst>
            </p:cNvPr>
            <p:cNvSpPr txBox="1"/>
            <p:nvPr/>
          </p:nvSpPr>
          <p:spPr>
            <a:xfrm>
              <a:off x="5420874" y="5713931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44F208-BB3D-0709-4F37-6F113B6D7569}"/>
                </a:ext>
              </a:extLst>
            </p:cNvPr>
            <p:cNvSpPr txBox="1"/>
            <p:nvPr/>
          </p:nvSpPr>
          <p:spPr>
            <a:xfrm>
              <a:off x="7716475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CBC58E-5887-0AB5-E2B4-245C60D6D2DE}"/>
                </a:ext>
              </a:extLst>
            </p:cNvPr>
            <p:cNvSpPr txBox="1"/>
            <p:nvPr/>
          </p:nvSpPr>
          <p:spPr>
            <a:xfrm>
              <a:off x="10036209" y="5710715"/>
              <a:ext cx="298480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35" name="Bent Arrow 34">
            <a:extLst>
              <a:ext uri="{FF2B5EF4-FFF2-40B4-BE49-F238E27FC236}">
                <a16:creationId xmlns:a16="http://schemas.microsoft.com/office/drawing/2014/main" id="{5118EEF4-63C4-53D5-A99D-5F89CE2B237E}"/>
              </a:ext>
            </a:extLst>
          </p:cNvPr>
          <p:cNvSpPr/>
          <p:nvPr/>
        </p:nvSpPr>
        <p:spPr>
          <a:xfrm rot="8022296" flipH="1">
            <a:off x="1656041" y="247520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6" name="Bent Arrow 35">
            <a:extLst>
              <a:ext uri="{FF2B5EF4-FFF2-40B4-BE49-F238E27FC236}">
                <a16:creationId xmlns:a16="http://schemas.microsoft.com/office/drawing/2014/main" id="{540A70EB-92F5-DFFA-C893-389D44127877}"/>
              </a:ext>
            </a:extLst>
          </p:cNvPr>
          <p:cNvSpPr/>
          <p:nvPr/>
        </p:nvSpPr>
        <p:spPr>
          <a:xfrm rot="8022296" flipH="1">
            <a:off x="3915511" y="2484578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7" name="Bent Arrow 36">
            <a:extLst>
              <a:ext uri="{FF2B5EF4-FFF2-40B4-BE49-F238E27FC236}">
                <a16:creationId xmlns:a16="http://schemas.microsoft.com/office/drawing/2014/main" id="{EC572AF8-AEC7-30E8-0733-C0EC36462C9C}"/>
              </a:ext>
            </a:extLst>
          </p:cNvPr>
          <p:cNvSpPr/>
          <p:nvPr/>
        </p:nvSpPr>
        <p:spPr>
          <a:xfrm rot="8022296" flipH="1">
            <a:off x="6180956" y="2493767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F7D37E2E-0BA4-E6CA-F732-E8F8200D6915}"/>
              </a:ext>
            </a:extLst>
          </p:cNvPr>
          <p:cNvSpPr/>
          <p:nvPr/>
        </p:nvSpPr>
        <p:spPr>
          <a:xfrm rot="8022296" flipH="1">
            <a:off x="8440426" y="2503145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993354-BCFB-D077-B1FC-AD0448FC2D95}"/>
              </a:ext>
            </a:extLst>
          </p:cNvPr>
          <p:cNvSpPr txBox="1"/>
          <p:nvPr/>
        </p:nvSpPr>
        <p:spPr>
          <a:xfrm>
            <a:off x="1576889" y="3359929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=10%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455A2E-B60E-D28D-9690-688A4094E0F9}"/>
              </a:ext>
            </a:extLst>
          </p:cNvPr>
          <p:cNvSpPr txBox="1"/>
          <p:nvPr/>
        </p:nvSpPr>
        <p:spPr>
          <a:xfrm>
            <a:off x="3871607" y="3359929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=10%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7CD9DC-3D1A-A483-502E-29AF194F06EC}"/>
              </a:ext>
            </a:extLst>
          </p:cNvPr>
          <p:cNvSpPr txBox="1"/>
          <p:nvPr/>
        </p:nvSpPr>
        <p:spPr>
          <a:xfrm>
            <a:off x="6142363" y="3359929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=10%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8440CF-04FF-3DC4-FCF8-E2F742E26E73}"/>
              </a:ext>
            </a:extLst>
          </p:cNvPr>
          <p:cNvSpPr txBox="1"/>
          <p:nvPr/>
        </p:nvSpPr>
        <p:spPr>
          <a:xfrm>
            <a:off x="8401833" y="3359929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C00000"/>
                </a:solidFill>
                <a:latin typeface="Helvetica" pitchFamily="2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Helvetica" pitchFamily="2" charset="0"/>
              </a:rPr>
              <a:t> =10%</a:t>
            </a:r>
          </a:p>
        </p:txBody>
      </p:sp>
      <p:sp>
        <p:nvSpPr>
          <p:cNvPr id="43" name="Bent Arrow 42">
            <a:extLst>
              <a:ext uri="{FF2B5EF4-FFF2-40B4-BE49-F238E27FC236}">
                <a16:creationId xmlns:a16="http://schemas.microsoft.com/office/drawing/2014/main" id="{2C584DBE-AB01-FF78-BEA9-4FDBF575521B}"/>
              </a:ext>
            </a:extLst>
          </p:cNvPr>
          <p:cNvSpPr/>
          <p:nvPr/>
        </p:nvSpPr>
        <p:spPr>
          <a:xfrm rot="8022296" flipH="1">
            <a:off x="1579759" y="4345080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33BA84-DB69-46DA-006E-B5C67B960852}"/>
              </a:ext>
            </a:extLst>
          </p:cNvPr>
          <p:cNvSpPr txBox="1"/>
          <p:nvPr/>
        </p:nvSpPr>
        <p:spPr>
          <a:xfrm>
            <a:off x="1571214" y="5241734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=8%</a:t>
            </a:r>
          </a:p>
        </p:txBody>
      </p:sp>
      <p:sp>
        <p:nvSpPr>
          <p:cNvPr id="45" name="Bent Arrow 44">
            <a:extLst>
              <a:ext uri="{FF2B5EF4-FFF2-40B4-BE49-F238E27FC236}">
                <a16:creationId xmlns:a16="http://schemas.microsoft.com/office/drawing/2014/main" id="{A06970A6-1723-6DE4-393E-44E3A001E797}"/>
              </a:ext>
            </a:extLst>
          </p:cNvPr>
          <p:cNvSpPr/>
          <p:nvPr/>
        </p:nvSpPr>
        <p:spPr>
          <a:xfrm rot="8022296" flipH="1">
            <a:off x="3929311" y="4331943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039317-62A1-23EA-A44A-6E1C7119AF08}"/>
              </a:ext>
            </a:extLst>
          </p:cNvPr>
          <p:cNvSpPr txBox="1"/>
          <p:nvPr/>
        </p:nvSpPr>
        <p:spPr>
          <a:xfrm>
            <a:off x="3920766" y="5228597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=8%</a:t>
            </a: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842E5D58-0C45-3390-CDDC-8FECD4BB9CFF}"/>
              </a:ext>
            </a:extLst>
          </p:cNvPr>
          <p:cNvSpPr/>
          <p:nvPr/>
        </p:nvSpPr>
        <p:spPr>
          <a:xfrm rot="8022296" flipH="1">
            <a:off x="6271376" y="4313376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56666D-7263-B942-0522-F4C804B46337}"/>
              </a:ext>
            </a:extLst>
          </p:cNvPr>
          <p:cNvSpPr txBox="1"/>
          <p:nvPr/>
        </p:nvSpPr>
        <p:spPr>
          <a:xfrm>
            <a:off x="6262831" y="5210030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3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=8%</a:t>
            </a:r>
          </a:p>
        </p:txBody>
      </p:sp>
      <p:sp>
        <p:nvSpPr>
          <p:cNvPr id="49" name="Bent Arrow 48">
            <a:extLst>
              <a:ext uri="{FF2B5EF4-FFF2-40B4-BE49-F238E27FC236}">
                <a16:creationId xmlns:a16="http://schemas.microsoft.com/office/drawing/2014/main" id="{A105C315-6BF5-801C-B592-165917B0176B}"/>
              </a:ext>
            </a:extLst>
          </p:cNvPr>
          <p:cNvSpPr/>
          <p:nvPr/>
        </p:nvSpPr>
        <p:spPr>
          <a:xfrm rot="8022296" flipH="1">
            <a:off x="8555520" y="4325076"/>
            <a:ext cx="1090122" cy="1131655"/>
          </a:xfrm>
          <a:prstGeom prst="bentArrow">
            <a:avLst>
              <a:gd name="adj1" fmla="val 7217"/>
              <a:gd name="adj2" fmla="val 7188"/>
              <a:gd name="adj3" fmla="val 14743"/>
              <a:gd name="adj4" fmla="val 8298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57B541-5E40-D86B-48C0-CB94CEBDA275}"/>
              </a:ext>
            </a:extLst>
          </p:cNvPr>
          <p:cNvSpPr txBox="1"/>
          <p:nvPr/>
        </p:nvSpPr>
        <p:spPr>
          <a:xfrm>
            <a:off x="8546975" y="5221730"/>
            <a:ext cx="123944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r</a:t>
            </a:r>
            <a:r>
              <a:rPr lang="en-US" sz="2000" baseline="-25000" dirty="0">
                <a:solidFill>
                  <a:srgbClr val="0070C0"/>
                </a:solidFill>
                <a:latin typeface="Helvetica" pitchFamily="2" charset="0"/>
              </a:rPr>
              <a:t>1,3</a:t>
            </a:r>
            <a:r>
              <a:rPr lang="en-US" sz="2000" dirty="0">
                <a:solidFill>
                  <a:srgbClr val="0070C0"/>
                </a:solidFill>
                <a:latin typeface="Helvetica" pitchFamily="2" charset="0"/>
              </a:rPr>
              <a:t> =??%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976C23-B1C9-561C-5560-BEC44C871B69}"/>
              </a:ext>
            </a:extLst>
          </p:cNvPr>
          <p:cNvSpPr txBox="1"/>
          <p:nvPr/>
        </p:nvSpPr>
        <p:spPr>
          <a:xfrm>
            <a:off x="4243011" y="3912984"/>
            <a:ext cx="2408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(1 + 0.10)</a:t>
            </a:r>
            <a:r>
              <a:rPr lang="en-US" sz="1800" b="1" baseline="30000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4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effectLst/>
                <a:latin typeface="Helvetica" pitchFamily="2" charset="0"/>
                <a:ea typeface="Cambria Math" panose="02040503050406030204" pitchFamily="18" charset="0"/>
              </a:rPr>
              <a:t>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  <a:ea typeface="Cambria Math" panose="02040503050406030204" pitchFamily="18" charset="0"/>
              </a:rPr>
              <a:t>= 1.4641</a:t>
            </a:r>
            <a:endParaRPr lang="en-US" sz="1800" b="1" dirty="0">
              <a:solidFill>
                <a:schemeClr val="accent5">
                  <a:lumMod val="75000"/>
                </a:schemeClr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BBD4E01-CE3E-00D3-1046-8AD44DA5D364}"/>
                  </a:ext>
                </a:extLst>
              </p:cNvPr>
              <p:cNvSpPr txBox="1"/>
              <p:nvPr/>
            </p:nvSpPr>
            <p:spPr>
              <a:xfrm>
                <a:off x="3942369" y="5775485"/>
                <a:ext cx="3288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(1 + 0.08)</a:t>
                </a:r>
                <a:r>
                  <a:rPr lang="en-US" sz="1800" b="1" baseline="30000" dirty="0">
                    <a:solidFill>
                      <a:srgbClr val="00B050"/>
                    </a:solidFill>
                    <a:latin typeface="Helvetica" pitchFamily="2" charset="0"/>
                  </a:rPr>
                  <a:t>3</a:t>
                </a:r>
                <a:r>
                  <a:rPr lang="en-US" sz="1800" b="1" dirty="0">
                    <a:solidFill>
                      <a:srgbClr val="00B050"/>
                    </a:solidFill>
                    <a:effectLst/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 (1 + </a:t>
                </a:r>
                <a:r>
                  <a:rPr lang="en-US" b="1" dirty="0">
                    <a:solidFill>
                      <a:srgbClr val="00B050"/>
                    </a:solidFill>
                    <a:latin typeface="Helvetica" pitchFamily="2" charset="0"/>
                  </a:rPr>
                  <a:t>X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</a:rPr>
                  <a:t>)</a:t>
                </a:r>
                <a:r>
                  <a:rPr lang="en-US" sz="1800" b="1" dirty="0">
                    <a:solidFill>
                      <a:srgbClr val="00B050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 = 1.4641</a:t>
                </a:r>
                <a:endParaRPr lang="en-US" sz="1800" b="1" dirty="0">
                  <a:solidFill>
                    <a:srgbClr val="00B05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BBD4E01-CE3E-00D3-1046-8AD44DA5D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369" y="5775485"/>
                <a:ext cx="3288080" cy="369332"/>
              </a:xfrm>
              <a:prstGeom prst="rect">
                <a:avLst/>
              </a:prstGeom>
              <a:blipFill>
                <a:blip r:embed="rId2"/>
                <a:stretch>
                  <a:fillRect l="-1538" t="-6667" r="-38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A358C3F-DC61-E798-7F11-BF5867279620}"/>
              </a:ext>
            </a:extLst>
          </p:cNvPr>
          <p:cNvSpPr txBox="1"/>
          <p:nvPr/>
        </p:nvSpPr>
        <p:spPr>
          <a:xfrm>
            <a:off x="3617235" y="6237547"/>
            <a:ext cx="399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(1 + X)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1.4641 / </a:t>
            </a:r>
            <a:r>
              <a:rPr lang="en-US" sz="1800" b="1" dirty="0">
                <a:solidFill>
                  <a:srgbClr val="00B050"/>
                </a:solidFill>
                <a:latin typeface="Helvetica" pitchFamily="2" charset="0"/>
              </a:rPr>
              <a:t>(1.2597) = 1.1623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A5748F-2F4F-D8C1-EC5F-6AB9C798D632}"/>
              </a:ext>
            </a:extLst>
          </p:cNvPr>
          <p:cNvSpPr txBox="1"/>
          <p:nvPr/>
        </p:nvSpPr>
        <p:spPr>
          <a:xfrm>
            <a:off x="8578141" y="6237547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X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  <a:ea typeface="Cambria Math" panose="02040503050406030204" pitchFamily="18" charset="0"/>
              </a:rPr>
              <a:t>  = 16.23%</a:t>
            </a:r>
            <a:endParaRPr lang="en-US" sz="1800" b="1" dirty="0">
              <a:solidFill>
                <a:srgbClr val="00B05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9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2" grpId="0"/>
      <p:bldP spid="53" grpId="0"/>
      <p:bldP spid="54" grpId="0"/>
      <p:bldP spid="5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1405</Words>
  <Application>Microsoft Macintosh PowerPoint</Application>
  <PresentationFormat>Widescreen</PresentationFormat>
  <Paragraphs>222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Helvetica</vt:lpstr>
      <vt:lpstr>rooney-web</vt:lpstr>
      <vt:lpstr>Times New Roman</vt:lpstr>
      <vt:lpstr>Wingdings</vt:lpstr>
      <vt:lpstr>Office Theme</vt:lpstr>
      <vt:lpstr>PowerPoint Presentation</vt:lpstr>
      <vt:lpstr>Understanding the Cost of Money</vt:lpstr>
      <vt:lpstr>How Interest Rate Levels Are Determined</vt:lpstr>
      <vt:lpstr>Interest Rates, Inflation, Economic Conditions</vt:lpstr>
      <vt:lpstr>Components of Market Interest Rates</vt:lpstr>
      <vt:lpstr>T-bill, T-bond, and Corporate bond</vt:lpstr>
      <vt:lpstr>Short-Term vs. Long-Term Bonds – Risk Trade-offs</vt:lpstr>
      <vt:lpstr>Question-1</vt:lpstr>
      <vt:lpstr>PowerPoint Presentation</vt:lpstr>
      <vt:lpstr>The Term Structure of Interest Rates</vt:lpstr>
      <vt:lpstr>Yield Curve Shapes and Their Implications</vt:lpstr>
      <vt:lpstr>Yield Curve Shapes and Their Implications</vt:lpstr>
      <vt:lpstr>The Pure Expectations Theory-1</vt:lpstr>
      <vt:lpstr>The Pure Expectations Theory-2</vt:lpstr>
      <vt:lpstr>Question-2</vt:lpstr>
      <vt:lpstr>Question-3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56</cp:revision>
  <dcterms:created xsi:type="dcterms:W3CDTF">2024-10-08T02:28:39Z</dcterms:created>
  <dcterms:modified xsi:type="dcterms:W3CDTF">2025-04-15T00:11:07Z</dcterms:modified>
</cp:coreProperties>
</file>