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8" r:id="rId2"/>
    <p:sldId id="287" r:id="rId3"/>
    <p:sldId id="283" r:id="rId4"/>
    <p:sldId id="286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393"/>
    <a:srgbClr val="820700"/>
    <a:srgbClr val="0032FF"/>
    <a:srgbClr val="007E00"/>
    <a:srgbClr val="00AC00"/>
    <a:srgbClr val="1F81E4"/>
    <a:srgbClr val="171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27"/>
    <p:restoredTop sz="96087"/>
  </p:normalViewPr>
  <p:slideViewPr>
    <p:cSldViewPr snapToGrid="0">
      <p:cViewPr varScale="1">
        <p:scale>
          <a:sx n="115" d="100"/>
          <a:sy n="115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B6570-999A-DC42-8E66-F3D58899C2B7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249C8-EEFF-0D43-99AE-419F2E81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FB6C-482D-0CA6-0DE7-A1A454DF8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B1028-71D8-5431-C858-18A13E212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D1E4A-C709-833E-8BD5-AB357ED3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4701-E60B-FACF-D008-D6973077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5F21-F310-25D3-E67C-F367F2C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9575-D8E5-4A66-CADA-E482F144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6E56-9AC0-66AD-C7DA-85910109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363D-B7C6-7735-2FDD-08180DD6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0FD0-7E51-D047-6E3E-6637F26B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EC9BB-7E26-F3B6-D943-BC8B533D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BF2-11A0-FD24-CE3F-086326F8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59D0-8E25-45D1-541F-EDC02B15B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8559-E522-D16F-4CAC-3D25F8FA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D839E-DE62-2C49-49CA-9764CD2E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CB57B-61F5-5150-2D2C-5DD8EB00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7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5D95-82B1-D51C-FC84-DEDAF8F0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9C2F-C4D3-4114-08A3-C63246E1F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2FEC3-2E6A-634C-C36E-31960FBB4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948A8-F8A0-43CE-61CB-23D8EEA8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AF85D-0A8C-EF4C-0BBB-781FE0AD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85E45-8598-93A6-A975-39200CEF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5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8E9C-41D5-756E-2210-73BE5167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B8B5E-F5F4-C12D-6E69-79E7DC6C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3AF9-BAAB-7C0C-2A9F-EE277C72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1E2C7-77F5-0CC3-0DB1-C603AD9D8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5B85B7-C95B-6EB7-30B0-D7970DF9E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A31BD-258A-FF61-A40F-2AECE672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6FAEC-491C-9FBC-DD4F-E38CDBB9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BF88-4C03-9D43-A69E-20C380CB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4D1B-1BCD-9A2B-3972-2543F411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FBEE9-22E7-9DCE-1FD7-6524DA6A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A0769-0478-F802-85F4-44852F87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E0EE1-A079-CFE1-AE9C-91864273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5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F334-4B8C-D680-9553-CA10C9D7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F99754-111E-6272-2C89-0F3EDA69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9B71-4C50-D2A2-020D-5DD0FA05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5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A0B8-477D-35B0-7412-32F428B9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A6865-2165-7C1C-940B-05399239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33155-0BFB-86F7-059B-EEF97ABF1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4A07E-E050-ABCF-9243-A6FBB258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DD39-1D14-5AB7-1A69-8027B38A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BDE8-698B-2C4D-D21E-BE3EBD39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FCD6-1E57-B4FB-9408-566E3592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37DE9-1135-AA14-17F4-548BBF1F4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50764-D82B-D75E-993F-B9CCD1F07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3F2CD-FEBD-1ECF-8F44-D4F81977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2630-7380-E112-5F8B-043D986B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E5B24-DC64-AB0B-30EC-52DD0365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1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E52A-1FE4-B6B8-F089-5384E314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8E456-17A9-C6A9-2755-A45D7F453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BDF4-6082-1290-3E8E-57A5ABAA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0894A-2F3C-4B8E-8810-AEE57326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AF87-8AE7-BC2E-A207-358D87DC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1805F-BB64-2EB1-35DB-4E7F78E8E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F093D-B18C-38A6-A275-E4007CFDD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F3AC-A7FB-2BA1-986B-83976C2C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A69-29F0-C94B-C22B-5F9A5A22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7028-1573-C1DF-F272-C3A0F373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8212E9-93E5-CDD1-498F-A39B259D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3DC2-F13F-F521-C0E4-4F54796FC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7B16-78AF-C336-F905-BF1D852AF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25B35-3F3A-CD41-9377-C81DC4A252A0}" type="datetimeFigureOut">
              <a:rPr lang="en-US" smtClean="0"/>
              <a:t>4/21/25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59BC-03CD-E536-A6BF-FA28D0AC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3CA-4F84-65CA-AA42-4F0F2A5F0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33ECA-1341-A541-93AD-63750853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7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alpha val="84000"/>
                <a:lumMod val="76000"/>
              </a:schemeClr>
            </a:gs>
            <a:gs pos="52000">
              <a:schemeClr val="accent1">
                <a:lumMod val="45000"/>
                <a:lumOff val="5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CBDF4-8170-E480-75D3-55CE01005CD1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B0839-5E9D-30E7-D14B-C47804BA44F4}"/>
              </a:ext>
            </a:extLst>
          </p:cNvPr>
          <p:cNvSpPr txBox="1"/>
          <p:nvPr/>
        </p:nvSpPr>
        <p:spPr>
          <a:xfrm>
            <a:off x="4775767" y="486026"/>
            <a:ext cx="26404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0092CA-B552-68C1-EA03-6DE1532C0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044" y="1547856"/>
            <a:ext cx="7121912" cy="39968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158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7D6D-987E-5E78-11C5-48AAB23F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7824308-3959-0F29-9777-A96AD4E26C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3834816"/>
              </p:ext>
            </p:extLst>
          </p:nvPr>
        </p:nvGraphicFramePr>
        <p:xfrm>
          <a:off x="525947" y="122663"/>
          <a:ext cx="11149379" cy="65792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62619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5586760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</a:tblGrid>
              <a:tr h="8326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93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Liabilities and Equity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9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US" sz="2000" b="1" dirty="0"/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94540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96571541"/>
                  </a:ext>
                </a:extLst>
              </a:tr>
              <a:tr h="410469">
                <a:tc>
                  <a:txBody>
                    <a:bodyPr/>
                    <a:lstStyle/>
                    <a:p>
                      <a:r>
                        <a:rPr lang="en-US" sz="2000" b="1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  <p:sp>
        <p:nvSpPr>
          <p:cNvPr id="2" name="Cloud Callout 1">
            <a:extLst>
              <a:ext uri="{FF2B5EF4-FFF2-40B4-BE49-F238E27FC236}">
                <a16:creationId xmlns:a16="http://schemas.microsoft.com/office/drawing/2014/main" id="{21B5DB08-EB41-D2B2-0488-B098DE3200D1}"/>
              </a:ext>
            </a:extLst>
          </p:cNvPr>
          <p:cNvSpPr/>
          <p:nvPr/>
        </p:nvSpPr>
        <p:spPr>
          <a:xfrm>
            <a:off x="876244" y="2434588"/>
            <a:ext cx="4846320" cy="1645920"/>
          </a:xfrm>
          <a:prstGeom prst="cloudCallout">
            <a:avLst>
              <a:gd name="adj1" fmla="val -32998"/>
              <a:gd name="adj2" fmla="val -8720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rPr>
              <a:t>Use of Capital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0CC8BAEC-4840-8428-4D92-B0913C3BAB6D}"/>
              </a:ext>
            </a:extLst>
          </p:cNvPr>
          <p:cNvSpPr/>
          <p:nvPr/>
        </p:nvSpPr>
        <p:spPr>
          <a:xfrm>
            <a:off x="6469436" y="2425437"/>
            <a:ext cx="4846265" cy="1645920"/>
          </a:xfrm>
          <a:prstGeom prst="cloudCallout">
            <a:avLst>
              <a:gd name="adj1" fmla="val -35696"/>
              <a:gd name="adj2" fmla="val 8773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rPr>
              <a:t>Source of Capital</a:t>
            </a:r>
          </a:p>
        </p:txBody>
      </p:sp>
      <p:sp>
        <p:nvSpPr>
          <p:cNvPr id="5" name="Cloud Callout 4">
            <a:extLst>
              <a:ext uri="{FF2B5EF4-FFF2-40B4-BE49-F238E27FC236}">
                <a16:creationId xmlns:a16="http://schemas.microsoft.com/office/drawing/2014/main" id="{0C069044-044B-5A2C-7437-D8BF91D26ECA}"/>
              </a:ext>
            </a:extLst>
          </p:cNvPr>
          <p:cNvSpPr/>
          <p:nvPr/>
        </p:nvSpPr>
        <p:spPr>
          <a:xfrm>
            <a:off x="6469436" y="2434588"/>
            <a:ext cx="4846320" cy="1645920"/>
          </a:xfrm>
          <a:prstGeom prst="cloudCallout">
            <a:avLst>
              <a:gd name="adj1" fmla="val -28326"/>
              <a:gd name="adj2" fmla="val -10002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Helvetica" pitchFamily="2" charset="0"/>
                <a:cs typeface="Times New Roman" panose="02020603050405020304" pitchFamily="18" charset="0"/>
              </a:rPr>
              <a:t>Source of Capital</a:t>
            </a:r>
          </a:p>
        </p:txBody>
      </p:sp>
    </p:spTree>
    <p:extLst>
      <p:ext uri="{BB962C8B-B14F-4D97-AF65-F5344CB8AC3E}">
        <p14:creationId xmlns:p14="http://schemas.microsoft.com/office/powerpoint/2010/main" val="386636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C08C-286C-B8A5-5E77-4EDFF995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7941276-5A84-1AEA-0124-64C10328CA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5122001"/>
              </p:ext>
            </p:extLst>
          </p:nvPr>
        </p:nvGraphicFramePr>
        <p:xfrm>
          <a:off x="525948" y="122663"/>
          <a:ext cx="10959808" cy="65132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4559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5475249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</a:tblGrid>
              <a:tr h="82430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93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Liabilities and Equity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9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Helvetica" pitchFamily="2" charset="0"/>
                        </a:rPr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Helvetica" pitchFamily="2" charset="0"/>
                        </a:rPr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Current Assets: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Current Liabilities: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Cash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Accounts Payable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Accounts Receivable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Accruals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94540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Inventory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Notes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Prepaid Expenses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Unearned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Other 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Long-Term Liabilities: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Fixed 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Bonds Payable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Net Plant &amp; Equipment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Long-Term Loans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Intangible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Investments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Preferred Stocks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Other Fixed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Common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stocks (N shares)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Retained 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96571541"/>
                  </a:ext>
                </a:extLst>
              </a:tr>
              <a:tr h="40635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Helvetica" pitchFamily="2" charset="0"/>
                        </a:rPr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Helvetica" pitchFamily="2" charset="0"/>
                        </a:rPr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  <p:pic>
        <p:nvPicPr>
          <p:cNvPr id="9" name="Graphic 8" descr="Coins outline">
            <a:extLst>
              <a:ext uri="{FF2B5EF4-FFF2-40B4-BE49-F238E27FC236}">
                <a16:creationId xmlns:a16="http://schemas.microsoft.com/office/drawing/2014/main" id="{EF30143F-D2F4-9488-2381-76B9AE18E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5014" y="2509837"/>
            <a:ext cx="433387" cy="433387"/>
          </a:xfrm>
          <a:prstGeom prst="rect">
            <a:avLst/>
          </a:prstGeom>
        </p:spPr>
      </p:pic>
      <p:pic>
        <p:nvPicPr>
          <p:cNvPr id="10" name="Graphic 9" descr="Coins outline">
            <a:extLst>
              <a:ext uri="{FF2B5EF4-FFF2-40B4-BE49-F238E27FC236}">
                <a16:creationId xmlns:a16="http://schemas.microsoft.com/office/drawing/2014/main" id="{1D9A50A6-4322-A492-DF64-A540F7D06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5013" y="3781663"/>
            <a:ext cx="433387" cy="433387"/>
          </a:xfrm>
          <a:prstGeom prst="rect">
            <a:avLst/>
          </a:prstGeom>
        </p:spPr>
      </p:pic>
      <p:pic>
        <p:nvPicPr>
          <p:cNvPr id="11" name="Graphic 10" descr="Coins outline">
            <a:extLst>
              <a:ext uri="{FF2B5EF4-FFF2-40B4-BE49-F238E27FC236}">
                <a16:creationId xmlns:a16="http://schemas.microsoft.com/office/drawing/2014/main" id="{B000544B-6722-D833-A1CD-07C9DFDF5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736" y="5415892"/>
            <a:ext cx="433387" cy="433387"/>
          </a:xfrm>
          <a:prstGeom prst="rect">
            <a:avLst/>
          </a:prstGeom>
        </p:spPr>
      </p:pic>
      <p:pic>
        <p:nvPicPr>
          <p:cNvPr id="12" name="Graphic 11" descr="Coins outline">
            <a:extLst>
              <a:ext uri="{FF2B5EF4-FFF2-40B4-BE49-F238E27FC236}">
                <a16:creationId xmlns:a16="http://schemas.microsoft.com/office/drawing/2014/main" id="{7B715D5B-E6A9-723C-CA3F-821BD2932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5014" y="4982505"/>
            <a:ext cx="433387" cy="433387"/>
          </a:xfrm>
          <a:prstGeom prst="rect">
            <a:avLst/>
          </a:prstGeom>
        </p:spPr>
      </p:pic>
      <p:pic>
        <p:nvPicPr>
          <p:cNvPr id="15" name="Graphic 14" descr="Coins outline">
            <a:extLst>
              <a:ext uri="{FF2B5EF4-FFF2-40B4-BE49-F238E27FC236}">
                <a16:creationId xmlns:a16="http://schemas.microsoft.com/office/drawing/2014/main" id="{9A67184F-7B3A-D91A-2874-D875B7766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5012" y="4215050"/>
            <a:ext cx="433387" cy="433387"/>
          </a:xfrm>
          <a:prstGeom prst="rect">
            <a:avLst/>
          </a:prstGeom>
        </p:spPr>
      </p:pic>
      <p:pic>
        <p:nvPicPr>
          <p:cNvPr id="16" name="Graphic 15" descr="Coins outline">
            <a:extLst>
              <a:ext uri="{FF2B5EF4-FFF2-40B4-BE49-F238E27FC236}">
                <a16:creationId xmlns:a16="http://schemas.microsoft.com/office/drawing/2014/main" id="{ACB5D2BE-5386-C3CD-9EBC-EEE4677A2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5012" y="5809184"/>
            <a:ext cx="433387" cy="43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0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5B3D-8F5C-0F88-59BB-DE0C28AF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85D39E-C147-B651-2E42-65E3EF04A706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757B4-4CD2-2ACF-F8C3-4B03FBB8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Why Do Firms Care About the Cost of Capital?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62A41-04C4-A08E-EBD5-AA92B149E7F1}"/>
              </a:ext>
            </a:extLst>
          </p:cNvPr>
          <p:cNvSpPr txBox="1"/>
          <p:nvPr/>
        </p:nvSpPr>
        <p:spPr>
          <a:xfrm>
            <a:off x="198605" y="1550869"/>
            <a:ext cx="117947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>
                <a:latin typeface="Helvetica" pitchFamily="2" charset="0"/>
              </a:rPr>
              <a:t>Firms need capital to invest in projects, expand operations, or refinance obligations.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A47C4-22E8-18D5-64B9-2CD52384BDCD}"/>
              </a:ext>
            </a:extLst>
          </p:cNvPr>
          <p:cNvSpPr txBox="1"/>
          <p:nvPr/>
        </p:nvSpPr>
        <p:spPr>
          <a:xfrm>
            <a:off x="198605" y="5631159"/>
            <a:ext cx="117947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Helvetica" pitchFamily="2" charset="0"/>
              </a:rPr>
              <a:t>The </a:t>
            </a:r>
            <a:r>
              <a:rPr lang="en-US" sz="2200" b="1" i="1" dirty="0">
                <a:solidFill>
                  <a:srgbClr val="0070C0"/>
                </a:solidFill>
                <a:latin typeface="Helvetica" pitchFamily="2" charset="0"/>
              </a:rPr>
              <a:t>Weighted Average Cost of Capital (WACC) </a:t>
            </a:r>
            <a:r>
              <a:rPr lang="en-US" sz="2200" b="1" dirty="0">
                <a:latin typeface="Helvetica" pitchFamily="2" charset="0"/>
              </a:rPr>
              <a:t>combines these costs into a single, overall rate that reflects the average cost of raising one dollar of new capital.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9CAB8-B1A1-3BF1-A2E0-377A786F5D0A}"/>
              </a:ext>
            </a:extLst>
          </p:cNvPr>
          <p:cNvSpPr/>
          <p:nvPr/>
        </p:nvSpPr>
        <p:spPr>
          <a:xfrm>
            <a:off x="624468" y="2243099"/>
            <a:ext cx="4572000" cy="64008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Helvetica" pitchFamily="2" charset="0"/>
              </a:rPr>
              <a:t>Available sources of capital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28900-79FD-52A6-21C0-9B63D9AF375C}"/>
              </a:ext>
            </a:extLst>
          </p:cNvPr>
          <p:cNvSpPr/>
          <p:nvPr/>
        </p:nvSpPr>
        <p:spPr>
          <a:xfrm>
            <a:off x="624468" y="3050928"/>
            <a:ext cx="4572000" cy="64008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Helvetica" pitchFamily="2" charset="0"/>
              </a:rPr>
              <a:t>Debt (Loans or issuing bonds)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E7BA29-8CC1-C077-C293-24353D3F01FA}"/>
              </a:ext>
            </a:extLst>
          </p:cNvPr>
          <p:cNvSpPr/>
          <p:nvPr/>
        </p:nvSpPr>
        <p:spPr>
          <a:xfrm>
            <a:off x="624468" y="3855901"/>
            <a:ext cx="4572000" cy="64008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Helvetica" pitchFamily="2" charset="0"/>
              </a:rPr>
              <a:t>Preferred Stock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B5CA42-DBE6-2DE9-8960-E61182EE6799}"/>
              </a:ext>
            </a:extLst>
          </p:cNvPr>
          <p:cNvSpPr/>
          <p:nvPr/>
        </p:nvSpPr>
        <p:spPr>
          <a:xfrm>
            <a:off x="624468" y="4663730"/>
            <a:ext cx="4572000" cy="64008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Helvetica" pitchFamily="2" charset="0"/>
              </a:rPr>
              <a:t>Equity (Issuing new shares)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D724BF-9894-0A94-A0D5-B6D442D96046}"/>
              </a:ext>
            </a:extLst>
          </p:cNvPr>
          <p:cNvSpPr/>
          <p:nvPr/>
        </p:nvSpPr>
        <p:spPr>
          <a:xfrm>
            <a:off x="6992058" y="2243098"/>
            <a:ext cx="4572000" cy="640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Helvetica" pitchFamily="2" charset="0"/>
              </a:rPr>
              <a:t>Cost of each source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6A8879-42D0-D1EB-7486-B477B9B48C87}"/>
              </a:ext>
            </a:extLst>
          </p:cNvPr>
          <p:cNvSpPr/>
          <p:nvPr/>
        </p:nvSpPr>
        <p:spPr>
          <a:xfrm>
            <a:off x="6992058" y="3050927"/>
            <a:ext cx="4572000" cy="640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Helvetica" pitchFamily="2" charset="0"/>
              </a:rPr>
              <a:t>Interest Payments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3D354E-9DB2-CF54-F736-5F1F42075E6D}"/>
              </a:ext>
            </a:extLst>
          </p:cNvPr>
          <p:cNvSpPr/>
          <p:nvPr/>
        </p:nvSpPr>
        <p:spPr>
          <a:xfrm>
            <a:off x="6992058" y="3855900"/>
            <a:ext cx="4572000" cy="640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"/>
              </a:rPr>
              <a:t>Pays Fixed Dividends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A9FA02-1991-E5CE-977A-0522F3FDE89E}"/>
              </a:ext>
            </a:extLst>
          </p:cNvPr>
          <p:cNvSpPr/>
          <p:nvPr/>
        </p:nvSpPr>
        <p:spPr>
          <a:xfrm>
            <a:off x="6992058" y="4663729"/>
            <a:ext cx="4572000" cy="6400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Helvetica" pitchFamily="2" charset="0"/>
              </a:rPr>
              <a:t>Required Rate of Return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D1135D-72E1-FCF4-182D-699BB88380EF}"/>
              </a:ext>
            </a:extLst>
          </p:cNvPr>
          <p:cNvCxnSpPr>
            <a:cxnSpLocks/>
          </p:cNvCxnSpPr>
          <p:nvPr/>
        </p:nvCxnSpPr>
        <p:spPr>
          <a:xfrm>
            <a:off x="5423148" y="2572647"/>
            <a:ext cx="134570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0B17B95-1AB5-DA12-F769-53CB3FFB115B}"/>
              </a:ext>
            </a:extLst>
          </p:cNvPr>
          <p:cNvCxnSpPr>
            <a:cxnSpLocks/>
          </p:cNvCxnSpPr>
          <p:nvPr/>
        </p:nvCxnSpPr>
        <p:spPr>
          <a:xfrm>
            <a:off x="5385914" y="3352814"/>
            <a:ext cx="134570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374046-3D6A-39F1-8F15-DF5552095F7D}"/>
              </a:ext>
            </a:extLst>
          </p:cNvPr>
          <p:cNvCxnSpPr>
            <a:cxnSpLocks/>
          </p:cNvCxnSpPr>
          <p:nvPr/>
        </p:nvCxnSpPr>
        <p:spPr>
          <a:xfrm>
            <a:off x="5385914" y="4175940"/>
            <a:ext cx="134570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D6C75E-3337-A614-A868-FB47A653C5F5}"/>
              </a:ext>
            </a:extLst>
          </p:cNvPr>
          <p:cNvCxnSpPr>
            <a:cxnSpLocks/>
          </p:cNvCxnSpPr>
          <p:nvPr/>
        </p:nvCxnSpPr>
        <p:spPr>
          <a:xfrm>
            <a:off x="5385916" y="4983769"/>
            <a:ext cx="134570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41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52B59-242D-3035-420E-DA071EFF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1C7CFB-74A5-BE87-A40B-61F928C8EC0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E0686-A21C-310E-A56D-DA0EF4DA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Key Considerations in Calculating WACC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5F0527-E59E-D0D3-DC9F-A99996EEA6D3}"/>
              </a:ext>
            </a:extLst>
          </p:cNvPr>
          <p:cNvSpPr txBox="1"/>
          <p:nvPr/>
        </p:nvSpPr>
        <p:spPr>
          <a:xfrm>
            <a:off x="198605" y="1550869"/>
            <a:ext cx="11794788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Only investor-supplied capital is included.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This consists of </a:t>
            </a:r>
            <a:r>
              <a:rPr lang="en-US" sz="2200" b="1" dirty="0">
                <a:latin typeface="Helvetica" pitchFamily="2" charset="0"/>
              </a:rPr>
              <a:t>interest-bearing debt, preferred stock, and common equity</a:t>
            </a:r>
            <a:r>
              <a:rPr lang="en-US" sz="2200" dirty="0">
                <a:latin typeface="Helvetica" pitchFamily="2" charset="0"/>
              </a:rPr>
              <a:t>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Excluded:</a:t>
            </a:r>
            <a:r>
              <a:rPr lang="en-US" sz="2200" dirty="0">
                <a:latin typeface="Helvetica" pitchFamily="2" charset="0"/>
              </a:rPr>
              <a:t> Accounts payable and accruals, because they arise from operations and do not represent funds provided by investors.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Book values, market values, and target weights may differ:</a:t>
            </a:r>
            <a:endParaRPr lang="en-US" sz="2200" dirty="0">
              <a:latin typeface="Helvetica" pitchFamily="2" charset="0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Book values</a:t>
            </a:r>
            <a:r>
              <a:rPr lang="en-US" sz="2200" dirty="0">
                <a:latin typeface="Helvetica" pitchFamily="2" charset="0"/>
              </a:rPr>
              <a:t> are historical and may not reflect current economic conditions.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Market values</a:t>
            </a:r>
            <a:r>
              <a:rPr lang="en-US" sz="2200" dirty="0">
                <a:latin typeface="Helvetica" pitchFamily="2" charset="0"/>
              </a:rPr>
              <a:t> reflect investors’ current perception and the real-time cost of capital.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Helvetica" pitchFamily="2" charset="0"/>
              </a:rPr>
              <a:t>Target values</a:t>
            </a:r>
            <a:r>
              <a:rPr lang="en-US" sz="2200" dirty="0">
                <a:latin typeface="Helvetica" pitchFamily="2" charset="0"/>
              </a:rPr>
              <a:t> are forward-looking, optimized to minimize WACC and maximize firm value.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Helvetica" pitchFamily="2" charset="0"/>
              </a:rPr>
              <a:t>Therefore, when estimating WACC, we use </a:t>
            </a:r>
            <a:r>
              <a:rPr lang="en-US" sz="2200" b="1" dirty="0">
                <a:latin typeface="Helvetica" pitchFamily="2" charset="0"/>
              </a:rPr>
              <a:t>target weights based on market values</a:t>
            </a:r>
            <a:r>
              <a:rPr lang="en-US" sz="2200" dirty="0">
                <a:latin typeface="Helvetica" pitchFamily="2" charset="0"/>
              </a:rPr>
              <a:t> to ensure the discount rate reflects both current conditions and strategic financial planning.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677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C3D1-A358-4ABF-78FD-09BB35CD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8DFB21-0BD7-B07F-A6C8-5FB01A42E3B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E003F-05AD-BA68-2F4C-1F9D1BD6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Key Considerations in Calculating WACC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2813B4-219A-7B1D-3F18-CC8D8157EE7F}"/>
                  </a:ext>
                </a:extLst>
              </p:cNvPr>
              <p:cNvSpPr txBox="1"/>
              <p:nvPr/>
            </p:nvSpPr>
            <p:spPr>
              <a:xfrm>
                <a:off x="198605" y="1550869"/>
                <a:ext cx="11794788" cy="4614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2000" dirty="0">
                    <a:latin typeface="Helvetica" pitchFamily="2" charset="0"/>
                  </a:rPr>
                  <a:t>The </a:t>
                </a:r>
                <a:r>
                  <a:rPr lang="en-US" sz="2000" b="1" dirty="0">
                    <a:latin typeface="Helvetica" pitchFamily="2" charset="0"/>
                  </a:rPr>
                  <a:t>Weighted Average Cost of Capital (WACC)</a:t>
                </a:r>
                <a:r>
                  <a:rPr lang="en-US" sz="2000" dirty="0">
                    <a:latin typeface="Helvetica" pitchFamily="2" charset="0"/>
                  </a:rPr>
                  <a:t> combines these costs into a single, overall rate: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𝑾𝑨𝑪𝑪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  <a:latin typeface="Helvetica" pitchFamily="2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Helvetica" pitchFamily="2" charset="0"/>
                  </a:rPr>
                  <a:t>where: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dirty="0">
                    <a:latin typeface="Helvetica" pitchFamily="2" charset="0"/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latin typeface="Helvetica" pitchFamily="2" charset="0"/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>
                    <a:latin typeface="Helvetica" pitchFamily="2" charset="0"/>
                  </a:rPr>
                  <a:t> = weights of debt, preferred stock, and equity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dirty="0">
                    <a:latin typeface="Helvetica" pitchFamily="2" charset="0"/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latin typeface="Helvetica" pitchFamily="2" charset="0"/>
                  </a:rPr>
                  <a:t>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Helvetica" pitchFamily="2" charset="0"/>
                  </a:rPr>
                  <a:t>= costs of debt before tax, preferred stock, and equity</a:t>
                </a:r>
              </a:p>
              <a:p>
                <a:pPr marL="1257300" lvl="2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latin typeface="Helvetica" pitchFamily="2" charset="0"/>
                  </a:rPr>
                  <a:t> = marginal tax rate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Helvetica" pitchFamily="2" charset="0"/>
                  </a:rPr>
                  <a:t>It serves as the </a:t>
                </a:r>
                <a:r>
                  <a:rPr lang="en-US" sz="2400" b="1" dirty="0">
                    <a:latin typeface="Helvetica" pitchFamily="2" charset="0"/>
                  </a:rPr>
                  <a:t>benchmark</a:t>
                </a:r>
                <a:r>
                  <a:rPr lang="en-US" sz="2400" dirty="0">
                    <a:latin typeface="Helvetica" pitchFamily="2" charset="0"/>
                  </a:rPr>
                  <a:t> for evaluating investment projects—</a:t>
                </a:r>
                <a:r>
                  <a:rPr lang="en-US" sz="2400" b="1" dirty="0">
                    <a:latin typeface="Helvetica" pitchFamily="2" charset="0"/>
                  </a:rPr>
                  <a:t>only projects with returns above WACC create value.</a:t>
                </a:r>
                <a:endParaRPr lang="en-US" sz="24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2813B4-219A-7B1D-3F18-CC8D8157E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5" y="1550869"/>
                <a:ext cx="11794788" cy="4614340"/>
              </a:xfrm>
              <a:prstGeom prst="rect">
                <a:avLst/>
              </a:prstGeom>
              <a:blipFill>
                <a:blip r:embed="rId2"/>
                <a:stretch>
                  <a:fillRect l="-753" b="-21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98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D7151-34E0-CF4B-0C2E-80A00D56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C5E1E5-21AF-4103-D703-AE81D7CD3CBF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C16C2-708E-973E-C3D6-9295F661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Understanding the Cost of Debt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7DD7E4-BE6B-28D9-DAAA-D9AB0BA4D8CB}"/>
                  </a:ext>
                </a:extLst>
              </p:cNvPr>
              <p:cNvSpPr txBox="1"/>
              <p:nvPr/>
            </p:nvSpPr>
            <p:spPr>
              <a:xfrm>
                <a:off x="198605" y="1550869"/>
                <a:ext cx="11794788" cy="4049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Helvetica" pitchFamily="2" charset="0"/>
                  </a:rPr>
                  <a:t>The </a:t>
                </a:r>
                <a:r>
                  <a:rPr lang="en-US" sz="2000" b="1" dirty="0">
                    <a:latin typeface="Helvetica" pitchFamily="2" charset="0"/>
                  </a:rPr>
                  <a:t>before-tax cost of debt</a:t>
                </a:r>
                <a:r>
                  <a:rPr lang="en-US" sz="2000" dirty="0"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Helvetica" pitchFamily="2" charset="0"/>
                  </a:rPr>
                  <a:t>is the interest rate the firm must pay on new debt.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itchFamily="2" charset="0"/>
                  </a:rPr>
                  <a:t>It reflects current borrowing costs, not historical rates.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Helvetica" pitchFamily="2" charset="0"/>
                  </a:rPr>
                  <a:t>How it's estimated:</a:t>
                </a:r>
                <a:endParaRPr lang="en-US" sz="2000" dirty="0">
                  <a:latin typeface="Helvetica" pitchFamily="2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itchFamily="2" charset="0"/>
                  </a:rPr>
                  <a:t>Bank quotes</a:t>
                </a:r>
                <a:r>
                  <a:rPr lang="en-US" sz="2000" dirty="0">
                    <a:latin typeface="Helvetica" pitchFamily="2" charset="0"/>
                  </a:rPr>
                  <a:t> for new borrowing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itchFamily="2" charset="0"/>
                  </a:rPr>
                  <a:t>Yield to maturity (YTM)</a:t>
                </a:r>
                <a:r>
                  <a:rPr lang="en-US" sz="2000" dirty="0">
                    <a:latin typeface="Helvetica" pitchFamily="2" charset="0"/>
                  </a:rPr>
                  <a:t> on outstanding bonds (best proxy reflecting market conditions)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Helvetica" pitchFamily="2" charset="0"/>
                  </a:rPr>
                  <a:t>Tax Shield Benefit:</a:t>
                </a:r>
                <a:endParaRPr lang="en-US" sz="2000" dirty="0">
                  <a:latin typeface="Helvetica" pitchFamily="2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itchFamily="2" charset="0"/>
                  </a:rPr>
                  <a:t>Since </a:t>
                </a:r>
                <a:r>
                  <a:rPr lang="en-US" sz="2000" b="1" dirty="0">
                    <a:latin typeface="Helvetica" pitchFamily="2" charset="0"/>
                  </a:rPr>
                  <a:t>interest is tax-deductible,</a:t>
                </a:r>
                <a:r>
                  <a:rPr lang="en-US" sz="2000" dirty="0">
                    <a:latin typeface="Helvetica" pitchFamily="2" charset="0"/>
                  </a:rPr>
                  <a:t> we use the </a:t>
                </a:r>
                <a:r>
                  <a:rPr lang="en-US" sz="2000" b="1" dirty="0">
                    <a:latin typeface="Helvetica" pitchFamily="2" charset="0"/>
                  </a:rPr>
                  <a:t>after-tax cost of debt</a:t>
                </a:r>
                <a:r>
                  <a:rPr lang="en-US" sz="2000" dirty="0">
                    <a:latin typeface="Helvetica" pitchFamily="2" charset="0"/>
                  </a:rPr>
                  <a:t> in WACC: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after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tax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cost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debt</m:t>
                          </m:r>
                          <m:r>
                            <a:rPr lang="en-US" sz="2800" b="1" i="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  <m:sub>
                          <m:r>
                            <a:rPr lang="en-US" sz="28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𝐝</m:t>
                          </m:r>
                        </m:sub>
                      </m:sSub>
                      <m:r>
                        <a:rPr 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800" b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7DD7E4-BE6B-28D9-DAAA-D9AB0BA4D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5" y="1550869"/>
                <a:ext cx="11794788" cy="4049891"/>
              </a:xfrm>
              <a:prstGeom prst="rect">
                <a:avLst/>
              </a:prstGeom>
              <a:blipFill>
                <a:blip r:embed="rId2"/>
                <a:stretch>
                  <a:fillRect l="-538" b="-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BA5B19-8E7F-D5C2-119B-98B51A2B7F83}"/>
                  </a:ext>
                </a:extLst>
              </p:cNvPr>
              <p:cNvSpPr txBox="1"/>
              <p:nvPr/>
            </p:nvSpPr>
            <p:spPr>
              <a:xfrm>
                <a:off x="5682090" y="5928014"/>
                <a:ext cx="6339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BA5B19-8E7F-D5C2-119B-98B51A2B7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090" y="5928014"/>
                <a:ext cx="633955" cy="523220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5A00461-88E0-F20A-7EE5-C2C6D23C4900}"/>
              </a:ext>
            </a:extLst>
          </p:cNvPr>
          <p:cNvSpPr txBox="1"/>
          <p:nvPr/>
        </p:nvSpPr>
        <p:spPr>
          <a:xfrm>
            <a:off x="3358340" y="5989569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YTM</a:t>
            </a:r>
            <a:endParaRPr lang="en-US" b="1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8EB34-DE84-C265-2232-D8AC5EF18A32}"/>
              </a:ext>
            </a:extLst>
          </p:cNvPr>
          <p:cNvSpPr txBox="1"/>
          <p:nvPr/>
        </p:nvSpPr>
        <p:spPr>
          <a:xfrm>
            <a:off x="7805912" y="5989569"/>
            <a:ext cx="1678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Banks APR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2857A5-B9CD-ED0B-9B04-E2BEAA086D66}"/>
              </a:ext>
            </a:extLst>
          </p:cNvPr>
          <p:cNvCxnSpPr>
            <a:cxnSpLocks/>
          </p:cNvCxnSpPr>
          <p:nvPr/>
        </p:nvCxnSpPr>
        <p:spPr>
          <a:xfrm>
            <a:off x="6316045" y="6220401"/>
            <a:ext cx="134570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D06724-6A51-F3F1-FAA2-310FD8891FFA}"/>
              </a:ext>
            </a:extLst>
          </p:cNvPr>
          <p:cNvCxnSpPr>
            <a:cxnSpLocks/>
          </p:cNvCxnSpPr>
          <p:nvPr/>
        </p:nvCxnSpPr>
        <p:spPr>
          <a:xfrm flipH="1" flipV="1">
            <a:off x="4336389" y="6207270"/>
            <a:ext cx="1306805" cy="3077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53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20E1-7ADF-7896-9220-0A73A792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E2CCE1B-EC6C-C3CC-C16E-FC13ED6A97DD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3E2016-ACE7-62C7-3376-3A65FE21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A2922D-D1A2-1C89-D8AD-023C92812993}"/>
              </a:ext>
            </a:extLst>
          </p:cNvPr>
          <p:cNvSpPr txBox="1"/>
          <p:nvPr/>
        </p:nvSpPr>
        <p:spPr>
          <a:xfrm>
            <a:off x="198605" y="1430483"/>
            <a:ext cx="11794788" cy="2074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Helvetica" pitchFamily="2" charset="0"/>
              </a:rPr>
              <a:t>A company has outstanding 25-year noncallable bonds with a face value of $1,000, an 10% annual coupon, and a market price of $1,150. If the company was to issue new debt, what would be a reasonable estimate of the </a:t>
            </a:r>
            <a:r>
              <a:rPr lang="en-US" sz="2200" b="1" dirty="0">
                <a:latin typeface="Helvetica" pitchFamily="2" charset="0"/>
              </a:rPr>
              <a:t>interest rate on that debt</a:t>
            </a:r>
            <a:r>
              <a:rPr lang="en-US" sz="2200" dirty="0">
                <a:latin typeface="Helvetica" pitchFamily="2" charset="0"/>
              </a:rPr>
              <a:t>? If the company’s tax rate is 25%, what is its </a:t>
            </a:r>
            <a:r>
              <a:rPr lang="en-US" sz="2200" b="1" dirty="0">
                <a:latin typeface="Helvetica" pitchFamily="2" charset="0"/>
              </a:rPr>
              <a:t>after-tax cost of debt</a:t>
            </a:r>
            <a:r>
              <a:rPr lang="en-US" sz="2200" dirty="0">
                <a:latin typeface="Helvetica" pitchFamily="2" charset="0"/>
              </a:rPr>
              <a:t>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D89172-7669-D4F7-95C6-2E4073D2D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50417"/>
              </p:ext>
            </p:extLst>
          </p:nvPr>
        </p:nvGraphicFramePr>
        <p:xfrm>
          <a:off x="376951" y="4557256"/>
          <a:ext cx="7602085" cy="39624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348642295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137629375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57513471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4261130884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1293720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I/Y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PMT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FV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99108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AA6B52-850F-F6B2-7547-748DBA873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581872"/>
              </p:ext>
            </p:extLst>
          </p:nvPr>
        </p:nvGraphicFramePr>
        <p:xfrm>
          <a:off x="376951" y="4951542"/>
          <a:ext cx="7602085" cy="396240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1520417">
                  <a:extLst>
                    <a:ext uri="{9D8B030D-6E8A-4147-A177-3AD203B41FA5}">
                      <a16:colId xmlns:a16="http://schemas.microsoft.com/office/drawing/2014/main" val="534243549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512628831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892554536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247654377"/>
                    </a:ext>
                  </a:extLst>
                </a:gridCol>
                <a:gridCol w="1520417">
                  <a:extLst>
                    <a:ext uri="{9D8B030D-6E8A-4147-A177-3AD203B41FA5}">
                      <a16:colId xmlns:a16="http://schemas.microsoft.com/office/drawing/2014/main" val="3609201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??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-1150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1,000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54741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053F6F-2A2A-023B-C8E4-0F1EF19CDAB7}"/>
                  </a:ext>
                </a:extLst>
              </p:cNvPr>
              <p:cNvSpPr txBox="1"/>
              <p:nvPr/>
            </p:nvSpPr>
            <p:spPr>
              <a:xfrm>
                <a:off x="1638359" y="5438215"/>
                <a:ext cx="23368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I/Y = 8.53%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sz="2400" b="1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endParaRPr lang="en-US" sz="2400" b="1" dirty="0">
                  <a:solidFill>
                    <a:srgbClr val="C00000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053F6F-2A2A-023B-C8E4-0F1EF19CD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359" y="5438215"/>
                <a:ext cx="2336858" cy="461665"/>
              </a:xfrm>
              <a:prstGeom prst="rect">
                <a:avLst/>
              </a:prstGeom>
              <a:blipFill>
                <a:blip r:embed="rId2"/>
                <a:stretch>
                  <a:fillRect l="-4348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2A725D-0A47-F7FE-77A3-9F87799D2D5D}"/>
                  </a:ext>
                </a:extLst>
              </p:cNvPr>
              <p:cNvSpPr txBox="1"/>
              <p:nvPr/>
            </p:nvSpPr>
            <p:spPr>
              <a:xfrm>
                <a:off x="6393976" y="3941633"/>
                <a:ext cx="48904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after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tax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cost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debt</m:t>
                          </m:r>
                          <m:r>
                            <a:rPr lang="en-US" sz="2400" b="1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  <m:sub>
                          <m:r>
                            <a:rPr lang="en-US" sz="24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𝐝</m:t>
                          </m:r>
                        </m:sub>
                      </m:sSub>
                      <m:r>
                        <a:rPr lang="en-US" sz="24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en-US" sz="2400" b="1" i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2A725D-0A47-F7FE-77A3-9F87799D2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976" y="3941633"/>
                <a:ext cx="4890441" cy="461665"/>
              </a:xfrm>
              <a:prstGeom prst="rect">
                <a:avLst/>
              </a:prstGeom>
              <a:blipFill>
                <a:blip r:embed="rId3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Callout 2 11">
            <a:extLst>
              <a:ext uri="{FF2B5EF4-FFF2-40B4-BE49-F238E27FC236}">
                <a16:creationId xmlns:a16="http://schemas.microsoft.com/office/drawing/2014/main" id="{4F8BCA99-405D-4687-57C6-3505B315D1E9}"/>
              </a:ext>
            </a:extLst>
          </p:cNvPr>
          <p:cNvSpPr/>
          <p:nvPr/>
        </p:nvSpPr>
        <p:spPr>
          <a:xfrm>
            <a:off x="10370017" y="3165267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6162"/>
              <a:gd name="adj6" fmla="val -43008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Helvetica" pitchFamily="2" charset="0"/>
              </a:rPr>
              <a:t>YTM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8E7D61-288E-52EB-E655-1C1FDF555490}"/>
                  </a:ext>
                </a:extLst>
              </p:cNvPr>
              <p:cNvSpPr txBox="1"/>
              <p:nvPr/>
            </p:nvSpPr>
            <p:spPr>
              <a:xfrm>
                <a:off x="3813717" y="6003599"/>
                <a:ext cx="80233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after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tax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cost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debt</m:t>
                      </m:r>
                      <m:r>
                        <a:rPr lang="en-US" sz="2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m:t>8.53%</m:t>
                      </m:r>
                      <m:r>
                        <a:rPr lang="en-US" sz="2400" b="1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400" b="1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𝟑𝟕𝟗</m:t>
                      </m:r>
                      <m:r>
                        <a:rPr lang="en-US" sz="2400" b="1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4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8E7D61-288E-52EB-E655-1C1FDF555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717" y="6003599"/>
                <a:ext cx="8023308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52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4EA5B-0A84-4357-0CBB-2DDED406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F2E854-27A8-AAAD-6182-C466D244C154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DB247-D8E6-FB3A-4250-BED2713D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Understanding the Cost of Preferred Stock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DADE62-D875-D234-1238-FC5F04A887C4}"/>
                  </a:ext>
                </a:extLst>
              </p:cNvPr>
              <p:cNvSpPr txBox="1"/>
              <p:nvPr/>
            </p:nvSpPr>
            <p:spPr>
              <a:xfrm>
                <a:off x="198605" y="1550869"/>
                <a:ext cx="11794788" cy="4191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200" dirty="0">
                    <a:latin typeface="Helvetica" pitchFamily="2" charset="0"/>
                  </a:rPr>
                  <a:t>The </a:t>
                </a:r>
                <a:r>
                  <a:rPr lang="en-US" sz="2200" b="1" dirty="0">
                    <a:latin typeface="Helvetica" pitchFamily="2" charset="0"/>
                  </a:rPr>
                  <a:t>cost of preferred stock</a:t>
                </a:r>
                <a:r>
                  <a:rPr lang="en-US" sz="2200" dirty="0"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Helvetica" pitchFamily="2" charset="0"/>
                  </a:rPr>
                  <a:t>is the return required by investors to hold the firm’s preferred shares.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b="1" dirty="0">
                  <a:solidFill>
                    <a:srgbClr val="C00000"/>
                  </a:solidFill>
                  <a:latin typeface="Helvetica" pitchFamily="2" charset="0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" pitchFamily="2" charset="0"/>
                  </a:rPr>
                  <a:t>Where: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pitchFamily="2" charset="0"/>
                  </a:rPr>
                  <a:t>= annual preferred dividend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pitchFamily="2" charset="0"/>
                  </a:rPr>
                  <a:t> = current market price per share</a:t>
                </a:r>
                <a:endParaRPr lang="en-US" sz="2200" b="1" dirty="0">
                  <a:solidFill>
                    <a:schemeClr val="tx1"/>
                  </a:solidFill>
                  <a:latin typeface="Helvetica" pitchFamily="2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200" b="1" dirty="0">
                    <a:latin typeface="Helvetica" pitchFamily="2" charset="0"/>
                  </a:rPr>
                  <a:t>No tax adjustment</a:t>
                </a:r>
                <a:r>
                  <a:rPr lang="en-US" sz="2200" dirty="0">
                    <a:latin typeface="Helvetica" pitchFamily="2" charset="0"/>
                  </a:rPr>
                  <a:t> is needed—</a:t>
                </a:r>
                <a:r>
                  <a:rPr lang="en-US" sz="2200" b="1" dirty="0">
                    <a:latin typeface="Helvetica" pitchFamily="2" charset="0"/>
                  </a:rPr>
                  <a:t>preferred dividends are not tax deductible.</a:t>
                </a:r>
                <a:endParaRPr lang="en-US" sz="2200" dirty="0">
                  <a:latin typeface="Helvetica" pitchFamily="2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200" dirty="0">
                    <a:latin typeface="Helvetica" pitchFamily="2" charset="0"/>
                  </a:rPr>
                  <a:t>Even if a firm currently has no preferred stock, its </a:t>
                </a:r>
                <a:r>
                  <a:rPr lang="en-US" sz="2200" b="1" dirty="0">
                    <a:latin typeface="Helvetica" pitchFamily="2" charset="0"/>
                  </a:rPr>
                  <a:t>target capital structure</a:t>
                </a:r>
                <a:r>
                  <a:rPr lang="en-US" sz="2200" dirty="0">
                    <a:latin typeface="Helvetica" pitchFamily="2" charset="0"/>
                  </a:rPr>
                  <a:t> may include it.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DADE62-D875-D234-1238-FC5F04A88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5" y="1550869"/>
                <a:ext cx="11794788" cy="4191404"/>
              </a:xfrm>
              <a:prstGeom prst="rect">
                <a:avLst/>
              </a:prstGeom>
              <a:blipFill>
                <a:blip r:embed="rId2"/>
                <a:stretch>
                  <a:fillRect l="-645" r="-1290" b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23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26BE-A9BE-DCB1-BD92-32E75055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EAC4BE-A131-AFBD-6169-212D52825351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40D81-2956-C2F4-ADA7-D9D65060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Understanding the Cost of Retained Earnings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F51145-54AD-861C-F487-F164464F5692}"/>
                  </a:ext>
                </a:extLst>
              </p:cNvPr>
              <p:cNvSpPr txBox="1"/>
              <p:nvPr/>
            </p:nvSpPr>
            <p:spPr>
              <a:xfrm>
                <a:off x="198605" y="1550869"/>
                <a:ext cx="11794788" cy="4782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dirty="0">
                    <a:latin typeface="Helvetica" pitchFamily="2" charset="0"/>
                  </a:rPr>
                  <a:t>The </a:t>
                </a:r>
                <a:r>
                  <a:rPr lang="en-US" sz="2200" b="1" dirty="0">
                    <a:latin typeface="Helvetica" pitchFamily="2" charset="0"/>
                  </a:rPr>
                  <a:t>cost of retained earnings</a:t>
                </a:r>
                <a:r>
                  <a:rPr lang="en-US" sz="2200" dirty="0">
                    <a:latin typeface="Helvetica" pitchFamily="2" charset="0"/>
                  </a:rPr>
                  <a:t>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Helvetica" pitchFamily="2" charset="0"/>
                  </a:rPr>
                  <a:t>is the return that shareholders expect on reinvested earnings, essentially the </a:t>
                </a:r>
                <a:r>
                  <a:rPr lang="en-US" sz="2200" b="1" dirty="0">
                    <a:latin typeface="Helvetica" pitchFamily="2" charset="0"/>
                  </a:rPr>
                  <a:t>opportunity cost</a:t>
                </a:r>
                <a:r>
                  <a:rPr lang="en-US" sz="2200" dirty="0">
                    <a:latin typeface="Helvetica" pitchFamily="2" charset="0"/>
                  </a:rPr>
                  <a:t> of equity capital.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latin typeface="Helvetica" pitchFamily="2" charset="0"/>
                  </a:rPr>
                  <a:t>Why Retained Earnings Are Not Free:</a:t>
                </a:r>
                <a:endParaRPr lang="en-US" sz="2200" dirty="0">
                  <a:latin typeface="Helvetica" pitchFamily="2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" pitchFamily="2" charset="0"/>
                  </a:rPr>
                  <a:t>Earnings belong to stockholders.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" pitchFamily="2" charset="0"/>
                  </a:rPr>
                  <a:t>If retained, shareholders forgo dividends and alternative investment opportunities.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latin typeface="Helvetica" pitchFamily="2" charset="0"/>
                  </a:rPr>
                  <a:t>The firm must </a:t>
                </a:r>
                <a:r>
                  <a:rPr lang="en-US" sz="2200" b="1" dirty="0">
                    <a:latin typeface="Helvetica" pitchFamily="2" charset="0"/>
                  </a:rPr>
                  <a:t>earn at least as much</a:t>
                </a:r>
                <a:r>
                  <a:rPr lang="en-US" sz="2200" dirty="0">
                    <a:latin typeface="Helvetica" pitchFamily="2" charset="0"/>
                  </a:rPr>
                  <a:t> on retained earnings as shareholders could earn elsewhere on similar-risk investments.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200" b="1" dirty="0">
                    <a:latin typeface="Helvetica" pitchFamily="2" charset="0"/>
                  </a:rPr>
                  <a:t>Cost of Retained Earnings = Required Return on Stock </a:t>
                </a:r>
                <a:endParaRPr lang="en-US" sz="20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800" dirty="0">
                    <a:latin typeface="Helvetica" pitchFamily="2" charset="0"/>
                  </a:rPr>
                  <a:t> </a:t>
                </a:r>
                <a:r>
                  <a:rPr lang="en-US" sz="2800" b="1" i="1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en-US" sz="2800" dirty="0"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F51145-54AD-861C-F487-F164464F5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5" y="1550869"/>
                <a:ext cx="11794788" cy="4782848"/>
              </a:xfrm>
              <a:prstGeom prst="rect">
                <a:avLst/>
              </a:prstGeom>
              <a:blipFill>
                <a:blip r:embed="rId2"/>
                <a:stretch>
                  <a:fillRect l="-645" r="-43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325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2116B-723C-9B9E-5155-542A587E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4929D3-BD62-EAF4-39B3-D9B2BFD575E4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6EADE8-A3CF-2157-0105-5F363221C5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43364" y="284102"/>
                <a:ext cx="11105270" cy="982663"/>
              </a:xfrm>
            </p:spPr>
            <p:txBody>
              <a:bodyPr>
                <a:norm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  <a:latin typeface="Helvetica" pitchFamily="2" charset="0"/>
                  </a:rPr>
                  <a:t>Estimation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1">
                            <a:solidFill>
                              <a:schemeClr val="bg1"/>
                            </a:solidFill>
                            <a:latin typeface="Helvetica" pitchFamily="2" charset="0"/>
                          </a:rPr>
                        </m:ctrlPr>
                      </m:sSubPr>
                      <m:e>
                        <m:r>
                          <a:rPr lang="en-US" sz="4000" b="1">
                            <a:solidFill>
                              <a:schemeClr val="bg1"/>
                            </a:solidFill>
                            <a:latin typeface="Helvetica" pitchFamily="2" charset="0"/>
                          </a:rPr>
                          <m:t>𝒓</m:t>
                        </m:r>
                      </m:e>
                      <m:sub>
                        <m:r>
                          <a:rPr lang="en-US" sz="4000" b="1">
                            <a:solidFill>
                              <a:schemeClr val="bg1"/>
                            </a:solidFill>
                            <a:latin typeface="Helvetica" pitchFamily="2" charset="0"/>
                          </a:rPr>
                          <m:t>𝒔</m:t>
                        </m:r>
                      </m:sub>
                    </m:sSub>
                    <m:r>
                      <a:rPr lang="en-US" sz="4000" b="1">
                        <a:solidFill>
                          <a:schemeClr val="bg1"/>
                        </a:solidFill>
                        <a:latin typeface="Helvetica" pitchFamily="2" charset="0"/>
                      </a:rPr>
                      <m:t> </m:t>
                    </m:r>
                  </m:oMath>
                </a14:m>
                <a:endParaRPr lang="en-US" sz="4000" b="1" dirty="0">
                  <a:solidFill>
                    <a:schemeClr val="bg1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6EADE8-A3CF-2157-0105-5F363221C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43364" y="284102"/>
                <a:ext cx="11105270" cy="982663"/>
              </a:xfrm>
              <a:blipFill>
                <a:blip r:embed="rId2"/>
                <a:stretch>
                  <a:fillRect l="-1941" b="-8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34D7795-730C-1CB0-7261-D63184DD6475}"/>
              </a:ext>
            </a:extLst>
          </p:cNvPr>
          <p:cNvSpPr txBox="1"/>
          <p:nvPr/>
        </p:nvSpPr>
        <p:spPr>
          <a:xfrm>
            <a:off x="397212" y="6143011"/>
            <a:ext cx="117947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Helvetica" pitchFamily="2" charset="0"/>
              </a:rPr>
              <a:t>Retained earnings are typically the </a:t>
            </a:r>
            <a:r>
              <a:rPr lang="en-US" sz="2200" b="1" dirty="0">
                <a:latin typeface="Helvetica" pitchFamily="2" charset="0"/>
              </a:rPr>
              <a:t>primary source of new equity</a:t>
            </a:r>
            <a:r>
              <a:rPr lang="en-US" sz="2200" dirty="0">
                <a:latin typeface="Helvetica" pitchFamily="2" charset="0"/>
              </a:rPr>
              <a:t> for mature firms.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307248-9E19-1D77-6F3D-2142132E36BE}"/>
                  </a:ext>
                </a:extLst>
              </p:cNvPr>
              <p:cNvSpPr txBox="1"/>
              <p:nvPr/>
            </p:nvSpPr>
            <p:spPr>
              <a:xfrm>
                <a:off x="397208" y="1580608"/>
                <a:ext cx="11251422" cy="86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  <a:latin typeface=""/>
                  </a:rPr>
                  <a:t>CAPM Approach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307248-9E19-1D77-6F3D-2142132E3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08" y="1580608"/>
                <a:ext cx="11251422" cy="866006"/>
              </a:xfrm>
              <a:prstGeom prst="rect">
                <a:avLst/>
              </a:prstGeom>
              <a:blipFill>
                <a:blip r:embed="rId3"/>
                <a:stretch>
                  <a:fillRect l="-902" t="-5797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A90BFC-CC47-465E-F02E-AC9DBA12EAF7}"/>
                  </a:ext>
                </a:extLst>
              </p:cNvPr>
              <p:cNvSpPr txBox="1"/>
              <p:nvPr/>
            </p:nvSpPr>
            <p:spPr>
              <a:xfrm>
                <a:off x="397208" y="2821365"/>
                <a:ext cx="11251421" cy="121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  <a:latin typeface="Helvetica" pitchFamily="2" charset="0"/>
                  </a:rPr>
                  <a:t>Dividend Discount Model (DDM)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A90BFC-CC47-465E-F02E-AC9DBA12E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08" y="2821365"/>
                <a:ext cx="11251421" cy="1215269"/>
              </a:xfrm>
              <a:prstGeom prst="rect">
                <a:avLst/>
              </a:prstGeom>
              <a:blipFill>
                <a:blip r:embed="rId4"/>
                <a:stretch>
                  <a:fillRect l="-902" t="-4167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659FA0-4C9A-5541-7FF5-0F947110C66D}"/>
                  </a:ext>
                </a:extLst>
              </p:cNvPr>
              <p:cNvSpPr txBox="1"/>
              <p:nvPr/>
            </p:nvSpPr>
            <p:spPr>
              <a:xfrm>
                <a:off x="397208" y="4411385"/>
                <a:ext cx="11251421" cy="1184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Bond-Yield Plus Risk Premium</a:t>
                </a:r>
                <a:endParaRPr lang="en-US" sz="2400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𝑹𝑷</m:t>
                      </m:r>
                    </m:oMath>
                  </m:oMathPara>
                </a14:m>
                <a:endParaRPr lang="en-US" sz="2400" b="1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Helvetica" pitchFamily="2" charset="0"/>
                  </a:rPr>
                  <a:t> = </a:t>
                </a:r>
                <a:r>
                  <a:rPr lang="en-US" b="1" dirty="0">
                    <a:solidFill>
                      <a:schemeClr val="tx1"/>
                    </a:solidFill>
                    <a:latin typeface="Helvetica" pitchFamily="2" charset="0"/>
                  </a:rPr>
                  <a:t>judgmental risk premium</a:t>
                </a:r>
                <a:r>
                  <a:rPr lang="en-US" dirty="0">
                    <a:solidFill>
                      <a:schemeClr val="tx1"/>
                    </a:solidFill>
                    <a:latin typeface="Helvetica" pitchFamily="2" charset="0"/>
                  </a:rPr>
                  <a:t>, typically </a:t>
                </a:r>
                <a:r>
                  <a:rPr lang="en-US" b="1" dirty="0">
                    <a:solidFill>
                      <a:schemeClr val="tx1"/>
                    </a:solidFill>
                    <a:latin typeface="Helvetica" pitchFamily="2" charset="0"/>
                  </a:rPr>
                  <a:t>3–5%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659FA0-4C9A-5541-7FF5-0F947110C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08" y="4411385"/>
                <a:ext cx="11251421" cy="1184940"/>
              </a:xfrm>
              <a:prstGeom prst="rect">
                <a:avLst/>
              </a:prstGeom>
              <a:blipFill>
                <a:blip r:embed="rId5"/>
                <a:stretch>
                  <a:fillRect l="-902" t="-4255" b="-7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39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7C894-0999-78B9-491F-E360E69DF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A9A9F9-E59C-AB62-AC39-20A7BD3BA01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C32D4-D602-B7F4-2146-C198343B6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5A22B9-F7C5-0A8A-CC4C-19F59E9B5956}"/>
                  </a:ext>
                </a:extLst>
              </p:cNvPr>
              <p:cNvSpPr txBox="1"/>
              <p:nvPr/>
            </p:nvSpPr>
            <p:spPr>
              <a:xfrm>
                <a:off x="99301" y="1430483"/>
                <a:ext cx="11993395" cy="1478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800"/>
                  </a:spcAft>
                </a:pPr>
                <a:r>
                  <a:rPr lang="en-US" sz="22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Suppose you are an analyst with the following data: </a:t>
                </a:r>
                <a:r>
                  <a:rPr lang="en-US" sz="22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sz="22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%, </a:t>
                </a:r>
                <a:r>
                  <a:rPr lang="en-US" sz="2200" b="1" dirty="0">
                    <a:solidFill>
                      <a:schemeClr val="tx1"/>
                    </a:solidFill>
                    <a:latin typeface="Helvetica" pitchFamily="2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22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-</a:t>
                </a:r>
                <a:r>
                  <a:rPr lang="en-US" sz="22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2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, </a:t>
                </a:r>
                <a:r>
                  <a:rPr lang="en-US" sz="2200" b="1" dirty="0">
                    <a:solidFill>
                      <a:schemeClr val="tx1"/>
                    </a:solidFill>
                    <a:latin typeface="Helvetica" pitchFamily="2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sz="22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2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,</a:t>
                </a:r>
                <a:r>
                  <a:rPr lang="en-US" sz="22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𝟐𝟓</m:t>
                    </m:r>
                  </m:oMath>
                </a14:m>
                <a:r>
                  <a:rPr lang="en-US" sz="22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, g = 6%,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sz="22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 . What is this firm’s cost of equity using the CAPM, DCF, and bond-yield-plus-risk-premium approaches? Use the midrange of the judgmental risk premium for the bond-yield-plus-risk-premium approach.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5A22B9-F7C5-0A8A-CC4C-19F59E9B5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1" y="1430483"/>
                <a:ext cx="11993395" cy="1478546"/>
              </a:xfrm>
              <a:prstGeom prst="rect">
                <a:avLst/>
              </a:prstGeom>
              <a:blipFill>
                <a:blip r:embed="rId2"/>
                <a:stretch>
                  <a:fillRect l="-634" t="-1709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C82CE1-40CC-502D-6A19-2EEC50D1D70D}"/>
                  </a:ext>
                </a:extLst>
              </p:cNvPr>
              <p:cNvSpPr txBox="1"/>
              <p:nvPr/>
            </p:nvSpPr>
            <p:spPr>
              <a:xfrm>
                <a:off x="319149" y="2909029"/>
                <a:ext cx="11251422" cy="86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  <a:latin typeface=""/>
                  </a:rPr>
                  <a:t>CAPM Approach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C82CE1-40CC-502D-6A19-2EEC50D1D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49" y="2909029"/>
                <a:ext cx="11251422" cy="866006"/>
              </a:xfrm>
              <a:prstGeom prst="rect">
                <a:avLst/>
              </a:prstGeom>
              <a:blipFill>
                <a:blip r:embed="rId3"/>
                <a:stretch>
                  <a:fillRect l="-788" t="-4286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C1C289-E10E-E1E3-5070-C2BCC867184C}"/>
                  </a:ext>
                </a:extLst>
              </p:cNvPr>
              <p:cNvSpPr txBox="1"/>
              <p:nvPr/>
            </p:nvSpPr>
            <p:spPr>
              <a:xfrm>
                <a:off x="7986285" y="3342032"/>
                <a:ext cx="36623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C1C289-E10E-E1E3-5070-C2BCC8671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285" y="3342032"/>
                <a:ext cx="366234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3CB241-45FE-D965-A0EA-55349C2C7416}"/>
                  </a:ext>
                </a:extLst>
              </p:cNvPr>
              <p:cNvSpPr txBox="1"/>
              <p:nvPr/>
            </p:nvSpPr>
            <p:spPr>
              <a:xfrm>
                <a:off x="280114" y="4250461"/>
                <a:ext cx="11329485" cy="1121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b="1" dirty="0">
                    <a:solidFill>
                      <a:schemeClr val="accent6">
                        <a:lumMod val="75000"/>
                      </a:schemeClr>
                    </a:solidFill>
                    <a:latin typeface="Helvetica" pitchFamily="2" charset="0"/>
                  </a:rPr>
                  <a:t>Dividend Discount Model (DDM)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2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sz="2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2200" dirty="0">
                  <a:solidFill>
                    <a:schemeClr val="accent6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3CB241-45FE-D965-A0EA-55349C2C7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4" y="4250461"/>
                <a:ext cx="11329485" cy="1121717"/>
              </a:xfrm>
              <a:prstGeom prst="rect">
                <a:avLst/>
              </a:prstGeom>
              <a:blipFill>
                <a:blip r:embed="rId5"/>
                <a:stretch>
                  <a:fillRect l="-785" t="-3371"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8BF3C3-720D-7C95-F447-F8E6FBF2D4D0}"/>
                  </a:ext>
                </a:extLst>
              </p:cNvPr>
              <p:cNvSpPr txBox="1"/>
              <p:nvPr/>
            </p:nvSpPr>
            <p:spPr>
              <a:xfrm>
                <a:off x="8345774" y="4504921"/>
                <a:ext cx="2713465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  <m:r>
                        <a:rPr lang="en-US" sz="1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1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%=</m:t>
                      </m:r>
                      <m:r>
                        <a:rPr lang="en-US" sz="1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1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1800" dirty="0">
                  <a:solidFill>
                    <a:schemeClr val="accent6">
                      <a:lumMod val="75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8BF3C3-720D-7C95-F447-F8E6FBF2D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774" y="4504921"/>
                <a:ext cx="2713465" cy="612796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2F0A13-2DBA-EC4D-3A14-6183D75BC05B}"/>
                  </a:ext>
                </a:extLst>
              </p:cNvPr>
              <p:cNvSpPr txBox="1"/>
              <p:nvPr/>
            </p:nvSpPr>
            <p:spPr>
              <a:xfrm>
                <a:off x="319149" y="5804457"/>
                <a:ext cx="11251421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200" b="1" dirty="0">
                    <a:solidFill>
                      <a:schemeClr val="accent2">
                        <a:lumMod val="75000"/>
                      </a:schemeClr>
                    </a:solidFill>
                    <a:latin typeface="Helvetica" pitchFamily="2" charset="0"/>
                  </a:rPr>
                  <a:t>Bond-Yield Plus Risk Premium</a:t>
                </a:r>
                <a:endParaRPr lang="en-US" sz="2200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𝑹𝑷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2F0A13-2DBA-EC4D-3A14-6183D75BC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49" y="5804457"/>
                <a:ext cx="11251421" cy="769441"/>
              </a:xfrm>
              <a:prstGeom prst="rect">
                <a:avLst/>
              </a:prstGeom>
              <a:blipFill>
                <a:blip r:embed="rId7"/>
                <a:stretch>
                  <a:fillRect l="-563" t="-3226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622135-E004-9C87-358A-E0B7642A211E}"/>
                  </a:ext>
                </a:extLst>
              </p:cNvPr>
              <p:cNvSpPr txBox="1"/>
              <p:nvPr/>
            </p:nvSpPr>
            <p:spPr>
              <a:xfrm>
                <a:off x="8345774" y="6133671"/>
                <a:ext cx="29433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%=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8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622135-E004-9C87-358A-E0B7642A2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774" y="6133671"/>
                <a:ext cx="29433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86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7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E2CFE-9479-90BB-FE05-69B6BC43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D3BB1B-F30B-EA2A-1BA1-CDE739D6B3DA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3531F-D144-16A6-53AE-C018A684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Understanding the Cost of New Common Stock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B3EA23-B6E9-753B-97F7-630C37277AF1}"/>
                  </a:ext>
                </a:extLst>
              </p:cNvPr>
              <p:cNvSpPr txBox="1"/>
              <p:nvPr/>
            </p:nvSpPr>
            <p:spPr>
              <a:xfrm>
                <a:off x="198605" y="1550869"/>
                <a:ext cx="1179478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200" dirty="0"/>
                  <a:t>The </a:t>
                </a:r>
                <a:r>
                  <a:rPr lang="en-US" sz="2200" b="1" dirty="0"/>
                  <a:t>cost of new common stock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sz="2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reflects the return investors require </a:t>
                </a:r>
                <a:r>
                  <a:rPr lang="en-US" sz="2200" b="1" dirty="0"/>
                  <a:t>plus flotation costs</a:t>
                </a:r>
                <a:r>
                  <a:rPr lang="en-US" sz="2200" dirty="0"/>
                  <a:t>, which are fees paid to underwriters when issuing new shares.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200" b="1" dirty="0"/>
                  <a:t>Why is it higher than retained earnings?</a:t>
                </a:r>
                <a:endParaRPr lang="en-US" sz="2200" dirty="0"/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Issuing new equity incurs </a:t>
                </a:r>
                <a:r>
                  <a:rPr lang="en-US" sz="2200" b="1" dirty="0"/>
                  <a:t>flotation costs</a:t>
                </a:r>
                <a:r>
                  <a:rPr lang="en-US" sz="2200" dirty="0"/>
                  <a:t> (underwriting, legal, administrative fees)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These costs reduce the </a:t>
                </a:r>
                <a:r>
                  <a:rPr lang="en-US" sz="2200" b="1" dirty="0"/>
                  <a:t>net proceeds</a:t>
                </a:r>
                <a:r>
                  <a:rPr lang="en-US" sz="2200" dirty="0"/>
                  <a:t> received by the firm, requiring a </a:t>
                </a:r>
                <a:r>
                  <a:rPr lang="en-US" sz="2200" b="1" dirty="0"/>
                  <a:t>higher return</a:t>
                </a:r>
                <a:r>
                  <a:rPr lang="en-US" sz="2200" dirty="0"/>
                  <a:t> on funds actually invested.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B3EA23-B6E9-753B-97F7-630C37277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5" y="1550869"/>
                <a:ext cx="11794788" cy="2585323"/>
              </a:xfrm>
              <a:prstGeom prst="rect">
                <a:avLst/>
              </a:prstGeom>
              <a:blipFill>
                <a:blip r:embed="rId2"/>
                <a:stretch>
                  <a:fillRect l="-645" t="-976" b="-3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D57849-C664-95D3-37E3-4BFC671A9CDD}"/>
                  </a:ext>
                </a:extLst>
              </p:cNvPr>
              <p:cNvSpPr txBox="1"/>
              <p:nvPr/>
            </p:nvSpPr>
            <p:spPr>
              <a:xfrm>
                <a:off x="3040565" y="3975290"/>
                <a:ext cx="6110868" cy="975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8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US" sz="1800" dirty="0">
                  <a:solidFill>
                    <a:srgbClr val="C00000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D57849-C664-95D3-37E3-4BFC671A9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565" y="3975290"/>
                <a:ext cx="6110868" cy="975395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F182A29-7FD4-74D2-DC1C-838869F9EE85}"/>
              </a:ext>
            </a:extLst>
          </p:cNvPr>
          <p:cNvSpPr txBox="1"/>
          <p:nvPr/>
        </p:nvSpPr>
        <p:spPr>
          <a:xfrm>
            <a:off x="1048215" y="4627519"/>
            <a:ext cx="3474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Where:</a:t>
            </a:r>
            <a:br>
              <a:rPr lang="en-US" b="1" dirty="0">
                <a:latin typeface="Helvetica" pitchFamily="2" charset="0"/>
              </a:rPr>
            </a:br>
            <a:r>
              <a:rPr lang="en-US" b="1" dirty="0">
                <a:latin typeface="Helvetica" pitchFamily="2" charset="0"/>
              </a:rPr>
              <a:t>F = flotation cost as a decimal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293C2-1405-F3F5-21EC-CC4C4E971783}"/>
              </a:ext>
            </a:extLst>
          </p:cNvPr>
          <p:cNvSpPr txBox="1"/>
          <p:nvPr/>
        </p:nvSpPr>
        <p:spPr>
          <a:xfrm>
            <a:off x="198605" y="5665036"/>
            <a:ext cx="117947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Use </a:t>
            </a:r>
            <a:r>
              <a:rPr lang="en-US" sz="2200" b="1" dirty="0">
                <a:latin typeface="Helvetica" pitchFamily="2" charset="0"/>
              </a:rPr>
              <a:t>flotation-adjusted cost</a:t>
            </a:r>
            <a:r>
              <a:rPr lang="en-US" sz="2200" dirty="0">
                <a:latin typeface="Helvetica" pitchFamily="2" charset="0"/>
              </a:rPr>
              <a:t> when new stock issuance is involved—especially for large or ongoing capital needs.</a:t>
            </a:r>
          </a:p>
        </p:txBody>
      </p:sp>
    </p:spTree>
    <p:extLst>
      <p:ext uri="{BB962C8B-B14F-4D97-AF65-F5344CB8AC3E}">
        <p14:creationId xmlns:p14="http://schemas.microsoft.com/office/powerpoint/2010/main" val="180993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379D-1753-469D-F479-2C732F53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9B7491-07C1-6BA8-FD40-707476DC421E}"/>
              </a:ext>
            </a:extLst>
          </p:cNvPr>
          <p:cNvSpPr/>
          <p:nvPr/>
        </p:nvSpPr>
        <p:spPr>
          <a:xfrm>
            <a:off x="0" y="-2"/>
            <a:ext cx="12192000" cy="1366795"/>
          </a:xfrm>
          <a:prstGeom prst="rect">
            <a:avLst/>
          </a:prstGeom>
          <a:solidFill>
            <a:srgbClr val="0093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E5EEF-08CC-A7C4-58AB-733DF5BD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64" y="284102"/>
            <a:ext cx="11105270" cy="982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  <a:latin typeface="Helvetica" pitchFamily="2" charset="0"/>
              </a:rPr>
              <a:t>Question-3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BED5EF-7770-8B0A-D215-A9BDD4B5183A}"/>
                  </a:ext>
                </a:extLst>
              </p:cNvPr>
              <p:cNvSpPr txBox="1"/>
              <p:nvPr/>
            </p:nvSpPr>
            <p:spPr>
              <a:xfrm>
                <a:off x="99301" y="1430483"/>
                <a:ext cx="11993395" cy="1748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1800"/>
                  </a:spcAft>
                </a:pPr>
                <a:r>
                  <a:rPr lang="en-US" sz="24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Firm A has the following data: Target capital structure of 46% debt, 3% preferred, and 51% common equity; tax rate =25%; 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; 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; </a:t>
                </a:r>
                <a:r>
                  <a:rPr lang="en-US" sz="2400" b="1" dirty="0">
                    <a:solidFill>
                      <a:schemeClr val="tx1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;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effectLst/>
                    <a:latin typeface="Helvetica" pitchFamily="2" charset="0"/>
                  </a:rPr>
                  <a:t>. What is the firm’s WACC if it does not issue any new stock?</a:t>
                </a:r>
                <a:endParaRPr lang="en-US" sz="2200" b="0" i="0" dirty="0">
                  <a:solidFill>
                    <a:schemeClr val="tx1"/>
                  </a:solidFill>
                  <a:effectLst/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ABED5EF-7770-8B0A-D215-A9BDD4B51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1" y="1430483"/>
                <a:ext cx="11993395" cy="1748556"/>
              </a:xfrm>
              <a:prstGeom prst="rect">
                <a:avLst/>
              </a:prstGeom>
              <a:blipFill>
                <a:blip r:embed="rId2"/>
                <a:stretch>
                  <a:fillRect l="-740" b="-7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D724AC-3606-0D15-9CB5-D34E06A90518}"/>
                  </a:ext>
                </a:extLst>
              </p:cNvPr>
              <p:cNvSpPr txBox="1"/>
              <p:nvPr/>
            </p:nvSpPr>
            <p:spPr>
              <a:xfrm>
                <a:off x="3181995" y="3235326"/>
                <a:ext cx="5828006" cy="494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𝑾𝑨𝑪𝑪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D724AC-3606-0D15-9CB5-D34E06A90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995" y="3235326"/>
                <a:ext cx="5828006" cy="494751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B3578E-D045-C34E-7797-8B4459CE6F7C}"/>
                  </a:ext>
                </a:extLst>
              </p:cNvPr>
              <p:cNvSpPr txBox="1"/>
              <p:nvPr/>
            </p:nvSpPr>
            <p:spPr>
              <a:xfrm>
                <a:off x="1808535" y="3936249"/>
                <a:ext cx="88577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𝑾𝑨𝑪𝑪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46%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d>
                        <m:dPr>
                          <m:ctrlPr>
                            <a:rPr lang="en-US" sz="24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400" b="1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%.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𝟓𝟏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%.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B3578E-D045-C34E-7797-8B4459CE6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535" y="3936249"/>
                <a:ext cx="8857787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9CD860-327F-E8F2-CE53-ED7C6BE61017}"/>
                  </a:ext>
                </a:extLst>
              </p:cNvPr>
              <p:cNvSpPr txBox="1"/>
              <p:nvPr/>
            </p:nvSpPr>
            <p:spPr>
              <a:xfrm>
                <a:off x="3040564" y="4668264"/>
                <a:ext cx="61108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𝑾𝑨𝑪𝑪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𝟒𝟐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 +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𝟖𝟕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%,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9CD860-327F-E8F2-CE53-ED7C6BE61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564" y="4668264"/>
                <a:ext cx="6110868" cy="461665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AB0996-5681-8FB3-A7AD-0E993766A1F3}"/>
                  </a:ext>
                </a:extLst>
              </p:cNvPr>
              <p:cNvSpPr txBox="1"/>
              <p:nvPr/>
            </p:nvSpPr>
            <p:spPr>
              <a:xfrm>
                <a:off x="3181995" y="5336101"/>
                <a:ext cx="61108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𝑾𝑨𝑪𝑪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𝟒𝟐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%+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 +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𝟖𝟕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%,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AB0996-5681-8FB3-A7AD-0E993766A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995" y="5336101"/>
                <a:ext cx="6110868" cy="461665"/>
              </a:xfrm>
              <a:prstGeom prst="rect">
                <a:avLst/>
              </a:prstGeom>
              <a:blipFill>
                <a:blip r:embed="rId6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6F802-0D55-9FF1-3D3C-6E2CBBD4E2C7}"/>
                  </a:ext>
                </a:extLst>
              </p:cNvPr>
              <p:cNvSpPr txBox="1"/>
              <p:nvPr/>
            </p:nvSpPr>
            <p:spPr>
              <a:xfrm>
                <a:off x="3181995" y="6091339"/>
                <a:ext cx="61108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𝑾𝑨𝑪𝑪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𝟓𝟐</m:t>
                      </m:r>
                      <m:r>
                        <a:rPr lang="en-US" sz="2400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6F802-0D55-9FF1-3D3C-6E2CBBD4E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995" y="6091339"/>
                <a:ext cx="61108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26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8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4717</TotalTime>
  <Words>1224</Words>
  <Application>Microsoft Macintosh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Why Do Firms Care About the Cost of Capital?</vt:lpstr>
      <vt:lpstr>Key Considerations in Calculating WACC</vt:lpstr>
      <vt:lpstr>Key Considerations in Calculating WACC</vt:lpstr>
      <vt:lpstr>Understanding the Cost of Debt</vt:lpstr>
      <vt:lpstr>Question-1</vt:lpstr>
      <vt:lpstr>Understanding the Cost of Preferred Stock</vt:lpstr>
      <vt:lpstr>Understanding the Cost of Retained Earnings</vt:lpstr>
      <vt:lpstr>Estimation of the r_s  </vt:lpstr>
      <vt:lpstr>Question-2</vt:lpstr>
      <vt:lpstr>Understanding the Cost of New Common Stock</vt:lpstr>
      <vt:lpstr>Question-3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HAGHIGHI ZADEH, REIHANEH</dc:creator>
  <cp:lastModifiedBy>reza bavili</cp:lastModifiedBy>
  <cp:revision>68</cp:revision>
  <dcterms:created xsi:type="dcterms:W3CDTF">2024-10-08T02:28:39Z</dcterms:created>
  <dcterms:modified xsi:type="dcterms:W3CDTF">2025-04-22T06:38:07Z</dcterms:modified>
</cp:coreProperties>
</file>